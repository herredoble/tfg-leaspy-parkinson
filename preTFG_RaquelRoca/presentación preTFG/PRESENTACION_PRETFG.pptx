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96" r:id="rId1"/>
  </p:sldMasterIdLst>
  <p:notesMasterIdLst>
    <p:notesMasterId r:id="rId19"/>
  </p:notesMasterIdLst>
  <p:sldIdLst>
    <p:sldId id="256" r:id="rId2"/>
    <p:sldId id="258" r:id="rId3"/>
    <p:sldId id="262" r:id="rId4"/>
    <p:sldId id="259" r:id="rId5"/>
    <p:sldId id="261" r:id="rId6"/>
    <p:sldId id="265" r:id="rId7"/>
    <p:sldId id="271" r:id="rId8"/>
    <p:sldId id="272" r:id="rId9"/>
    <p:sldId id="273" r:id="rId10"/>
    <p:sldId id="263" r:id="rId11"/>
    <p:sldId id="264" r:id="rId12"/>
    <p:sldId id="266" r:id="rId13"/>
    <p:sldId id="268" r:id="rId14"/>
    <p:sldId id="267" r:id="rId15"/>
    <p:sldId id="269" r:id="rId16"/>
    <p:sldId id="274" r:id="rId17"/>
    <p:sldId id="275"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DBD"/>
    <a:srgbClr val="656769"/>
    <a:srgbClr val="DE1341"/>
    <a:srgbClr val="2581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59"/>
    <p:restoredTop sz="82121" autoAdjust="0"/>
  </p:normalViewPr>
  <p:slideViewPr>
    <p:cSldViewPr snapToGrid="0" snapToObjects="1" showGuides="1">
      <p:cViewPr>
        <p:scale>
          <a:sx n="66" d="100"/>
          <a:sy n="66" d="100"/>
        </p:scale>
        <p:origin x="1300" y="-484"/>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C7CF60-1294-47A7-94A9-EA02714C48A4}" type="doc">
      <dgm:prSet loTypeId="urn:microsoft.com/office/officeart/2005/8/layout/lProcess1" loCatId="process" qsTypeId="urn:microsoft.com/office/officeart/2005/8/quickstyle/simple1" qsCatId="simple" csTypeId="urn:microsoft.com/office/officeart/2005/8/colors/accent1_2" csCatId="accent1" phldr="1"/>
      <dgm:spPr/>
      <dgm:t>
        <a:bodyPr/>
        <a:lstStyle/>
        <a:p>
          <a:endParaRPr lang="es-ES"/>
        </a:p>
      </dgm:t>
    </dgm:pt>
    <dgm:pt modelId="{F3FDF783-577E-4839-8556-2C5222E8C681}">
      <dgm:prSet phldrT="[Texto]"/>
      <dgm:spPr/>
      <dgm:t>
        <a:bodyPr/>
        <a:lstStyle/>
        <a:p>
          <a:r>
            <a:rPr lang="es-ES" b="1" dirty="0"/>
            <a:t>ADAPTACIÓN DATOS</a:t>
          </a:r>
        </a:p>
      </dgm:t>
    </dgm:pt>
    <dgm:pt modelId="{A4A2560F-435F-409B-8FF8-DE96BB3D464F}" type="parTrans" cxnId="{61CB638F-E80C-43C5-9098-0EE37D105DB4}">
      <dgm:prSet/>
      <dgm:spPr/>
      <dgm:t>
        <a:bodyPr/>
        <a:lstStyle/>
        <a:p>
          <a:endParaRPr lang="es-ES"/>
        </a:p>
      </dgm:t>
    </dgm:pt>
    <dgm:pt modelId="{2E983AB2-0EE4-457D-A8FE-FE20711C8558}" type="sibTrans" cxnId="{61CB638F-E80C-43C5-9098-0EE37D105DB4}">
      <dgm:prSet/>
      <dgm:spPr/>
      <dgm:t>
        <a:bodyPr/>
        <a:lstStyle/>
        <a:p>
          <a:endParaRPr lang="es-ES"/>
        </a:p>
      </dgm:t>
    </dgm:pt>
    <dgm:pt modelId="{F66412C2-CBE0-44DC-AA31-45AEA11DCE5B}">
      <dgm:prSet phldrT="[Texto]"/>
      <dgm:spPr/>
      <dgm:t>
        <a:bodyPr/>
        <a:lstStyle/>
        <a:p>
          <a:r>
            <a:rPr lang="es-ES" dirty="0"/>
            <a:t>ELIMINAR VALORES  </a:t>
          </a:r>
          <a:r>
            <a:rPr lang="es-ES" i="1" dirty="0" err="1"/>
            <a:t>Nan</a:t>
          </a:r>
          <a:endParaRPr lang="es-ES" i="1" dirty="0"/>
        </a:p>
      </dgm:t>
    </dgm:pt>
    <dgm:pt modelId="{568E976C-BA27-4994-9994-E5A26911F4FB}" type="parTrans" cxnId="{56DC8DE0-EE26-468E-9B16-27B41E79D8B2}">
      <dgm:prSet/>
      <dgm:spPr/>
      <dgm:t>
        <a:bodyPr/>
        <a:lstStyle/>
        <a:p>
          <a:endParaRPr lang="es-ES"/>
        </a:p>
      </dgm:t>
    </dgm:pt>
    <dgm:pt modelId="{85CFE4E2-D59E-4EAC-B972-5E61220A212C}" type="sibTrans" cxnId="{56DC8DE0-EE26-468E-9B16-27B41E79D8B2}">
      <dgm:prSet/>
      <dgm:spPr/>
      <dgm:t>
        <a:bodyPr/>
        <a:lstStyle/>
        <a:p>
          <a:endParaRPr lang="es-ES"/>
        </a:p>
      </dgm:t>
    </dgm:pt>
    <dgm:pt modelId="{436E2339-9111-464F-A778-5EC2F39E9635}">
      <dgm:prSet phldrT="[Texto]"/>
      <dgm:spPr/>
      <dgm:t>
        <a:bodyPr/>
        <a:lstStyle/>
        <a:p>
          <a:pPr algn="ctr"/>
          <a:r>
            <a:rPr lang="es-ES" b="1" dirty="0"/>
            <a:t>    ESTIMACIÓN </a:t>
          </a:r>
          <a:r>
            <a:rPr lang="es-ES" b="1" dirty="0" err="1"/>
            <a:t>DPMs</a:t>
          </a:r>
          <a:r>
            <a:rPr lang="es-ES" b="1" dirty="0"/>
            <a:t>	</a:t>
          </a:r>
        </a:p>
      </dgm:t>
    </dgm:pt>
    <dgm:pt modelId="{B36B4580-B4B6-4AF4-89BE-7A027C442D41}" type="parTrans" cxnId="{BC282686-58E6-4445-A052-B6FB5A4FDBEC}">
      <dgm:prSet/>
      <dgm:spPr/>
      <dgm:t>
        <a:bodyPr/>
        <a:lstStyle/>
        <a:p>
          <a:endParaRPr lang="es-ES"/>
        </a:p>
      </dgm:t>
    </dgm:pt>
    <dgm:pt modelId="{8BC2BD0D-BBE9-42F9-89E5-12B24FCDF8F1}" type="sibTrans" cxnId="{BC282686-58E6-4445-A052-B6FB5A4FDBEC}">
      <dgm:prSet/>
      <dgm:spPr/>
      <dgm:t>
        <a:bodyPr/>
        <a:lstStyle/>
        <a:p>
          <a:endParaRPr lang="es-ES"/>
        </a:p>
      </dgm:t>
    </dgm:pt>
    <dgm:pt modelId="{64A3AE3A-B4BA-4FF1-A927-5BF17124E93C}">
      <dgm:prSet phldrT="[Texto]"/>
      <dgm:spPr/>
      <dgm:t>
        <a:bodyPr/>
        <a:lstStyle/>
        <a:p>
          <a:r>
            <a:rPr lang="es-ES" dirty="0"/>
            <a:t>CALIBRACIÓN </a:t>
          </a:r>
          <a:r>
            <a:rPr lang="es-ES" dirty="0">
              <a:sym typeface="Wingdings" panose="05000000000000000000" pitchFamily="2" charset="2"/>
            </a:rPr>
            <a:t> </a:t>
          </a:r>
          <a:r>
            <a:rPr lang="es-ES" i="1" dirty="0">
              <a:sym typeface="Wingdings" panose="05000000000000000000" pitchFamily="2" charset="2"/>
            </a:rPr>
            <a:t>Long-</a:t>
          </a:r>
          <a:r>
            <a:rPr lang="es-ES" i="1" dirty="0" err="1">
              <a:sym typeface="Wingdings" panose="05000000000000000000" pitchFamily="2" charset="2"/>
            </a:rPr>
            <a:t>term</a:t>
          </a:r>
          <a:endParaRPr lang="es-ES" i="1" dirty="0"/>
        </a:p>
      </dgm:t>
    </dgm:pt>
    <dgm:pt modelId="{0847BF60-3CED-4000-80B5-C3CC104B1E1E}" type="parTrans" cxnId="{098BA00E-9C2D-46CA-9C46-90A5AB77BEDA}">
      <dgm:prSet/>
      <dgm:spPr/>
      <dgm:t>
        <a:bodyPr/>
        <a:lstStyle/>
        <a:p>
          <a:endParaRPr lang="es-ES"/>
        </a:p>
      </dgm:t>
    </dgm:pt>
    <dgm:pt modelId="{873E3EA8-C08B-48BB-86AF-73D8E1A4E9E4}" type="sibTrans" cxnId="{098BA00E-9C2D-46CA-9C46-90A5AB77BEDA}">
      <dgm:prSet/>
      <dgm:spPr/>
      <dgm:t>
        <a:bodyPr/>
        <a:lstStyle/>
        <a:p>
          <a:endParaRPr lang="es-ES"/>
        </a:p>
      </dgm:t>
    </dgm:pt>
    <dgm:pt modelId="{267BF024-F178-46D9-BC24-D4182E1A39BE}">
      <dgm:prSet phldrT="[Texto]"/>
      <dgm:spPr/>
      <dgm:t>
        <a:bodyPr/>
        <a:lstStyle/>
        <a:p>
          <a:r>
            <a:rPr lang="es-ES" b="1" dirty="0"/>
            <a:t>PRESTACIONES </a:t>
          </a:r>
          <a:r>
            <a:rPr lang="es-ES" b="1" dirty="0" err="1"/>
            <a:t>DPMs</a:t>
          </a:r>
          <a:endParaRPr lang="es-ES" b="1" dirty="0"/>
        </a:p>
      </dgm:t>
    </dgm:pt>
    <dgm:pt modelId="{304DD647-8C1C-44BA-8033-A7966D2DE259}" type="parTrans" cxnId="{92BE55C4-6600-4E41-BDB6-22268793B8E9}">
      <dgm:prSet/>
      <dgm:spPr/>
      <dgm:t>
        <a:bodyPr/>
        <a:lstStyle/>
        <a:p>
          <a:endParaRPr lang="es-ES"/>
        </a:p>
      </dgm:t>
    </dgm:pt>
    <dgm:pt modelId="{99DA28C5-E88D-4015-99D6-130E4D35E4FD}" type="sibTrans" cxnId="{92BE55C4-6600-4E41-BDB6-22268793B8E9}">
      <dgm:prSet/>
      <dgm:spPr/>
      <dgm:t>
        <a:bodyPr/>
        <a:lstStyle/>
        <a:p>
          <a:endParaRPr lang="es-ES"/>
        </a:p>
      </dgm:t>
    </dgm:pt>
    <dgm:pt modelId="{A17AF3FD-8333-4E3C-91F0-864C0A1D69B0}">
      <dgm:prSet phldrT="[Texto]"/>
      <dgm:spPr/>
      <dgm:t>
        <a:bodyPr/>
        <a:lstStyle/>
        <a:p>
          <a:r>
            <a:rPr lang="es-ES" dirty="0"/>
            <a:t>MAE/NMAE</a:t>
          </a:r>
        </a:p>
      </dgm:t>
    </dgm:pt>
    <dgm:pt modelId="{4041E219-A7FC-47A9-A73E-126B8B62E14A}" type="parTrans" cxnId="{5A620034-9DBB-408C-A439-E5B9C18791A5}">
      <dgm:prSet/>
      <dgm:spPr/>
      <dgm:t>
        <a:bodyPr/>
        <a:lstStyle/>
        <a:p>
          <a:endParaRPr lang="es-ES"/>
        </a:p>
      </dgm:t>
    </dgm:pt>
    <dgm:pt modelId="{75AEF210-FC66-4A88-BFD5-304683BFCC61}" type="sibTrans" cxnId="{5A620034-9DBB-408C-A439-E5B9C18791A5}">
      <dgm:prSet/>
      <dgm:spPr/>
      <dgm:t>
        <a:bodyPr/>
        <a:lstStyle/>
        <a:p>
          <a:endParaRPr lang="es-ES"/>
        </a:p>
      </dgm:t>
    </dgm:pt>
    <dgm:pt modelId="{3C276ADF-6831-477A-B633-95F3CC1C0EF0}">
      <dgm:prSet phldrT="[Texto]"/>
      <dgm:spPr/>
      <dgm:t>
        <a:bodyPr/>
        <a:lstStyle/>
        <a:p>
          <a:r>
            <a:rPr lang="es-ES" dirty="0"/>
            <a:t>NORMALIZAR</a:t>
          </a:r>
        </a:p>
      </dgm:t>
    </dgm:pt>
    <dgm:pt modelId="{D2C85B54-69C6-4E3D-816F-637F8C33BF26}" type="parTrans" cxnId="{992CBD56-6D3E-4F6B-A71D-B19F02370B9A}">
      <dgm:prSet/>
      <dgm:spPr/>
      <dgm:t>
        <a:bodyPr/>
        <a:lstStyle/>
        <a:p>
          <a:endParaRPr lang="es-ES"/>
        </a:p>
      </dgm:t>
    </dgm:pt>
    <dgm:pt modelId="{C22A570C-0827-432F-B9F3-38CF7343B5B8}" type="sibTrans" cxnId="{992CBD56-6D3E-4F6B-A71D-B19F02370B9A}">
      <dgm:prSet/>
      <dgm:spPr/>
      <dgm:t>
        <a:bodyPr/>
        <a:lstStyle/>
        <a:p>
          <a:endParaRPr lang="es-ES"/>
        </a:p>
      </dgm:t>
    </dgm:pt>
    <dgm:pt modelId="{36890A46-5A23-47D8-9E42-2F73C693EA85}">
      <dgm:prSet phldrT="[Texto]"/>
      <dgm:spPr/>
      <dgm:t>
        <a:bodyPr/>
        <a:lstStyle/>
        <a:p>
          <a:r>
            <a:rPr lang="es-ES" dirty="0"/>
            <a:t>AGRUPAR</a:t>
          </a:r>
        </a:p>
      </dgm:t>
    </dgm:pt>
    <dgm:pt modelId="{153490B9-BF7B-4104-B087-246D9531C27B}" type="parTrans" cxnId="{BD514394-F0AA-432A-9D2D-510D58330204}">
      <dgm:prSet/>
      <dgm:spPr/>
      <dgm:t>
        <a:bodyPr/>
        <a:lstStyle/>
        <a:p>
          <a:endParaRPr lang="es-ES"/>
        </a:p>
      </dgm:t>
    </dgm:pt>
    <dgm:pt modelId="{109C66A2-1523-4969-9BF4-3A23788F56D5}" type="sibTrans" cxnId="{BD514394-F0AA-432A-9D2D-510D58330204}">
      <dgm:prSet/>
      <dgm:spPr/>
      <dgm:t>
        <a:bodyPr/>
        <a:lstStyle/>
        <a:p>
          <a:endParaRPr lang="es-ES"/>
        </a:p>
      </dgm:t>
    </dgm:pt>
    <dgm:pt modelId="{EBCB0537-1AAC-471E-B774-0BC7A3F1F7CB}">
      <dgm:prSet phldrT="[Texto]"/>
      <dgm:spPr/>
      <dgm:t>
        <a:bodyPr/>
        <a:lstStyle/>
        <a:p>
          <a:r>
            <a:rPr lang="es-ES" dirty="0"/>
            <a:t>DIAGNÓSTICO</a:t>
          </a:r>
        </a:p>
      </dgm:t>
    </dgm:pt>
    <dgm:pt modelId="{721823E5-00E2-4402-BAC7-5288B7861AB6}" type="parTrans" cxnId="{7611279C-4DF7-4F58-98A2-F6C371691E28}">
      <dgm:prSet/>
      <dgm:spPr/>
      <dgm:t>
        <a:bodyPr/>
        <a:lstStyle/>
        <a:p>
          <a:endParaRPr lang="es-ES"/>
        </a:p>
      </dgm:t>
    </dgm:pt>
    <dgm:pt modelId="{6BD12B17-E36B-40BE-AA7C-5B46717FC257}" type="sibTrans" cxnId="{7611279C-4DF7-4F58-98A2-F6C371691E28}">
      <dgm:prSet/>
      <dgm:spPr/>
      <dgm:t>
        <a:bodyPr/>
        <a:lstStyle/>
        <a:p>
          <a:endParaRPr lang="es-ES"/>
        </a:p>
      </dgm:t>
    </dgm:pt>
    <dgm:pt modelId="{A2407599-20A2-48D2-9E66-99E8A907DBA6}">
      <dgm:prSet phldrT="[Texto]"/>
      <dgm:spPr/>
      <dgm:t>
        <a:bodyPr/>
        <a:lstStyle/>
        <a:p>
          <a:r>
            <a:rPr lang="es-ES" dirty="0"/>
            <a:t>PERSONALIZACIÓN</a:t>
          </a:r>
        </a:p>
      </dgm:t>
    </dgm:pt>
    <dgm:pt modelId="{A42C0953-AD49-48C3-AAEE-31E458E2FB69}" type="parTrans" cxnId="{BD4708DE-C9D9-4637-984D-62625CECCA26}">
      <dgm:prSet/>
      <dgm:spPr/>
      <dgm:t>
        <a:bodyPr/>
        <a:lstStyle/>
        <a:p>
          <a:endParaRPr lang="es-ES"/>
        </a:p>
      </dgm:t>
    </dgm:pt>
    <dgm:pt modelId="{3B902D3F-C4EF-44AE-8E5B-097C2A8B4D4B}" type="sibTrans" cxnId="{BD4708DE-C9D9-4637-984D-62625CECCA26}">
      <dgm:prSet/>
      <dgm:spPr/>
      <dgm:t>
        <a:bodyPr/>
        <a:lstStyle/>
        <a:p>
          <a:endParaRPr lang="es-ES"/>
        </a:p>
      </dgm:t>
    </dgm:pt>
    <dgm:pt modelId="{E3BBC3C9-44F9-4A9D-951B-9D52F6131295}">
      <dgm:prSet phldrT="[Texto]"/>
      <dgm:spPr/>
      <dgm:t>
        <a:bodyPr/>
        <a:lstStyle/>
        <a:p>
          <a:r>
            <a:rPr lang="es-ES" dirty="0"/>
            <a:t>PREDICCIÓN </a:t>
          </a:r>
          <a:r>
            <a:rPr lang="es-ES" dirty="0">
              <a:sym typeface="Wingdings" panose="05000000000000000000" pitchFamily="2" charset="2"/>
            </a:rPr>
            <a:t> </a:t>
          </a:r>
          <a:r>
            <a:rPr lang="es-ES" i="1" dirty="0">
              <a:sym typeface="Wingdings" panose="05000000000000000000" pitchFamily="2" charset="2"/>
            </a:rPr>
            <a:t>Short-</a:t>
          </a:r>
          <a:r>
            <a:rPr lang="es-ES" i="1" dirty="0" err="1">
              <a:sym typeface="Wingdings" panose="05000000000000000000" pitchFamily="2" charset="2"/>
            </a:rPr>
            <a:t>term</a:t>
          </a:r>
          <a:endParaRPr lang="es-ES" i="1" dirty="0"/>
        </a:p>
      </dgm:t>
    </dgm:pt>
    <dgm:pt modelId="{4EB2BEB4-D270-47A9-962A-12B133D9F2CD}" type="parTrans" cxnId="{3595F0BA-837B-477C-8F55-642E5E37AC4E}">
      <dgm:prSet/>
      <dgm:spPr/>
      <dgm:t>
        <a:bodyPr/>
        <a:lstStyle/>
        <a:p>
          <a:endParaRPr lang="es-ES"/>
        </a:p>
      </dgm:t>
    </dgm:pt>
    <dgm:pt modelId="{D26C7CC3-C841-4E74-8B1B-2958F4C881E6}" type="sibTrans" cxnId="{3595F0BA-837B-477C-8F55-642E5E37AC4E}">
      <dgm:prSet/>
      <dgm:spPr/>
      <dgm:t>
        <a:bodyPr/>
        <a:lstStyle/>
        <a:p>
          <a:endParaRPr lang="es-ES"/>
        </a:p>
      </dgm:t>
    </dgm:pt>
    <dgm:pt modelId="{88859922-94A8-4B6F-B3F2-7A8AD7B6494E}">
      <dgm:prSet phldrT="[Texto]"/>
      <dgm:spPr/>
      <dgm:t>
        <a:bodyPr/>
        <a:lstStyle/>
        <a:p>
          <a:r>
            <a:rPr lang="es-ES" dirty="0"/>
            <a:t>SCORES</a:t>
          </a:r>
        </a:p>
      </dgm:t>
    </dgm:pt>
    <dgm:pt modelId="{385D4649-3354-417F-9979-DE50A791E655}" type="parTrans" cxnId="{E2652246-7534-4E8F-AD55-2D001FB184E6}">
      <dgm:prSet/>
      <dgm:spPr/>
      <dgm:t>
        <a:bodyPr/>
        <a:lstStyle/>
        <a:p>
          <a:endParaRPr lang="es-ES"/>
        </a:p>
      </dgm:t>
    </dgm:pt>
    <dgm:pt modelId="{2A02086E-907C-4953-8A76-C1EB5F3C33A0}" type="sibTrans" cxnId="{E2652246-7534-4E8F-AD55-2D001FB184E6}">
      <dgm:prSet/>
      <dgm:spPr/>
      <dgm:t>
        <a:bodyPr/>
        <a:lstStyle/>
        <a:p>
          <a:endParaRPr lang="es-ES"/>
        </a:p>
      </dgm:t>
    </dgm:pt>
    <dgm:pt modelId="{165A19A5-79D5-4CAF-BAAF-018EE0409782}" type="pres">
      <dgm:prSet presAssocID="{D6C7CF60-1294-47A7-94A9-EA02714C48A4}" presName="Name0" presStyleCnt="0">
        <dgm:presLayoutVars>
          <dgm:dir/>
          <dgm:animLvl val="lvl"/>
          <dgm:resizeHandles val="exact"/>
        </dgm:presLayoutVars>
      </dgm:prSet>
      <dgm:spPr/>
    </dgm:pt>
    <dgm:pt modelId="{518D1441-6E06-41E0-9A1E-E974D8E5BC5E}" type="pres">
      <dgm:prSet presAssocID="{F3FDF783-577E-4839-8556-2C5222E8C681}" presName="vertFlow" presStyleCnt="0"/>
      <dgm:spPr/>
    </dgm:pt>
    <dgm:pt modelId="{71CA44BE-305C-4659-80A3-A8C7605D9161}" type="pres">
      <dgm:prSet presAssocID="{F3FDF783-577E-4839-8556-2C5222E8C681}" presName="header" presStyleLbl="node1" presStyleIdx="0" presStyleCnt="3" custScaleX="116854"/>
      <dgm:spPr/>
    </dgm:pt>
    <dgm:pt modelId="{D038F78F-E360-43CA-A917-0F78E87CDF94}" type="pres">
      <dgm:prSet presAssocID="{568E976C-BA27-4994-9994-E5A26911F4FB}" presName="parTrans" presStyleLbl="sibTrans2D1" presStyleIdx="0" presStyleCnt="9"/>
      <dgm:spPr/>
    </dgm:pt>
    <dgm:pt modelId="{CC457705-1E67-4BB0-9740-3136DDCE8D57}" type="pres">
      <dgm:prSet presAssocID="{F66412C2-CBE0-44DC-AA31-45AEA11DCE5B}" presName="child" presStyleLbl="alignAccFollowNode1" presStyleIdx="0" presStyleCnt="9" custScaleX="106658">
        <dgm:presLayoutVars>
          <dgm:chMax val="0"/>
          <dgm:bulletEnabled val="1"/>
        </dgm:presLayoutVars>
      </dgm:prSet>
      <dgm:spPr/>
    </dgm:pt>
    <dgm:pt modelId="{9C1D28ED-89C9-462D-9782-7C8C71B528C8}" type="pres">
      <dgm:prSet presAssocID="{85CFE4E2-D59E-4EAC-B972-5E61220A212C}" presName="sibTrans" presStyleLbl="sibTrans2D1" presStyleIdx="1" presStyleCnt="9"/>
      <dgm:spPr/>
    </dgm:pt>
    <dgm:pt modelId="{E2D65F9D-1DD1-4DED-ACE5-AB397A8CCA7E}" type="pres">
      <dgm:prSet presAssocID="{3C276ADF-6831-477A-B633-95F3CC1C0EF0}" presName="child" presStyleLbl="alignAccFollowNode1" presStyleIdx="1" presStyleCnt="9">
        <dgm:presLayoutVars>
          <dgm:chMax val="0"/>
          <dgm:bulletEnabled val="1"/>
        </dgm:presLayoutVars>
      </dgm:prSet>
      <dgm:spPr/>
    </dgm:pt>
    <dgm:pt modelId="{CE0AE0C1-984B-4B79-9363-F49DA8F29EF0}" type="pres">
      <dgm:prSet presAssocID="{C22A570C-0827-432F-B9F3-38CF7343B5B8}" presName="sibTrans" presStyleLbl="sibTrans2D1" presStyleIdx="2" presStyleCnt="9"/>
      <dgm:spPr/>
    </dgm:pt>
    <dgm:pt modelId="{1A99C0C6-5711-4D67-B7FD-8FD57D93EB1C}" type="pres">
      <dgm:prSet presAssocID="{36890A46-5A23-47D8-9E42-2F73C693EA85}" presName="child" presStyleLbl="alignAccFollowNode1" presStyleIdx="2" presStyleCnt="9">
        <dgm:presLayoutVars>
          <dgm:chMax val="0"/>
          <dgm:bulletEnabled val="1"/>
        </dgm:presLayoutVars>
      </dgm:prSet>
      <dgm:spPr/>
    </dgm:pt>
    <dgm:pt modelId="{B3BC53DD-A848-477A-97E1-280DA43E683B}" type="pres">
      <dgm:prSet presAssocID="{109C66A2-1523-4969-9BF4-3A23788F56D5}" presName="sibTrans" presStyleLbl="sibTrans2D1" presStyleIdx="3" presStyleCnt="9"/>
      <dgm:spPr/>
    </dgm:pt>
    <dgm:pt modelId="{D346B313-E1C2-4E31-87AB-DE384213CEF5}" type="pres">
      <dgm:prSet presAssocID="{EBCB0537-1AAC-471E-B774-0BC7A3F1F7CB}" presName="child" presStyleLbl="alignAccFollowNode1" presStyleIdx="3" presStyleCnt="9">
        <dgm:presLayoutVars>
          <dgm:chMax val="0"/>
          <dgm:bulletEnabled val="1"/>
        </dgm:presLayoutVars>
      </dgm:prSet>
      <dgm:spPr/>
    </dgm:pt>
    <dgm:pt modelId="{7DA0537E-BA7E-47ED-A07B-2CB1D93614C7}" type="pres">
      <dgm:prSet presAssocID="{F3FDF783-577E-4839-8556-2C5222E8C681}" presName="hSp" presStyleCnt="0"/>
      <dgm:spPr/>
    </dgm:pt>
    <dgm:pt modelId="{25C4B124-F3E8-4DEF-B14F-BDB95EE353C1}" type="pres">
      <dgm:prSet presAssocID="{436E2339-9111-464F-A778-5EC2F39E9635}" presName="vertFlow" presStyleCnt="0"/>
      <dgm:spPr/>
    </dgm:pt>
    <dgm:pt modelId="{7C8D2CF0-8E3A-4BE0-846D-ACEC70E7D70A}" type="pres">
      <dgm:prSet presAssocID="{436E2339-9111-464F-A778-5EC2F39E9635}" presName="header" presStyleLbl="node1" presStyleIdx="1" presStyleCnt="3" custScaleX="124335" custScaleY="102975"/>
      <dgm:spPr/>
    </dgm:pt>
    <dgm:pt modelId="{7433CC79-DE51-4C30-90F1-6BA73D0F14E1}" type="pres">
      <dgm:prSet presAssocID="{0847BF60-3CED-4000-80B5-C3CC104B1E1E}" presName="parTrans" presStyleLbl="sibTrans2D1" presStyleIdx="4" presStyleCnt="9"/>
      <dgm:spPr/>
    </dgm:pt>
    <dgm:pt modelId="{DFB9F8AB-2FC0-417B-B101-D735AFF0E673}" type="pres">
      <dgm:prSet presAssocID="{64A3AE3A-B4BA-4FF1-A927-5BF17124E93C}" presName="child" presStyleLbl="alignAccFollowNode1" presStyleIdx="4" presStyleCnt="9" custScaleX="123270">
        <dgm:presLayoutVars>
          <dgm:chMax val="0"/>
          <dgm:bulletEnabled val="1"/>
        </dgm:presLayoutVars>
      </dgm:prSet>
      <dgm:spPr/>
    </dgm:pt>
    <dgm:pt modelId="{BF173829-614E-4ECE-BFAA-46FCF5502E32}" type="pres">
      <dgm:prSet presAssocID="{873E3EA8-C08B-48BB-86AF-73D8E1A4E9E4}" presName="sibTrans" presStyleLbl="sibTrans2D1" presStyleIdx="5" presStyleCnt="9"/>
      <dgm:spPr/>
    </dgm:pt>
    <dgm:pt modelId="{4B8929CB-0165-4CE8-A7F1-844C3C7B60AF}" type="pres">
      <dgm:prSet presAssocID="{A2407599-20A2-48D2-9E66-99E8A907DBA6}" presName="child" presStyleLbl="alignAccFollowNode1" presStyleIdx="5" presStyleCnt="9" custScaleX="122049">
        <dgm:presLayoutVars>
          <dgm:chMax val="0"/>
          <dgm:bulletEnabled val="1"/>
        </dgm:presLayoutVars>
      </dgm:prSet>
      <dgm:spPr/>
    </dgm:pt>
    <dgm:pt modelId="{83275A3A-2C7F-4E9D-9459-C5F221B72E54}" type="pres">
      <dgm:prSet presAssocID="{3B902D3F-C4EF-44AE-8E5B-097C2A8B4D4B}" presName="sibTrans" presStyleLbl="sibTrans2D1" presStyleIdx="6" presStyleCnt="9"/>
      <dgm:spPr/>
    </dgm:pt>
    <dgm:pt modelId="{72955820-CB87-43BF-B641-694887B3F165}" type="pres">
      <dgm:prSet presAssocID="{E3BBC3C9-44F9-4A9D-951B-9D52F6131295}" presName="child" presStyleLbl="alignAccFollowNode1" presStyleIdx="6" presStyleCnt="9" custScaleX="122049">
        <dgm:presLayoutVars>
          <dgm:chMax val="0"/>
          <dgm:bulletEnabled val="1"/>
        </dgm:presLayoutVars>
      </dgm:prSet>
      <dgm:spPr/>
    </dgm:pt>
    <dgm:pt modelId="{1BE7B21D-BA8C-4298-A4E2-FB474950DDFE}" type="pres">
      <dgm:prSet presAssocID="{436E2339-9111-464F-A778-5EC2F39E9635}" presName="hSp" presStyleCnt="0"/>
      <dgm:spPr/>
    </dgm:pt>
    <dgm:pt modelId="{CC1C9A33-6C30-49EF-A3BE-1F784FF27B49}" type="pres">
      <dgm:prSet presAssocID="{267BF024-F178-46D9-BC24-D4182E1A39BE}" presName="vertFlow" presStyleCnt="0"/>
      <dgm:spPr/>
    </dgm:pt>
    <dgm:pt modelId="{85646ABB-2D3A-4085-A8BB-F8F06057A7D7}" type="pres">
      <dgm:prSet presAssocID="{267BF024-F178-46D9-BC24-D4182E1A39BE}" presName="header" presStyleLbl="node1" presStyleIdx="2" presStyleCnt="3" custScaleX="122872"/>
      <dgm:spPr/>
    </dgm:pt>
    <dgm:pt modelId="{F3B785AE-9F64-4575-B4F7-2941A9A1A190}" type="pres">
      <dgm:prSet presAssocID="{4041E219-A7FC-47A9-A73E-126B8B62E14A}" presName="parTrans" presStyleLbl="sibTrans2D1" presStyleIdx="7" presStyleCnt="9"/>
      <dgm:spPr/>
    </dgm:pt>
    <dgm:pt modelId="{E73F3EAA-332B-4091-8F06-2EBB3864DC21}" type="pres">
      <dgm:prSet presAssocID="{A17AF3FD-8333-4E3C-91F0-864C0A1D69B0}" presName="child" presStyleLbl="alignAccFollowNode1" presStyleIdx="7" presStyleCnt="9">
        <dgm:presLayoutVars>
          <dgm:chMax val="0"/>
          <dgm:bulletEnabled val="1"/>
        </dgm:presLayoutVars>
      </dgm:prSet>
      <dgm:spPr/>
    </dgm:pt>
    <dgm:pt modelId="{3A659B7A-FA3C-4D99-98D0-540225BC58D1}" type="pres">
      <dgm:prSet presAssocID="{75AEF210-FC66-4A88-BFD5-304683BFCC61}" presName="sibTrans" presStyleLbl="sibTrans2D1" presStyleIdx="8" presStyleCnt="9"/>
      <dgm:spPr/>
    </dgm:pt>
    <dgm:pt modelId="{9E0CF61E-374D-4694-AEEE-EAE04D9AE779}" type="pres">
      <dgm:prSet presAssocID="{88859922-94A8-4B6F-B3F2-7A8AD7B6494E}" presName="child" presStyleLbl="alignAccFollowNode1" presStyleIdx="8" presStyleCnt="9">
        <dgm:presLayoutVars>
          <dgm:chMax val="0"/>
          <dgm:bulletEnabled val="1"/>
        </dgm:presLayoutVars>
      </dgm:prSet>
      <dgm:spPr/>
    </dgm:pt>
  </dgm:ptLst>
  <dgm:cxnLst>
    <dgm:cxn modelId="{098BA00E-9C2D-46CA-9C46-90A5AB77BEDA}" srcId="{436E2339-9111-464F-A778-5EC2F39E9635}" destId="{64A3AE3A-B4BA-4FF1-A927-5BF17124E93C}" srcOrd="0" destOrd="0" parTransId="{0847BF60-3CED-4000-80B5-C3CC104B1E1E}" sibTransId="{873E3EA8-C08B-48BB-86AF-73D8E1A4E9E4}"/>
    <dgm:cxn modelId="{D772321B-0D2E-468A-92FE-A0EF741C5397}" type="presOf" srcId="{A17AF3FD-8333-4E3C-91F0-864C0A1D69B0}" destId="{E73F3EAA-332B-4091-8F06-2EBB3864DC21}" srcOrd="0" destOrd="0" presId="urn:microsoft.com/office/officeart/2005/8/layout/lProcess1"/>
    <dgm:cxn modelId="{615CAA1D-99C2-4079-8A81-FB94CA521A80}" type="presOf" srcId="{85CFE4E2-D59E-4EAC-B972-5E61220A212C}" destId="{9C1D28ED-89C9-462D-9782-7C8C71B528C8}" srcOrd="0" destOrd="0" presId="urn:microsoft.com/office/officeart/2005/8/layout/lProcess1"/>
    <dgm:cxn modelId="{5A620034-9DBB-408C-A439-E5B9C18791A5}" srcId="{267BF024-F178-46D9-BC24-D4182E1A39BE}" destId="{A17AF3FD-8333-4E3C-91F0-864C0A1D69B0}" srcOrd="0" destOrd="0" parTransId="{4041E219-A7FC-47A9-A73E-126B8B62E14A}" sibTransId="{75AEF210-FC66-4A88-BFD5-304683BFCC61}"/>
    <dgm:cxn modelId="{097FC140-4535-45A9-A3CA-B2A5C1D0808A}" type="presOf" srcId="{109C66A2-1523-4969-9BF4-3A23788F56D5}" destId="{B3BC53DD-A848-477A-97E1-280DA43E683B}" srcOrd="0" destOrd="0" presId="urn:microsoft.com/office/officeart/2005/8/layout/lProcess1"/>
    <dgm:cxn modelId="{E2652246-7534-4E8F-AD55-2D001FB184E6}" srcId="{267BF024-F178-46D9-BC24-D4182E1A39BE}" destId="{88859922-94A8-4B6F-B3F2-7A8AD7B6494E}" srcOrd="1" destOrd="0" parTransId="{385D4649-3354-417F-9979-DE50A791E655}" sibTransId="{2A02086E-907C-4953-8A76-C1EB5F3C33A0}"/>
    <dgm:cxn modelId="{AC4CBE4A-E6FB-46ED-A7FA-F1F5B923A8C8}" type="presOf" srcId="{EBCB0537-1AAC-471E-B774-0BC7A3F1F7CB}" destId="{D346B313-E1C2-4E31-87AB-DE384213CEF5}" srcOrd="0" destOrd="0" presId="urn:microsoft.com/office/officeart/2005/8/layout/lProcess1"/>
    <dgm:cxn modelId="{18C2144C-B0DF-434D-9312-53E590F400DE}" type="presOf" srcId="{F66412C2-CBE0-44DC-AA31-45AEA11DCE5B}" destId="{CC457705-1E67-4BB0-9740-3136DDCE8D57}" srcOrd="0" destOrd="0" presId="urn:microsoft.com/office/officeart/2005/8/layout/lProcess1"/>
    <dgm:cxn modelId="{CF6A864F-C165-4FAA-9CD7-2E808AE1A91C}" type="presOf" srcId="{3C276ADF-6831-477A-B633-95F3CC1C0EF0}" destId="{E2D65F9D-1DD1-4DED-ACE5-AB397A8CCA7E}" srcOrd="0" destOrd="0" presId="urn:microsoft.com/office/officeart/2005/8/layout/lProcess1"/>
    <dgm:cxn modelId="{8B56C56F-107F-458E-81C4-5539F7EF2AA6}" type="presOf" srcId="{4041E219-A7FC-47A9-A73E-126B8B62E14A}" destId="{F3B785AE-9F64-4575-B4F7-2941A9A1A190}" srcOrd="0" destOrd="0" presId="urn:microsoft.com/office/officeart/2005/8/layout/lProcess1"/>
    <dgm:cxn modelId="{DE773756-7C3B-41D2-9968-19E44359FBC3}" type="presOf" srcId="{A2407599-20A2-48D2-9E66-99E8A907DBA6}" destId="{4B8929CB-0165-4CE8-A7F1-844C3C7B60AF}" srcOrd="0" destOrd="0" presId="urn:microsoft.com/office/officeart/2005/8/layout/lProcess1"/>
    <dgm:cxn modelId="{992CBD56-6D3E-4F6B-A71D-B19F02370B9A}" srcId="{F3FDF783-577E-4839-8556-2C5222E8C681}" destId="{3C276ADF-6831-477A-B633-95F3CC1C0EF0}" srcOrd="1" destOrd="0" parTransId="{D2C85B54-69C6-4E3D-816F-637F8C33BF26}" sibTransId="{C22A570C-0827-432F-B9F3-38CF7343B5B8}"/>
    <dgm:cxn modelId="{4ADAEE59-D2DE-4740-941C-137E9D5D42A5}" type="presOf" srcId="{D6C7CF60-1294-47A7-94A9-EA02714C48A4}" destId="{165A19A5-79D5-4CAF-BAAF-018EE0409782}" srcOrd="0" destOrd="0" presId="urn:microsoft.com/office/officeart/2005/8/layout/lProcess1"/>
    <dgm:cxn modelId="{BC282686-58E6-4445-A052-B6FB5A4FDBEC}" srcId="{D6C7CF60-1294-47A7-94A9-EA02714C48A4}" destId="{436E2339-9111-464F-A778-5EC2F39E9635}" srcOrd="1" destOrd="0" parTransId="{B36B4580-B4B6-4AF4-89BE-7A027C442D41}" sibTransId="{8BC2BD0D-BBE9-42F9-89E5-12B24FCDF8F1}"/>
    <dgm:cxn modelId="{61CB638F-E80C-43C5-9098-0EE37D105DB4}" srcId="{D6C7CF60-1294-47A7-94A9-EA02714C48A4}" destId="{F3FDF783-577E-4839-8556-2C5222E8C681}" srcOrd="0" destOrd="0" parTransId="{A4A2560F-435F-409B-8FF8-DE96BB3D464F}" sibTransId="{2E983AB2-0EE4-457D-A8FE-FE20711C8558}"/>
    <dgm:cxn modelId="{3A89718F-2694-4B76-891D-57A1DF2B72BC}" type="presOf" srcId="{3B902D3F-C4EF-44AE-8E5B-097C2A8B4D4B}" destId="{83275A3A-2C7F-4E9D-9459-C5F221B72E54}" srcOrd="0" destOrd="0" presId="urn:microsoft.com/office/officeart/2005/8/layout/lProcess1"/>
    <dgm:cxn modelId="{DE57EA92-A357-4ADA-BCD7-D17B44BA8CAF}" type="presOf" srcId="{267BF024-F178-46D9-BC24-D4182E1A39BE}" destId="{85646ABB-2D3A-4085-A8BB-F8F06057A7D7}" srcOrd="0" destOrd="0" presId="urn:microsoft.com/office/officeart/2005/8/layout/lProcess1"/>
    <dgm:cxn modelId="{BD514394-F0AA-432A-9D2D-510D58330204}" srcId="{F3FDF783-577E-4839-8556-2C5222E8C681}" destId="{36890A46-5A23-47D8-9E42-2F73C693EA85}" srcOrd="2" destOrd="0" parTransId="{153490B9-BF7B-4104-B087-246D9531C27B}" sibTransId="{109C66A2-1523-4969-9BF4-3A23788F56D5}"/>
    <dgm:cxn modelId="{7611279C-4DF7-4F58-98A2-F6C371691E28}" srcId="{F3FDF783-577E-4839-8556-2C5222E8C681}" destId="{EBCB0537-1AAC-471E-B774-0BC7A3F1F7CB}" srcOrd="3" destOrd="0" parTransId="{721823E5-00E2-4402-BAC7-5288B7861AB6}" sibTransId="{6BD12B17-E36B-40BE-AA7C-5B46717FC257}"/>
    <dgm:cxn modelId="{3F68CEB4-1218-4120-981E-1B70C8F43520}" type="presOf" srcId="{568E976C-BA27-4994-9994-E5A26911F4FB}" destId="{D038F78F-E360-43CA-A917-0F78E87CDF94}" srcOrd="0" destOrd="0" presId="urn:microsoft.com/office/officeart/2005/8/layout/lProcess1"/>
    <dgm:cxn modelId="{C358B2B5-D7CE-4BC0-BB8F-4F9E99E84632}" type="presOf" srcId="{0847BF60-3CED-4000-80B5-C3CC104B1E1E}" destId="{7433CC79-DE51-4C30-90F1-6BA73D0F14E1}" srcOrd="0" destOrd="0" presId="urn:microsoft.com/office/officeart/2005/8/layout/lProcess1"/>
    <dgm:cxn modelId="{3595F0BA-837B-477C-8F55-642E5E37AC4E}" srcId="{436E2339-9111-464F-A778-5EC2F39E9635}" destId="{E3BBC3C9-44F9-4A9D-951B-9D52F6131295}" srcOrd="2" destOrd="0" parTransId="{4EB2BEB4-D270-47A9-962A-12B133D9F2CD}" sibTransId="{D26C7CC3-C841-4E74-8B1B-2958F4C881E6}"/>
    <dgm:cxn modelId="{2C112FBB-E460-458D-A4A6-75011FBCAF74}" type="presOf" srcId="{88859922-94A8-4B6F-B3F2-7A8AD7B6494E}" destId="{9E0CF61E-374D-4694-AEEE-EAE04D9AE779}" srcOrd="0" destOrd="0" presId="urn:microsoft.com/office/officeart/2005/8/layout/lProcess1"/>
    <dgm:cxn modelId="{0A60E3C0-0645-4C7A-A5D5-CE0772522168}" type="presOf" srcId="{436E2339-9111-464F-A778-5EC2F39E9635}" destId="{7C8D2CF0-8E3A-4BE0-846D-ACEC70E7D70A}" srcOrd="0" destOrd="0" presId="urn:microsoft.com/office/officeart/2005/8/layout/lProcess1"/>
    <dgm:cxn modelId="{D71CAAC2-AE76-4D6B-9407-BB35160FCC54}" type="presOf" srcId="{E3BBC3C9-44F9-4A9D-951B-9D52F6131295}" destId="{72955820-CB87-43BF-B641-694887B3F165}" srcOrd="0" destOrd="0" presId="urn:microsoft.com/office/officeart/2005/8/layout/lProcess1"/>
    <dgm:cxn modelId="{92BE55C4-6600-4E41-BDB6-22268793B8E9}" srcId="{D6C7CF60-1294-47A7-94A9-EA02714C48A4}" destId="{267BF024-F178-46D9-BC24-D4182E1A39BE}" srcOrd="2" destOrd="0" parTransId="{304DD647-8C1C-44BA-8033-A7966D2DE259}" sibTransId="{99DA28C5-E88D-4015-99D6-130E4D35E4FD}"/>
    <dgm:cxn modelId="{B1CF6ACD-B49E-4FAE-872D-1D8037DD342C}" type="presOf" srcId="{75AEF210-FC66-4A88-BFD5-304683BFCC61}" destId="{3A659B7A-FA3C-4D99-98D0-540225BC58D1}" srcOrd="0" destOrd="0" presId="urn:microsoft.com/office/officeart/2005/8/layout/lProcess1"/>
    <dgm:cxn modelId="{DD9C05CF-D04E-4EC4-A30C-C49F71FC9C91}" type="presOf" srcId="{873E3EA8-C08B-48BB-86AF-73D8E1A4E9E4}" destId="{BF173829-614E-4ECE-BFAA-46FCF5502E32}" srcOrd="0" destOrd="0" presId="urn:microsoft.com/office/officeart/2005/8/layout/lProcess1"/>
    <dgm:cxn modelId="{630022D0-C96D-4D2F-85E3-AD7A3603590C}" type="presOf" srcId="{F3FDF783-577E-4839-8556-2C5222E8C681}" destId="{71CA44BE-305C-4659-80A3-A8C7605D9161}" srcOrd="0" destOrd="0" presId="urn:microsoft.com/office/officeart/2005/8/layout/lProcess1"/>
    <dgm:cxn modelId="{117F43D3-2DBC-467F-8807-F3F5C826FBB2}" type="presOf" srcId="{64A3AE3A-B4BA-4FF1-A927-5BF17124E93C}" destId="{DFB9F8AB-2FC0-417B-B101-D735AFF0E673}" srcOrd="0" destOrd="0" presId="urn:microsoft.com/office/officeart/2005/8/layout/lProcess1"/>
    <dgm:cxn modelId="{BD4708DE-C9D9-4637-984D-62625CECCA26}" srcId="{436E2339-9111-464F-A778-5EC2F39E9635}" destId="{A2407599-20A2-48D2-9E66-99E8A907DBA6}" srcOrd="1" destOrd="0" parTransId="{A42C0953-AD49-48C3-AAEE-31E458E2FB69}" sibTransId="{3B902D3F-C4EF-44AE-8E5B-097C2A8B4D4B}"/>
    <dgm:cxn modelId="{56DC8DE0-EE26-468E-9B16-27B41E79D8B2}" srcId="{F3FDF783-577E-4839-8556-2C5222E8C681}" destId="{F66412C2-CBE0-44DC-AA31-45AEA11DCE5B}" srcOrd="0" destOrd="0" parTransId="{568E976C-BA27-4994-9994-E5A26911F4FB}" sibTransId="{85CFE4E2-D59E-4EAC-B972-5E61220A212C}"/>
    <dgm:cxn modelId="{4141EEED-9BCB-4345-A8B7-8232B44C8D7F}" type="presOf" srcId="{C22A570C-0827-432F-B9F3-38CF7343B5B8}" destId="{CE0AE0C1-984B-4B79-9363-F49DA8F29EF0}" srcOrd="0" destOrd="0" presId="urn:microsoft.com/office/officeart/2005/8/layout/lProcess1"/>
    <dgm:cxn modelId="{F13831F0-37ED-41CB-97AC-285DDB2DF399}" type="presOf" srcId="{36890A46-5A23-47D8-9E42-2F73C693EA85}" destId="{1A99C0C6-5711-4D67-B7FD-8FD57D93EB1C}" srcOrd="0" destOrd="0" presId="urn:microsoft.com/office/officeart/2005/8/layout/lProcess1"/>
    <dgm:cxn modelId="{33DA6014-32B3-4CD1-A6CC-5EC1DB1972D3}" type="presParOf" srcId="{165A19A5-79D5-4CAF-BAAF-018EE0409782}" destId="{518D1441-6E06-41E0-9A1E-E974D8E5BC5E}" srcOrd="0" destOrd="0" presId="urn:microsoft.com/office/officeart/2005/8/layout/lProcess1"/>
    <dgm:cxn modelId="{B692A1A2-A93B-4C61-9C52-BF93F72DE5F6}" type="presParOf" srcId="{518D1441-6E06-41E0-9A1E-E974D8E5BC5E}" destId="{71CA44BE-305C-4659-80A3-A8C7605D9161}" srcOrd="0" destOrd="0" presId="urn:microsoft.com/office/officeart/2005/8/layout/lProcess1"/>
    <dgm:cxn modelId="{B8C9AA18-4742-4A72-A109-7F518150119B}" type="presParOf" srcId="{518D1441-6E06-41E0-9A1E-E974D8E5BC5E}" destId="{D038F78F-E360-43CA-A917-0F78E87CDF94}" srcOrd="1" destOrd="0" presId="urn:microsoft.com/office/officeart/2005/8/layout/lProcess1"/>
    <dgm:cxn modelId="{BA5783DB-7341-4EFD-937C-4948E1569242}" type="presParOf" srcId="{518D1441-6E06-41E0-9A1E-E974D8E5BC5E}" destId="{CC457705-1E67-4BB0-9740-3136DDCE8D57}" srcOrd="2" destOrd="0" presId="urn:microsoft.com/office/officeart/2005/8/layout/lProcess1"/>
    <dgm:cxn modelId="{C8CDE919-01B7-4C4A-8A36-A18662DD4141}" type="presParOf" srcId="{518D1441-6E06-41E0-9A1E-E974D8E5BC5E}" destId="{9C1D28ED-89C9-462D-9782-7C8C71B528C8}" srcOrd="3" destOrd="0" presId="urn:microsoft.com/office/officeart/2005/8/layout/lProcess1"/>
    <dgm:cxn modelId="{F1A97A2B-E7A7-47A0-BBF1-68945C0C435B}" type="presParOf" srcId="{518D1441-6E06-41E0-9A1E-E974D8E5BC5E}" destId="{E2D65F9D-1DD1-4DED-ACE5-AB397A8CCA7E}" srcOrd="4" destOrd="0" presId="urn:microsoft.com/office/officeart/2005/8/layout/lProcess1"/>
    <dgm:cxn modelId="{91CB98E5-A62E-41E5-9B84-FC72244848E0}" type="presParOf" srcId="{518D1441-6E06-41E0-9A1E-E974D8E5BC5E}" destId="{CE0AE0C1-984B-4B79-9363-F49DA8F29EF0}" srcOrd="5" destOrd="0" presId="urn:microsoft.com/office/officeart/2005/8/layout/lProcess1"/>
    <dgm:cxn modelId="{05961464-DA0A-43C8-90DD-BDBFEDEBE017}" type="presParOf" srcId="{518D1441-6E06-41E0-9A1E-E974D8E5BC5E}" destId="{1A99C0C6-5711-4D67-B7FD-8FD57D93EB1C}" srcOrd="6" destOrd="0" presId="urn:microsoft.com/office/officeart/2005/8/layout/lProcess1"/>
    <dgm:cxn modelId="{D7A02A66-1DB6-4DA3-A40E-44B979B42330}" type="presParOf" srcId="{518D1441-6E06-41E0-9A1E-E974D8E5BC5E}" destId="{B3BC53DD-A848-477A-97E1-280DA43E683B}" srcOrd="7" destOrd="0" presId="urn:microsoft.com/office/officeart/2005/8/layout/lProcess1"/>
    <dgm:cxn modelId="{1BE5B580-B911-47E0-A75A-6207978BC31C}" type="presParOf" srcId="{518D1441-6E06-41E0-9A1E-E974D8E5BC5E}" destId="{D346B313-E1C2-4E31-87AB-DE384213CEF5}" srcOrd="8" destOrd="0" presId="urn:microsoft.com/office/officeart/2005/8/layout/lProcess1"/>
    <dgm:cxn modelId="{BC371A1D-7293-4A96-85F8-3B117582AB46}" type="presParOf" srcId="{165A19A5-79D5-4CAF-BAAF-018EE0409782}" destId="{7DA0537E-BA7E-47ED-A07B-2CB1D93614C7}" srcOrd="1" destOrd="0" presId="urn:microsoft.com/office/officeart/2005/8/layout/lProcess1"/>
    <dgm:cxn modelId="{C40D786E-62A7-40E4-8A13-A6EB8011A17E}" type="presParOf" srcId="{165A19A5-79D5-4CAF-BAAF-018EE0409782}" destId="{25C4B124-F3E8-4DEF-B14F-BDB95EE353C1}" srcOrd="2" destOrd="0" presId="urn:microsoft.com/office/officeart/2005/8/layout/lProcess1"/>
    <dgm:cxn modelId="{11CF040B-7F5C-4286-B7F6-FA07E7BC03F1}" type="presParOf" srcId="{25C4B124-F3E8-4DEF-B14F-BDB95EE353C1}" destId="{7C8D2CF0-8E3A-4BE0-846D-ACEC70E7D70A}" srcOrd="0" destOrd="0" presId="urn:microsoft.com/office/officeart/2005/8/layout/lProcess1"/>
    <dgm:cxn modelId="{97A94C7C-2B70-42C5-A294-B7EB2C8718C1}" type="presParOf" srcId="{25C4B124-F3E8-4DEF-B14F-BDB95EE353C1}" destId="{7433CC79-DE51-4C30-90F1-6BA73D0F14E1}" srcOrd="1" destOrd="0" presId="urn:microsoft.com/office/officeart/2005/8/layout/lProcess1"/>
    <dgm:cxn modelId="{2FA2C194-C47D-4F8D-9242-37D169F34ED7}" type="presParOf" srcId="{25C4B124-F3E8-4DEF-B14F-BDB95EE353C1}" destId="{DFB9F8AB-2FC0-417B-B101-D735AFF0E673}" srcOrd="2" destOrd="0" presId="urn:microsoft.com/office/officeart/2005/8/layout/lProcess1"/>
    <dgm:cxn modelId="{E6B1B9BE-833C-4823-B7CE-60FFFE69DDCE}" type="presParOf" srcId="{25C4B124-F3E8-4DEF-B14F-BDB95EE353C1}" destId="{BF173829-614E-4ECE-BFAA-46FCF5502E32}" srcOrd="3" destOrd="0" presId="urn:microsoft.com/office/officeart/2005/8/layout/lProcess1"/>
    <dgm:cxn modelId="{BA70487D-B186-4AA2-B2CF-DE0FCA46A9D2}" type="presParOf" srcId="{25C4B124-F3E8-4DEF-B14F-BDB95EE353C1}" destId="{4B8929CB-0165-4CE8-A7F1-844C3C7B60AF}" srcOrd="4" destOrd="0" presId="urn:microsoft.com/office/officeart/2005/8/layout/lProcess1"/>
    <dgm:cxn modelId="{E97A1919-C2F6-46C0-BEC8-93D9BA8FE7CA}" type="presParOf" srcId="{25C4B124-F3E8-4DEF-B14F-BDB95EE353C1}" destId="{83275A3A-2C7F-4E9D-9459-C5F221B72E54}" srcOrd="5" destOrd="0" presId="urn:microsoft.com/office/officeart/2005/8/layout/lProcess1"/>
    <dgm:cxn modelId="{1744AA1B-710A-437D-81BA-47F5A4D27F43}" type="presParOf" srcId="{25C4B124-F3E8-4DEF-B14F-BDB95EE353C1}" destId="{72955820-CB87-43BF-B641-694887B3F165}" srcOrd="6" destOrd="0" presId="urn:microsoft.com/office/officeart/2005/8/layout/lProcess1"/>
    <dgm:cxn modelId="{6C36D6DB-FDBA-4270-ABC0-DF6584A80DCF}" type="presParOf" srcId="{165A19A5-79D5-4CAF-BAAF-018EE0409782}" destId="{1BE7B21D-BA8C-4298-A4E2-FB474950DDFE}" srcOrd="3" destOrd="0" presId="urn:microsoft.com/office/officeart/2005/8/layout/lProcess1"/>
    <dgm:cxn modelId="{952637C7-4387-4DC4-BC0A-8D902DFFB59D}" type="presParOf" srcId="{165A19A5-79D5-4CAF-BAAF-018EE0409782}" destId="{CC1C9A33-6C30-49EF-A3BE-1F784FF27B49}" srcOrd="4" destOrd="0" presId="urn:microsoft.com/office/officeart/2005/8/layout/lProcess1"/>
    <dgm:cxn modelId="{0E7A9A28-C80D-4C35-9A9D-38024D7AB13D}" type="presParOf" srcId="{CC1C9A33-6C30-49EF-A3BE-1F784FF27B49}" destId="{85646ABB-2D3A-4085-A8BB-F8F06057A7D7}" srcOrd="0" destOrd="0" presId="urn:microsoft.com/office/officeart/2005/8/layout/lProcess1"/>
    <dgm:cxn modelId="{E9AB414D-3188-4AE8-9250-8B9849D6AE14}" type="presParOf" srcId="{CC1C9A33-6C30-49EF-A3BE-1F784FF27B49}" destId="{F3B785AE-9F64-4575-B4F7-2941A9A1A190}" srcOrd="1" destOrd="0" presId="urn:microsoft.com/office/officeart/2005/8/layout/lProcess1"/>
    <dgm:cxn modelId="{8BEDCDAE-F5CD-4E39-BAB4-5ACF5C46F63A}" type="presParOf" srcId="{CC1C9A33-6C30-49EF-A3BE-1F784FF27B49}" destId="{E73F3EAA-332B-4091-8F06-2EBB3864DC21}" srcOrd="2" destOrd="0" presId="urn:microsoft.com/office/officeart/2005/8/layout/lProcess1"/>
    <dgm:cxn modelId="{289B65EF-036F-4B09-87F8-CC101B731267}" type="presParOf" srcId="{CC1C9A33-6C30-49EF-A3BE-1F784FF27B49}" destId="{3A659B7A-FA3C-4D99-98D0-540225BC58D1}" srcOrd="3" destOrd="0" presId="urn:microsoft.com/office/officeart/2005/8/layout/lProcess1"/>
    <dgm:cxn modelId="{85A5C879-A47F-49E5-9292-51837624B150}" type="presParOf" srcId="{CC1C9A33-6C30-49EF-A3BE-1F784FF27B49}" destId="{9E0CF61E-374D-4694-AEEE-EAE04D9AE779}"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126AA2-1248-4771-91E6-3DFF5E899C42}"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s-ES"/>
        </a:p>
      </dgm:t>
    </dgm:pt>
    <dgm:pt modelId="{D525CFA6-8579-4042-A9C0-BB324069C6EF}">
      <dgm:prSet phldrT="[Texto]"/>
      <dgm:spPr/>
      <dgm:t>
        <a:bodyPr/>
        <a:lstStyle/>
        <a:p>
          <a:r>
            <a:rPr lang="es-ES" dirty="0"/>
            <a:t>Evaluación de la precisión temporal de las trayectorias</a:t>
          </a:r>
        </a:p>
      </dgm:t>
    </dgm:pt>
    <dgm:pt modelId="{3A7979B0-2AB4-4A2B-AE97-935D77064F21}" type="parTrans" cxnId="{AB975F93-3C0D-464C-93BD-1CE9B1BC2549}">
      <dgm:prSet/>
      <dgm:spPr/>
      <dgm:t>
        <a:bodyPr/>
        <a:lstStyle/>
        <a:p>
          <a:endParaRPr lang="es-ES"/>
        </a:p>
      </dgm:t>
    </dgm:pt>
    <dgm:pt modelId="{8D89FAF6-A049-48BD-9249-24BC86464629}" type="sibTrans" cxnId="{AB975F93-3C0D-464C-93BD-1CE9B1BC2549}">
      <dgm:prSet/>
      <dgm:spPr/>
      <dgm:t>
        <a:bodyPr/>
        <a:lstStyle/>
        <a:p>
          <a:endParaRPr lang="es-ES"/>
        </a:p>
      </dgm:t>
    </dgm:pt>
    <dgm:pt modelId="{6664D5DF-3DC5-48A7-A7A9-CDA8CC607C45}">
      <dgm:prSet phldrT="[Texto]"/>
      <dgm:spPr/>
      <dgm:t>
        <a:bodyPr/>
        <a:lstStyle/>
        <a:p>
          <a:r>
            <a:rPr lang="es-ES" dirty="0"/>
            <a:t>MAE</a:t>
          </a:r>
        </a:p>
      </dgm:t>
    </dgm:pt>
    <dgm:pt modelId="{79F0D222-51CE-4177-89F6-ABFDD7EB601C}" type="parTrans" cxnId="{A499C471-DA88-4583-A3F8-6A64D2509910}">
      <dgm:prSet/>
      <dgm:spPr/>
      <dgm:t>
        <a:bodyPr/>
        <a:lstStyle/>
        <a:p>
          <a:endParaRPr lang="es-ES"/>
        </a:p>
      </dgm:t>
    </dgm:pt>
    <dgm:pt modelId="{116DBC40-8B71-45CB-8D6E-DF9432DE627A}" type="sibTrans" cxnId="{A499C471-DA88-4583-A3F8-6A64D2509910}">
      <dgm:prSet/>
      <dgm:spPr/>
      <dgm:t>
        <a:bodyPr/>
        <a:lstStyle/>
        <a:p>
          <a:endParaRPr lang="es-ES"/>
        </a:p>
      </dgm:t>
    </dgm:pt>
    <dgm:pt modelId="{0086B4D9-B1EF-4D8F-A8FE-D2C5F015D85A}">
      <dgm:prSet phldrT="[Texto]"/>
      <dgm:spPr/>
      <dgm:t>
        <a:bodyPr/>
        <a:lstStyle/>
        <a:p>
          <a:r>
            <a:rPr lang="es-ES" dirty="0"/>
            <a:t>NMAE</a:t>
          </a:r>
        </a:p>
      </dgm:t>
    </dgm:pt>
    <dgm:pt modelId="{5A507F67-6FDA-4289-8007-9FB6E1993AFD}" type="parTrans" cxnId="{9BFAC02E-0DA7-4FE5-8D86-BD77848BF306}">
      <dgm:prSet/>
      <dgm:spPr/>
      <dgm:t>
        <a:bodyPr/>
        <a:lstStyle/>
        <a:p>
          <a:endParaRPr lang="es-ES"/>
        </a:p>
      </dgm:t>
    </dgm:pt>
    <dgm:pt modelId="{541A0D47-2859-4300-8F08-9A1F26DA48F4}" type="sibTrans" cxnId="{9BFAC02E-0DA7-4FE5-8D86-BD77848BF306}">
      <dgm:prSet/>
      <dgm:spPr/>
      <dgm:t>
        <a:bodyPr/>
        <a:lstStyle/>
        <a:p>
          <a:endParaRPr lang="es-ES"/>
        </a:p>
      </dgm:t>
    </dgm:pt>
    <dgm:pt modelId="{BD583E73-7223-42A2-92F0-665A787F6449}">
      <dgm:prSet phldrT="[Texto]"/>
      <dgm:spPr/>
      <dgm:t>
        <a:bodyPr/>
        <a:lstStyle/>
        <a:p>
          <a:r>
            <a:rPr lang="es-ES" dirty="0"/>
            <a:t>Evaluación del diagnóstico cognitivo</a:t>
          </a:r>
        </a:p>
      </dgm:t>
    </dgm:pt>
    <dgm:pt modelId="{C519F15B-038E-4BFC-B134-AFB956A61820}" type="parTrans" cxnId="{FE50A6B1-E2EA-4549-A3BF-0C54C8B8F962}">
      <dgm:prSet/>
      <dgm:spPr/>
      <dgm:t>
        <a:bodyPr/>
        <a:lstStyle/>
        <a:p>
          <a:endParaRPr lang="es-ES"/>
        </a:p>
      </dgm:t>
    </dgm:pt>
    <dgm:pt modelId="{B02A1B2C-9773-4116-992C-178F11D6A87D}" type="sibTrans" cxnId="{FE50A6B1-E2EA-4549-A3BF-0C54C8B8F962}">
      <dgm:prSet/>
      <dgm:spPr/>
      <dgm:t>
        <a:bodyPr/>
        <a:lstStyle/>
        <a:p>
          <a:endParaRPr lang="es-ES"/>
        </a:p>
      </dgm:t>
    </dgm:pt>
    <dgm:pt modelId="{3BC4671F-E6F9-41D9-B6B0-128D07BB2A2B}">
      <dgm:prSet phldrT="[Texto]"/>
      <dgm:spPr/>
      <dgm:t>
        <a:bodyPr/>
        <a:lstStyle/>
        <a:p>
          <a:r>
            <a:rPr lang="es-ES" dirty="0"/>
            <a:t>SCORES</a:t>
          </a:r>
        </a:p>
      </dgm:t>
    </dgm:pt>
    <dgm:pt modelId="{4B1E0CF3-A86C-43AD-89B9-AEAAEC5C258B}" type="parTrans" cxnId="{F2ABB84F-F6B3-4983-BF39-D7D1739DA5BF}">
      <dgm:prSet/>
      <dgm:spPr/>
      <dgm:t>
        <a:bodyPr/>
        <a:lstStyle/>
        <a:p>
          <a:endParaRPr lang="es-ES"/>
        </a:p>
      </dgm:t>
    </dgm:pt>
    <dgm:pt modelId="{2CC46EBE-1C46-4371-B042-D356B6621273}" type="sibTrans" cxnId="{F2ABB84F-F6B3-4983-BF39-D7D1739DA5BF}">
      <dgm:prSet/>
      <dgm:spPr/>
      <dgm:t>
        <a:bodyPr/>
        <a:lstStyle/>
        <a:p>
          <a:endParaRPr lang="es-ES"/>
        </a:p>
      </dgm:t>
    </dgm:pt>
    <dgm:pt modelId="{3C7F8250-BC79-4155-85CE-C93F56A2900D}" type="pres">
      <dgm:prSet presAssocID="{41126AA2-1248-4771-91E6-3DFF5E899C42}" presName="Name0" presStyleCnt="0">
        <dgm:presLayoutVars>
          <dgm:dir/>
          <dgm:animLvl val="lvl"/>
          <dgm:resizeHandles val="exact"/>
        </dgm:presLayoutVars>
      </dgm:prSet>
      <dgm:spPr/>
    </dgm:pt>
    <dgm:pt modelId="{7D6010EF-A70C-47B8-8E45-0C9D10FBFCE2}" type="pres">
      <dgm:prSet presAssocID="{D525CFA6-8579-4042-A9C0-BB324069C6EF}" presName="composite" presStyleCnt="0"/>
      <dgm:spPr/>
    </dgm:pt>
    <dgm:pt modelId="{607731BC-3D71-4ACC-837B-0A5A9766329E}" type="pres">
      <dgm:prSet presAssocID="{D525CFA6-8579-4042-A9C0-BB324069C6EF}" presName="parTx" presStyleLbl="alignNode1" presStyleIdx="0" presStyleCnt="2">
        <dgm:presLayoutVars>
          <dgm:chMax val="0"/>
          <dgm:chPref val="0"/>
          <dgm:bulletEnabled val="1"/>
        </dgm:presLayoutVars>
      </dgm:prSet>
      <dgm:spPr/>
    </dgm:pt>
    <dgm:pt modelId="{9996B268-0F61-4AED-B3BE-B8E5678D1A97}" type="pres">
      <dgm:prSet presAssocID="{D525CFA6-8579-4042-A9C0-BB324069C6EF}" presName="desTx" presStyleLbl="alignAccFollowNode1" presStyleIdx="0" presStyleCnt="2">
        <dgm:presLayoutVars>
          <dgm:bulletEnabled val="1"/>
        </dgm:presLayoutVars>
      </dgm:prSet>
      <dgm:spPr/>
    </dgm:pt>
    <dgm:pt modelId="{9E3CC405-2D1A-4E42-B6BE-957500231424}" type="pres">
      <dgm:prSet presAssocID="{8D89FAF6-A049-48BD-9249-24BC86464629}" presName="space" presStyleCnt="0"/>
      <dgm:spPr/>
    </dgm:pt>
    <dgm:pt modelId="{BB00D670-876D-411B-BDAD-0CD56D03B8AA}" type="pres">
      <dgm:prSet presAssocID="{BD583E73-7223-42A2-92F0-665A787F6449}" presName="composite" presStyleCnt="0"/>
      <dgm:spPr/>
    </dgm:pt>
    <dgm:pt modelId="{6BF57199-63BF-4665-99C8-EF36A075DBFA}" type="pres">
      <dgm:prSet presAssocID="{BD583E73-7223-42A2-92F0-665A787F6449}" presName="parTx" presStyleLbl="alignNode1" presStyleIdx="1" presStyleCnt="2">
        <dgm:presLayoutVars>
          <dgm:chMax val="0"/>
          <dgm:chPref val="0"/>
          <dgm:bulletEnabled val="1"/>
        </dgm:presLayoutVars>
      </dgm:prSet>
      <dgm:spPr/>
    </dgm:pt>
    <dgm:pt modelId="{78B02FAD-9121-4522-940F-80CD304D49E0}" type="pres">
      <dgm:prSet presAssocID="{BD583E73-7223-42A2-92F0-665A787F6449}" presName="desTx" presStyleLbl="alignAccFollowNode1" presStyleIdx="1" presStyleCnt="2">
        <dgm:presLayoutVars>
          <dgm:bulletEnabled val="1"/>
        </dgm:presLayoutVars>
      </dgm:prSet>
      <dgm:spPr/>
    </dgm:pt>
  </dgm:ptLst>
  <dgm:cxnLst>
    <dgm:cxn modelId="{54014C10-6D26-45C1-B4B7-DB1CD43640C2}" type="presOf" srcId="{0086B4D9-B1EF-4D8F-A8FE-D2C5F015D85A}" destId="{9996B268-0F61-4AED-B3BE-B8E5678D1A97}" srcOrd="0" destOrd="1" presId="urn:microsoft.com/office/officeart/2005/8/layout/hList1"/>
    <dgm:cxn modelId="{3189052C-2366-4BF9-B203-07811FD38E46}" type="presOf" srcId="{3BC4671F-E6F9-41D9-B6B0-128D07BB2A2B}" destId="{78B02FAD-9121-4522-940F-80CD304D49E0}" srcOrd="0" destOrd="0" presId="urn:microsoft.com/office/officeart/2005/8/layout/hList1"/>
    <dgm:cxn modelId="{9BFAC02E-0DA7-4FE5-8D86-BD77848BF306}" srcId="{D525CFA6-8579-4042-A9C0-BB324069C6EF}" destId="{0086B4D9-B1EF-4D8F-A8FE-D2C5F015D85A}" srcOrd="1" destOrd="0" parTransId="{5A507F67-6FDA-4289-8007-9FB6E1993AFD}" sibTransId="{541A0D47-2859-4300-8F08-9A1F26DA48F4}"/>
    <dgm:cxn modelId="{F2ABB84F-F6B3-4983-BF39-D7D1739DA5BF}" srcId="{BD583E73-7223-42A2-92F0-665A787F6449}" destId="{3BC4671F-E6F9-41D9-B6B0-128D07BB2A2B}" srcOrd="0" destOrd="0" parTransId="{4B1E0CF3-A86C-43AD-89B9-AEAAEC5C258B}" sibTransId="{2CC46EBE-1C46-4371-B042-D356B6621273}"/>
    <dgm:cxn modelId="{A499C471-DA88-4583-A3F8-6A64D2509910}" srcId="{D525CFA6-8579-4042-A9C0-BB324069C6EF}" destId="{6664D5DF-3DC5-48A7-A7A9-CDA8CC607C45}" srcOrd="0" destOrd="0" parTransId="{79F0D222-51CE-4177-89F6-ABFDD7EB601C}" sibTransId="{116DBC40-8B71-45CB-8D6E-DF9432DE627A}"/>
    <dgm:cxn modelId="{AB975F93-3C0D-464C-93BD-1CE9B1BC2549}" srcId="{41126AA2-1248-4771-91E6-3DFF5E899C42}" destId="{D525CFA6-8579-4042-A9C0-BB324069C6EF}" srcOrd="0" destOrd="0" parTransId="{3A7979B0-2AB4-4A2B-AE97-935D77064F21}" sibTransId="{8D89FAF6-A049-48BD-9249-24BC86464629}"/>
    <dgm:cxn modelId="{FE50A6B1-E2EA-4549-A3BF-0C54C8B8F962}" srcId="{41126AA2-1248-4771-91E6-3DFF5E899C42}" destId="{BD583E73-7223-42A2-92F0-665A787F6449}" srcOrd="1" destOrd="0" parTransId="{C519F15B-038E-4BFC-B134-AFB956A61820}" sibTransId="{B02A1B2C-9773-4116-992C-178F11D6A87D}"/>
    <dgm:cxn modelId="{945BFBB1-BB72-4FE8-B462-34EA91D0D4F7}" type="presOf" srcId="{D525CFA6-8579-4042-A9C0-BB324069C6EF}" destId="{607731BC-3D71-4ACC-837B-0A5A9766329E}" srcOrd="0" destOrd="0" presId="urn:microsoft.com/office/officeart/2005/8/layout/hList1"/>
    <dgm:cxn modelId="{CE9107C3-10F0-46E5-8624-9BB2CA57D0F7}" type="presOf" srcId="{41126AA2-1248-4771-91E6-3DFF5E899C42}" destId="{3C7F8250-BC79-4155-85CE-C93F56A2900D}" srcOrd="0" destOrd="0" presId="urn:microsoft.com/office/officeart/2005/8/layout/hList1"/>
    <dgm:cxn modelId="{B5E95EC6-C739-456A-8E06-C0B33AC207CF}" type="presOf" srcId="{BD583E73-7223-42A2-92F0-665A787F6449}" destId="{6BF57199-63BF-4665-99C8-EF36A075DBFA}" srcOrd="0" destOrd="0" presId="urn:microsoft.com/office/officeart/2005/8/layout/hList1"/>
    <dgm:cxn modelId="{362B52EC-606A-407F-A144-0C1D9C6BD347}" type="presOf" srcId="{6664D5DF-3DC5-48A7-A7A9-CDA8CC607C45}" destId="{9996B268-0F61-4AED-B3BE-B8E5678D1A97}" srcOrd="0" destOrd="0" presId="urn:microsoft.com/office/officeart/2005/8/layout/hList1"/>
    <dgm:cxn modelId="{8897AE07-B06F-406E-93B2-7F299CDBBD3E}" type="presParOf" srcId="{3C7F8250-BC79-4155-85CE-C93F56A2900D}" destId="{7D6010EF-A70C-47B8-8E45-0C9D10FBFCE2}" srcOrd="0" destOrd="0" presId="urn:microsoft.com/office/officeart/2005/8/layout/hList1"/>
    <dgm:cxn modelId="{1DC37390-6B69-47B9-801D-17BCBF97CE76}" type="presParOf" srcId="{7D6010EF-A70C-47B8-8E45-0C9D10FBFCE2}" destId="{607731BC-3D71-4ACC-837B-0A5A9766329E}" srcOrd="0" destOrd="0" presId="urn:microsoft.com/office/officeart/2005/8/layout/hList1"/>
    <dgm:cxn modelId="{6BDAF735-F213-47A3-95C3-A38A9940373F}" type="presParOf" srcId="{7D6010EF-A70C-47B8-8E45-0C9D10FBFCE2}" destId="{9996B268-0F61-4AED-B3BE-B8E5678D1A97}" srcOrd="1" destOrd="0" presId="urn:microsoft.com/office/officeart/2005/8/layout/hList1"/>
    <dgm:cxn modelId="{3ABF3A81-27B8-4C1E-AF9C-B66F427FBDAD}" type="presParOf" srcId="{3C7F8250-BC79-4155-85CE-C93F56A2900D}" destId="{9E3CC405-2D1A-4E42-B6BE-957500231424}" srcOrd="1" destOrd="0" presId="urn:microsoft.com/office/officeart/2005/8/layout/hList1"/>
    <dgm:cxn modelId="{D33E17AC-FD47-4723-80BB-746E07D9C1B1}" type="presParOf" srcId="{3C7F8250-BC79-4155-85CE-C93F56A2900D}" destId="{BB00D670-876D-411B-BDAD-0CD56D03B8AA}" srcOrd="2" destOrd="0" presId="urn:microsoft.com/office/officeart/2005/8/layout/hList1"/>
    <dgm:cxn modelId="{CB348152-CC14-4F91-AEFB-555CF9DD7260}" type="presParOf" srcId="{BB00D670-876D-411B-BDAD-0CD56D03B8AA}" destId="{6BF57199-63BF-4665-99C8-EF36A075DBFA}" srcOrd="0" destOrd="0" presId="urn:microsoft.com/office/officeart/2005/8/layout/hList1"/>
    <dgm:cxn modelId="{5D7D072D-4E6F-4C36-BB50-FEDFA49A6C36}" type="presParOf" srcId="{BB00D670-876D-411B-BDAD-0CD56D03B8AA}" destId="{78B02FAD-9121-4522-940F-80CD304D49E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CA44BE-305C-4659-80A3-A8C7605D9161}">
      <dsp:nvSpPr>
        <dsp:cNvPr id="0" name=""/>
        <dsp:cNvSpPr/>
      </dsp:nvSpPr>
      <dsp:spPr>
        <a:xfrm>
          <a:off x="389924" y="0"/>
          <a:ext cx="2272324" cy="4861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ADAPTACIÓN DATOS</a:t>
          </a:r>
        </a:p>
      </dsp:txBody>
      <dsp:txXfrm>
        <a:off x="404163" y="14239"/>
        <a:ext cx="2243846" cy="457668"/>
      </dsp:txXfrm>
    </dsp:sp>
    <dsp:sp modelId="{D038F78F-E360-43CA-A917-0F78E87CDF94}">
      <dsp:nvSpPr>
        <dsp:cNvPr id="0" name=""/>
        <dsp:cNvSpPr/>
      </dsp:nvSpPr>
      <dsp:spPr>
        <a:xfrm rot="5400000">
          <a:off x="1483548" y="528683"/>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C457705-1E67-4BB0-9740-3136DDCE8D57}">
      <dsp:nvSpPr>
        <dsp:cNvPr id="0" name=""/>
        <dsp:cNvSpPr/>
      </dsp:nvSpPr>
      <dsp:spPr>
        <a:xfrm>
          <a:off x="489058" y="656297"/>
          <a:ext cx="2074054"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ELIMINAR VALORES  </a:t>
          </a:r>
          <a:r>
            <a:rPr lang="es-ES" sz="1500" i="1" kern="1200" dirty="0" err="1"/>
            <a:t>Nan</a:t>
          </a:r>
          <a:endParaRPr lang="es-ES" sz="1500" i="1" kern="1200" dirty="0"/>
        </a:p>
      </dsp:txBody>
      <dsp:txXfrm>
        <a:off x="503297" y="670536"/>
        <a:ext cx="2045576" cy="457668"/>
      </dsp:txXfrm>
    </dsp:sp>
    <dsp:sp modelId="{9C1D28ED-89C9-462D-9782-7C8C71B528C8}">
      <dsp:nvSpPr>
        <dsp:cNvPr id="0" name=""/>
        <dsp:cNvSpPr/>
      </dsp:nvSpPr>
      <dsp:spPr>
        <a:xfrm rot="5400000">
          <a:off x="1483548" y="1184981"/>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D65F9D-1DD1-4DED-ACE5-AB397A8CCA7E}">
      <dsp:nvSpPr>
        <dsp:cNvPr id="0" name=""/>
        <dsp:cNvSpPr/>
      </dsp:nvSpPr>
      <dsp:spPr>
        <a:xfrm>
          <a:off x="553794" y="1312594"/>
          <a:ext cx="1944584"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NORMALIZAR</a:t>
          </a:r>
        </a:p>
      </dsp:txBody>
      <dsp:txXfrm>
        <a:off x="568033" y="1326833"/>
        <a:ext cx="1916106" cy="457668"/>
      </dsp:txXfrm>
    </dsp:sp>
    <dsp:sp modelId="{CE0AE0C1-984B-4B79-9363-F49DA8F29EF0}">
      <dsp:nvSpPr>
        <dsp:cNvPr id="0" name=""/>
        <dsp:cNvSpPr/>
      </dsp:nvSpPr>
      <dsp:spPr>
        <a:xfrm rot="5400000">
          <a:off x="1483548" y="1841278"/>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A99C0C6-5711-4D67-B7FD-8FD57D93EB1C}">
      <dsp:nvSpPr>
        <dsp:cNvPr id="0" name=""/>
        <dsp:cNvSpPr/>
      </dsp:nvSpPr>
      <dsp:spPr>
        <a:xfrm>
          <a:off x="553794" y="1968891"/>
          <a:ext cx="1944584"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AGRUPAR</a:t>
          </a:r>
        </a:p>
      </dsp:txBody>
      <dsp:txXfrm>
        <a:off x="568033" y="1983130"/>
        <a:ext cx="1916106" cy="457668"/>
      </dsp:txXfrm>
    </dsp:sp>
    <dsp:sp modelId="{B3BC53DD-A848-477A-97E1-280DA43E683B}">
      <dsp:nvSpPr>
        <dsp:cNvPr id="0" name=""/>
        <dsp:cNvSpPr/>
      </dsp:nvSpPr>
      <dsp:spPr>
        <a:xfrm rot="5400000">
          <a:off x="1483548" y="2497575"/>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346B313-E1C2-4E31-87AB-DE384213CEF5}">
      <dsp:nvSpPr>
        <dsp:cNvPr id="0" name=""/>
        <dsp:cNvSpPr/>
      </dsp:nvSpPr>
      <dsp:spPr>
        <a:xfrm>
          <a:off x="553794" y="2625188"/>
          <a:ext cx="1944584"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DIAGNÓSTICO</a:t>
          </a:r>
        </a:p>
      </dsp:txBody>
      <dsp:txXfrm>
        <a:off x="568033" y="2639427"/>
        <a:ext cx="1916106" cy="457668"/>
      </dsp:txXfrm>
    </dsp:sp>
    <dsp:sp modelId="{7C8D2CF0-8E3A-4BE0-846D-ACEC70E7D70A}">
      <dsp:nvSpPr>
        <dsp:cNvPr id="0" name=""/>
        <dsp:cNvSpPr/>
      </dsp:nvSpPr>
      <dsp:spPr>
        <a:xfrm>
          <a:off x="2934490" y="0"/>
          <a:ext cx="2417798" cy="5006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    ESTIMACIÓN </a:t>
          </a:r>
          <a:r>
            <a:rPr lang="es-ES" sz="1700" b="1" kern="1200" dirty="0" err="1"/>
            <a:t>DPMs</a:t>
          </a:r>
          <a:r>
            <a:rPr lang="es-ES" sz="1700" b="1" kern="1200" dirty="0"/>
            <a:t>	</a:t>
          </a:r>
        </a:p>
      </dsp:txBody>
      <dsp:txXfrm>
        <a:off x="2949152" y="14662"/>
        <a:ext cx="2388474" cy="471284"/>
      </dsp:txXfrm>
    </dsp:sp>
    <dsp:sp modelId="{7433CC79-DE51-4C30-90F1-6BA73D0F14E1}">
      <dsp:nvSpPr>
        <dsp:cNvPr id="0" name=""/>
        <dsp:cNvSpPr/>
      </dsp:nvSpPr>
      <dsp:spPr>
        <a:xfrm rot="5400000">
          <a:off x="4100852" y="543146"/>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FB9F8AB-2FC0-417B-B101-D735AFF0E673}">
      <dsp:nvSpPr>
        <dsp:cNvPr id="0" name=""/>
        <dsp:cNvSpPr/>
      </dsp:nvSpPr>
      <dsp:spPr>
        <a:xfrm>
          <a:off x="2944845" y="670760"/>
          <a:ext cx="2397089"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CALIBRACIÓN </a:t>
          </a:r>
          <a:r>
            <a:rPr lang="es-ES" sz="1500" kern="1200" dirty="0">
              <a:sym typeface="Wingdings" panose="05000000000000000000" pitchFamily="2" charset="2"/>
            </a:rPr>
            <a:t> </a:t>
          </a:r>
          <a:r>
            <a:rPr lang="es-ES" sz="1500" i="1" kern="1200" dirty="0">
              <a:sym typeface="Wingdings" panose="05000000000000000000" pitchFamily="2" charset="2"/>
            </a:rPr>
            <a:t>Long-</a:t>
          </a:r>
          <a:r>
            <a:rPr lang="es-ES" sz="1500" i="1" kern="1200" dirty="0" err="1">
              <a:sym typeface="Wingdings" panose="05000000000000000000" pitchFamily="2" charset="2"/>
            </a:rPr>
            <a:t>term</a:t>
          </a:r>
          <a:endParaRPr lang="es-ES" sz="1500" i="1" kern="1200" dirty="0"/>
        </a:p>
      </dsp:txBody>
      <dsp:txXfrm>
        <a:off x="2959084" y="684999"/>
        <a:ext cx="2368611" cy="457668"/>
      </dsp:txXfrm>
    </dsp:sp>
    <dsp:sp modelId="{BF173829-614E-4ECE-BFAA-46FCF5502E32}">
      <dsp:nvSpPr>
        <dsp:cNvPr id="0" name=""/>
        <dsp:cNvSpPr/>
      </dsp:nvSpPr>
      <dsp:spPr>
        <a:xfrm rot="5400000">
          <a:off x="4100852" y="1199443"/>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8929CB-0165-4CE8-A7F1-844C3C7B60AF}">
      <dsp:nvSpPr>
        <dsp:cNvPr id="0" name=""/>
        <dsp:cNvSpPr/>
      </dsp:nvSpPr>
      <dsp:spPr>
        <a:xfrm>
          <a:off x="2956717" y="1327057"/>
          <a:ext cx="2373345"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PERSONALIZACIÓN</a:t>
          </a:r>
        </a:p>
      </dsp:txBody>
      <dsp:txXfrm>
        <a:off x="2970956" y="1341296"/>
        <a:ext cx="2344867" cy="457668"/>
      </dsp:txXfrm>
    </dsp:sp>
    <dsp:sp modelId="{83275A3A-2C7F-4E9D-9459-C5F221B72E54}">
      <dsp:nvSpPr>
        <dsp:cNvPr id="0" name=""/>
        <dsp:cNvSpPr/>
      </dsp:nvSpPr>
      <dsp:spPr>
        <a:xfrm rot="5400000">
          <a:off x="4100852" y="1855741"/>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955820-CB87-43BF-B641-694887B3F165}">
      <dsp:nvSpPr>
        <dsp:cNvPr id="0" name=""/>
        <dsp:cNvSpPr/>
      </dsp:nvSpPr>
      <dsp:spPr>
        <a:xfrm>
          <a:off x="2956717" y="1983354"/>
          <a:ext cx="2373345"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PREDICCIÓN </a:t>
          </a:r>
          <a:r>
            <a:rPr lang="es-ES" sz="1500" kern="1200" dirty="0">
              <a:sym typeface="Wingdings" panose="05000000000000000000" pitchFamily="2" charset="2"/>
            </a:rPr>
            <a:t> </a:t>
          </a:r>
          <a:r>
            <a:rPr lang="es-ES" sz="1500" i="1" kern="1200" dirty="0">
              <a:sym typeface="Wingdings" panose="05000000000000000000" pitchFamily="2" charset="2"/>
            </a:rPr>
            <a:t>Short-</a:t>
          </a:r>
          <a:r>
            <a:rPr lang="es-ES" sz="1500" i="1" kern="1200" dirty="0" err="1">
              <a:sym typeface="Wingdings" panose="05000000000000000000" pitchFamily="2" charset="2"/>
            </a:rPr>
            <a:t>term</a:t>
          </a:r>
          <a:endParaRPr lang="es-ES" sz="1500" i="1" kern="1200" dirty="0"/>
        </a:p>
      </dsp:txBody>
      <dsp:txXfrm>
        <a:off x="2970956" y="1997593"/>
        <a:ext cx="2344867" cy="457668"/>
      </dsp:txXfrm>
    </dsp:sp>
    <dsp:sp modelId="{85646ABB-2D3A-4085-A8BB-F8F06057A7D7}">
      <dsp:nvSpPr>
        <dsp:cNvPr id="0" name=""/>
        <dsp:cNvSpPr/>
      </dsp:nvSpPr>
      <dsp:spPr>
        <a:xfrm>
          <a:off x="5624531" y="0"/>
          <a:ext cx="2389349" cy="4861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PRESTACIONES </a:t>
          </a:r>
          <a:r>
            <a:rPr lang="es-ES" sz="1700" b="1" kern="1200" dirty="0" err="1"/>
            <a:t>DPMs</a:t>
          </a:r>
          <a:endParaRPr lang="es-ES" sz="1700" b="1" kern="1200" dirty="0"/>
        </a:p>
      </dsp:txBody>
      <dsp:txXfrm>
        <a:off x="5638770" y="14239"/>
        <a:ext cx="2360871" cy="457668"/>
      </dsp:txXfrm>
    </dsp:sp>
    <dsp:sp modelId="{F3B785AE-9F64-4575-B4F7-2941A9A1A190}">
      <dsp:nvSpPr>
        <dsp:cNvPr id="0" name=""/>
        <dsp:cNvSpPr/>
      </dsp:nvSpPr>
      <dsp:spPr>
        <a:xfrm rot="5400000">
          <a:off x="6776668" y="528683"/>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3F3EAA-332B-4091-8F06-2EBB3864DC21}">
      <dsp:nvSpPr>
        <dsp:cNvPr id="0" name=""/>
        <dsp:cNvSpPr/>
      </dsp:nvSpPr>
      <dsp:spPr>
        <a:xfrm>
          <a:off x="5846913" y="656297"/>
          <a:ext cx="1944584"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MAE/NMAE</a:t>
          </a:r>
        </a:p>
      </dsp:txBody>
      <dsp:txXfrm>
        <a:off x="5861152" y="670536"/>
        <a:ext cx="1916106" cy="457668"/>
      </dsp:txXfrm>
    </dsp:sp>
    <dsp:sp modelId="{3A659B7A-FA3C-4D99-98D0-540225BC58D1}">
      <dsp:nvSpPr>
        <dsp:cNvPr id="0" name=""/>
        <dsp:cNvSpPr/>
      </dsp:nvSpPr>
      <dsp:spPr>
        <a:xfrm rot="5400000">
          <a:off x="6776668" y="1184981"/>
          <a:ext cx="85075" cy="8507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0CF61E-374D-4694-AEEE-EAE04D9AE779}">
      <dsp:nvSpPr>
        <dsp:cNvPr id="0" name=""/>
        <dsp:cNvSpPr/>
      </dsp:nvSpPr>
      <dsp:spPr>
        <a:xfrm>
          <a:off x="5846913" y="1312594"/>
          <a:ext cx="1944584" cy="48614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SCORES</a:t>
          </a:r>
        </a:p>
      </dsp:txBody>
      <dsp:txXfrm>
        <a:off x="5861152" y="1326833"/>
        <a:ext cx="1916106" cy="4576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731BC-3D71-4ACC-837B-0A5A9766329E}">
      <dsp:nvSpPr>
        <dsp:cNvPr id="0" name=""/>
        <dsp:cNvSpPr/>
      </dsp:nvSpPr>
      <dsp:spPr>
        <a:xfrm>
          <a:off x="29" y="475709"/>
          <a:ext cx="2848570" cy="112452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s-ES" sz="2300" kern="1200" dirty="0"/>
            <a:t>Evaluación de la precisión temporal de las trayectorias</a:t>
          </a:r>
        </a:p>
      </dsp:txBody>
      <dsp:txXfrm>
        <a:off x="29" y="475709"/>
        <a:ext cx="2848570" cy="1124520"/>
      </dsp:txXfrm>
    </dsp:sp>
    <dsp:sp modelId="{9996B268-0F61-4AED-B3BE-B8E5678D1A97}">
      <dsp:nvSpPr>
        <dsp:cNvPr id="0" name=""/>
        <dsp:cNvSpPr/>
      </dsp:nvSpPr>
      <dsp:spPr>
        <a:xfrm>
          <a:off x="29" y="1600230"/>
          <a:ext cx="2848570" cy="1010160"/>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s-ES" sz="2300" kern="1200" dirty="0"/>
            <a:t>MAE</a:t>
          </a:r>
        </a:p>
        <a:p>
          <a:pPr marL="228600" lvl="1" indent="-228600" algn="l" defTabSz="1022350">
            <a:lnSpc>
              <a:spcPct val="90000"/>
            </a:lnSpc>
            <a:spcBef>
              <a:spcPct val="0"/>
            </a:spcBef>
            <a:spcAft>
              <a:spcPct val="15000"/>
            </a:spcAft>
            <a:buChar char="•"/>
          </a:pPr>
          <a:r>
            <a:rPr lang="es-ES" sz="2300" kern="1200" dirty="0"/>
            <a:t>NMAE</a:t>
          </a:r>
        </a:p>
      </dsp:txBody>
      <dsp:txXfrm>
        <a:off x="29" y="1600230"/>
        <a:ext cx="2848570" cy="1010160"/>
      </dsp:txXfrm>
    </dsp:sp>
    <dsp:sp modelId="{6BF57199-63BF-4665-99C8-EF36A075DBFA}">
      <dsp:nvSpPr>
        <dsp:cNvPr id="0" name=""/>
        <dsp:cNvSpPr/>
      </dsp:nvSpPr>
      <dsp:spPr>
        <a:xfrm>
          <a:off x="3247399" y="475709"/>
          <a:ext cx="2848570" cy="112452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s-ES" sz="2300" kern="1200" dirty="0"/>
            <a:t>Evaluación del diagnóstico cognitivo</a:t>
          </a:r>
        </a:p>
      </dsp:txBody>
      <dsp:txXfrm>
        <a:off x="3247399" y="475709"/>
        <a:ext cx="2848570" cy="1124520"/>
      </dsp:txXfrm>
    </dsp:sp>
    <dsp:sp modelId="{78B02FAD-9121-4522-940F-80CD304D49E0}">
      <dsp:nvSpPr>
        <dsp:cNvPr id="0" name=""/>
        <dsp:cNvSpPr/>
      </dsp:nvSpPr>
      <dsp:spPr>
        <a:xfrm>
          <a:off x="3247399" y="1600230"/>
          <a:ext cx="2848570" cy="1010160"/>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s-ES" sz="2300" kern="1200" dirty="0"/>
            <a:t>SCORES</a:t>
          </a:r>
        </a:p>
      </dsp:txBody>
      <dsp:txXfrm>
        <a:off x="3247399" y="1600230"/>
        <a:ext cx="2848570" cy="101016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D2BC8-7B35-634B-98CE-6FA0716BB620}" type="datetimeFigureOut">
              <a:rPr lang="es-ES" smtClean="0"/>
              <a:t>15/05/2024</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C8FD0C-9B30-9D48-B99E-72576BCB1E71}" type="slidenum">
              <a:rPr lang="es-ES" smtClean="0"/>
              <a:t>‹Nº›</a:t>
            </a:fld>
            <a:endParaRPr lang="es-ES"/>
          </a:p>
        </p:txBody>
      </p:sp>
    </p:spTree>
    <p:extLst>
      <p:ext uri="{BB962C8B-B14F-4D97-AF65-F5344CB8AC3E}">
        <p14:creationId xmlns:p14="http://schemas.microsoft.com/office/powerpoint/2010/main" val="1945376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Buenos días, me llamo Raquel Roca Pereira y hoy os vengo a presentar mi TFG titulado: Modelos predictivos utilizando inteligencia artificial para enfermedades neurodegenerativas, estudio del declive cognitivo en la enfermedad del Parkinson mediante </a:t>
            </a:r>
            <a:r>
              <a:rPr lang="es-ES" dirty="0" err="1"/>
              <a:t>Leaspy</a:t>
            </a:r>
            <a:r>
              <a:rPr lang="es-ES" dirty="0"/>
              <a:t>.</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0</a:t>
            </a:fld>
            <a:endParaRPr lang="es-ES"/>
          </a:p>
        </p:txBody>
      </p:sp>
    </p:spTree>
    <p:extLst>
      <p:ext uri="{BB962C8B-B14F-4D97-AF65-F5344CB8AC3E}">
        <p14:creationId xmlns:p14="http://schemas.microsoft.com/office/powerpoint/2010/main" val="3367747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Esta presentación se estructurará de la siguiente forma: Primero haré una breve introducción, luego listaré las herramientas utilizadas en este proyecto, en tercer lugar, explicaré los métodos desarrollados para luego mostrar los resultados obtenidos discutiendo su precisión y exactitud. Por último, hablaré de cuáles son los siguientes pasos a seguir en este proyecto.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a:t>
            </a:fld>
            <a:endParaRPr lang="es-ES"/>
          </a:p>
        </p:txBody>
      </p:sp>
    </p:spTree>
    <p:extLst>
      <p:ext uri="{BB962C8B-B14F-4D97-AF65-F5344CB8AC3E}">
        <p14:creationId xmlns:p14="http://schemas.microsoft.com/office/powerpoint/2010/main" val="3175104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Y a que cada vez son más frecuentes debido al envejecimiento de la </a:t>
            </a:r>
            <a:r>
              <a:rPr lang="es-ES" dirty="0" err="1"/>
              <a:t>poblacion</a:t>
            </a:r>
            <a:endParaRPr lang="es-ES" dirty="0"/>
          </a:p>
          <a:p>
            <a:r>
              <a:rPr lang="es-ES" dirty="0"/>
              <a:t>(REDUCIR)</a:t>
            </a:r>
          </a:p>
          <a:p>
            <a:r>
              <a:rPr lang="es-ES" dirty="0"/>
              <a:t>Hoy en día las enfermedades neurodegenerativas como el Parkinson o el Alzheimer representan un desafío significativo en el campo de la medicina debido a la complejidad que conlleva su progresión. Entre las distintas causas asociadas a la enfermedad del Parkinson, destaca la disminución  en los niveles de dopamina debido al deterioro de las neuronas dopaminérgicas en la sustancia negra como se puede ver en la imagen de la izquierda. Esto conlleva la aparición de problemas de coordinación y movimiento y al desarrollo del declive cognitivo que en algunos caso acaba convirtiéndose en Demencia. Entre los distintos tratamientos desarrollados, la levodopa es uno de los más eficaces, incrementando la síntesis de la dopamina. Aun así, de momento no existe ningún fármaco que detenga la progresión de estas enfermedades. Por ello, es crucial comprender lo mejor posible la progresión de estas enfermedades y ser capaces de estimar la </a:t>
            </a:r>
            <a:r>
              <a:rPr lang="es-ES" dirty="0" err="1"/>
              <a:t>aprición</a:t>
            </a:r>
            <a:r>
              <a:rPr lang="es-ES" dirty="0"/>
              <a:t> del </a:t>
            </a:r>
            <a:r>
              <a:rPr lang="es-ES" dirty="0" err="1"/>
              <a:t>delcive</a:t>
            </a:r>
            <a:r>
              <a:rPr lang="es-ES" dirty="0"/>
              <a:t> cognitivo.</a:t>
            </a:r>
          </a:p>
          <a:p>
            <a:endParaRPr lang="es-ES" dirty="0"/>
          </a:p>
          <a:p>
            <a:r>
              <a:rPr lang="es-ES" dirty="0"/>
              <a:t>Este estudio se centra en la predicción del declive cognitivo en pacientes en distintas etapas de la enfermedad del Parkinson. Además, se analiza la precisión con distintos conjuntos de variables medidas para la cohorte utilizada.</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2</a:t>
            </a:fld>
            <a:endParaRPr lang="es-ES"/>
          </a:p>
        </p:txBody>
      </p:sp>
    </p:spTree>
    <p:extLst>
      <p:ext uri="{BB962C8B-B14F-4D97-AF65-F5344CB8AC3E}">
        <p14:creationId xmlns:p14="http://schemas.microsoft.com/office/powerpoint/2010/main" val="4088164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(QUITAR PUTTY, X, TMUX </a:t>
            </a:r>
            <a:r>
              <a:rPr lang="es-ES" dirty="0">
                <a:sym typeface="Wingdings" panose="05000000000000000000" pitchFamily="2" charset="2"/>
              </a:rPr>
              <a:t> PONER EN FUTURO)</a:t>
            </a:r>
          </a:p>
          <a:p>
            <a:r>
              <a:rPr lang="es-ES" dirty="0"/>
              <a:t>Para el desarrollo de este trabajo se utilizaron las herramientas que veis en pantalla. La </a:t>
            </a:r>
            <a:r>
              <a:rPr lang="es-ES" dirty="0" err="1"/>
              <a:t>Parkinson’s</a:t>
            </a:r>
            <a:r>
              <a:rPr lang="es-ES" dirty="0"/>
              <a:t> </a:t>
            </a:r>
            <a:r>
              <a:rPr lang="es-ES" dirty="0" err="1"/>
              <a:t>Progression</a:t>
            </a:r>
            <a:r>
              <a:rPr lang="es-ES" dirty="0"/>
              <a:t> </a:t>
            </a:r>
            <a:r>
              <a:rPr lang="es-ES" dirty="0" err="1"/>
              <a:t>Markers</a:t>
            </a:r>
            <a:r>
              <a:rPr lang="es-ES" dirty="0"/>
              <a:t> </a:t>
            </a:r>
            <a:r>
              <a:rPr lang="es-ES" dirty="0" err="1"/>
              <a:t>Initiative</a:t>
            </a:r>
            <a:r>
              <a:rPr lang="es-ES" dirty="0"/>
              <a:t> es una iniciativa que recoge las observaciones de distintos biomarcadores cruciales en la investigación del Parkinson en un grupo de pacientes. Es la fuente de donde se ha obtenido la cohorte en la que se basa este el estudio. </a:t>
            </a:r>
          </a:p>
          <a:p>
            <a:r>
              <a:rPr lang="es-ES" dirty="0"/>
              <a:t>Además, para el algoritmo desarrollado en Python se utilizó la herramienta llamada SPYDER junto con el entorno </a:t>
            </a:r>
            <a:r>
              <a:rPr lang="es-ES" dirty="0" err="1"/>
              <a:t>Leaspy</a:t>
            </a:r>
            <a:r>
              <a:rPr lang="es-ES" dirty="0"/>
              <a:t>. Este último fue desarrollado concretamente para el análisis longitudinal de enfermedades neurodegenerativas y facilita la obtención de las trayectorias características de la enfermedad.</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3</a:t>
            </a:fld>
            <a:endParaRPr lang="es-ES"/>
          </a:p>
        </p:txBody>
      </p:sp>
    </p:spTree>
    <p:extLst>
      <p:ext uri="{BB962C8B-B14F-4D97-AF65-F5344CB8AC3E}">
        <p14:creationId xmlns:p14="http://schemas.microsoft.com/office/powerpoint/2010/main" val="1281294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r>
              <a:rPr lang="es-ES" dirty="0"/>
              <a:t>En cuanto a los métodos desarrollados, en primer lugar, se analizó la influencia de distintos marcadores al inicio del estudio en la aparición del deterioro cognitivo.</a:t>
            </a:r>
          </a:p>
          <a:p>
            <a:pPr marL="171450" indent="-171450">
              <a:buFontTx/>
              <a:buChar char="-"/>
            </a:pPr>
            <a:r>
              <a:rPr lang="es-ES" dirty="0"/>
              <a:t>Para ello, se tomaron los valores de los biomarcadores al inicio del estudio para los distintos grupos. Por un lado, se compararon las medidas entre el grupo de control (HC) formado por 196 pacientes  y los 423 diagnosticados con Parkinson (PD). Por otro lado, se hizo la misma comparación entre los tres subgrupos en los que se dividen los individuos con la enfermedad: el grupo PD-CU formado por los que no presentan deterioro cognitivo, en PD-MCI están los que tiene un declive cognitivo leve y por ultimo los que tiene un diagnóstico de demencia entran dentro del grupo PDD. De los 423 pacientes con Parkinson, 323 pertenecen al primer grupo, 83 al segundo y 17 al tercero. Para estimar la influencia de las variables observadas en la aparición del deterioro cognitivo, se calculó la media, la desviación estándar y los valores mínimos y máximos de cada una.</a:t>
            </a:r>
          </a:p>
          <a:p>
            <a:pPr marL="171450" indent="-171450">
              <a:buFontTx/>
              <a:buChar char="-"/>
            </a:pPr>
            <a:endParaRPr lang="es-ES" dirty="0"/>
          </a:p>
          <a:p>
            <a:pPr marL="171450" indent="-171450">
              <a:buFontTx/>
              <a:buChar char="-"/>
            </a:pPr>
            <a:r>
              <a:rPr lang="es-ES" dirty="0"/>
              <a:t>Luego, en función del tipo de variable, el p-valor y el Post-Hoc se calculan con el método del chi-cuadrado o con el análisis de varianza (ANOVA):</a:t>
            </a:r>
          </a:p>
          <a:p>
            <a:pPr marL="628650" lvl="1" indent="-171450">
              <a:buFontTx/>
              <a:buChar char="-"/>
            </a:pPr>
            <a:r>
              <a:rPr lang="es-ES" dirty="0"/>
              <a:t>Chi-cuadrado: evalúa la relación entre las variables categóricas y la presencia o ausencia de declive cognitivo. (genero, APOE4…). Se realiza una tabla de contingencia para las variables</a:t>
            </a:r>
          </a:p>
          <a:p>
            <a:pPr marL="628650" lvl="1" indent="-171450">
              <a:buFontTx/>
              <a:buChar char="-"/>
            </a:pPr>
            <a:r>
              <a:rPr lang="es-ES" dirty="0"/>
              <a:t>ANOVA: evalúa las diferencias entre las variables numéricas de los distintos grupos.</a:t>
            </a:r>
          </a:p>
          <a:p>
            <a:pPr marL="0" lvl="0" indent="0">
              <a:buFontTx/>
              <a:buNone/>
            </a:pPr>
            <a:endParaRPr lang="es-ES" dirty="0"/>
          </a:p>
          <a:p>
            <a:pPr marL="0" lvl="0" indent="0">
              <a:buFontTx/>
              <a:buNone/>
            </a:pPr>
            <a:r>
              <a:rPr lang="es-ES" dirty="0"/>
              <a:t>Tras realizar las pruebas anteriores, el p-valor indica si existe una asociación significativa entre cada variable y el deterioro cognitivo.</a:t>
            </a:r>
          </a:p>
          <a:p>
            <a:pPr marL="0" lvl="0" indent="0">
              <a:buFontTx/>
              <a:buNone/>
            </a:pPr>
            <a:r>
              <a:rPr lang="es-ES" dirty="0"/>
              <a:t>Si el p-valor está por debajo de 0.01 significa que existe relevancia estadística para ese marcador.</a:t>
            </a:r>
          </a:p>
          <a:p>
            <a:pPr marL="0" lvl="0" indent="0">
              <a:buFontTx/>
              <a:buNone/>
            </a:pPr>
            <a:r>
              <a:rPr lang="es-ES" dirty="0"/>
              <a:t>Luego se calcula el </a:t>
            </a:r>
            <a:r>
              <a:rPr lang="es-ES" dirty="0" err="1"/>
              <a:t>post-hoc</a:t>
            </a:r>
            <a:r>
              <a:rPr lang="es-ES" dirty="0"/>
              <a:t> para marcar las diferencias significativas entre grupos.</a:t>
            </a:r>
          </a:p>
          <a:p>
            <a:pPr marL="457200" lvl="1" indent="0">
              <a:buFontTx/>
              <a:buNone/>
            </a:pPr>
            <a:endParaRPr lang="es-ES" dirty="0"/>
          </a:p>
          <a:p>
            <a:pPr marL="457200" lvl="1" indent="0">
              <a:buFontTx/>
              <a:buNone/>
            </a:pPr>
            <a:endParaRPr lang="es-ES" dirty="0"/>
          </a:p>
          <a:p>
            <a:pPr marL="457200" lvl="1" indent="0">
              <a:buFontTx/>
              <a:buNone/>
            </a:pPr>
            <a:endParaRPr lang="es-ES" dirty="0"/>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4</a:t>
            </a:fld>
            <a:endParaRPr lang="es-ES"/>
          </a:p>
        </p:txBody>
      </p:sp>
    </p:spTree>
    <p:extLst>
      <p:ext uri="{BB962C8B-B14F-4D97-AF65-F5344CB8AC3E}">
        <p14:creationId xmlns:p14="http://schemas.microsoft.com/office/powerpoint/2010/main" val="3600389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buFontTx/>
              <a:buNone/>
            </a:pPr>
            <a:r>
              <a:rPr lang="es-ES" dirty="0"/>
              <a:t>El siguiente paso consistió en elaborar los distintos modelos de progresión de la enfermedad, también llamados </a:t>
            </a:r>
            <a:r>
              <a:rPr lang="es-ES" dirty="0" err="1"/>
              <a:t>DPMs</a:t>
            </a:r>
            <a:r>
              <a:rPr lang="es-ES" dirty="0"/>
              <a:t>. Primero hubo que adaptar los datos que forman nuestra cohorte para poder trabajar con ellos. Esto consistió principalmente en cuatro etapas. </a:t>
            </a:r>
          </a:p>
          <a:p>
            <a:pPr marL="171450" indent="-171450">
              <a:buFontTx/>
              <a:buChar char="-"/>
            </a:pPr>
            <a:r>
              <a:rPr lang="es-ES" dirty="0"/>
              <a:t>En primer lugar, se eliminaron los valores </a:t>
            </a:r>
            <a:r>
              <a:rPr lang="es-ES" dirty="0" err="1"/>
              <a:t>Nan</a:t>
            </a:r>
            <a:r>
              <a:rPr lang="es-ES" dirty="0"/>
              <a:t> en algunas de las observaciones causados por la ausencia de los pacientes en algunas de las visitas de su seguimiento. Este paso es muy importante ya que sino, se pueden dar errores a la hora de realizar ciertos cálculos más adelante.</a:t>
            </a:r>
          </a:p>
          <a:p>
            <a:pPr marL="171450" indent="-171450">
              <a:buFontTx/>
              <a:buChar char="-"/>
            </a:pPr>
            <a:r>
              <a:rPr lang="es-ES" dirty="0"/>
              <a:t>Después se realizó la normalización de los biomarcadores del estudio. Esto consiste en pasar todas las medidas a una misma escala en un intervalo entre 0 y 1. Los valores cercanos a 0 indican normalidad, mientras que a medida que aumentan y se acercan a 1 representan la aparición del deterioro cognitivo. Este paso permite trabajar con el conjunto de variables y obtener trayectorias globales. (VARS. CRECIENTES Y DECRECIENTES)</a:t>
            </a:r>
          </a:p>
          <a:p>
            <a:pPr marL="171450" indent="-171450">
              <a:buFontTx/>
              <a:buChar char="-"/>
            </a:pPr>
            <a:r>
              <a:rPr lang="es-ES" dirty="0"/>
              <a:t>Para entrenar y luego comprobar la precisión de los modelos generados, los pacientes se dividieron en dos grupos: un 70% son parte de la categoría de entrenamiento y el 30% restante están en el grupo de test.</a:t>
            </a:r>
          </a:p>
          <a:p>
            <a:pPr marL="171450" indent="-171450">
              <a:buFontTx/>
              <a:buChar char="-"/>
            </a:pPr>
            <a:r>
              <a:rPr lang="es-ES" dirty="0"/>
              <a:t>Por último, se obtuvo el diagnóstico de la primera y de la última visita para cada individuo en función de variables como </a:t>
            </a:r>
            <a:r>
              <a:rPr lang="es-ES" dirty="0" err="1"/>
              <a:t>cogstate</a:t>
            </a:r>
            <a:r>
              <a:rPr lang="es-ES" dirty="0"/>
              <a:t>. Con esto se observaron los pacientes que entraron en declive cognitivo durante el estudio. (ELIMINAR MCI-CN) </a:t>
            </a:r>
          </a:p>
          <a:p>
            <a:pPr marL="171450" indent="-171450">
              <a:buFontTx/>
              <a:buChar char="-"/>
            </a:pPr>
            <a:endParaRPr lang="es-ES" dirty="0"/>
          </a:p>
          <a:p>
            <a:pPr marL="0" indent="0">
              <a:buFontTx/>
              <a:buNone/>
            </a:pPr>
            <a:r>
              <a:rPr lang="es-ES" dirty="0"/>
              <a:t>Una vez hecho esto, se procedió a estimar los modelos de progresión de la enfermedad. Este proceso se realiza para cada uno de los conjuntos de variables definidos para luego compararlos y determinar la agrupación más precisa y que mejores resultados genere. Cada uno de los modelos pasa por tres etapas fundamentales:</a:t>
            </a:r>
          </a:p>
          <a:p>
            <a:pPr marL="171450" indent="-171450">
              <a:buFontTx/>
              <a:buChar char="-"/>
            </a:pPr>
            <a:r>
              <a:rPr lang="es-ES" dirty="0"/>
              <a:t>Primero se realiza la CALIBRACIÓN con el conjunto de pacientes de entrenamiento. Esto consiste en estimar los parámetros que definen la trayectoria grupal media a largo plazo. </a:t>
            </a:r>
          </a:p>
          <a:p>
            <a:pPr marL="171450" indent="-171450">
              <a:buFontTx/>
              <a:buChar char="-"/>
            </a:pPr>
            <a:r>
              <a:rPr lang="es-ES" dirty="0"/>
              <a:t>Después se lleva a cabo la PERSONALIZACION que consiste en obtener los parámetros característicos de cada individuo a partir de la trayectoria grupal para luego poder predecir la curva short-</a:t>
            </a:r>
            <a:r>
              <a:rPr lang="es-ES" dirty="0" err="1"/>
              <a:t>term</a:t>
            </a:r>
            <a:r>
              <a:rPr lang="es-ES" dirty="0"/>
              <a:t> de cada sujeto.</a:t>
            </a:r>
          </a:p>
          <a:p>
            <a:pPr marL="0" indent="0">
              <a:buFontTx/>
              <a:buNone/>
            </a:pPr>
            <a:endParaRPr lang="es-ES" dirty="0"/>
          </a:p>
          <a:p>
            <a:pPr marL="0" indent="0">
              <a:buFontTx/>
              <a:buNone/>
            </a:pPr>
            <a:r>
              <a:rPr lang="es-ES" dirty="0"/>
              <a:t>Por último, se calculan las prestaciones de los </a:t>
            </a:r>
            <a:r>
              <a:rPr lang="es-ES" dirty="0" err="1"/>
              <a:t>DPMs</a:t>
            </a:r>
            <a:r>
              <a:rPr lang="es-ES" dirty="0"/>
              <a:t> que permiten comparar los distintos modelos generados y determinar cuál de resultados más precisos.</a:t>
            </a:r>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5</a:t>
            </a:fld>
            <a:endParaRPr lang="es-ES"/>
          </a:p>
        </p:txBody>
      </p:sp>
    </p:spTree>
    <p:extLst>
      <p:ext uri="{BB962C8B-B14F-4D97-AF65-F5344CB8AC3E}">
        <p14:creationId xmlns:p14="http://schemas.microsoft.com/office/powerpoint/2010/main" val="1517998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891A-40B4-A923-4C97-5023B6A939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3B0AAF-4AD4-7EA4-1846-949AD6BFAF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5859A5-0554-FEE7-5662-002FE41B528E}"/>
              </a:ext>
            </a:extLst>
          </p:cNvPr>
          <p:cNvSpPr>
            <a:spLocks noGrp="1"/>
          </p:cNvSpPr>
          <p:nvPr>
            <p:ph type="body" idx="1"/>
          </p:nvPr>
        </p:nvSpPr>
        <p:spPr/>
        <p:txBody>
          <a:bodyPr/>
          <a:lstStyle/>
          <a:p>
            <a:pPr marL="0" lvl="0" indent="0">
              <a:buFontTx/>
              <a:buNone/>
            </a:pPr>
            <a:r>
              <a:rPr lang="es-ES" dirty="0"/>
              <a:t>En esta diapositiva se observan lo parámetros que definen la curva a largo plazo obtenida en la CALIBRACIÓN. Se obtiene una trayectoria para cada variable del modelo a partir de las observaciones tomadas para cada uno de los pacientes de entrenamiento. </a:t>
            </a:r>
          </a:p>
          <a:p>
            <a:pPr marL="0" lvl="0" indent="0">
              <a:buFontTx/>
              <a:buNone/>
            </a:pPr>
            <a:r>
              <a:rPr lang="es-ES" dirty="0"/>
              <a:t>En este caso como se puede ver se representan dos biomarcadores distintos uno en cada color. Las líneas punteadas son las observaciones de pacientes distintos y con estas se estima la trayectoria individual que se ve en una línea continua más final y que calibrando se obtiene la curva representada con una línea más ancha representativa del conjunto de pacientes. Esta curva esta caracterizada por los tres parámetros que se ven en la tabla de la izquierda. Es decir, siendo el eje x la edad de los individuos y el eje y la escala normalizada de los marcadores, las curvas se obtienen en función de los valores normalizados </a:t>
            </a:r>
            <a:r>
              <a:rPr lang="es-ES" dirty="0" err="1"/>
              <a:t>pk</a:t>
            </a:r>
            <a:r>
              <a:rPr lang="es-ES" dirty="0"/>
              <a:t> en función de la edad de las observaciones y la velocidad en la que incrementan las medidas tomadas.</a:t>
            </a:r>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75DBBF33-B12A-55F9-4982-86DA787B178F}"/>
              </a:ext>
            </a:extLst>
          </p:cNvPr>
          <p:cNvSpPr>
            <a:spLocks noGrp="1"/>
          </p:cNvSpPr>
          <p:nvPr>
            <p:ph type="sldNum" sz="quarter" idx="5"/>
          </p:nvPr>
        </p:nvSpPr>
        <p:spPr/>
        <p:txBody>
          <a:bodyPr/>
          <a:lstStyle/>
          <a:p>
            <a:fld id="{68C8FD0C-9B30-9D48-B99E-72576BCB1E71}" type="slidenum">
              <a:rPr lang="es-ES" smtClean="0"/>
              <a:t>6</a:t>
            </a:fld>
            <a:endParaRPr lang="es-ES"/>
          </a:p>
        </p:txBody>
      </p:sp>
    </p:spTree>
    <p:extLst>
      <p:ext uri="{BB962C8B-B14F-4D97-AF65-F5344CB8AC3E}">
        <p14:creationId xmlns:p14="http://schemas.microsoft.com/office/powerpoint/2010/main" val="1698038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0C0B-BCF8-9377-D36A-7ED25EEF32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47F9F1-86A4-C59E-FF4C-A6260327CE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AADE96-5560-3B79-B24B-5DB007DB00C8}"/>
              </a:ext>
            </a:extLst>
          </p:cNvPr>
          <p:cNvSpPr>
            <a:spLocks noGrp="1"/>
          </p:cNvSpPr>
          <p:nvPr>
            <p:ph type="body" idx="1"/>
          </p:nvPr>
        </p:nvSpPr>
        <p:spPr/>
        <p:txBody>
          <a:bodyPr/>
          <a:lstStyle/>
          <a:p>
            <a:pPr marL="0" lvl="0" indent="0">
              <a:buFontTx/>
              <a:buNone/>
            </a:pPr>
            <a:r>
              <a:rPr lang="es-ES" dirty="0"/>
              <a:t>Por otro lado, la trayectoria a corto plazo se obtiene como resultado de la PERSONALIZACION de la curva general obtenida a un nuevo individuo y la posterior PREDICCION con los parámetros individuales estimados. Estos último se pueden ver en la tabla azul e indican las modificaciones que habría que hacer en la curva a largo plazo para obtener la trayectoria short-</a:t>
            </a:r>
            <a:r>
              <a:rPr lang="es-ES" dirty="0" err="1"/>
              <a:t>term</a:t>
            </a:r>
            <a:r>
              <a:rPr lang="es-ES" dirty="0"/>
              <a:t>. Primero vemos el parámetro tao que representa la reserva cognitiva en años. Es decir, el tiempo hasta que el sujeto alcance el deterioro cognitivo. El siguiente factor relevante es el factor de aceleración que indica si la enfermedad en el paciente evoluciona más o menos rápido que la media. Y por último se encuentra el espacio entre marcadores que indica el desplazamiento de la curva logística.</a:t>
            </a:r>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1F5FAF0B-51DD-17CC-F0C8-977953BE0769}"/>
              </a:ext>
            </a:extLst>
          </p:cNvPr>
          <p:cNvSpPr>
            <a:spLocks noGrp="1"/>
          </p:cNvSpPr>
          <p:nvPr>
            <p:ph type="sldNum" sz="quarter" idx="5"/>
          </p:nvPr>
        </p:nvSpPr>
        <p:spPr/>
        <p:txBody>
          <a:bodyPr/>
          <a:lstStyle/>
          <a:p>
            <a:fld id="{68C8FD0C-9B30-9D48-B99E-72576BCB1E71}" type="slidenum">
              <a:rPr lang="es-ES" smtClean="0"/>
              <a:t>7</a:t>
            </a:fld>
            <a:endParaRPr lang="es-ES"/>
          </a:p>
        </p:txBody>
      </p:sp>
    </p:spTree>
    <p:extLst>
      <p:ext uri="{BB962C8B-B14F-4D97-AF65-F5344CB8AC3E}">
        <p14:creationId xmlns:p14="http://schemas.microsoft.com/office/powerpoint/2010/main" val="1466380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lvl="0" indent="0">
              <a:buFontTx/>
              <a:buNone/>
            </a:pPr>
            <a:r>
              <a:rPr lang="es-ES" dirty="0"/>
              <a:t>Por último se </a:t>
            </a:r>
            <a:r>
              <a:rPr lang="es-ES" dirty="0" err="1"/>
              <a:t>cálculas</a:t>
            </a:r>
            <a:r>
              <a:rPr lang="es-ES" dirty="0"/>
              <a:t> los valores de las prestaciones para cada uno de los modelos y así poder evaluarlos. Para determinar si la trayectoria estimada para cada individuo del modelo es precisa se utiliza el marcador MAE o el NMAE. Con ellos se mide el error absoluto medio entre los valores de la curva estimada en los tiempos de las observaciones y los valores reales de las observaciones. El MAE se utiliza para la curva en escala original mientras en NMAE se </a:t>
            </a:r>
            <a:r>
              <a:rPr lang="es-ES" dirty="0" err="1"/>
              <a:t>cálcula</a:t>
            </a:r>
            <a:r>
              <a:rPr lang="es-ES" dirty="0"/>
              <a:t> con los valores normalizados de los biomarcadores.</a:t>
            </a:r>
          </a:p>
          <a:p>
            <a:pPr marL="0" lvl="0" indent="0">
              <a:buFontTx/>
              <a:buNone/>
            </a:pPr>
            <a:r>
              <a:rPr lang="es-ES" dirty="0"/>
              <a:t>Por otro lado, también se mide la precisión del diagnóstico cognitivo que estima la predicción del modelo para cada paciente. Con los SCORES se mide la capacidad para estimar el estado cognitivo de los pacientes del modelo.</a:t>
            </a:r>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8</a:t>
            </a:fld>
            <a:endParaRPr lang="es-ES"/>
          </a:p>
        </p:txBody>
      </p:sp>
    </p:spTree>
    <p:extLst>
      <p:ext uri="{BB962C8B-B14F-4D97-AF65-F5344CB8AC3E}">
        <p14:creationId xmlns:p14="http://schemas.microsoft.com/office/powerpoint/2010/main" val="1900510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cuanto a los resultados obtenidos, en las siguientes dos tablas se muestra la relevancia de los marcadores al inicio del estudio para los distintos grupos. En la primera se comparan el grupo de pacientes de control en la tercera columna con el grupo de individuos con Parkinson. En la columna </a:t>
            </a:r>
            <a:r>
              <a:rPr lang="es-ES" dirty="0" err="1"/>
              <a:t>Post-hoc</a:t>
            </a:r>
            <a:r>
              <a:rPr lang="es-ES" dirty="0"/>
              <a:t> vemos marcadas con una a las variables que son indicativas del declive cognitivo al inicio del estudio.</a:t>
            </a:r>
          </a:p>
          <a:p>
            <a:r>
              <a:rPr lang="es-ES" dirty="0"/>
              <a:t>Cabe destacar que la edad a pesar de que la media de edad es bastante elevada, no es un indicador del deterioro. Sin embargo entre los parámetros cognitivos y clínicos hay varios con indicador de significancia, como GDS, el REM o el MOCA.</a:t>
            </a:r>
          </a:p>
          <a:p>
            <a:endParaRPr lang="es-ES" dirty="0"/>
          </a:p>
          <a:p>
            <a:endParaRPr lang="es-ES" dirty="0"/>
          </a:p>
          <a:p>
            <a:endParaRPr lang="es-ES" dirty="0"/>
          </a:p>
          <a:p>
            <a:endParaRPr lang="es-ES" dirty="0"/>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9</a:t>
            </a:fld>
            <a:endParaRPr lang="es-ES"/>
          </a:p>
        </p:txBody>
      </p:sp>
    </p:spTree>
    <p:extLst>
      <p:ext uri="{BB962C8B-B14F-4D97-AF65-F5344CB8AC3E}">
        <p14:creationId xmlns:p14="http://schemas.microsoft.com/office/powerpoint/2010/main" val="3674079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la segunda tabla se visualiza la influencia de los distintos parámetros en la evolución de los tres grupos expuestos. En las columnas p-value y </a:t>
            </a:r>
            <a:r>
              <a:rPr lang="es-ES" dirty="0" err="1"/>
              <a:t>Posthoc</a:t>
            </a:r>
            <a:r>
              <a:rPr lang="es-ES" dirty="0"/>
              <a:t> se señalan que variables pueden tener un efecto significativo en el transcurso del deterioro cognitivo en los distintos subgrupos, marcando con una a significancia entre los grupos PD_CU y PD_MCI, con una b entre PD_MCI y PDD y con una c entre PD_CU y PDD. Entre ellas, diferenciadas por tener un valor p igual o por debajo de 0.001, se ve como por ejemplo el SDMT y el MEANCAU son considerables tanto en la comparación entre sujetos cognitivamente normales y con deterioro cognitivo como entre cognitivamente normales y los pacientes que desarrollaron demencia. Sin embargo, REM solo muestra diferencias significativas entre PD CU y PD MCI y Aβ42, con diferencia notable entre PD CU y PDD.</a:t>
            </a:r>
          </a:p>
          <a:p>
            <a:r>
              <a:rPr lang="es-ES" dirty="0"/>
              <a:t>En vistas generales, cabe destacar las variables que resultaron significativas en el </a:t>
            </a:r>
            <a:r>
              <a:rPr lang="es-ES" dirty="0" err="1"/>
              <a:t>an´alisis</a:t>
            </a:r>
            <a:r>
              <a:rPr lang="es-ES" dirty="0"/>
              <a:t>, tanto en la tabla 5.1 como en la tabla 5.2. Entre estas, se encuentran: UPSIT, SDMT, INMEDIATE, SFT y MEANCAU. Todas ellas son medidas cognitivas y </a:t>
            </a:r>
            <a:r>
              <a:rPr lang="es-ES" dirty="0" err="1"/>
              <a:t>cl´ınicas</a:t>
            </a:r>
            <a:r>
              <a:rPr lang="es-ES" dirty="0"/>
              <a:t>. Estos </a:t>
            </a:r>
            <a:r>
              <a:rPr lang="es-ES" dirty="0" err="1"/>
              <a:t>par´ametros</a:t>
            </a:r>
            <a:r>
              <a:rPr lang="es-ES" dirty="0"/>
              <a:t> pueden tener implicaciones cruciales para el diagnostico anticipado y el desarrollo de estrategias para el tratamiento.</a:t>
            </a:r>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10</a:t>
            </a:fld>
            <a:endParaRPr lang="es-ES"/>
          </a:p>
        </p:txBody>
      </p:sp>
    </p:spTree>
    <p:extLst>
      <p:ext uri="{BB962C8B-B14F-4D97-AF65-F5344CB8AC3E}">
        <p14:creationId xmlns:p14="http://schemas.microsoft.com/office/powerpoint/2010/main" val="6492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Como resultado de los modelos de progresión generados, en primer lugar se graficaron las curvas características a corto plazo obtenidas del proceso de personalización y predicción de un sujeto concreto. En este caso se observan las gráficas correspondientes a seis variables en escala normalizada. Se ve claramente como las graficas en las que aparecen mas observaciones representadas con los puntos la precisión de la trayectoria estimada es más precisa, llegando incluso a cortarse con la línea de unión de las observaciones tomadas en el paciente para esas variables. Esto indica que mayor numero de observaciones tenga el individuo mayor exactitud se </a:t>
            </a:r>
            <a:r>
              <a:rPr lang="es-ES" dirty="0" err="1"/>
              <a:t>conseguira</a:t>
            </a:r>
            <a:r>
              <a:rPr lang="es-ES" dirty="0"/>
              <a:t>.</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11</a:t>
            </a:fld>
            <a:endParaRPr lang="es-ES"/>
          </a:p>
        </p:txBody>
      </p:sp>
    </p:spTree>
    <p:extLst>
      <p:ext uri="{BB962C8B-B14F-4D97-AF65-F5344CB8AC3E}">
        <p14:creationId xmlns:p14="http://schemas.microsoft.com/office/powerpoint/2010/main" val="2648310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este caso vemos las mismas trayectorias para las mismas variables pero con las escalas originales, que si nos paramos a compararlas con la anterior podemos obtener la misma </a:t>
            </a:r>
            <a:r>
              <a:rPr lang="es-ES" dirty="0" err="1"/>
              <a:t>conlcusión</a:t>
            </a:r>
            <a:r>
              <a:rPr lang="es-ES" dirty="0"/>
              <a:t> pero además observamos como en el proceso de normalización se invierten los valores de las variables ya que son marcadores decrecientes. Estos indican le evolución hacia el declive cognitivo con valores más bajos.</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12</a:t>
            </a:fld>
            <a:endParaRPr lang="es-ES"/>
          </a:p>
        </p:txBody>
      </p:sp>
    </p:spTree>
    <p:extLst>
      <p:ext uri="{BB962C8B-B14F-4D97-AF65-F5344CB8AC3E}">
        <p14:creationId xmlns:p14="http://schemas.microsoft.com/office/powerpoint/2010/main" val="4153232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ultimo, para cada modelo se calculo el error absoluto medio normalizado para cada uno de los pacientes y los biomarcadores del modelo. A continuación vemos los valores obtenidos para uno de los sujetos de entrenamiento a la izquierda y para uno de los sujetos de test a la derecha. En ambos caso se obtuvieron valores cercanos a cero, indicador de la precisión de las trayectorias estimadas. Sin embargo, vamos como en la tabla del paciente de testeo los resultados son un poco mayores, lo cual tiene sentido ya que es normal que se obtengan mejores resultados para los mismos pacientes con los que se entreno el modelo que con pacientes nuevos. Por otra parte, en la tabla de la izquierda, vemos como en la última muestra vemos como hay valores disonantes indicando una discrepancia dentro del modelo.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13</a:t>
            </a:fld>
            <a:endParaRPr lang="es-ES"/>
          </a:p>
        </p:txBody>
      </p:sp>
    </p:spTree>
    <p:extLst>
      <p:ext uri="{BB962C8B-B14F-4D97-AF65-F5344CB8AC3E}">
        <p14:creationId xmlns:p14="http://schemas.microsoft.com/office/powerpoint/2010/main" val="2412765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último, se llevó a cabo el cálculo de los SCORES que miden la exactitud del diagnóstico </a:t>
            </a:r>
            <a:r>
              <a:rPr lang="es-ES" dirty="0" err="1"/>
              <a:t>congitivo</a:t>
            </a:r>
            <a:r>
              <a:rPr lang="es-ES" dirty="0"/>
              <a:t> tanto para el grupo </a:t>
            </a:r>
            <a:r>
              <a:rPr lang="es-ES" dirty="0" err="1"/>
              <a:t>train</a:t>
            </a:r>
            <a:r>
              <a:rPr lang="es-ES" dirty="0"/>
              <a:t> como para el test. El SCORE1 para ambos grupos aparentemente da un valor correcto y concordante indicando un 59% de exactitud de diagnóstico de pacientes cognitivamente normales. Sin embargo, el resto de prestaciones dan valores exageradamente altos, indicando que se ha cometido algún error en la implementación del algoritmo encargado de </a:t>
            </a:r>
            <a:r>
              <a:rPr lang="es-ES" dirty="0" err="1"/>
              <a:t>calrular</a:t>
            </a:r>
            <a:r>
              <a:rPr lang="es-ES" dirty="0"/>
              <a:t> estos valores. </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14</a:t>
            </a:fld>
            <a:endParaRPr lang="es-ES"/>
          </a:p>
        </p:txBody>
      </p:sp>
    </p:spTree>
    <p:extLst>
      <p:ext uri="{BB962C8B-B14F-4D97-AF65-F5344CB8AC3E}">
        <p14:creationId xmlns:p14="http://schemas.microsoft.com/office/powerpoint/2010/main" val="2592625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Como he comentado Estos resultados no son concluyentes y tengo previstos lo siguientes pasos para poder concluir el trabajo que estoy llevando a cabo en mi </a:t>
            </a:r>
            <a:r>
              <a:rPr lang="es-ES" dirty="0" err="1"/>
              <a:t>tfg</a:t>
            </a:r>
            <a:endParaRPr lang="es-ES" dirty="0"/>
          </a:p>
          <a:p>
            <a:endParaRPr lang="es-ES" dirty="0"/>
          </a:p>
          <a:p>
            <a:endParaRPr lang="es-ES" dirty="0"/>
          </a:p>
          <a:p>
            <a:endParaRPr lang="es-ES" dirty="0"/>
          </a:p>
          <a:p>
            <a:endParaRPr lang="es-ES" dirty="0"/>
          </a:p>
          <a:p>
            <a:r>
              <a:rPr lang="es-ES" dirty="0"/>
              <a:t>Tras lo presentado hasta ahora, cabe concluir que para lograr un resultado completo sería beneficioso continuar el estudio con los pasos expuestos a continuación. Para poder comparar mas favorablemente los distintos modelos es necesario obtener la media del NMAE de todos los pacientes y además calcular el MAE ya que otorgaría resultados más realistas. Además es necesario investigar el porque de los errores obtenidos a la hora de calcular los SCORES y calcular el resto de prestaciones de los </a:t>
            </a:r>
            <a:r>
              <a:rPr lang="es-ES" dirty="0" err="1"/>
              <a:t>DPMs</a:t>
            </a:r>
            <a:r>
              <a:rPr lang="es-ES" dirty="0"/>
              <a:t> para poder compararlos y observar fielmente cual es el modelo más exacto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15</a:t>
            </a:fld>
            <a:endParaRPr lang="es-ES"/>
          </a:p>
        </p:txBody>
      </p:sp>
    </p:spTree>
    <p:extLst>
      <p:ext uri="{BB962C8B-B14F-4D97-AF65-F5344CB8AC3E}">
        <p14:creationId xmlns:p14="http://schemas.microsoft.com/office/powerpoint/2010/main" val="2579206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Espero haber respetado el tiempo asignado, muchas gracias por su atención. Estoy a su disposición para responder cualquier duda que consideréis.</a:t>
            </a:r>
          </a:p>
          <a:p>
            <a:endParaRPr lang="es-ES" dirty="0"/>
          </a:p>
          <a:p>
            <a:endParaRPr lang="es-ES" dirty="0"/>
          </a:p>
          <a:p>
            <a:endParaRPr lang="es-ES" dirty="0"/>
          </a:p>
          <a:p>
            <a:r>
              <a:rPr lang="es-ES" dirty="0"/>
              <a:t>Tras lo presentado hasta ahora, cabe concluir que para lograr un resultado completo sería beneficioso continuar el estudio con los pasos expuestos a continuación. Para poder comparar mas favorablemente los distintos modelos es necesario obtener la media del NMAE de todos los pacientes y además calcular el MAE ya que otorgaría resultados más realistas. Además es necesario investigar el porque de los errores obtenidos a la hora de calcular los SCORES y calcular el resto de prestaciones de los </a:t>
            </a:r>
            <a:r>
              <a:rPr lang="es-ES" dirty="0" err="1"/>
              <a:t>DPMs</a:t>
            </a:r>
            <a:r>
              <a:rPr lang="es-ES" dirty="0"/>
              <a:t> para poder compararlos y observar fielmente cual es el modelo más exacto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16</a:t>
            </a:fld>
            <a:endParaRPr lang="es-ES"/>
          </a:p>
        </p:txBody>
      </p:sp>
    </p:spTree>
    <p:extLst>
      <p:ext uri="{BB962C8B-B14F-4D97-AF65-F5344CB8AC3E}">
        <p14:creationId xmlns:p14="http://schemas.microsoft.com/office/powerpoint/2010/main" val="18647715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628557"/>
            <a:ext cx="68580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4238863"/>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sz="1200"/>
            </a:lvl1pPr>
          </a:lstStyle>
          <a:p>
            <a:fld id="{5AFC6427-0976-6C4C-8DA3-E04201102228}" type="datetime1">
              <a:rPr lang="es-ES" smtClean="0"/>
              <a:pPr/>
              <a:t>15/05/2024</a:t>
            </a:fld>
            <a:endParaRPr lang="es-ES" dirty="0"/>
          </a:p>
        </p:txBody>
      </p:sp>
      <p:sp>
        <p:nvSpPr>
          <p:cNvPr id="5" name="Footer Placeholder 4"/>
          <p:cNvSpPr>
            <a:spLocks noGrp="1"/>
          </p:cNvSpPr>
          <p:nvPr>
            <p:ph type="ftr" sz="quarter" idx="11"/>
          </p:nvPr>
        </p:nvSpPr>
        <p:spPr/>
        <p:txBody>
          <a:bodyPr/>
          <a:lstStyle>
            <a:lvl1pPr>
              <a:defRPr sz="1200"/>
            </a:lvl1pPr>
          </a:lstStyle>
          <a:p>
            <a:endParaRPr lang="es-ES" dirty="0"/>
          </a:p>
        </p:txBody>
      </p:sp>
      <p:sp>
        <p:nvSpPr>
          <p:cNvPr id="6" name="Slide Number Placeholder 5"/>
          <p:cNvSpPr>
            <a:spLocks noGrp="1"/>
          </p:cNvSpPr>
          <p:nvPr>
            <p:ph type="sldNum" sz="quarter" idx="12"/>
          </p:nvPr>
        </p:nvSpPr>
        <p:spPr/>
        <p:txBody>
          <a:bodyPr/>
          <a:lstStyle>
            <a:lvl1pPr>
              <a:defRPr sz="1200"/>
            </a:lvl1pPr>
          </a:lstStyle>
          <a:p>
            <a:fld id="{A59C5ADF-E1AA-1B44-878A-2B73B5F70500}" type="slidenum">
              <a:rPr lang="es-ES" smtClean="0"/>
              <a:pPr/>
              <a:t>‹Nº›</a:t>
            </a:fld>
            <a:endParaRPr lang="es-ES" dirty="0"/>
          </a:p>
        </p:txBody>
      </p:sp>
      <p:sp>
        <p:nvSpPr>
          <p:cNvPr id="7" name="Title 1">
            <a:extLst>
              <a:ext uri="{FF2B5EF4-FFF2-40B4-BE49-F238E27FC236}">
                <a16:creationId xmlns:a16="http://schemas.microsoft.com/office/drawing/2014/main" id="{1266D6FA-8351-C24C-8F1F-FC1AA035932A}"/>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E9480F65-A19F-A542-B834-651A07EDEB46}"/>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2A716F41-4666-BF45-8839-F5A41DFE465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14951147-5FDF-AC41-A478-905D4D34428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082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encabezado simpl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628557"/>
            <a:ext cx="68580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4238863"/>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sz="1200"/>
            </a:lvl1pPr>
          </a:lstStyle>
          <a:p>
            <a:fld id="{5AFC6427-0976-6C4C-8DA3-E04201102228}" type="datetime1">
              <a:rPr lang="es-ES" smtClean="0"/>
              <a:pPr/>
              <a:t>15/05/2024</a:t>
            </a:fld>
            <a:endParaRPr lang="es-ES" dirty="0"/>
          </a:p>
        </p:txBody>
      </p:sp>
      <p:sp>
        <p:nvSpPr>
          <p:cNvPr id="5" name="Footer Placeholder 4"/>
          <p:cNvSpPr>
            <a:spLocks noGrp="1"/>
          </p:cNvSpPr>
          <p:nvPr>
            <p:ph type="ftr" sz="quarter" idx="11"/>
          </p:nvPr>
        </p:nvSpPr>
        <p:spPr/>
        <p:txBody>
          <a:bodyPr/>
          <a:lstStyle>
            <a:lvl1pPr>
              <a:defRPr sz="1200"/>
            </a:lvl1pPr>
          </a:lstStyle>
          <a:p>
            <a:endParaRPr lang="es-ES" dirty="0"/>
          </a:p>
        </p:txBody>
      </p:sp>
      <p:sp>
        <p:nvSpPr>
          <p:cNvPr id="6" name="Slide Number Placeholder 5"/>
          <p:cNvSpPr>
            <a:spLocks noGrp="1"/>
          </p:cNvSpPr>
          <p:nvPr>
            <p:ph type="sldNum" sz="quarter" idx="12"/>
          </p:nvPr>
        </p:nvSpPr>
        <p:spPr/>
        <p:txBody>
          <a:bodyPr/>
          <a:lstStyle>
            <a:lvl1pPr>
              <a:defRPr sz="1200"/>
            </a:lvl1pPr>
          </a:lstStyle>
          <a:p>
            <a:fld id="{A59C5ADF-E1AA-1B44-878A-2B73B5F70500}" type="slidenum">
              <a:rPr lang="es-ES" smtClean="0"/>
              <a:pPr/>
              <a:t>‹Nº›</a:t>
            </a:fld>
            <a:endParaRPr lang="es-ES" dirty="0"/>
          </a:p>
        </p:txBody>
      </p:sp>
      <p:pic>
        <p:nvPicPr>
          <p:cNvPr id="7" name="Picture 4" descr="http://www.etsidi.upm.es/sfs/E.U.I.T.%20Industrial/ADMIN/IMAGENES/LOGOS%20act.NOV2014/LogoETSIDI-mediano.png">
            <a:extLst>
              <a:ext uri="{FF2B5EF4-FFF2-40B4-BE49-F238E27FC236}">
                <a16:creationId xmlns:a16="http://schemas.microsoft.com/office/drawing/2014/main" id="{0B19860A-C2EF-DD4C-B97F-92842E5BFDC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C9790CCE-A4D9-8648-86C1-5ABF4FF065B3}"/>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03F1C8EC-C233-4843-9F17-EF9E65C86361}"/>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dirty="0"/>
              <a:t>Título</a:t>
            </a:r>
          </a:p>
        </p:txBody>
      </p:sp>
    </p:spTree>
    <p:extLst>
      <p:ext uri="{BB962C8B-B14F-4D97-AF65-F5344CB8AC3E}">
        <p14:creationId xmlns:p14="http://schemas.microsoft.com/office/powerpoint/2010/main" val="688379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628650" y="1164741"/>
            <a:ext cx="7886700" cy="917763"/>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628650" y="2183643"/>
            <a:ext cx="7886700" cy="3923243"/>
          </a:xfrm>
        </p:spPr>
        <p:txBody>
          <a:body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3F42EEB-F1F8-DD4B-AAB7-A94648247708}" type="datetime1">
              <a:rPr lang="es-ES" smtClean="0"/>
              <a:t>15/05/2024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sp>
        <p:nvSpPr>
          <p:cNvPr id="7" name="Title 1">
            <a:extLst>
              <a:ext uri="{FF2B5EF4-FFF2-40B4-BE49-F238E27FC236}">
                <a16:creationId xmlns:a16="http://schemas.microsoft.com/office/drawing/2014/main" id="{E328C223-77D7-8845-9B0E-412CAAF1F76C}"/>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54FB4D72-A6BF-EA4A-BC1C-7673221BEAE2}"/>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ABBC93B7-4AD1-204E-8D07-D7C828A523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2F633D51-7F39-6141-A135-E9F4D98557A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08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1164741"/>
            <a:ext cx="7886700" cy="917763"/>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628650" y="2183643"/>
            <a:ext cx="7886700" cy="3923243"/>
          </a:xfrm>
        </p:spPr>
        <p:txBody>
          <a:body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3F42EEB-F1F8-DD4B-AAB7-A94648247708}" type="datetime1">
              <a:rPr lang="es-ES" smtClean="0"/>
              <a:t>15/05/2024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810D2D89-CA15-CA46-931E-342541F7074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A04E48A3-0B8A-E747-AA8B-BF760BFB6CCC}"/>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E1266CB2-99C1-3E48-B6D6-8C664A614BEF}"/>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3341990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28650" y="1266373"/>
            <a:ext cx="7886700" cy="774702"/>
          </a:xfrm>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28650" y="2111152"/>
            <a:ext cx="3886200" cy="3950957"/>
          </a:xfrm>
        </p:spPr>
        <p:txBody>
          <a:bodyPr/>
          <a:lstStyle/>
          <a:p>
            <a:pPr lvl="0"/>
            <a:r>
              <a:rPr lang="es-ES" dirty="0"/>
              <a:t>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629150" y="2132244"/>
            <a:ext cx="3886200" cy="3950957"/>
          </a:xfrm>
        </p:spPr>
        <p:txBody>
          <a:body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2F0E6B-C4B5-E449-A7C0-9BFBA104E998}" type="datetime1">
              <a:rPr lang="es-ES" smtClean="0"/>
              <a:t>15/05/2024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sp>
        <p:nvSpPr>
          <p:cNvPr id="8" name="Title 1">
            <a:extLst>
              <a:ext uri="{FF2B5EF4-FFF2-40B4-BE49-F238E27FC236}">
                <a16:creationId xmlns:a16="http://schemas.microsoft.com/office/drawing/2014/main" id="{C05618A8-098C-3C44-A0E8-626F438F662C}"/>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B7C28D39-B061-5141-987F-6EB53A79EE70}"/>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96E4F5C1-7020-F24C-B714-4960C92F9FE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5A9748C-C864-5342-B5F0-01BEDD19C460}"/>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922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1266373"/>
            <a:ext cx="7886700" cy="774702"/>
          </a:xfrm>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28650" y="2111152"/>
            <a:ext cx="3886200" cy="3950957"/>
          </a:xfrm>
        </p:spPr>
        <p:txBody>
          <a:bodyPr/>
          <a:lstStyle/>
          <a:p>
            <a:pPr lvl="0"/>
            <a:r>
              <a:rPr lang="es-ES" dirty="0"/>
              <a:t>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629150" y="2132244"/>
            <a:ext cx="3886200" cy="3950957"/>
          </a:xfrm>
        </p:spPr>
        <p:txBody>
          <a:body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2F0E6B-C4B5-E449-A7C0-9BFBA104E998}" type="datetime1">
              <a:rPr lang="es-ES" smtClean="0"/>
              <a:t>15/05/2024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77DA3C95-EC36-194B-8553-BA790F5C8C2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098B2592-2D7F-B04C-9750-D7DD0A69226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10" name="Título 8">
            <a:extLst>
              <a:ext uri="{FF2B5EF4-FFF2-40B4-BE49-F238E27FC236}">
                <a16:creationId xmlns:a16="http://schemas.microsoft.com/office/drawing/2014/main" id="{FBD6ED47-2B2A-0449-B27E-1F64B8C0080F}"/>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477918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28650" y="2878296"/>
            <a:ext cx="7886700" cy="1101409"/>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FDBEBB0-4EB7-7947-B477-4C0CFA8DEDBF}" type="datetime1">
              <a:rPr lang="es-ES" smtClean="0"/>
              <a:t>15/05/2024</a:t>
            </a:fld>
            <a:endParaRPr lang="es-ES"/>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A59C5ADF-E1AA-1B44-878A-2B73B5F70500}" type="slidenum">
              <a:rPr lang="es-ES" smtClean="0"/>
              <a:t>‹Nº›</a:t>
            </a:fld>
            <a:endParaRPr lang="es-ES"/>
          </a:p>
        </p:txBody>
      </p:sp>
      <p:sp>
        <p:nvSpPr>
          <p:cNvPr id="6" name="Title 1">
            <a:extLst>
              <a:ext uri="{FF2B5EF4-FFF2-40B4-BE49-F238E27FC236}">
                <a16:creationId xmlns:a16="http://schemas.microsoft.com/office/drawing/2014/main" id="{56F45A5F-9072-494F-BB47-0A6F1AC64AF9}"/>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7" name="Title 1">
            <a:extLst>
              <a:ext uri="{FF2B5EF4-FFF2-40B4-BE49-F238E27FC236}">
                <a16:creationId xmlns:a16="http://schemas.microsoft.com/office/drawing/2014/main" id="{C60B5BB5-B97C-5C47-9339-ACA05DCE58E3}"/>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8" name="Picture 2" descr="http://www.upm.es/canalUPM/archivo/imagenes/logos/color/logocei.png">
            <a:extLst>
              <a:ext uri="{FF2B5EF4-FFF2-40B4-BE49-F238E27FC236}">
                <a16:creationId xmlns:a16="http://schemas.microsoft.com/office/drawing/2014/main" id="{E44A236F-3F71-7F46-B966-079F252B16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www.etsidi.upm.es/sfs/E.U.I.T.%20Industrial/ADMIN/IMAGENES/LOGOS%20act.NOV2014/LogoETSIDI-mediano.png">
            <a:extLst>
              <a:ext uri="{FF2B5EF4-FFF2-40B4-BE49-F238E27FC236}">
                <a16:creationId xmlns:a16="http://schemas.microsoft.com/office/drawing/2014/main" id="{A9EE683E-C60A-3947-8802-72861BA9752F}"/>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978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lo el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2878296"/>
            <a:ext cx="7886700" cy="1101409"/>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FDBEBB0-4EB7-7947-B477-4C0CFA8DEDBF}" type="datetime1">
              <a:rPr lang="es-ES" smtClean="0"/>
              <a:t>15/05/2024</a:t>
            </a:fld>
            <a:endParaRPr lang="es-ES"/>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A59C5ADF-E1AA-1B44-878A-2B73B5F70500}" type="slidenum">
              <a:rPr lang="es-ES" smtClean="0"/>
              <a:t>‹Nº›</a:t>
            </a:fld>
            <a:endParaRPr lang="es-ES"/>
          </a:p>
        </p:txBody>
      </p:sp>
      <p:pic>
        <p:nvPicPr>
          <p:cNvPr id="6" name="Picture 4" descr="http://www.etsidi.upm.es/sfs/E.U.I.T.%20Industrial/ADMIN/IMAGENES/LOGOS%20act.NOV2014/LogoETSIDI-mediano.png">
            <a:extLst>
              <a:ext uri="{FF2B5EF4-FFF2-40B4-BE49-F238E27FC236}">
                <a16:creationId xmlns:a16="http://schemas.microsoft.com/office/drawing/2014/main" id="{3B420DFF-FDD8-204B-B5BA-F1E5598ED62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ACE3386A-BB4E-4E49-A5CB-D8147C162286}"/>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8" name="Título 8">
            <a:extLst>
              <a:ext uri="{FF2B5EF4-FFF2-40B4-BE49-F238E27FC236}">
                <a16:creationId xmlns:a16="http://schemas.microsoft.com/office/drawing/2014/main" id="{FE861DC3-A6F6-8C48-9D71-162767287C4D}"/>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2427786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06003-F7CF-CE42-928D-B7B4488E646D}" type="datetime1">
              <a:rPr lang="es-ES" smtClean="0"/>
              <a:t>15/05/2024</a:t>
            </a:fld>
            <a:endParaRPr lang="es-ES"/>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A59C5ADF-E1AA-1B44-878A-2B73B5F70500}" type="slidenum">
              <a:rPr lang="es-ES" smtClean="0"/>
              <a:t>‹Nº›</a:t>
            </a:fld>
            <a:endParaRPr lang="es-ES"/>
          </a:p>
        </p:txBody>
      </p:sp>
      <p:sp>
        <p:nvSpPr>
          <p:cNvPr id="5" name="Title 1">
            <a:extLst>
              <a:ext uri="{FF2B5EF4-FFF2-40B4-BE49-F238E27FC236}">
                <a16:creationId xmlns:a16="http://schemas.microsoft.com/office/drawing/2014/main" id="{24362964-1CAD-D44C-91D6-62DFAC081FF2}"/>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6" name="Title 1">
            <a:extLst>
              <a:ext uri="{FF2B5EF4-FFF2-40B4-BE49-F238E27FC236}">
                <a16:creationId xmlns:a16="http://schemas.microsoft.com/office/drawing/2014/main" id="{3ACAF3E9-0177-1841-A9CE-E8D3C78DFEF6}"/>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7" name="Picture 2" descr="http://www.upm.es/canalUPM/archivo/imagenes/logos/color/logocei.png">
            <a:extLst>
              <a:ext uri="{FF2B5EF4-FFF2-40B4-BE49-F238E27FC236}">
                <a16:creationId xmlns:a16="http://schemas.microsoft.com/office/drawing/2014/main" id="{097CD0E9-A849-7F47-9876-7493721929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www.etsidi.upm.es/sfs/E.U.I.T.%20Industrial/ADMIN/IMAGENES/LOGOS%20act.NOV2014/LogoETSIDI-mediano.png">
            <a:extLst>
              <a:ext uri="{FF2B5EF4-FFF2-40B4-BE49-F238E27FC236}">
                <a16:creationId xmlns:a16="http://schemas.microsoft.com/office/drawing/2014/main" id="{A55CAB88-08E8-F145-934B-C860AEA1ECA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990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 blanco (encabezado simpl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06003-F7CF-CE42-928D-B7B4488E646D}" type="datetime1">
              <a:rPr lang="es-ES" smtClean="0"/>
              <a:t>15/05/2024</a:t>
            </a:fld>
            <a:endParaRPr lang="es-ES"/>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A59C5ADF-E1AA-1B44-878A-2B73B5F70500}" type="slidenum">
              <a:rPr lang="es-ES" smtClean="0"/>
              <a:t>‹Nº›</a:t>
            </a:fld>
            <a:endParaRPr lang="es-ES"/>
          </a:p>
        </p:txBody>
      </p:sp>
      <p:pic>
        <p:nvPicPr>
          <p:cNvPr id="5" name="Picture 4" descr="http://www.etsidi.upm.es/sfs/E.U.I.T.%20Industrial/ADMIN/IMAGENES/LOGOS%20act.NOV2014/LogoETSIDI-mediano.png">
            <a:extLst>
              <a:ext uri="{FF2B5EF4-FFF2-40B4-BE49-F238E27FC236}">
                <a16:creationId xmlns:a16="http://schemas.microsoft.com/office/drawing/2014/main" id="{1B506D93-5F00-8E43-9B29-37A9BD27624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8C5C43AE-5AE0-FF4E-9664-5DF64641DE7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7" name="Título 8">
            <a:extLst>
              <a:ext uri="{FF2B5EF4-FFF2-40B4-BE49-F238E27FC236}">
                <a16:creationId xmlns:a16="http://schemas.microsoft.com/office/drawing/2014/main" id="{7C781A6A-E1F4-664C-9303-9A7EB2269F26}"/>
              </a:ext>
            </a:extLst>
          </p:cNvPr>
          <p:cNvSpPr>
            <a:spLocks noGrp="1"/>
          </p:cNvSpPr>
          <p:nvPr>
            <p:ph type="title"/>
          </p:nvPr>
        </p:nvSpPr>
        <p:spPr>
          <a:xfrm>
            <a:off x="1068400" y="112505"/>
            <a:ext cx="6777292" cy="917763"/>
          </a:xfrm>
        </p:spPr>
        <p:txBody>
          <a:bodyPr/>
          <a:lstStyle/>
          <a:p>
            <a:pPr algn="ctr"/>
            <a:r>
              <a:rPr lang="es-ES"/>
              <a:t>Haga clic para modificar el estilo de título del patrón</a:t>
            </a:r>
            <a:endParaRPr lang="es-ES" dirty="0"/>
          </a:p>
        </p:txBody>
      </p:sp>
    </p:spTree>
    <p:extLst>
      <p:ext uri="{BB962C8B-B14F-4D97-AF65-F5344CB8AC3E}">
        <p14:creationId xmlns:p14="http://schemas.microsoft.com/office/powerpoint/2010/main" val="2240851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1453244"/>
            <a:ext cx="2949178" cy="1355272"/>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5009" y="1453245"/>
            <a:ext cx="4629150" cy="459535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p:txBody>
      </p:sp>
      <p:sp>
        <p:nvSpPr>
          <p:cNvPr id="4" name="Text Placeholder 3"/>
          <p:cNvSpPr>
            <a:spLocks noGrp="1"/>
          </p:cNvSpPr>
          <p:nvPr>
            <p:ph type="body" sz="half" idx="2"/>
          </p:nvPr>
        </p:nvSpPr>
        <p:spPr>
          <a:xfrm>
            <a:off x="629841" y="2808517"/>
            <a:ext cx="2949178" cy="32400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9742CE-281D-9F44-8EB0-B3BFE55C4E68}" type="datetime1">
              <a:rPr lang="es-ES" smtClean="0"/>
              <a:t>15/05/2024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sp>
        <p:nvSpPr>
          <p:cNvPr id="8" name="Title 1">
            <a:extLst>
              <a:ext uri="{FF2B5EF4-FFF2-40B4-BE49-F238E27FC236}">
                <a16:creationId xmlns:a16="http://schemas.microsoft.com/office/drawing/2014/main" id="{CF8CCE1D-DF23-6344-8752-DE92834DE29F}"/>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2A551270-D9DA-C842-AF4C-EE4D0845E9EC}"/>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AC0F583A-C96B-214E-A03F-87B2627310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7F45694-EC29-2E49-9D01-9939EBA77B4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18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9841" y="1453244"/>
            <a:ext cx="2949178" cy="1355272"/>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5009" y="1453245"/>
            <a:ext cx="4629150" cy="459535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p:txBody>
      </p:sp>
      <p:sp>
        <p:nvSpPr>
          <p:cNvPr id="4" name="Text Placeholder 3"/>
          <p:cNvSpPr>
            <a:spLocks noGrp="1"/>
          </p:cNvSpPr>
          <p:nvPr>
            <p:ph type="body" sz="half" idx="2"/>
          </p:nvPr>
        </p:nvSpPr>
        <p:spPr>
          <a:xfrm>
            <a:off x="629841" y="2808517"/>
            <a:ext cx="2949178" cy="32400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9742CE-281D-9F44-8EB0-B3BFE55C4E68}" type="datetime1">
              <a:rPr lang="es-ES" smtClean="0"/>
              <a:t>15/05/2024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6EE83F1F-E29F-5F4B-8625-F9B099E629F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C1A1AE8D-9B00-FE4B-8AF6-85388851076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10" name="Título 8">
            <a:extLst>
              <a:ext uri="{FF2B5EF4-FFF2-40B4-BE49-F238E27FC236}">
                <a16:creationId xmlns:a16="http://schemas.microsoft.com/office/drawing/2014/main" id="{C0EEAC5F-497B-554E-B283-BFA5CB3D97AE}"/>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613141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1355279"/>
            <a:ext cx="2949178" cy="1329895"/>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1355278"/>
            <a:ext cx="4629150" cy="4767936"/>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955478"/>
            <a:ext cx="2949178" cy="316773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EECEF29-6643-4944-ADDB-3CC6FBACAFC8}" type="datetime1">
              <a:rPr lang="es-ES" smtClean="0"/>
              <a:t>15/05/2024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sp>
        <p:nvSpPr>
          <p:cNvPr id="8" name="Title 1">
            <a:extLst>
              <a:ext uri="{FF2B5EF4-FFF2-40B4-BE49-F238E27FC236}">
                <a16:creationId xmlns:a16="http://schemas.microsoft.com/office/drawing/2014/main" id="{A1A5F98E-E532-164E-9390-B7E660395898}"/>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1E7E22C8-31B4-E744-9BD6-982BACF0B34E}"/>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3F834DB4-1269-8F47-B945-E93B256C3DC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2450CC0-D8AF-3748-AC4C-107A5429E70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916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9841" y="1355279"/>
            <a:ext cx="2949178" cy="1329895"/>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1355278"/>
            <a:ext cx="4629150" cy="4767936"/>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955478"/>
            <a:ext cx="2949178" cy="316773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EECEF29-6643-4944-ADDB-3CC6FBACAFC8}" type="datetime1">
              <a:rPr lang="es-ES" smtClean="0"/>
              <a:t>15/05/2024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1E555811-0A1C-4640-92C1-706319EABF1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2E05FC5A-0D31-F248-9FF5-D465CB427B7D}"/>
              </a:ext>
            </a:extLst>
          </p:cNvPr>
          <p:cNvPicPr>
            <a:picLocks noChangeAspect="1"/>
          </p:cNvPicPr>
          <p:nvPr userDrawn="1"/>
        </p:nvPicPr>
        <p:blipFill>
          <a:blip r:embed="rId3"/>
          <a:stretch>
            <a:fillRect/>
          </a:stretch>
        </p:blipFill>
        <p:spPr>
          <a:xfrm>
            <a:off x="76200" y="186945"/>
            <a:ext cx="903514" cy="695146"/>
          </a:xfrm>
          <a:prstGeom prst="rect">
            <a:avLst/>
          </a:prstGeom>
        </p:spPr>
      </p:pic>
      <p:sp>
        <p:nvSpPr>
          <p:cNvPr id="10" name="Título 8">
            <a:extLst>
              <a:ext uri="{FF2B5EF4-FFF2-40B4-BE49-F238E27FC236}">
                <a16:creationId xmlns:a16="http://schemas.microsoft.com/office/drawing/2014/main" id="{58F06C59-5985-DF44-A66A-7AA87DAA48B7}"/>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3696573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3F76F-60CD-7D4B-8ECE-18C6ED5DA1F4}" type="datetime1">
              <a:rPr lang="es-ES" smtClean="0"/>
              <a:t>15/05/2024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sp>
        <p:nvSpPr>
          <p:cNvPr id="7" name="Title 1">
            <a:extLst>
              <a:ext uri="{FF2B5EF4-FFF2-40B4-BE49-F238E27FC236}">
                <a16:creationId xmlns:a16="http://schemas.microsoft.com/office/drawing/2014/main" id="{93B9F562-26D5-7E42-AC92-3157E9215C85}"/>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0E0BA029-1824-9042-9AA0-2469E3EAC469}"/>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B8600204-AFF2-4847-8D8F-F21EE04B15D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DBFBF890-0F52-7542-AAE4-ADF97365BA5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170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encabezado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3F76F-60CD-7D4B-8ECE-18C6ED5DA1F4}" type="datetime1">
              <a:rPr lang="es-ES" smtClean="0"/>
              <a:t>15/05/2024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B70E2124-38D2-8140-8ADD-A0120EF7EE6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8DB8E2DB-0713-EB45-A618-82735D1EB47E}"/>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0CA22B38-BACE-8F44-B4BF-D746E6AD7DC7}"/>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2823753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24642"/>
            <a:ext cx="1971675" cy="49523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1224643"/>
            <a:ext cx="5800725" cy="4952320"/>
          </a:xfrm>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1320CD9-B31B-EF49-94CE-87B29006BF21}" type="datetime1">
              <a:rPr lang="es-ES" smtClean="0"/>
              <a:t>15/05/2024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sp>
        <p:nvSpPr>
          <p:cNvPr id="7" name="Title 1">
            <a:extLst>
              <a:ext uri="{FF2B5EF4-FFF2-40B4-BE49-F238E27FC236}">
                <a16:creationId xmlns:a16="http://schemas.microsoft.com/office/drawing/2014/main" id="{81DF94F5-DCB3-624A-903B-DE476DA4B18A}"/>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C508A18F-C5FA-C842-B2FC-B563903B2F58}"/>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818A681C-FEE6-594A-B9CB-8A12DAABF51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57F5AF86-E0E0-8741-BDF1-C243A2EE23B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427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encabezado simp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24642"/>
            <a:ext cx="1971675" cy="49523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1224643"/>
            <a:ext cx="5800725" cy="4952320"/>
          </a:xfrm>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1320CD9-B31B-EF49-94CE-87B29006BF21}" type="datetime1">
              <a:rPr lang="es-ES" smtClean="0"/>
              <a:t>15/05/2024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FC05E6F1-A515-B746-BAFF-6B68550179B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4508C854-CA79-5747-80E1-0ACC5D761BD8}"/>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8B9A4CA6-3960-2740-91D9-2FDCE7817622}"/>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308211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
            <a:extLst>
              <a:ext uri="{FF2B5EF4-FFF2-40B4-BE49-F238E27FC236}">
                <a16:creationId xmlns:a16="http://schemas.microsoft.com/office/drawing/2014/main" id="{26B34E73-7A3A-9F4C-92C5-25A23E85D506}"/>
              </a:ext>
            </a:extLst>
          </p:cNvPr>
          <p:cNvPicPr/>
          <p:nvPr userDrawn="1"/>
        </p:nvPicPr>
        <p:blipFill>
          <a:blip r:embed="rId20">
            <a:alphaModFix/>
            <a:extLst>
              <a:ext uri="{28A0092B-C50C-407E-A947-70E740481C1C}">
                <a14:useLocalDpi xmlns:a14="http://schemas.microsoft.com/office/drawing/2010/main" val="0"/>
              </a:ext>
            </a:extLst>
          </a:blip>
          <a:srcRect/>
          <a:stretch>
            <a:fillRect/>
          </a:stretch>
        </p:blipFill>
        <p:spPr bwMode="auto">
          <a:xfrm>
            <a:off x="-12246" y="6225950"/>
            <a:ext cx="9156246" cy="710883"/>
          </a:xfrm>
          <a:prstGeom prst="rect">
            <a:avLst/>
          </a:prstGeom>
          <a:noFill/>
          <a:ln>
            <a:noFill/>
          </a:ln>
        </p:spPr>
      </p:pic>
      <p:sp>
        <p:nvSpPr>
          <p:cNvPr id="2" name="Title Placeholder 1"/>
          <p:cNvSpPr>
            <a:spLocks noGrp="1"/>
          </p:cNvSpPr>
          <p:nvPr>
            <p:ph type="title"/>
          </p:nvPr>
        </p:nvSpPr>
        <p:spPr>
          <a:xfrm>
            <a:off x="628650" y="1168399"/>
            <a:ext cx="7886700" cy="1101409"/>
          </a:xfrm>
          <a:prstGeom prst="rect">
            <a:avLst/>
          </a:prstGeom>
        </p:spPr>
        <p:txBody>
          <a:bodyPr vert="horz" lIns="91440" tIns="45720" rIns="91440" bIns="45720" rtlCol="0" anchor="ctr">
            <a:normAutofit/>
          </a:bodyPr>
          <a:lstStyle/>
          <a:p>
            <a:r>
              <a:rPr lang="es-ES" dirty="0"/>
              <a:t>Haga clic para modificar el estilo de título</a:t>
            </a:r>
            <a:endParaRPr lang="en-US" dirty="0"/>
          </a:p>
        </p:txBody>
      </p:sp>
      <p:sp>
        <p:nvSpPr>
          <p:cNvPr id="3" name="Text Placeholder 2"/>
          <p:cNvSpPr>
            <a:spLocks noGrp="1"/>
          </p:cNvSpPr>
          <p:nvPr>
            <p:ph type="body" idx="1"/>
          </p:nvPr>
        </p:nvSpPr>
        <p:spPr>
          <a:xfrm>
            <a:off x="628650" y="2417776"/>
            <a:ext cx="7886700" cy="3759187"/>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201643" y="6508856"/>
            <a:ext cx="2057400" cy="365125"/>
          </a:xfrm>
          <a:prstGeom prst="rect">
            <a:avLst/>
          </a:prstGeom>
        </p:spPr>
        <p:txBody>
          <a:bodyPr vert="horz" lIns="91440" tIns="45720" rIns="91440" bIns="45720" rtlCol="0" anchor="ctr"/>
          <a:lstStyle>
            <a:lvl1pPr algn="l">
              <a:defRPr sz="1200" baseline="0">
                <a:solidFill>
                  <a:schemeClr val="bg1"/>
                </a:solidFill>
              </a:defRPr>
            </a:lvl1pPr>
          </a:lstStyle>
          <a:p>
            <a:fld id="{1FA92369-F93C-2445-AC2C-7FF5640B8551}" type="datetime1">
              <a:rPr lang="es-ES" smtClean="0"/>
              <a:pPr/>
              <a:t>15/05/2024</a:t>
            </a:fld>
            <a:endParaRPr lang="es-ES" dirty="0"/>
          </a:p>
        </p:txBody>
      </p:sp>
      <p:sp>
        <p:nvSpPr>
          <p:cNvPr id="5" name="Footer Placeholder 4"/>
          <p:cNvSpPr>
            <a:spLocks noGrp="1"/>
          </p:cNvSpPr>
          <p:nvPr>
            <p:ph type="ftr" sz="quarter" idx="3"/>
          </p:nvPr>
        </p:nvSpPr>
        <p:spPr>
          <a:xfrm>
            <a:off x="3028950" y="6508856"/>
            <a:ext cx="3086100" cy="365125"/>
          </a:xfrm>
          <a:prstGeom prst="rect">
            <a:avLst/>
          </a:prstGeom>
        </p:spPr>
        <p:txBody>
          <a:bodyPr vert="horz" lIns="91440" tIns="45720" rIns="91440" bIns="45720" rtlCol="0" anchor="ctr"/>
          <a:lstStyle>
            <a:lvl1pPr algn="ctr">
              <a:defRPr sz="1200">
                <a:solidFill>
                  <a:schemeClr val="bg1"/>
                </a:solidFill>
              </a:defRPr>
            </a:lvl1pPr>
          </a:lstStyle>
          <a:p>
            <a:endParaRPr lang="es-ES" dirty="0"/>
          </a:p>
        </p:txBody>
      </p:sp>
      <p:sp>
        <p:nvSpPr>
          <p:cNvPr id="6" name="Slide Number Placeholder 5"/>
          <p:cNvSpPr>
            <a:spLocks noGrp="1"/>
          </p:cNvSpPr>
          <p:nvPr>
            <p:ph type="sldNum" sz="quarter" idx="4"/>
          </p:nvPr>
        </p:nvSpPr>
        <p:spPr>
          <a:xfrm>
            <a:off x="6846143" y="6508856"/>
            <a:ext cx="2057400" cy="365125"/>
          </a:xfrm>
          <a:prstGeom prst="rect">
            <a:avLst/>
          </a:prstGeom>
        </p:spPr>
        <p:txBody>
          <a:bodyPr vert="horz" lIns="91440" tIns="45720" rIns="91440" bIns="45720" rtlCol="0" anchor="ctr"/>
          <a:lstStyle>
            <a:lvl1pPr algn="r">
              <a:defRPr sz="1200">
                <a:solidFill>
                  <a:schemeClr val="bg1"/>
                </a:solidFill>
              </a:defRPr>
            </a:lvl1pPr>
          </a:lstStyle>
          <a:p>
            <a:fld id="{A59C5ADF-E1AA-1B44-878A-2B73B5F70500}" type="slidenum">
              <a:rPr lang="es-ES" smtClean="0"/>
              <a:pPr/>
              <a:t>‹Nº›</a:t>
            </a:fld>
            <a:endParaRPr lang="es-ES" dirty="0"/>
          </a:p>
        </p:txBody>
      </p:sp>
      <p:sp>
        <p:nvSpPr>
          <p:cNvPr id="13" name="Rectángulo 12">
            <a:extLst>
              <a:ext uri="{FF2B5EF4-FFF2-40B4-BE49-F238E27FC236}">
                <a16:creationId xmlns:a16="http://schemas.microsoft.com/office/drawing/2014/main" id="{86E706FC-6E4B-A046-8751-90A1B3B86795}"/>
              </a:ext>
            </a:extLst>
          </p:cNvPr>
          <p:cNvSpPr/>
          <p:nvPr userDrawn="1"/>
        </p:nvSpPr>
        <p:spPr>
          <a:xfrm>
            <a:off x="1" y="0"/>
            <a:ext cx="9144000" cy="1092200"/>
          </a:xfrm>
          <a:prstGeom prst="rect">
            <a:avLst/>
          </a:prstGeom>
          <a:gradFill flip="none" rotWithShape="1">
            <a:gsLst>
              <a:gs pos="0">
                <a:schemeClr val="bg1">
                  <a:lumMod val="85000"/>
                </a:schemeClr>
              </a:gs>
              <a:gs pos="53000">
                <a:schemeClr val="bg1">
                  <a:lumMod val="7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1941084781"/>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698" r:id="rId3"/>
    <p:sldLayoutId id="2147483709" r:id="rId4"/>
    <p:sldLayoutId id="2147483700" r:id="rId5"/>
    <p:sldLayoutId id="2147483710" r:id="rId6"/>
    <p:sldLayoutId id="2147483702" r:id="rId7"/>
    <p:sldLayoutId id="2147483711" r:id="rId8"/>
    <p:sldLayoutId id="2147483703" r:id="rId9"/>
    <p:sldLayoutId id="2147483712" r:id="rId10"/>
    <p:sldLayoutId id="2147483704" r:id="rId11"/>
    <p:sldLayoutId id="2147483713" r:id="rId12"/>
    <p:sldLayoutId id="2147483705" r:id="rId13"/>
    <p:sldLayoutId id="2147483714" r:id="rId14"/>
    <p:sldLayoutId id="2147483706" r:id="rId15"/>
    <p:sldLayoutId id="2147483715" r:id="rId16"/>
    <p:sldLayoutId id="2147483707" r:id="rId17"/>
    <p:sldLayoutId id="2147483716" r:id="rId18"/>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diagramColors" Target="../diagrams/colors1.xml"/><Relationship Id="rId11" Type="http://schemas.openxmlformats.org/officeDocument/2006/relationships/image" Target="../media/image15.svg"/><Relationship Id="rId5" Type="http://schemas.openxmlformats.org/officeDocument/2006/relationships/diagramQuickStyle" Target="../diagrams/quickStyle1.xml"/><Relationship Id="rId10" Type="http://schemas.openxmlformats.org/officeDocument/2006/relationships/image" Target="../media/image14.png"/><Relationship Id="rId4" Type="http://schemas.openxmlformats.org/officeDocument/2006/relationships/diagramLayout" Target="../diagrams/layout1.xml"/><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E06B02-8853-ED42-B9AE-8D133024136A}"/>
              </a:ext>
            </a:extLst>
          </p:cNvPr>
          <p:cNvSpPr>
            <a:spLocks noGrp="1"/>
          </p:cNvSpPr>
          <p:nvPr>
            <p:ph type="ctrTitle"/>
          </p:nvPr>
        </p:nvSpPr>
        <p:spPr>
          <a:xfrm>
            <a:off x="1014262" y="1426399"/>
            <a:ext cx="7326029" cy="1426398"/>
          </a:xfrm>
        </p:spPr>
        <p:txBody>
          <a:bodyPr>
            <a:normAutofit/>
          </a:bodyPr>
          <a:lstStyle/>
          <a:p>
            <a:r>
              <a:rPr lang="es-ES" sz="3200" dirty="0"/>
              <a:t>Modelos predictivos utilizando inteligencia artificial para enfermedades neurodegenerativas:</a:t>
            </a:r>
          </a:p>
        </p:txBody>
      </p:sp>
      <p:sp>
        <p:nvSpPr>
          <p:cNvPr id="3" name="Subtítulo 2">
            <a:extLst>
              <a:ext uri="{FF2B5EF4-FFF2-40B4-BE49-F238E27FC236}">
                <a16:creationId xmlns:a16="http://schemas.microsoft.com/office/drawing/2014/main" id="{809A10CE-3967-614F-A34A-DECDD970D7D5}"/>
              </a:ext>
            </a:extLst>
          </p:cNvPr>
          <p:cNvSpPr>
            <a:spLocks noGrp="1"/>
          </p:cNvSpPr>
          <p:nvPr>
            <p:ph type="subTitle" idx="1"/>
          </p:nvPr>
        </p:nvSpPr>
        <p:spPr>
          <a:xfrm>
            <a:off x="1119539" y="2572276"/>
            <a:ext cx="7115476" cy="2632616"/>
          </a:xfrm>
        </p:spPr>
        <p:txBody>
          <a:bodyPr>
            <a:noAutofit/>
          </a:bodyPr>
          <a:lstStyle/>
          <a:p>
            <a:endParaRPr lang="es-ES" sz="4000" dirty="0"/>
          </a:p>
          <a:p>
            <a:r>
              <a:rPr lang="es-ES" sz="4000" dirty="0"/>
              <a:t>Estudio del declive cognitivo en la enfermedad del Parkinson mediante </a:t>
            </a:r>
            <a:r>
              <a:rPr lang="es-ES" sz="4000" dirty="0" err="1"/>
              <a:t>Leaspy</a:t>
            </a:r>
            <a:r>
              <a:rPr lang="es-ES" sz="4000" dirty="0"/>
              <a:t>.</a:t>
            </a:r>
          </a:p>
        </p:txBody>
      </p:sp>
      <p:sp>
        <p:nvSpPr>
          <p:cNvPr id="4" name="CuadroTexto 3">
            <a:extLst>
              <a:ext uri="{FF2B5EF4-FFF2-40B4-BE49-F238E27FC236}">
                <a16:creationId xmlns:a16="http://schemas.microsoft.com/office/drawing/2014/main" id="{A47D1DEC-3362-C53D-B7D1-D6C5B2616588}"/>
              </a:ext>
            </a:extLst>
          </p:cNvPr>
          <p:cNvSpPr txBox="1"/>
          <p:nvPr/>
        </p:nvSpPr>
        <p:spPr>
          <a:xfrm>
            <a:off x="3612572" y="5412098"/>
            <a:ext cx="2233688" cy="400110"/>
          </a:xfrm>
          <a:prstGeom prst="rect">
            <a:avLst/>
          </a:prstGeom>
          <a:noFill/>
        </p:spPr>
        <p:txBody>
          <a:bodyPr wrap="none" rtlCol="0">
            <a:spAutoFit/>
          </a:bodyPr>
          <a:lstStyle/>
          <a:p>
            <a:r>
              <a:rPr lang="es-ES" dirty="0"/>
              <a:t>Raquel Roca </a:t>
            </a:r>
            <a:r>
              <a:rPr lang="es-ES" sz="2000" dirty="0"/>
              <a:t>Pereira</a:t>
            </a:r>
          </a:p>
        </p:txBody>
      </p:sp>
    </p:spTree>
    <p:extLst>
      <p:ext uri="{BB962C8B-B14F-4D97-AF65-F5344CB8AC3E}">
        <p14:creationId xmlns:p14="http://schemas.microsoft.com/office/powerpoint/2010/main" val="2990257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r>
              <a:rPr lang="es-ES" dirty="0"/>
              <a:t>ÍNDICE</a:t>
            </a:r>
          </a:p>
        </p:txBody>
      </p:sp>
      <p:sp>
        <p:nvSpPr>
          <p:cNvPr id="6" name="Marcador de contenido 5">
            <a:extLst>
              <a:ext uri="{FF2B5EF4-FFF2-40B4-BE49-F238E27FC236}">
                <a16:creationId xmlns:a16="http://schemas.microsoft.com/office/drawing/2014/main" id="{3E24A0B9-A184-BA4C-B8F7-F7F16822EF0E}"/>
              </a:ext>
            </a:extLst>
          </p:cNvPr>
          <p:cNvSpPr>
            <a:spLocks noGrp="1"/>
          </p:cNvSpPr>
          <p:nvPr>
            <p:ph idx="1"/>
          </p:nvPr>
        </p:nvSpPr>
        <p:spPr/>
        <p:txBody>
          <a:bodyPr/>
          <a:lstStyle/>
          <a:p>
            <a:pPr marL="457200" indent="-457200">
              <a:buAutoNum type="arabicPeriod"/>
            </a:pPr>
            <a:r>
              <a:rPr lang="es-ES" dirty="0"/>
              <a:t>Introducción</a:t>
            </a:r>
          </a:p>
          <a:p>
            <a:pPr marL="457200" indent="-457200">
              <a:buAutoNum type="arabicPeriod"/>
            </a:pPr>
            <a:r>
              <a:rPr lang="es-ES" dirty="0"/>
              <a:t>Herramientas utilizadas</a:t>
            </a:r>
          </a:p>
          <a:p>
            <a:pPr marL="457200" indent="-457200">
              <a:buAutoNum type="arabicPeriod"/>
            </a:pPr>
            <a:r>
              <a:rPr lang="es-ES" dirty="0"/>
              <a:t>Métodos</a:t>
            </a:r>
          </a:p>
          <a:p>
            <a:pPr marL="457200" indent="-457200">
              <a:buAutoNum type="arabicPeriod"/>
            </a:pPr>
            <a:r>
              <a:rPr lang="es-ES" dirty="0"/>
              <a:t>Resultados </a:t>
            </a:r>
          </a:p>
          <a:p>
            <a:pPr marL="457200" indent="-457200">
              <a:buAutoNum type="arabicPeriod"/>
            </a:pPr>
            <a:r>
              <a:rPr lang="es-ES" dirty="0"/>
              <a:t>Siguientes pasos</a:t>
            </a:r>
          </a:p>
          <a:p>
            <a:pPr marL="457200" indent="-457200">
              <a:buAutoNum type="arabicPeriod"/>
            </a:pPr>
            <a:endParaRPr lang="es-ES" dirty="0"/>
          </a:p>
          <a:p>
            <a:pPr marL="0" indent="0">
              <a:buNone/>
            </a:pPr>
            <a:endParaRPr lang="es-ES" dirty="0"/>
          </a:p>
        </p:txBody>
      </p:sp>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1</a:t>
            </a:fld>
            <a:endParaRPr lang="es-ES"/>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1787942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2</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1. Introducción</a:t>
            </a:r>
          </a:p>
        </p:txBody>
      </p:sp>
      <p:pic>
        <p:nvPicPr>
          <p:cNvPr id="7" name="Marcador de contenido 6" descr="Diagrama&#10;&#10;Descripción generada automáticamente">
            <a:extLst>
              <a:ext uri="{FF2B5EF4-FFF2-40B4-BE49-F238E27FC236}">
                <a16:creationId xmlns:a16="http://schemas.microsoft.com/office/drawing/2014/main" id="{F6FDAE27-8CD3-1DE9-B132-D92D3513D3C4}"/>
              </a:ext>
            </a:extLst>
          </p:cNvPr>
          <p:cNvPicPr>
            <a:picLocks noGrp="1" noChangeAspect="1"/>
          </p:cNvPicPr>
          <p:nvPr>
            <p:ph idx="4294967295"/>
          </p:nvPr>
        </p:nvPicPr>
        <p:blipFill>
          <a:blip r:embed="rId3"/>
          <a:stretch>
            <a:fillRect/>
          </a:stretch>
        </p:blipFill>
        <p:spPr>
          <a:xfrm>
            <a:off x="600502" y="1836318"/>
            <a:ext cx="3864319" cy="3101039"/>
          </a:xfrm>
        </p:spPr>
      </p:pic>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9" name="Imagen 8" descr="Diagrama&#10;&#10;Descripción generada automáticamente">
            <a:extLst>
              <a:ext uri="{FF2B5EF4-FFF2-40B4-BE49-F238E27FC236}">
                <a16:creationId xmlns:a16="http://schemas.microsoft.com/office/drawing/2014/main" id="{988CE99E-EF73-22BC-DD0B-9ADFB432253D}"/>
              </a:ext>
            </a:extLst>
          </p:cNvPr>
          <p:cNvPicPr>
            <a:picLocks noChangeAspect="1"/>
          </p:cNvPicPr>
          <p:nvPr/>
        </p:nvPicPr>
        <p:blipFill>
          <a:blip r:embed="rId4"/>
          <a:stretch>
            <a:fillRect/>
          </a:stretch>
        </p:blipFill>
        <p:spPr>
          <a:xfrm>
            <a:off x="5148788" y="1328468"/>
            <a:ext cx="3394710" cy="2058370"/>
          </a:xfrm>
          <a:prstGeom prst="rect">
            <a:avLst/>
          </a:prstGeom>
        </p:spPr>
      </p:pic>
      <p:pic>
        <p:nvPicPr>
          <p:cNvPr id="11" name="Imagen 10" descr="Una imagen de una luz verde&#10;&#10;Descripción generada automáticamente con confianza baja">
            <a:extLst>
              <a:ext uri="{FF2B5EF4-FFF2-40B4-BE49-F238E27FC236}">
                <a16:creationId xmlns:a16="http://schemas.microsoft.com/office/drawing/2014/main" id="{C5B84FC0-E2FD-FF38-312B-C33DEA9915A7}"/>
              </a:ext>
            </a:extLst>
          </p:cNvPr>
          <p:cNvPicPr>
            <a:picLocks noChangeAspect="1"/>
          </p:cNvPicPr>
          <p:nvPr/>
        </p:nvPicPr>
        <p:blipFill>
          <a:blip r:embed="rId5"/>
          <a:stretch>
            <a:fillRect/>
          </a:stretch>
        </p:blipFill>
        <p:spPr>
          <a:xfrm>
            <a:off x="5286142" y="3789792"/>
            <a:ext cx="3120001" cy="2379454"/>
          </a:xfrm>
          <a:prstGeom prst="rect">
            <a:avLst/>
          </a:prstGeom>
        </p:spPr>
      </p:pic>
    </p:spTree>
    <p:extLst>
      <p:ext uri="{BB962C8B-B14F-4D97-AF65-F5344CB8AC3E}">
        <p14:creationId xmlns:p14="http://schemas.microsoft.com/office/powerpoint/2010/main" val="1527172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3</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2. Herramientas utilizadas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descr="Imagen que contiene Diagrama&#10;&#10;Descripción generada automáticamente">
            <a:extLst>
              <a:ext uri="{FF2B5EF4-FFF2-40B4-BE49-F238E27FC236}">
                <a16:creationId xmlns:a16="http://schemas.microsoft.com/office/drawing/2014/main" id="{FDFAB71F-CDA7-C5BF-6465-61C0FB7D9863}"/>
              </a:ext>
            </a:extLst>
          </p:cNvPr>
          <p:cNvPicPr>
            <a:picLocks noChangeAspect="1"/>
          </p:cNvPicPr>
          <p:nvPr/>
        </p:nvPicPr>
        <p:blipFill>
          <a:blip r:embed="rId3"/>
          <a:stretch>
            <a:fillRect/>
          </a:stretch>
        </p:blipFill>
        <p:spPr>
          <a:xfrm>
            <a:off x="583025" y="1610897"/>
            <a:ext cx="3988975" cy="1546971"/>
          </a:xfrm>
          <a:prstGeom prst="rect">
            <a:avLst/>
          </a:prstGeom>
        </p:spPr>
      </p:pic>
      <p:pic>
        <p:nvPicPr>
          <p:cNvPr id="9" name="Imagen 8" descr="Logotipo, nombre de la empresa&#10;&#10;Descripción generada automáticamente">
            <a:extLst>
              <a:ext uri="{FF2B5EF4-FFF2-40B4-BE49-F238E27FC236}">
                <a16:creationId xmlns:a16="http://schemas.microsoft.com/office/drawing/2014/main" id="{A42951EC-0523-6F21-31C1-5ADD12A4E0D6}"/>
              </a:ext>
            </a:extLst>
          </p:cNvPr>
          <p:cNvPicPr>
            <a:picLocks noChangeAspect="1"/>
          </p:cNvPicPr>
          <p:nvPr/>
        </p:nvPicPr>
        <p:blipFill>
          <a:blip r:embed="rId4"/>
          <a:stretch>
            <a:fillRect/>
          </a:stretch>
        </p:blipFill>
        <p:spPr>
          <a:xfrm>
            <a:off x="3371567" y="4015556"/>
            <a:ext cx="2937063" cy="1882002"/>
          </a:xfrm>
          <a:prstGeom prst="rect">
            <a:avLst/>
          </a:prstGeom>
        </p:spPr>
      </p:pic>
      <p:pic>
        <p:nvPicPr>
          <p:cNvPr id="11" name="Imagen 10" descr="Logotipo, nombre de la empresa&#10;&#10;Descripción generada automáticamente">
            <a:extLst>
              <a:ext uri="{FF2B5EF4-FFF2-40B4-BE49-F238E27FC236}">
                <a16:creationId xmlns:a16="http://schemas.microsoft.com/office/drawing/2014/main" id="{E2AE39CA-B5F0-1780-D6B7-121DBDB8C6DA}"/>
              </a:ext>
            </a:extLst>
          </p:cNvPr>
          <p:cNvPicPr>
            <a:picLocks noChangeAspect="1"/>
          </p:cNvPicPr>
          <p:nvPr/>
        </p:nvPicPr>
        <p:blipFill>
          <a:blip r:embed="rId5"/>
          <a:stretch>
            <a:fillRect/>
          </a:stretch>
        </p:blipFill>
        <p:spPr>
          <a:xfrm>
            <a:off x="4840099" y="1522257"/>
            <a:ext cx="3764001" cy="1882001"/>
          </a:xfrm>
          <a:prstGeom prst="rect">
            <a:avLst/>
          </a:prstGeom>
        </p:spPr>
      </p:pic>
    </p:spTree>
    <p:extLst>
      <p:ext uri="{BB962C8B-B14F-4D97-AF65-F5344CB8AC3E}">
        <p14:creationId xmlns:p14="http://schemas.microsoft.com/office/powerpoint/2010/main" val="2164057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4</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59664"/>
            <a:ext cx="4363695" cy="461665"/>
          </a:xfrm>
          <a:prstGeom prst="rect">
            <a:avLst/>
          </a:prstGeom>
          <a:noFill/>
        </p:spPr>
        <p:txBody>
          <a:bodyPr wrap="none" rtlCol="0">
            <a:spAutoFit/>
          </a:bodyPr>
          <a:lstStyle/>
          <a:p>
            <a:r>
              <a:rPr lang="es-ES" sz="2400" dirty="0"/>
              <a:t>3.1. Análisis al inicio del estudio</a:t>
            </a:r>
          </a:p>
        </p:txBody>
      </p:sp>
      <p:graphicFrame>
        <p:nvGraphicFramePr>
          <p:cNvPr id="8" name="Tabla 7">
            <a:extLst>
              <a:ext uri="{FF2B5EF4-FFF2-40B4-BE49-F238E27FC236}">
                <a16:creationId xmlns:a16="http://schemas.microsoft.com/office/drawing/2014/main" id="{152536E8-D996-C359-97BF-C4A391BFCB60}"/>
              </a:ext>
            </a:extLst>
          </p:cNvPr>
          <p:cNvGraphicFramePr>
            <a:graphicFrameLocks noGrp="1"/>
          </p:cNvGraphicFramePr>
          <p:nvPr>
            <p:extLst>
              <p:ext uri="{D42A27DB-BD31-4B8C-83A1-F6EECF244321}">
                <p14:modId xmlns:p14="http://schemas.microsoft.com/office/powerpoint/2010/main" val="3699886153"/>
              </p:ext>
            </p:extLst>
          </p:nvPr>
        </p:nvGraphicFramePr>
        <p:xfrm>
          <a:off x="4631889" y="2192137"/>
          <a:ext cx="3753853" cy="1485900"/>
        </p:xfrm>
        <a:graphic>
          <a:graphicData uri="http://schemas.openxmlformats.org/drawingml/2006/table">
            <a:tbl>
              <a:tblPr firstRow="1" bandRow="1">
                <a:tableStyleId>{5940675A-B579-460E-94D1-54222C63F5DA}</a:tableStyleId>
              </a:tblPr>
              <a:tblGrid>
                <a:gridCol w="922607">
                  <a:extLst>
                    <a:ext uri="{9D8B030D-6E8A-4147-A177-3AD203B41FA5}">
                      <a16:colId xmlns:a16="http://schemas.microsoft.com/office/drawing/2014/main" val="2829792865"/>
                    </a:ext>
                  </a:extLst>
                </a:gridCol>
                <a:gridCol w="1415623">
                  <a:extLst>
                    <a:ext uri="{9D8B030D-6E8A-4147-A177-3AD203B41FA5}">
                      <a16:colId xmlns:a16="http://schemas.microsoft.com/office/drawing/2014/main" val="163941164"/>
                    </a:ext>
                  </a:extLst>
                </a:gridCol>
                <a:gridCol w="1415623">
                  <a:extLst>
                    <a:ext uri="{9D8B030D-6E8A-4147-A177-3AD203B41FA5}">
                      <a16:colId xmlns:a16="http://schemas.microsoft.com/office/drawing/2014/main" val="1176701230"/>
                    </a:ext>
                  </a:extLst>
                </a:gridCol>
              </a:tblGrid>
              <a:tr h="249232">
                <a:tc gridSpan="3">
                  <a:txBody>
                    <a:bodyPr/>
                    <a:lstStyle/>
                    <a:p>
                      <a:r>
                        <a:rPr lang="es-ES" dirty="0"/>
                        <a:t>CLASIFICACION PRINCIPAL</a:t>
                      </a:r>
                    </a:p>
                  </a:txBody>
                  <a:tcPr>
                    <a:solidFill>
                      <a:schemeClr val="bg2">
                        <a:lumMod val="75000"/>
                      </a:schemeClr>
                    </a:solidFill>
                  </a:tcPr>
                </a:tc>
                <a:tc hMerge="1">
                  <a:txBody>
                    <a:bodyPr/>
                    <a:lstStyle/>
                    <a:p>
                      <a:endParaRPr lang="es-ES" dirty="0"/>
                    </a:p>
                  </a:txBody>
                  <a:tcPr>
                    <a:solidFill>
                      <a:schemeClr val="bg2">
                        <a:lumMod val="75000"/>
                      </a:schemeClr>
                    </a:solidFill>
                  </a:tcPr>
                </a:tc>
                <a:tc hMerge="1">
                  <a:txBody>
                    <a:bodyPr/>
                    <a:lstStyle/>
                    <a:p>
                      <a:endParaRPr lang="es-ES" dirty="0"/>
                    </a:p>
                  </a:txBody>
                  <a:tcPr>
                    <a:solidFill>
                      <a:schemeClr val="bg2">
                        <a:lumMod val="75000"/>
                      </a:schemeClr>
                    </a:solidFill>
                  </a:tcPr>
                </a:tc>
                <a:extLst>
                  <a:ext uri="{0D108BD9-81ED-4DB2-BD59-A6C34878D82A}">
                    <a16:rowId xmlns:a16="http://schemas.microsoft.com/office/drawing/2014/main" val="1300984707"/>
                  </a:ext>
                </a:extLst>
              </a:tr>
              <a:tr h="249232">
                <a:tc>
                  <a:txBody>
                    <a:bodyPr/>
                    <a:lstStyle/>
                    <a:p>
                      <a:endParaRPr lang="es-ES" dirty="0"/>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r>
                        <a:rPr lang="es-ES" dirty="0" err="1"/>
                        <a:t>Nº</a:t>
                      </a:r>
                      <a:r>
                        <a:rPr lang="es-ES" dirty="0"/>
                        <a:t> Pacientes</a:t>
                      </a:r>
                    </a:p>
                  </a:txBody>
                  <a:tcPr>
                    <a:solidFill>
                      <a:schemeClr val="bg1">
                        <a:lumMod val="85000"/>
                      </a:schemeClr>
                    </a:solidFill>
                  </a:tcPr>
                </a:tc>
                <a:tc>
                  <a:txBody>
                    <a:bodyPr/>
                    <a:lstStyle/>
                    <a:p>
                      <a:r>
                        <a:rPr lang="es-ES" dirty="0"/>
                        <a:t>Porcentaje</a:t>
                      </a:r>
                    </a:p>
                  </a:txBody>
                  <a:tcPr>
                    <a:solidFill>
                      <a:schemeClr val="bg1">
                        <a:lumMod val="85000"/>
                      </a:schemeClr>
                    </a:solidFill>
                  </a:tcPr>
                </a:tc>
                <a:extLst>
                  <a:ext uri="{0D108BD9-81ED-4DB2-BD59-A6C34878D82A}">
                    <a16:rowId xmlns:a16="http://schemas.microsoft.com/office/drawing/2014/main" val="1086079707"/>
                  </a:ext>
                </a:extLst>
              </a:tr>
              <a:tr h="249232">
                <a:tc>
                  <a:txBody>
                    <a:bodyPr/>
                    <a:lstStyle/>
                    <a:p>
                      <a:r>
                        <a:rPr lang="es-ES" dirty="0"/>
                        <a:t>TOTAL</a:t>
                      </a:r>
                    </a:p>
                  </a:txBody>
                  <a:tcPr>
                    <a:solidFill>
                      <a:schemeClr val="bg1">
                        <a:lumMod val="85000"/>
                      </a:schemeClr>
                    </a:solidFill>
                  </a:tcPr>
                </a:tc>
                <a:tc>
                  <a:txBody>
                    <a:bodyPr/>
                    <a:lstStyle/>
                    <a:p>
                      <a:r>
                        <a:rPr lang="es-ES" dirty="0"/>
                        <a:t>683</a:t>
                      </a:r>
                    </a:p>
                  </a:txBody>
                  <a:tcPr/>
                </a:tc>
                <a:tc>
                  <a:txBody>
                    <a:bodyPr/>
                    <a:lstStyle/>
                    <a:p>
                      <a:r>
                        <a:rPr lang="es-ES" dirty="0"/>
                        <a:t>100%</a:t>
                      </a:r>
                    </a:p>
                  </a:txBody>
                  <a:tcPr/>
                </a:tc>
                <a:extLst>
                  <a:ext uri="{0D108BD9-81ED-4DB2-BD59-A6C34878D82A}">
                    <a16:rowId xmlns:a16="http://schemas.microsoft.com/office/drawing/2014/main" val="1102238040"/>
                  </a:ext>
                </a:extLst>
              </a:tr>
              <a:tr h="249232">
                <a:tc>
                  <a:txBody>
                    <a:bodyPr/>
                    <a:lstStyle/>
                    <a:p>
                      <a:r>
                        <a:rPr lang="es-ES" dirty="0"/>
                        <a:t>PD</a:t>
                      </a:r>
                    </a:p>
                  </a:txBody>
                  <a:tcPr>
                    <a:solidFill>
                      <a:schemeClr val="bg1">
                        <a:lumMod val="85000"/>
                      </a:schemeClr>
                    </a:solidFill>
                  </a:tcPr>
                </a:tc>
                <a:tc>
                  <a:txBody>
                    <a:bodyPr/>
                    <a:lstStyle/>
                    <a:p>
                      <a:r>
                        <a:rPr lang="es-ES" dirty="0"/>
                        <a:t>423</a:t>
                      </a:r>
                    </a:p>
                  </a:txBody>
                  <a:tcPr/>
                </a:tc>
                <a:tc>
                  <a:txBody>
                    <a:bodyPr/>
                    <a:lstStyle/>
                    <a:p>
                      <a:r>
                        <a:rPr lang="es-ES" dirty="0"/>
                        <a:t>61,9%</a:t>
                      </a:r>
                    </a:p>
                  </a:txBody>
                  <a:tcPr/>
                </a:tc>
                <a:extLst>
                  <a:ext uri="{0D108BD9-81ED-4DB2-BD59-A6C34878D82A}">
                    <a16:rowId xmlns:a16="http://schemas.microsoft.com/office/drawing/2014/main" val="1283634966"/>
                  </a:ext>
                </a:extLst>
              </a:tr>
              <a:tr h="264161">
                <a:tc>
                  <a:txBody>
                    <a:bodyPr/>
                    <a:lstStyle/>
                    <a:p>
                      <a:r>
                        <a:rPr lang="es-ES" dirty="0"/>
                        <a:t>HC</a:t>
                      </a:r>
                    </a:p>
                  </a:txBody>
                  <a:tcPr>
                    <a:solidFill>
                      <a:schemeClr val="bg1">
                        <a:lumMod val="85000"/>
                      </a:schemeClr>
                    </a:solidFill>
                  </a:tcPr>
                </a:tc>
                <a:tc>
                  <a:txBody>
                    <a:bodyPr/>
                    <a:lstStyle/>
                    <a:p>
                      <a:r>
                        <a:rPr lang="es-ES" dirty="0"/>
                        <a:t>196</a:t>
                      </a:r>
                    </a:p>
                  </a:txBody>
                  <a:tcPr/>
                </a:tc>
                <a:tc>
                  <a:txBody>
                    <a:bodyPr/>
                    <a:lstStyle/>
                    <a:p>
                      <a:r>
                        <a:rPr lang="es-ES" dirty="0"/>
                        <a:t>28,7%</a:t>
                      </a:r>
                    </a:p>
                  </a:txBody>
                  <a:tcPr/>
                </a:tc>
                <a:extLst>
                  <a:ext uri="{0D108BD9-81ED-4DB2-BD59-A6C34878D82A}">
                    <a16:rowId xmlns:a16="http://schemas.microsoft.com/office/drawing/2014/main" val="3440751687"/>
                  </a:ext>
                </a:extLst>
              </a:tr>
            </a:tbl>
          </a:graphicData>
        </a:graphic>
      </p:graphicFrame>
      <p:graphicFrame>
        <p:nvGraphicFramePr>
          <p:cNvPr id="9" name="Tabla 8">
            <a:extLst>
              <a:ext uri="{FF2B5EF4-FFF2-40B4-BE49-F238E27FC236}">
                <a16:creationId xmlns:a16="http://schemas.microsoft.com/office/drawing/2014/main" id="{85B0E3ED-72BE-0684-5C71-0B68C734D9CA}"/>
              </a:ext>
            </a:extLst>
          </p:cNvPr>
          <p:cNvGraphicFramePr>
            <a:graphicFrameLocks noGrp="1"/>
          </p:cNvGraphicFramePr>
          <p:nvPr>
            <p:extLst>
              <p:ext uri="{D42A27DB-BD31-4B8C-83A1-F6EECF244321}">
                <p14:modId xmlns:p14="http://schemas.microsoft.com/office/powerpoint/2010/main" val="1122835401"/>
              </p:ext>
            </p:extLst>
          </p:nvPr>
        </p:nvGraphicFramePr>
        <p:xfrm>
          <a:off x="4631888" y="3923606"/>
          <a:ext cx="3753853" cy="1485900"/>
        </p:xfrm>
        <a:graphic>
          <a:graphicData uri="http://schemas.openxmlformats.org/drawingml/2006/table">
            <a:tbl>
              <a:tblPr firstRow="1" bandRow="1">
                <a:tableStyleId>{5940675A-B579-460E-94D1-54222C63F5DA}</a:tableStyleId>
              </a:tblPr>
              <a:tblGrid>
                <a:gridCol w="922607">
                  <a:extLst>
                    <a:ext uri="{9D8B030D-6E8A-4147-A177-3AD203B41FA5}">
                      <a16:colId xmlns:a16="http://schemas.microsoft.com/office/drawing/2014/main" val="2204502668"/>
                    </a:ext>
                  </a:extLst>
                </a:gridCol>
                <a:gridCol w="1415623">
                  <a:extLst>
                    <a:ext uri="{9D8B030D-6E8A-4147-A177-3AD203B41FA5}">
                      <a16:colId xmlns:a16="http://schemas.microsoft.com/office/drawing/2014/main" val="2993149276"/>
                    </a:ext>
                  </a:extLst>
                </a:gridCol>
                <a:gridCol w="1415623">
                  <a:extLst>
                    <a:ext uri="{9D8B030D-6E8A-4147-A177-3AD203B41FA5}">
                      <a16:colId xmlns:a16="http://schemas.microsoft.com/office/drawing/2014/main" val="4285243395"/>
                    </a:ext>
                  </a:extLst>
                </a:gridCol>
              </a:tblGrid>
              <a:tr h="289505">
                <a:tc gridSpan="3">
                  <a:txBody>
                    <a:bodyPr/>
                    <a:lstStyle/>
                    <a:p>
                      <a:pPr marL="0" algn="l" defTabSz="685800" rtl="0" eaLnBrk="1" latinLnBrk="0" hangingPunct="1"/>
                      <a:r>
                        <a:rPr lang="es-ES" sz="1350" kern="1200" dirty="0">
                          <a:solidFill>
                            <a:schemeClr val="tx1"/>
                          </a:solidFill>
                          <a:latin typeface="+mn-lt"/>
                          <a:ea typeface="+mn-ea"/>
                          <a:cs typeface="+mn-cs"/>
                        </a:rPr>
                        <a:t>SUBCLASIFICACIÓN GRUPO PD</a:t>
                      </a:r>
                    </a:p>
                  </a:txBody>
                  <a:tcPr>
                    <a:solidFill>
                      <a:schemeClr val="bg2">
                        <a:lumMod val="75000"/>
                      </a:schemeClr>
                    </a:solidFill>
                  </a:tcPr>
                </a:tc>
                <a:tc hMerge="1">
                  <a:txBody>
                    <a:bodyPr/>
                    <a:lstStyle/>
                    <a:p>
                      <a:pPr marL="0" algn="l" defTabSz="685800" rtl="0" eaLnBrk="1" latinLnBrk="0" hangingPunct="1"/>
                      <a:endParaRPr lang="es-ES" sz="1350" kern="1200" dirty="0">
                        <a:solidFill>
                          <a:schemeClr val="tx1"/>
                        </a:solidFill>
                        <a:latin typeface="+mn-lt"/>
                        <a:ea typeface="+mn-ea"/>
                        <a:cs typeface="+mn-cs"/>
                      </a:endParaRPr>
                    </a:p>
                  </a:txBody>
                  <a:tcPr/>
                </a:tc>
                <a:tc hMerge="1">
                  <a:txBody>
                    <a:bodyPr/>
                    <a:lstStyle/>
                    <a:p>
                      <a:pPr marL="0" algn="l" defTabSz="685800" rtl="0" eaLnBrk="1" latinLnBrk="0" hangingPunct="1"/>
                      <a:endParaRPr lang="es-ES" sz="1350" kern="1200" dirty="0">
                        <a:solidFill>
                          <a:schemeClr val="tx1"/>
                        </a:solidFill>
                        <a:latin typeface="+mn-lt"/>
                        <a:ea typeface="+mn-ea"/>
                        <a:cs typeface="+mn-cs"/>
                      </a:endParaRPr>
                    </a:p>
                  </a:txBody>
                  <a:tcPr/>
                </a:tc>
                <a:extLst>
                  <a:ext uri="{0D108BD9-81ED-4DB2-BD59-A6C34878D82A}">
                    <a16:rowId xmlns:a16="http://schemas.microsoft.com/office/drawing/2014/main" val="3003120540"/>
                  </a:ext>
                </a:extLst>
              </a:tr>
              <a:tr h="249232">
                <a:tc>
                  <a:txBody>
                    <a:bodyPr/>
                    <a:lstStyle/>
                    <a:p>
                      <a:pPr marL="0" algn="l" defTabSz="685800" rtl="0" eaLnBrk="1" latinLnBrk="0" hangingPunct="1"/>
                      <a:endParaRPr lang="es-ES" sz="1350" kern="1200" dirty="0">
                        <a:solidFill>
                          <a:schemeClr val="tx1"/>
                        </a:solidFill>
                        <a:latin typeface="+mn-lt"/>
                        <a:ea typeface="+mn-ea"/>
                        <a:cs typeface="+mn-cs"/>
                      </a:endParaRPr>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marL="0" algn="l" defTabSz="685800" rtl="0" eaLnBrk="1" latinLnBrk="0" hangingPunct="1"/>
                      <a:r>
                        <a:rPr lang="es-ES" sz="1350" kern="1200" dirty="0" err="1">
                          <a:solidFill>
                            <a:schemeClr val="tx1"/>
                          </a:solidFill>
                          <a:latin typeface="+mn-lt"/>
                          <a:ea typeface="+mn-ea"/>
                          <a:cs typeface="+mn-cs"/>
                        </a:rPr>
                        <a:t>Nº</a:t>
                      </a:r>
                      <a:r>
                        <a:rPr lang="es-ES" sz="1350" kern="1200" dirty="0">
                          <a:solidFill>
                            <a:schemeClr val="tx1"/>
                          </a:solidFill>
                          <a:latin typeface="+mn-lt"/>
                          <a:ea typeface="+mn-ea"/>
                          <a:cs typeface="+mn-cs"/>
                        </a:rPr>
                        <a:t> Pacientes</a:t>
                      </a:r>
                    </a:p>
                  </a:txBody>
                  <a:tcPr>
                    <a:solidFill>
                      <a:schemeClr val="bg1">
                        <a:lumMod val="85000"/>
                      </a:schemeClr>
                    </a:solidFill>
                  </a:tcPr>
                </a:tc>
                <a:tc>
                  <a:txBody>
                    <a:bodyPr/>
                    <a:lstStyle/>
                    <a:p>
                      <a:pPr marL="0" algn="l" defTabSz="685800" rtl="0" eaLnBrk="1" latinLnBrk="0" hangingPunct="1"/>
                      <a:r>
                        <a:rPr lang="es-ES" sz="1350" kern="1200" dirty="0">
                          <a:solidFill>
                            <a:schemeClr val="tx1"/>
                          </a:solidFill>
                          <a:latin typeface="+mn-lt"/>
                          <a:ea typeface="+mn-ea"/>
                          <a:cs typeface="+mn-cs"/>
                        </a:rPr>
                        <a:t>Porcentaje</a:t>
                      </a:r>
                    </a:p>
                  </a:txBody>
                  <a:tcPr>
                    <a:solidFill>
                      <a:schemeClr val="bg1">
                        <a:lumMod val="85000"/>
                      </a:schemeClr>
                    </a:solidFill>
                  </a:tcPr>
                </a:tc>
                <a:extLst>
                  <a:ext uri="{0D108BD9-81ED-4DB2-BD59-A6C34878D82A}">
                    <a16:rowId xmlns:a16="http://schemas.microsoft.com/office/drawing/2014/main" val="1107931502"/>
                  </a:ext>
                </a:extLst>
              </a:tr>
              <a:tr h="249232">
                <a:tc>
                  <a:txBody>
                    <a:bodyPr/>
                    <a:lstStyle/>
                    <a:p>
                      <a:r>
                        <a:rPr lang="es-ES" dirty="0"/>
                        <a:t>PD-CU</a:t>
                      </a:r>
                    </a:p>
                  </a:txBody>
                  <a:tcPr>
                    <a:solidFill>
                      <a:schemeClr val="bg1">
                        <a:lumMod val="85000"/>
                      </a:schemeClr>
                    </a:solidFill>
                  </a:tcPr>
                </a:tc>
                <a:tc>
                  <a:txBody>
                    <a:bodyPr/>
                    <a:lstStyle/>
                    <a:p>
                      <a:r>
                        <a:rPr lang="es-ES" dirty="0"/>
                        <a:t>323</a:t>
                      </a:r>
                    </a:p>
                  </a:txBody>
                  <a:tcPr/>
                </a:tc>
                <a:tc>
                  <a:txBody>
                    <a:bodyPr/>
                    <a:lstStyle/>
                    <a:p>
                      <a:r>
                        <a:rPr lang="es-ES" dirty="0"/>
                        <a:t>47,3%</a:t>
                      </a:r>
                    </a:p>
                  </a:txBody>
                  <a:tcPr/>
                </a:tc>
                <a:extLst>
                  <a:ext uri="{0D108BD9-81ED-4DB2-BD59-A6C34878D82A}">
                    <a16:rowId xmlns:a16="http://schemas.microsoft.com/office/drawing/2014/main" val="2400277206"/>
                  </a:ext>
                </a:extLst>
              </a:tr>
              <a:tr h="249232">
                <a:tc>
                  <a:txBody>
                    <a:bodyPr/>
                    <a:lstStyle/>
                    <a:p>
                      <a:r>
                        <a:rPr lang="es-ES" dirty="0"/>
                        <a:t>PD-MCI</a:t>
                      </a:r>
                    </a:p>
                  </a:txBody>
                  <a:tcPr>
                    <a:solidFill>
                      <a:schemeClr val="bg1">
                        <a:lumMod val="85000"/>
                      </a:schemeClr>
                    </a:solidFill>
                  </a:tcPr>
                </a:tc>
                <a:tc>
                  <a:txBody>
                    <a:bodyPr/>
                    <a:lstStyle/>
                    <a:p>
                      <a:r>
                        <a:rPr lang="es-ES" dirty="0"/>
                        <a:t>83</a:t>
                      </a:r>
                    </a:p>
                  </a:txBody>
                  <a:tcPr/>
                </a:tc>
                <a:tc>
                  <a:txBody>
                    <a:bodyPr/>
                    <a:lstStyle/>
                    <a:p>
                      <a:r>
                        <a:rPr lang="es-ES" dirty="0"/>
                        <a:t>12,2%</a:t>
                      </a:r>
                    </a:p>
                  </a:txBody>
                  <a:tcPr/>
                </a:tc>
                <a:extLst>
                  <a:ext uri="{0D108BD9-81ED-4DB2-BD59-A6C34878D82A}">
                    <a16:rowId xmlns:a16="http://schemas.microsoft.com/office/drawing/2014/main" val="1434836366"/>
                  </a:ext>
                </a:extLst>
              </a:tr>
              <a:tr h="249232">
                <a:tc>
                  <a:txBody>
                    <a:bodyPr/>
                    <a:lstStyle/>
                    <a:p>
                      <a:r>
                        <a:rPr lang="es-ES" dirty="0"/>
                        <a:t>PDD</a:t>
                      </a:r>
                    </a:p>
                  </a:txBody>
                  <a:tcPr>
                    <a:solidFill>
                      <a:schemeClr val="bg1">
                        <a:lumMod val="85000"/>
                      </a:schemeClr>
                    </a:solidFill>
                  </a:tcPr>
                </a:tc>
                <a:tc>
                  <a:txBody>
                    <a:bodyPr/>
                    <a:lstStyle/>
                    <a:p>
                      <a:r>
                        <a:rPr lang="es-ES" dirty="0"/>
                        <a:t>17</a:t>
                      </a:r>
                    </a:p>
                  </a:txBody>
                  <a:tcPr/>
                </a:tc>
                <a:tc>
                  <a:txBody>
                    <a:bodyPr/>
                    <a:lstStyle/>
                    <a:p>
                      <a:r>
                        <a:rPr lang="es-ES" dirty="0"/>
                        <a:t>2,5%</a:t>
                      </a:r>
                    </a:p>
                  </a:txBody>
                  <a:tcPr/>
                </a:tc>
                <a:extLst>
                  <a:ext uri="{0D108BD9-81ED-4DB2-BD59-A6C34878D82A}">
                    <a16:rowId xmlns:a16="http://schemas.microsoft.com/office/drawing/2014/main" val="642994909"/>
                  </a:ext>
                </a:extLst>
              </a:tr>
            </a:tbl>
          </a:graphicData>
        </a:graphic>
      </p:graphicFrame>
      <p:pic>
        <p:nvPicPr>
          <p:cNvPr id="13" name="Imagen 12" descr="Diagrama&#10;&#10;Descripción generada automáticamente">
            <a:extLst>
              <a:ext uri="{FF2B5EF4-FFF2-40B4-BE49-F238E27FC236}">
                <a16:creationId xmlns:a16="http://schemas.microsoft.com/office/drawing/2014/main" id="{EFC37CE7-52EA-269D-DF6E-279B4357C3E2}"/>
              </a:ext>
            </a:extLst>
          </p:cNvPr>
          <p:cNvPicPr>
            <a:picLocks noChangeAspect="1"/>
          </p:cNvPicPr>
          <p:nvPr/>
        </p:nvPicPr>
        <p:blipFill rotWithShape="1">
          <a:blip r:embed="rId3"/>
          <a:srcRect l="12059" t="17471" r="17424" b="20380"/>
          <a:stretch/>
        </p:blipFill>
        <p:spPr>
          <a:xfrm>
            <a:off x="447967" y="1967535"/>
            <a:ext cx="3493365" cy="2309081"/>
          </a:xfrm>
          <a:prstGeom prst="rect">
            <a:avLst/>
          </a:prstGeom>
        </p:spPr>
      </p:pic>
      <p:sp>
        <p:nvSpPr>
          <p:cNvPr id="14" name="Elipse 13">
            <a:extLst>
              <a:ext uri="{FF2B5EF4-FFF2-40B4-BE49-F238E27FC236}">
                <a16:creationId xmlns:a16="http://schemas.microsoft.com/office/drawing/2014/main" id="{B8CEDB92-9F59-82AA-AB89-A6D4D5168472}"/>
              </a:ext>
            </a:extLst>
          </p:cNvPr>
          <p:cNvSpPr/>
          <p:nvPr/>
        </p:nvSpPr>
        <p:spPr>
          <a:xfrm>
            <a:off x="2498031" y="3388261"/>
            <a:ext cx="1192386" cy="833739"/>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Abrir llave 14">
            <a:extLst>
              <a:ext uri="{FF2B5EF4-FFF2-40B4-BE49-F238E27FC236}">
                <a16:creationId xmlns:a16="http://schemas.microsoft.com/office/drawing/2014/main" id="{FD723134-3848-F2A6-D37A-7FE8254EC837}"/>
              </a:ext>
            </a:extLst>
          </p:cNvPr>
          <p:cNvSpPr/>
          <p:nvPr/>
        </p:nvSpPr>
        <p:spPr>
          <a:xfrm>
            <a:off x="2487411" y="4715970"/>
            <a:ext cx="186266" cy="877477"/>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sp>
        <p:nvSpPr>
          <p:cNvPr id="16" name="CuadroTexto 15">
            <a:extLst>
              <a:ext uri="{FF2B5EF4-FFF2-40B4-BE49-F238E27FC236}">
                <a16:creationId xmlns:a16="http://schemas.microsoft.com/office/drawing/2014/main" id="{63518D6C-7656-8CDA-401D-772BC18436C5}"/>
              </a:ext>
            </a:extLst>
          </p:cNvPr>
          <p:cNvSpPr txBox="1"/>
          <p:nvPr/>
        </p:nvSpPr>
        <p:spPr>
          <a:xfrm>
            <a:off x="2657300" y="4670117"/>
            <a:ext cx="1083180" cy="923330"/>
          </a:xfrm>
          <a:prstGeom prst="rect">
            <a:avLst/>
          </a:prstGeom>
          <a:noFill/>
        </p:spPr>
        <p:txBody>
          <a:bodyPr wrap="square" rtlCol="0">
            <a:spAutoFit/>
          </a:bodyPr>
          <a:lstStyle/>
          <a:p>
            <a:r>
              <a:rPr lang="es-ES" dirty="0"/>
              <a:t>P-valor</a:t>
            </a:r>
          </a:p>
          <a:p>
            <a:endParaRPr lang="es-ES" dirty="0"/>
          </a:p>
          <a:p>
            <a:r>
              <a:rPr lang="es-ES" dirty="0" err="1"/>
              <a:t>Post-hoc</a:t>
            </a:r>
            <a:endParaRPr lang="es-ES" dirty="0"/>
          </a:p>
        </p:txBody>
      </p:sp>
      <p:sp>
        <p:nvSpPr>
          <p:cNvPr id="17" name="CuadroTexto 16">
            <a:extLst>
              <a:ext uri="{FF2B5EF4-FFF2-40B4-BE49-F238E27FC236}">
                <a16:creationId xmlns:a16="http://schemas.microsoft.com/office/drawing/2014/main" id="{7D593B39-7D97-EA0E-400B-4944705C8A0F}"/>
              </a:ext>
            </a:extLst>
          </p:cNvPr>
          <p:cNvSpPr txBox="1"/>
          <p:nvPr/>
        </p:nvSpPr>
        <p:spPr>
          <a:xfrm>
            <a:off x="1147831" y="4870172"/>
            <a:ext cx="2032000" cy="523220"/>
          </a:xfrm>
          <a:prstGeom prst="rect">
            <a:avLst/>
          </a:prstGeom>
          <a:noFill/>
        </p:spPr>
        <p:txBody>
          <a:bodyPr wrap="square" rtlCol="0">
            <a:spAutoFit/>
          </a:bodyPr>
          <a:lstStyle/>
          <a:p>
            <a:r>
              <a:rPr lang="es-ES" sz="1400" dirty="0"/>
              <a:t>RELEVANCIA ESTADÍSTICA</a:t>
            </a:r>
          </a:p>
        </p:txBody>
      </p:sp>
    </p:spTree>
    <p:extLst>
      <p:ext uri="{BB962C8B-B14F-4D97-AF65-F5344CB8AC3E}">
        <p14:creationId xmlns:p14="http://schemas.microsoft.com/office/powerpoint/2010/main" val="2799449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5</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graphicFrame>
        <p:nvGraphicFramePr>
          <p:cNvPr id="11" name="Diagrama 10">
            <a:extLst>
              <a:ext uri="{FF2B5EF4-FFF2-40B4-BE49-F238E27FC236}">
                <a16:creationId xmlns:a16="http://schemas.microsoft.com/office/drawing/2014/main" id="{E31CA0D5-C251-233D-294B-9B382449DFF1}"/>
              </a:ext>
            </a:extLst>
          </p:cNvPr>
          <p:cNvGraphicFramePr/>
          <p:nvPr>
            <p:extLst>
              <p:ext uri="{D42A27DB-BD31-4B8C-83A1-F6EECF244321}">
                <p14:modId xmlns:p14="http://schemas.microsoft.com/office/powerpoint/2010/main" val="3690783364"/>
              </p:ext>
            </p:extLst>
          </p:nvPr>
        </p:nvGraphicFramePr>
        <p:xfrm>
          <a:off x="370097" y="2435234"/>
          <a:ext cx="8403805" cy="31113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Gráfico 12" descr="Insignia 1 con relleno sólido">
            <a:extLst>
              <a:ext uri="{FF2B5EF4-FFF2-40B4-BE49-F238E27FC236}">
                <a16:creationId xmlns:a16="http://schemas.microsoft.com/office/drawing/2014/main" id="{97A781A3-0991-8C8A-9299-2E275D461D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86591" y="1854487"/>
            <a:ext cx="457200" cy="457200"/>
          </a:xfrm>
          <a:prstGeom prst="rect">
            <a:avLst/>
          </a:prstGeom>
        </p:spPr>
      </p:pic>
      <p:pic>
        <p:nvPicPr>
          <p:cNvPr id="15" name="Gráfico 14" descr="Insignia con relleno sólido">
            <a:extLst>
              <a:ext uri="{FF2B5EF4-FFF2-40B4-BE49-F238E27FC236}">
                <a16:creationId xmlns:a16="http://schemas.microsoft.com/office/drawing/2014/main" id="{0955CAFA-4CB6-AAA6-8963-E17C8F99E12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17484" y="1823767"/>
            <a:ext cx="509029" cy="509029"/>
          </a:xfrm>
          <a:prstGeom prst="rect">
            <a:avLst/>
          </a:prstGeom>
        </p:spPr>
      </p:pic>
      <p:pic>
        <p:nvPicPr>
          <p:cNvPr id="17" name="Gráfico 16" descr="Insignia 3 con relleno sólido">
            <a:extLst>
              <a:ext uri="{FF2B5EF4-FFF2-40B4-BE49-F238E27FC236}">
                <a16:creationId xmlns:a16="http://schemas.microsoft.com/office/drawing/2014/main" id="{74D01AF2-53E8-D8AD-13C0-C77595EC7A6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21351" y="1833378"/>
            <a:ext cx="509029" cy="509029"/>
          </a:xfrm>
          <a:prstGeom prst="rect">
            <a:avLst/>
          </a:prstGeom>
        </p:spPr>
      </p:pic>
    </p:spTree>
    <p:extLst>
      <p:ext uri="{BB962C8B-B14F-4D97-AF65-F5344CB8AC3E}">
        <p14:creationId xmlns:p14="http://schemas.microsoft.com/office/powerpoint/2010/main" val="431110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9894D-3A93-AA10-EF8E-500336541F34}"/>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C48530BD-75E6-E2B9-B544-E9FFE6001D32}"/>
              </a:ext>
            </a:extLst>
          </p:cNvPr>
          <p:cNvSpPr>
            <a:spLocks noGrp="1"/>
          </p:cNvSpPr>
          <p:nvPr>
            <p:ph type="sldNum" sz="quarter" idx="12"/>
          </p:nvPr>
        </p:nvSpPr>
        <p:spPr/>
        <p:txBody>
          <a:bodyPr/>
          <a:lstStyle/>
          <a:p>
            <a:fld id="{A59C5ADF-E1AA-1B44-878A-2B73B5F70500}" type="slidenum">
              <a:rPr lang="es-ES" smtClean="0"/>
              <a:t>6</a:t>
            </a:fld>
            <a:endParaRPr lang="es-ES"/>
          </a:p>
        </p:txBody>
      </p:sp>
      <p:sp>
        <p:nvSpPr>
          <p:cNvPr id="5" name="Título 4">
            <a:extLst>
              <a:ext uri="{FF2B5EF4-FFF2-40B4-BE49-F238E27FC236}">
                <a16:creationId xmlns:a16="http://schemas.microsoft.com/office/drawing/2014/main" id="{3E2203AE-D892-0425-8400-2978B2DADE40}"/>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73CA0F9C-9A8B-08C0-19A8-25EE91619DA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D8E32B98-551F-7860-CEA2-7A721EAA72CB}"/>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pic>
        <p:nvPicPr>
          <p:cNvPr id="9" name="Imagen 8" descr="Gráfico, Diagrama, Gráfico de líneas&#10;&#10;Descripción generada automáticamente">
            <a:extLst>
              <a:ext uri="{FF2B5EF4-FFF2-40B4-BE49-F238E27FC236}">
                <a16:creationId xmlns:a16="http://schemas.microsoft.com/office/drawing/2014/main" id="{AE8B3451-5F52-B4FA-7577-F370AF34745B}"/>
              </a:ext>
            </a:extLst>
          </p:cNvPr>
          <p:cNvPicPr>
            <a:picLocks noChangeAspect="1"/>
          </p:cNvPicPr>
          <p:nvPr/>
        </p:nvPicPr>
        <p:blipFill>
          <a:blip r:embed="rId3"/>
          <a:stretch>
            <a:fillRect/>
          </a:stretch>
        </p:blipFill>
        <p:spPr>
          <a:xfrm>
            <a:off x="3170712" y="2288852"/>
            <a:ext cx="5732831" cy="3738963"/>
          </a:xfrm>
          <a:prstGeom prst="rect">
            <a:avLst/>
          </a:prstGeom>
        </p:spPr>
      </p:pic>
      <p:sp>
        <p:nvSpPr>
          <p:cNvPr id="10" name="CuadroTexto 9">
            <a:extLst>
              <a:ext uri="{FF2B5EF4-FFF2-40B4-BE49-F238E27FC236}">
                <a16:creationId xmlns:a16="http://schemas.microsoft.com/office/drawing/2014/main" id="{208E659B-52D2-502D-3813-DB8964D74C26}"/>
              </a:ext>
            </a:extLst>
          </p:cNvPr>
          <p:cNvSpPr txBox="1"/>
          <p:nvPr/>
        </p:nvSpPr>
        <p:spPr>
          <a:xfrm>
            <a:off x="678233" y="1788614"/>
            <a:ext cx="3033331"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Trayectoria </a:t>
            </a:r>
            <a:r>
              <a:rPr lang="es-ES" sz="2000" i="1" u="sng" dirty="0"/>
              <a:t>Long-</a:t>
            </a:r>
            <a:r>
              <a:rPr lang="es-ES" sz="2000" i="1" u="sng" dirty="0" err="1"/>
              <a:t>term</a:t>
            </a:r>
            <a:r>
              <a:rPr lang="es-ES" sz="2000" i="1" u="sng" dirty="0"/>
              <a:t>:</a:t>
            </a:r>
            <a:r>
              <a:rPr lang="es-ES" sz="2000" u="sng" dirty="0"/>
              <a:t> </a:t>
            </a:r>
            <a:endParaRPr lang="es-ES" sz="2000" dirty="0"/>
          </a:p>
        </p:txBody>
      </p:sp>
      <p:graphicFrame>
        <p:nvGraphicFramePr>
          <p:cNvPr id="6" name="Tabla 5">
            <a:extLst>
              <a:ext uri="{FF2B5EF4-FFF2-40B4-BE49-F238E27FC236}">
                <a16:creationId xmlns:a16="http://schemas.microsoft.com/office/drawing/2014/main" id="{56A40132-E3EE-2B86-1BEA-318E96B15CB7}"/>
              </a:ext>
            </a:extLst>
          </p:cNvPr>
          <p:cNvGraphicFramePr>
            <a:graphicFrameLocks noGrp="1"/>
          </p:cNvGraphicFramePr>
          <p:nvPr>
            <p:extLst>
              <p:ext uri="{D42A27DB-BD31-4B8C-83A1-F6EECF244321}">
                <p14:modId xmlns:p14="http://schemas.microsoft.com/office/powerpoint/2010/main" val="3467485071"/>
              </p:ext>
            </p:extLst>
          </p:nvPr>
        </p:nvGraphicFramePr>
        <p:xfrm>
          <a:off x="678233" y="2490552"/>
          <a:ext cx="1909369" cy="1897380"/>
        </p:xfrm>
        <a:graphic>
          <a:graphicData uri="http://schemas.openxmlformats.org/drawingml/2006/table">
            <a:tbl>
              <a:tblPr firstRow="1" bandRow="1">
                <a:tableStyleId>{073A0DAA-6AF3-43AB-8588-CEC1D06C72B9}</a:tableStyleId>
              </a:tblPr>
              <a:tblGrid>
                <a:gridCol w="584404">
                  <a:extLst>
                    <a:ext uri="{9D8B030D-6E8A-4147-A177-3AD203B41FA5}">
                      <a16:colId xmlns:a16="http://schemas.microsoft.com/office/drawing/2014/main" val="942334088"/>
                    </a:ext>
                  </a:extLst>
                </a:gridCol>
                <a:gridCol w="1324965">
                  <a:extLst>
                    <a:ext uri="{9D8B030D-6E8A-4147-A177-3AD203B41FA5}">
                      <a16:colId xmlns:a16="http://schemas.microsoft.com/office/drawing/2014/main" val="1456961527"/>
                    </a:ext>
                  </a:extLst>
                </a:gridCol>
              </a:tblGrid>
              <a:tr h="580558">
                <a:tc>
                  <a:txBody>
                    <a:bodyPr/>
                    <a:lstStyle/>
                    <a:p>
                      <a:pPr algn="ctr"/>
                      <a:endParaRPr lang="es-ES" dirty="0"/>
                    </a:p>
                  </a:txBody>
                  <a:tcPr>
                    <a:solidFill>
                      <a:schemeClr val="accent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t>PARÁMETROS CALIBRACIÓN</a:t>
                      </a:r>
                    </a:p>
                    <a:p>
                      <a:endParaRPr lang="es-ES" dirty="0"/>
                    </a:p>
                  </a:txBody>
                  <a:tcPr>
                    <a:solidFill>
                      <a:schemeClr val="accent1">
                        <a:lumMod val="75000"/>
                      </a:schemeClr>
                    </a:solidFill>
                  </a:tcPr>
                </a:tc>
                <a:extLst>
                  <a:ext uri="{0D108BD9-81ED-4DB2-BD59-A6C34878D82A}">
                    <a16:rowId xmlns:a16="http://schemas.microsoft.com/office/drawing/2014/main" val="1637891243"/>
                  </a:ext>
                </a:extLst>
              </a:tr>
              <a:tr h="268890">
                <a:tc>
                  <a:txBody>
                    <a:bodyPr/>
                    <a:lstStyle/>
                    <a:p>
                      <a:r>
                        <a:rPr lang="es-ES" sz="1600" b="1" dirty="0" err="1"/>
                        <a:t>tk</a:t>
                      </a:r>
                      <a:endParaRPr lang="es-ES" sz="1600" b="1" dirty="0"/>
                    </a:p>
                  </a:txBody>
                  <a:tcPr>
                    <a:solidFill>
                      <a:schemeClr val="accent1">
                        <a:lumMod val="40000"/>
                        <a:lumOff val="60000"/>
                      </a:schemeClr>
                    </a:solidFill>
                  </a:tcPr>
                </a:tc>
                <a:tc>
                  <a:txBody>
                    <a:bodyPr/>
                    <a:lstStyle/>
                    <a:p>
                      <a:r>
                        <a:rPr lang="es-ES" dirty="0"/>
                        <a:t>Edad</a:t>
                      </a:r>
                    </a:p>
                  </a:txBody>
                  <a:tcPr>
                    <a:solidFill>
                      <a:schemeClr val="accent1">
                        <a:lumMod val="40000"/>
                        <a:lumOff val="60000"/>
                      </a:schemeClr>
                    </a:solidFill>
                  </a:tcPr>
                </a:tc>
                <a:extLst>
                  <a:ext uri="{0D108BD9-81ED-4DB2-BD59-A6C34878D82A}">
                    <a16:rowId xmlns:a16="http://schemas.microsoft.com/office/drawing/2014/main" val="752370928"/>
                  </a:ext>
                </a:extLst>
              </a:tr>
              <a:tr h="403335">
                <a:tc>
                  <a:txBody>
                    <a:bodyPr/>
                    <a:lstStyle/>
                    <a:p>
                      <a:r>
                        <a:rPr lang="es-ES" sz="1600" b="1" dirty="0" err="1"/>
                        <a:t>pk</a:t>
                      </a:r>
                      <a:endParaRPr lang="es-ES" sz="1600" b="1" dirty="0"/>
                    </a:p>
                  </a:txBody>
                  <a:tcPr>
                    <a:solidFill>
                      <a:schemeClr val="accent1">
                        <a:lumMod val="40000"/>
                        <a:lumOff val="60000"/>
                      </a:schemeClr>
                    </a:solidFill>
                  </a:tcPr>
                </a:tc>
                <a:tc>
                  <a:txBody>
                    <a:bodyPr/>
                    <a:lstStyle/>
                    <a:p>
                      <a:r>
                        <a:rPr lang="es-ES" dirty="0"/>
                        <a:t>Valor normalizado</a:t>
                      </a:r>
                    </a:p>
                  </a:txBody>
                  <a:tcPr>
                    <a:solidFill>
                      <a:schemeClr val="accent1">
                        <a:lumMod val="40000"/>
                        <a:lumOff val="60000"/>
                      </a:schemeClr>
                    </a:solidFill>
                  </a:tcPr>
                </a:tc>
                <a:extLst>
                  <a:ext uri="{0D108BD9-81ED-4DB2-BD59-A6C34878D82A}">
                    <a16:rowId xmlns:a16="http://schemas.microsoft.com/office/drawing/2014/main" val="4131485195"/>
                  </a:ext>
                </a:extLst>
              </a:tr>
              <a:tr h="268890">
                <a:tc>
                  <a:txBody>
                    <a:bodyPr/>
                    <a:lstStyle/>
                    <a:p>
                      <a:r>
                        <a:rPr lang="es-ES" sz="1600" b="1" dirty="0" err="1"/>
                        <a:t>vk</a:t>
                      </a:r>
                      <a:endParaRPr lang="es-ES" sz="1600" b="1" dirty="0"/>
                    </a:p>
                  </a:txBody>
                  <a:tcPr>
                    <a:solidFill>
                      <a:schemeClr val="accent1">
                        <a:lumMod val="40000"/>
                        <a:lumOff val="60000"/>
                      </a:schemeClr>
                    </a:solidFill>
                  </a:tcPr>
                </a:tc>
                <a:tc>
                  <a:txBody>
                    <a:bodyPr/>
                    <a:lstStyle/>
                    <a:p>
                      <a:r>
                        <a:rPr lang="es-ES" dirty="0"/>
                        <a:t>Velocidad </a:t>
                      </a:r>
                    </a:p>
                  </a:txBody>
                  <a:tcPr>
                    <a:solidFill>
                      <a:schemeClr val="accent1">
                        <a:lumMod val="40000"/>
                        <a:lumOff val="60000"/>
                      </a:schemeClr>
                    </a:solidFill>
                  </a:tcPr>
                </a:tc>
                <a:extLst>
                  <a:ext uri="{0D108BD9-81ED-4DB2-BD59-A6C34878D82A}">
                    <a16:rowId xmlns:a16="http://schemas.microsoft.com/office/drawing/2014/main" val="1233518883"/>
                  </a:ext>
                </a:extLst>
              </a:tr>
            </a:tbl>
          </a:graphicData>
        </a:graphic>
      </p:graphicFrame>
    </p:spTree>
    <p:extLst>
      <p:ext uri="{BB962C8B-B14F-4D97-AF65-F5344CB8AC3E}">
        <p14:creationId xmlns:p14="http://schemas.microsoft.com/office/powerpoint/2010/main" val="3792839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8ED8D-6A4B-D48F-E599-4E6A57A4F149}"/>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2673B9C3-A2F2-84D4-59A8-852F22EAFF3C}"/>
              </a:ext>
            </a:extLst>
          </p:cNvPr>
          <p:cNvSpPr>
            <a:spLocks noGrp="1"/>
          </p:cNvSpPr>
          <p:nvPr>
            <p:ph type="sldNum" sz="quarter" idx="12"/>
          </p:nvPr>
        </p:nvSpPr>
        <p:spPr/>
        <p:txBody>
          <a:bodyPr/>
          <a:lstStyle/>
          <a:p>
            <a:fld id="{A59C5ADF-E1AA-1B44-878A-2B73B5F70500}" type="slidenum">
              <a:rPr lang="es-ES" smtClean="0"/>
              <a:t>7</a:t>
            </a:fld>
            <a:endParaRPr lang="es-ES"/>
          </a:p>
        </p:txBody>
      </p:sp>
      <p:sp>
        <p:nvSpPr>
          <p:cNvPr id="5" name="Título 4">
            <a:extLst>
              <a:ext uri="{FF2B5EF4-FFF2-40B4-BE49-F238E27FC236}">
                <a16:creationId xmlns:a16="http://schemas.microsoft.com/office/drawing/2014/main" id="{C5D8DB4B-A9E7-2F75-BED2-F92D0CA618FE}"/>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18ACDE48-78E5-180F-FAAF-3961F0803819}"/>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F4FD8270-02B6-6371-4DD3-95661C923324}"/>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26F7CBF8-7E85-ED82-80B4-EF2DC25A81C0}"/>
              </a:ext>
            </a:extLst>
          </p:cNvPr>
          <p:cNvSpPr txBox="1"/>
          <p:nvPr/>
        </p:nvSpPr>
        <p:spPr>
          <a:xfrm>
            <a:off x="678233" y="1788614"/>
            <a:ext cx="3078215"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Trayectoria </a:t>
            </a:r>
            <a:r>
              <a:rPr lang="es-ES" sz="2000" i="1" u="sng" dirty="0"/>
              <a:t>Short-</a:t>
            </a:r>
            <a:r>
              <a:rPr lang="es-ES" sz="2000" i="1" u="sng" dirty="0" err="1"/>
              <a:t>term</a:t>
            </a:r>
            <a:r>
              <a:rPr lang="es-ES" sz="2000" i="1" u="sng" dirty="0"/>
              <a:t>: </a:t>
            </a:r>
            <a:endParaRPr lang="es-ES" sz="2000" i="1" dirty="0"/>
          </a:p>
        </p:txBody>
      </p:sp>
      <p:graphicFrame>
        <p:nvGraphicFramePr>
          <p:cNvPr id="6" name="Tabla 5">
            <a:extLst>
              <a:ext uri="{FF2B5EF4-FFF2-40B4-BE49-F238E27FC236}">
                <a16:creationId xmlns:a16="http://schemas.microsoft.com/office/drawing/2014/main" id="{00F577CF-3E9C-FA08-9A8F-A19A7FEF3D62}"/>
              </a:ext>
            </a:extLst>
          </p:cNvPr>
          <p:cNvGraphicFramePr>
            <a:graphicFrameLocks noGrp="1"/>
          </p:cNvGraphicFramePr>
          <p:nvPr>
            <p:extLst>
              <p:ext uri="{D42A27DB-BD31-4B8C-83A1-F6EECF244321}">
                <p14:modId xmlns:p14="http://schemas.microsoft.com/office/powerpoint/2010/main" val="3566086251"/>
              </p:ext>
            </p:extLst>
          </p:nvPr>
        </p:nvGraphicFramePr>
        <p:xfrm>
          <a:off x="3911675" y="1892369"/>
          <a:ext cx="3524477" cy="1516380"/>
        </p:xfrm>
        <a:graphic>
          <a:graphicData uri="http://schemas.openxmlformats.org/drawingml/2006/table">
            <a:tbl>
              <a:tblPr firstRow="1" bandRow="1">
                <a:tableStyleId>{073A0DAA-6AF3-43AB-8588-CEC1D06C72B9}</a:tableStyleId>
              </a:tblPr>
              <a:tblGrid>
                <a:gridCol w="504488">
                  <a:extLst>
                    <a:ext uri="{9D8B030D-6E8A-4147-A177-3AD203B41FA5}">
                      <a16:colId xmlns:a16="http://schemas.microsoft.com/office/drawing/2014/main" val="942334088"/>
                    </a:ext>
                  </a:extLst>
                </a:gridCol>
                <a:gridCol w="3019989">
                  <a:extLst>
                    <a:ext uri="{9D8B030D-6E8A-4147-A177-3AD203B41FA5}">
                      <a16:colId xmlns:a16="http://schemas.microsoft.com/office/drawing/2014/main" val="1456961527"/>
                    </a:ext>
                  </a:extLst>
                </a:gridCol>
              </a:tblGrid>
              <a:tr h="425167">
                <a:tc>
                  <a:txBody>
                    <a:bodyPr/>
                    <a:lstStyle/>
                    <a:p>
                      <a:pPr algn="ctr"/>
                      <a:endParaRPr lang="es-ES" dirty="0"/>
                    </a:p>
                  </a:txBody>
                  <a:tcPr>
                    <a:solidFill>
                      <a:schemeClr val="accent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t>PARÁMETROS PERSONALIZACIÓN</a:t>
                      </a:r>
                    </a:p>
                    <a:p>
                      <a:endParaRPr lang="es-ES" dirty="0"/>
                    </a:p>
                  </a:txBody>
                  <a:tcPr>
                    <a:solidFill>
                      <a:schemeClr val="accent1">
                        <a:lumMod val="75000"/>
                      </a:schemeClr>
                    </a:solidFill>
                  </a:tcPr>
                </a:tc>
                <a:extLst>
                  <a:ext uri="{0D108BD9-81ED-4DB2-BD59-A6C34878D82A}">
                    <a16:rowId xmlns:a16="http://schemas.microsoft.com/office/drawing/2014/main" val="1637891243"/>
                  </a:ext>
                </a:extLst>
              </a:tr>
              <a:tr h="279214">
                <a:tc>
                  <a:txBody>
                    <a:bodyPr/>
                    <a:lstStyle/>
                    <a:p>
                      <a:r>
                        <a:rPr lang="el-GR" sz="1600" b="1" dirty="0"/>
                        <a:t>τ</a:t>
                      </a:r>
                      <a:r>
                        <a:rPr lang="es-ES" sz="1600" b="1" dirty="0"/>
                        <a:t>i</a:t>
                      </a:r>
                    </a:p>
                  </a:txBody>
                  <a:tcPr>
                    <a:solidFill>
                      <a:schemeClr val="accent1">
                        <a:lumMod val="40000"/>
                        <a:lumOff val="60000"/>
                      </a:schemeClr>
                    </a:solidFill>
                  </a:tcPr>
                </a:tc>
                <a:tc>
                  <a:txBody>
                    <a:bodyPr/>
                    <a:lstStyle/>
                    <a:p>
                      <a:r>
                        <a:rPr lang="es-ES" dirty="0"/>
                        <a:t>Reserva cognitiva</a:t>
                      </a:r>
                    </a:p>
                  </a:txBody>
                  <a:tcPr>
                    <a:solidFill>
                      <a:schemeClr val="accent1">
                        <a:lumMod val="40000"/>
                        <a:lumOff val="60000"/>
                      </a:schemeClr>
                    </a:solidFill>
                  </a:tcPr>
                </a:tc>
                <a:extLst>
                  <a:ext uri="{0D108BD9-81ED-4DB2-BD59-A6C34878D82A}">
                    <a16:rowId xmlns:a16="http://schemas.microsoft.com/office/drawing/2014/main" val="752370928"/>
                  </a:ext>
                </a:extLst>
              </a:tr>
              <a:tr h="279214">
                <a:tc>
                  <a:txBody>
                    <a:bodyPr/>
                    <a:lstStyle/>
                    <a:p>
                      <a:r>
                        <a:rPr lang="el-GR" sz="1600" b="1" dirty="0"/>
                        <a:t>α</a:t>
                      </a:r>
                      <a:r>
                        <a:rPr lang="es-ES" sz="1600" b="1" dirty="0"/>
                        <a:t>i</a:t>
                      </a:r>
                    </a:p>
                  </a:txBody>
                  <a:tcPr>
                    <a:solidFill>
                      <a:schemeClr val="accent1">
                        <a:lumMod val="40000"/>
                        <a:lumOff val="60000"/>
                      </a:schemeClr>
                    </a:solidFill>
                  </a:tcPr>
                </a:tc>
                <a:tc>
                  <a:txBody>
                    <a:bodyPr/>
                    <a:lstStyle/>
                    <a:p>
                      <a:r>
                        <a:rPr lang="es-ES" dirty="0"/>
                        <a:t>Factor de aceleración</a:t>
                      </a:r>
                    </a:p>
                  </a:txBody>
                  <a:tcPr>
                    <a:solidFill>
                      <a:schemeClr val="accent1">
                        <a:lumMod val="40000"/>
                        <a:lumOff val="60000"/>
                      </a:schemeClr>
                    </a:solidFill>
                  </a:tcPr>
                </a:tc>
                <a:extLst>
                  <a:ext uri="{0D108BD9-81ED-4DB2-BD59-A6C34878D82A}">
                    <a16:rowId xmlns:a16="http://schemas.microsoft.com/office/drawing/2014/main" val="4131485195"/>
                  </a:ext>
                </a:extLst>
              </a:tr>
              <a:tr h="279214">
                <a:tc>
                  <a:txBody>
                    <a:bodyPr/>
                    <a:lstStyle/>
                    <a:p>
                      <a:r>
                        <a:rPr lang="es-ES" sz="1600" b="1" dirty="0" err="1"/>
                        <a:t>wk</a:t>
                      </a:r>
                      <a:endParaRPr lang="es-ES" sz="1600" b="1" dirty="0"/>
                    </a:p>
                  </a:txBody>
                  <a:tcPr>
                    <a:solidFill>
                      <a:schemeClr val="accent1">
                        <a:lumMod val="40000"/>
                        <a:lumOff val="60000"/>
                      </a:schemeClr>
                    </a:solidFill>
                  </a:tcPr>
                </a:tc>
                <a:tc>
                  <a:txBody>
                    <a:bodyPr/>
                    <a:lstStyle/>
                    <a:p>
                      <a:r>
                        <a:rPr lang="es-ES" dirty="0"/>
                        <a:t>Espacio entre marcadores</a:t>
                      </a:r>
                    </a:p>
                  </a:txBody>
                  <a:tcPr>
                    <a:solidFill>
                      <a:schemeClr val="accent1">
                        <a:lumMod val="40000"/>
                        <a:lumOff val="60000"/>
                      </a:schemeClr>
                    </a:solidFill>
                  </a:tcPr>
                </a:tc>
                <a:extLst>
                  <a:ext uri="{0D108BD9-81ED-4DB2-BD59-A6C34878D82A}">
                    <a16:rowId xmlns:a16="http://schemas.microsoft.com/office/drawing/2014/main" val="1233518883"/>
                  </a:ext>
                </a:extLst>
              </a:tr>
            </a:tbl>
          </a:graphicData>
        </a:graphic>
      </p:graphicFrame>
      <p:pic>
        <p:nvPicPr>
          <p:cNvPr id="7" name="Imagen 6" descr="Gráfico, Gráfico de dispersión&#10;&#10;Descripción generada automáticamente">
            <a:extLst>
              <a:ext uri="{FF2B5EF4-FFF2-40B4-BE49-F238E27FC236}">
                <a16:creationId xmlns:a16="http://schemas.microsoft.com/office/drawing/2014/main" id="{1082B7CA-0F98-44AE-A7E1-FE81E624A3EA}"/>
              </a:ext>
            </a:extLst>
          </p:cNvPr>
          <p:cNvPicPr>
            <a:picLocks noChangeAspect="1"/>
          </p:cNvPicPr>
          <p:nvPr/>
        </p:nvPicPr>
        <p:blipFill>
          <a:blip r:embed="rId3"/>
          <a:stretch>
            <a:fillRect/>
          </a:stretch>
        </p:blipFill>
        <p:spPr>
          <a:xfrm>
            <a:off x="409369" y="3671235"/>
            <a:ext cx="8325261" cy="2300401"/>
          </a:xfrm>
          <a:prstGeom prst="rect">
            <a:avLst/>
          </a:prstGeom>
        </p:spPr>
      </p:pic>
    </p:spTree>
    <p:extLst>
      <p:ext uri="{BB962C8B-B14F-4D97-AF65-F5344CB8AC3E}">
        <p14:creationId xmlns:p14="http://schemas.microsoft.com/office/powerpoint/2010/main" val="3337599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8</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4379ADD1-A40F-F6BF-B76C-7BE87343DB05}"/>
              </a:ext>
            </a:extLst>
          </p:cNvPr>
          <p:cNvSpPr txBox="1"/>
          <p:nvPr/>
        </p:nvSpPr>
        <p:spPr>
          <a:xfrm>
            <a:off x="678233" y="1788614"/>
            <a:ext cx="1934569"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Prestaciones:</a:t>
            </a:r>
            <a:endParaRPr lang="es-ES" sz="2000" i="1" dirty="0"/>
          </a:p>
        </p:txBody>
      </p:sp>
      <p:graphicFrame>
        <p:nvGraphicFramePr>
          <p:cNvPr id="6" name="Diagrama 5">
            <a:extLst>
              <a:ext uri="{FF2B5EF4-FFF2-40B4-BE49-F238E27FC236}">
                <a16:creationId xmlns:a16="http://schemas.microsoft.com/office/drawing/2014/main" id="{5AC4695E-8D36-26FE-7EBC-E2DF4623C115}"/>
              </a:ext>
            </a:extLst>
          </p:cNvPr>
          <p:cNvGraphicFramePr/>
          <p:nvPr>
            <p:extLst>
              <p:ext uri="{D42A27DB-BD31-4B8C-83A1-F6EECF244321}">
                <p14:modId xmlns:p14="http://schemas.microsoft.com/office/powerpoint/2010/main" val="1319618997"/>
              </p:ext>
            </p:extLst>
          </p:nvPr>
        </p:nvGraphicFramePr>
        <p:xfrm>
          <a:off x="1524000" y="2374900"/>
          <a:ext cx="6096000" cy="3086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617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9</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4. Resultados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49691"/>
            <a:ext cx="4363695" cy="461665"/>
          </a:xfrm>
          <a:prstGeom prst="rect">
            <a:avLst/>
          </a:prstGeom>
          <a:noFill/>
        </p:spPr>
        <p:txBody>
          <a:bodyPr wrap="none" rtlCol="0">
            <a:spAutoFit/>
          </a:bodyPr>
          <a:lstStyle/>
          <a:p>
            <a:r>
              <a:rPr lang="es-ES" sz="2400" dirty="0"/>
              <a:t>4.1. Análisis al inicio del estudio</a:t>
            </a:r>
          </a:p>
        </p:txBody>
      </p:sp>
      <p:pic>
        <p:nvPicPr>
          <p:cNvPr id="8" name="Imagen 7" descr="Tabla&#10;&#10;Descripción generada automáticamente">
            <a:extLst>
              <a:ext uri="{FF2B5EF4-FFF2-40B4-BE49-F238E27FC236}">
                <a16:creationId xmlns:a16="http://schemas.microsoft.com/office/drawing/2014/main" id="{5FAC7CC4-E93B-372A-F3E3-C5FDB8F341CE}"/>
              </a:ext>
            </a:extLst>
          </p:cNvPr>
          <p:cNvPicPr>
            <a:picLocks noChangeAspect="1"/>
          </p:cNvPicPr>
          <p:nvPr/>
        </p:nvPicPr>
        <p:blipFill>
          <a:blip r:embed="rId3"/>
          <a:stretch>
            <a:fillRect/>
          </a:stretch>
        </p:blipFill>
        <p:spPr>
          <a:xfrm>
            <a:off x="1960429" y="1786400"/>
            <a:ext cx="5223142" cy="4365970"/>
          </a:xfrm>
          <a:prstGeom prst="rect">
            <a:avLst/>
          </a:prstGeom>
        </p:spPr>
      </p:pic>
    </p:spTree>
    <p:extLst>
      <p:ext uri="{BB962C8B-B14F-4D97-AF65-F5344CB8AC3E}">
        <p14:creationId xmlns:p14="http://schemas.microsoft.com/office/powerpoint/2010/main" val="2707423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10</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4393540"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4.1. </a:t>
            </a:r>
            <a:r>
              <a:rPr lang="en-US" sz="2400" dirty="0" err="1"/>
              <a:t>Análisis</a:t>
            </a:r>
            <a:r>
              <a:rPr lang="en-US" sz="2400" dirty="0"/>
              <a:t> al </a:t>
            </a:r>
            <a:r>
              <a:rPr lang="en-US" sz="2400" dirty="0" err="1"/>
              <a:t>inicio</a:t>
            </a:r>
            <a:r>
              <a:rPr lang="en-US" sz="2400" dirty="0"/>
              <a:t> del </a:t>
            </a:r>
            <a:r>
              <a:rPr lang="en-US" sz="2400" dirty="0" err="1"/>
              <a:t>estudio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10" name="Imagen 9" descr="Tabla&#10;&#10;Descripción generada automáticamente">
            <a:extLst>
              <a:ext uri="{FF2B5EF4-FFF2-40B4-BE49-F238E27FC236}">
                <a16:creationId xmlns:a16="http://schemas.microsoft.com/office/drawing/2014/main" id="{54327661-00EE-83E9-911C-506991B1D27E}"/>
              </a:ext>
            </a:extLst>
          </p:cNvPr>
          <p:cNvPicPr>
            <a:picLocks noChangeAspect="1"/>
          </p:cNvPicPr>
          <p:nvPr/>
        </p:nvPicPr>
        <p:blipFill>
          <a:blip r:embed="rId3"/>
          <a:stretch>
            <a:fillRect/>
          </a:stretch>
        </p:blipFill>
        <p:spPr>
          <a:xfrm>
            <a:off x="1025412" y="1819175"/>
            <a:ext cx="7093175" cy="4225490"/>
          </a:xfrm>
          <a:prstGeom prst="rect">
            <a:avLst/>
          </a:prstGeom>
        </p:spPr>
      </p:pic>
    </p:spTree>
    <p:extLst>
      <p:ext uri="{BB962C8B-B14F-4D97-AF65-F5344CB8AC3E}">
        <p14:creationId xmlns:p14="http://schemas.microsoft.com/office/powerpoint/2010/main" val="2635026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11</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4.2. Curvas de progression de un </a:t>
            </a:r>
            <a:r>
              <a:rPr lang="en-US" sz="2400" dirty="0" err="1"/>
              <a:t>sujeto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descr="Gráfico, Gráfico de líneas&#10;&#10;Descripción generada automáticamente">
            <a:extLst>
              <a:ext uri="{FF2B5EF4-FFF2-40B4-BE49-F238E27FC236}">
                <a16:creationId xmlns:a16="http://schemas.microsoft.com/office/drawing/2014/main" id="{320F6921-D01B-315B-2A91-6251DC9F14BC}"/>
              </a:ext>
            </a:extLst>
          </p:cNvPr>
          <p:cNvPicPr>
            <a:picLocks noChangeAspect="1"/>
          </p:cNvPicPr>
          <p:nvPr/>
        </p:nvPicPr>
        <p:blipFill>
          <a:blip r:embed="rId3"/>
          <a:stretch>
            <a:fillRect/>
          </a:stretch>
        </p:blipFill>
        <p:spPr>
          <a:xfrm>
            <a:off x="528943" y="2036823"/>
            <a:ext cx="8086114" cy="3465477"/>
          </a:xfrm>
          <a:prstGeom prst="rect">
            <a:avLst/>
          </a:prstGeom>
        </p:spPr>
      </p:pic>
    </p:spTree>
    <p:extLst>
      <p:ext uri="{BB962C8B-B14F-4D97-AF65-F5344CB8AC3E}">
        <p14:creationId xmlns:p14="http://schemas.microsoft.com/office/powerpoint/2010/main" val="167369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12</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4.2. Curvas de </a:t>
            </a:r>
            <a:r>
              <a:rPr lang="en-US" sz="2400" dirty="0" err="1"/>
              <a:t>progresión</a:t>
            </a:r>
            <a:r>
              <a:rPr lang="en-US" sz="2400" dirty="0"/>
              <a:t> de un </a:t>
            </a:r>
            <a:r>
              <a:rPr lang="en-US" sz="2400" dirty="0" err="1"/>
              <a:t>sujeto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8" name="Imagen 7" descr="Gráfico, Gráfico de líneas, Gráfico de dispersión&#10;&#10;Descripción generada automáticamente">
            <a:extLst>
              <a:ext uri="{FF2B5EF4-FFF2-40B4-BE49-F238E27FC236}">
                <a16:creationId xmlns:a16="http://schemas.microsoft.com/office/drawing/2014/main" id="{BB3A33F4-BB42-9468-5DF7-2928D7CD63BF}"/>
              </a:ext>
            </a:extLst>
          </p:cNvPr>
          <p:cNvPicPr>
            <a:picLocks noChangeAspect="1"/>
          </p:cNvPicPr>
          <p:nvPr/>
        </p:nvPicPr>
        <p:blipFill>
          <a:blip r:embed="rId3"/>
          <a:stretch>
            <a:fillRect/>
          </a:stretch>
        </p:blipFill>
        <p:spPr>
          <a:xfrm>
            <a:off x="447967" y="2030109"/>
            <a:ext cx="8248066" cy="3534885"/>
          </a:xfrm>
          <a:prstGeom prst="rect">
            <a:avLst/>
          </a:prstGeom>
        </p:spPr>
      </p:pic>
    </p:spTree>
    <p:extLst>
      <p:ext uri="{BB962C8B-B14F-4D97-AF65-F5344CB8AC3E}">
        <p14:creationId xmlns:p14="http://schemas.microsoft.com/office/powerpoint/2010/main" val="2101353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13</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4.3. </a:t>
            </a:r>
            <a:r>
              <a:rPr lang="en-US" sz="2400" dirty="0" err="1"/>
              <a:t>Prestaciones</a:t>
            </a:r>
            <a:r>
              <a:rPr lang="en-US" sz="2400" dirty="0"/>
              <a:t> de </a:t>
            </a:r>
            <a:r>
              <a:rPr lang="en-US" sz="2400" dirty="0" err="1"/>
              <a:t>los</a:t>
            </a:r>
            <a:r>
              <a:rPr lang="en-US" sz="2400" dirty="0"/>
              <a:t> DPMs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descr="Tabla&#10;&#10;Descripción generada automáticamente con confianza media">
            <a:extLst>
              <a:ext uri="{FF2B5EF4-FFF2-40B4-BE49-F238E27FC236}">
                <a16:creationId xmlns:a16="http://schemas.microsoft.com/office/drawing/2014/main" id="{73DF312D-57B5-18E5-7201-A7D7B6D077EC}"/>
              </a:ext>
            </a:extLst>
          </p:cNvPr>
          <p:cNvPicPr>
            <a:picLocks noChangeAspect="1"/>
          </p:cNvPicPr>
          <p:nvPr/>
        </p:nvPicPr>
        <p:blipFill>
          <a:blip r:embed="rId3"/>
          <a:stretch>
            <a:fillRect/>
          </a:stretch>
        </p:blipFill>
        <p:spPr>
          <a:xfrm>
            <a:off x="573760" y="1941659"/>
            <a:ext cx="3883286" cy="3867753"/>
          </a:xfrm>
          <a:prstGeom prst="rect">
            <a:avLst/>
          </a:prstGeom>
        </p:spPr>
      </p:pic>
      <p:pic>
        <p:nvPicPr>
          <p:cNvPr id="9" name="Imagen 8" descr="Interfaz de usuario gráfica, Aplicación&#10;&#10;Descripción generada automáticamente">
            <a:extLst>
              <a:ext uri="{FF2B5EF4-FFF2-40B4-BE49-F238E27FC236}">
                <a16:creationId xmlns:a16="http://schemas.microsoft.com/office/drawing/2014/main" id="{2A1BA2F3-B779-FC55-4621-A81F22DA093B}"/>
              </a:ext>
            </a:extLst>
          </p:cNvPr>
          <p:cNvPicPr>
            <a:picLocks noChangeAspect="1"/>
          </p:cNvPicPr>
          <p:nvPr/>
        </p:nvPicPr>
        <p:blipFill>
          <a:blip r:embed="rId4"/>
          <a:stretch>
            <a:fillRect/>
          </a:stretch>
        </p:blipFill>
        <p:spPr>
          <a:xfrm>
            <a:off x="4812749" y="1941659"/>
            <a:ext cx="3719891" cy="3867753"/>
          </a:xfrm>
          <a:prstGeom prst="rect">
            <a:avLst/>
          </a:prstGeom>
        </p:spPr>
      </p:pic>
    </p:spTree>
    <p:extLst>
      <p:ext uri="{BB962C8B-B14F-4D97-AF65-F5344CB8AC3E}">
        <p14:creationId xmlns:p14="http://schemas.microsoft.com/office/powerpoint/2010/main" val="3344204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14</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4.3. </a:t>
            </a:r>
            <a:r>
              <a:rPr lang="en-US" sz="2400" dirty="0" err="1"/>
              <a:t>Prestaciones</a:t>
            </a:r>
            <a:r>
              <a:rPr lang="en-US" sz="2400" dirty="0"/>
              <a:t> de </a:t>
            </a:r>
            <a:r>
              <a:rPr lang="en-US" sz="2400" dirty="0" err="1"/>
              <a:t>los</a:t>
            </a:r>
            <a:r>
              <a:rPr lang="en-US" sz="2400" dirty="0"/>
              <a:t> DPMs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8" name="Imagen 7" descr="Tabla&#10;&#10;Descripción generada automáticamente con confianza media">
            <a:extLst>
              <a:ext uri="{FF2B5EF4-FFF2-40B4-BE49-F238E27FC236}">
                <a16:creationId xmlns:a16="http://schemas.microsoft.com/office/drawing/2014/main" id="{0071A1A4-9B74-549A-4BBC-A186C00B3F1E}"/>
              </a:ext>
            </a:extLst>
          </p:cNvPr>
          <p:cNvPicPr>
            <a:picLocks noChangeAspect="1"/>
          </p:cNvPicPr>
          <p:nvPr/>
        </p:nvPicPr>
        <p:blipFill>
          <a:blip r:embed="rId3"/>
          <a:stretch>
            <a:fillRect/>
          </a:stretch>
        </p:blipFill>
        <p:spPr>
          <a:xfrm>
            <a:off x="1723627" y="2106936"/>
            <a:ext cx="5696745" cy="3458058"/>
          </a:xfrm>
          <a:prstGeom prst="rect">
            <a:avLst/>
          </a:prstGeom>
        </p:spPr>
      </p:pic>
    </p:spTree>
    <p:extLst>
      <p:ext uri="{BB962C8B-B14F-4D97-AF65-F5344CB8AC3E}">
        <p14:creationId xmlns:p14="http://schemas.microsoft.com/office/powerpoint/2010/main" val="3438148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15</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5. Siguientes pasos</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C92C0B6D-401C-984F-FF48-562D0E06B46D}"/>
              </a:ext>
            </a:extLst>
          </p:cNvPr>
          <p:cNvSpPr txBox="1"/>
          <p:nvPr/>
        </p:nvSpPr>
        <p:spPr>
          <a:xfrm>
            <a:off x="518079" y="1540091"/>
            <a:ext cx="8385464" cy="20608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sz="2200" dirty="0"/>
              <a:t>Calcular la media del NMAE y el MAE</a:t>
            </a:r>
          </a:p>
          <a:p>
            <a:pPr marL="285750" indent="-285750">
              <a:lnSpc>
                <a:spcPct val="150000"/>
              </a:lnSpc>
              <a:buFont typeface="Arial" panose="020B0604020202020204" pitchFamily="34" charset="0"/>
              <a:buChar char="•"/>
            </a:pPr>
            <a:r>
              <a:rPr lang="es-ES" sz="2200" dirty="0"/>
              <a:t>Mejorar resultados de los SCORES</a:t>
            </a:r>
          </a:p>
          <a:p>
            <a:pPr marL="285750" indent="-285750">
              <a:lnSpc>
                <a:spcPct val="150000"/>
              </a:lnSpc>
              <a:buFont typeface="Arial" panose="020B0604020202020204" pitchFamily="34" charset="0"/>
              <a:buChar char="•"/>
            </a:pPr>
            <a:r>
              <a:rPr lang="es-ES" sz="2200" dirty="0"/>
              <a:t>Calcular las demás prestaciones (AUC, BAYES…)</a:t>
            </a:r>
          </a:p>
          <a:p>
            <a:pPr marL="285750" indent="-285750">
              <a:lnSpc>
                <a:spcPct val="150000"/>
              </a:lnSpc>
              <a:buFont typeface="Arial" panose="020B0604020202020204" pitchFamily="34" charset="0"/>
              <a:buChar char="•"/>
            </a:pPr>
            <a:r>
              <a:rPr lang="es-ES" sz="2200" dirty="0"/>
              <a:t>Obtener modelos con mayor exactitud</a:t>
            </a:r>
          </a:p>
        </p:txBody>
      </p:sp>
    </p:spTree>
    <p:extLst>
      <p:ext uri="{BB962C8B-B14F-4D97-AF65-F5344CB8AC3E}">
        <p14:creationId xmlns:p14="http://schemas.microsoft.com/office/powerpoint/2010/main" val="2896261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16</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FIN</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C92C0B6D-401C-984F-FF48-562D0E06B46D}"/>
              </a:ext>
            </a:extLst>
          </p:cNvPr>
          <p:cNvSpPr txBox="1"/>
          <p:nvPr/>
        </p:nvSpPr>
        <p:spPr>
          <a:xfrm>
            <a:off x="2816779" y="2978267"/>
            <a:ext cx="8385464" cy="901465"/>
          </a:xfrm>
          <a:prstGeom prst="rect">
            <a:avLst/>
          </a:prstGeom>
          <a:noFill/>
        </p:spPr>
        <p:txBody>
          <a:bodyPr wrap="square" rtlCol="0">
            <a:spAutoFit/>
          </a:bodyPr>
          <a:lstStyle/>
          <a:p>
            <a:pPr>
              <a:lnSpc>
                <a:spcPct val="150000"/>
              </a:lnSpc>
            </a:pPr>
            <a:r>
              <a:rPr lang="es-ES" sz="4000" dirty="0"/>
              <a:t>Muchas gracias</a:t>
            </a:r>
          </a:p>
        </p:txBody>
      </p:sp>
    </p:spTree>
    <p:extLst>
      <p:ext uri="{BB962C8B-B14F-4D97-AF65-F5344CB8AC3E}">
        <p14:creationId xmlns:p14="http://schemas.microsoft.com/office/powerpoint/2010/main" val="2252911279"/>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d="{876943AD-736C-7840-A273-7F5BEE2675B9}" vid="{096D0BD2-9767-BE42-9518-599506B5AB3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emplate>PRESENTACION_preTFG</Template>
  <TotalTime>767</TotalTime>
  <Words>2947</Words>
  <Application>Microsoft Office PowerPoint</Application>
  <PresentationFormat>Presentación en pantalla (4:3)</PresentationFormat>
  <Paragraphs>205</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Cambria</vt:lpstr>
      <vt:lpstr>Wingdings</vt:lpstr>
      <vt:lpstr>Tema de Office</vt:lpstr>
      <vt:lpstr>Modelos predictivos utilizando inteligencia artificial para enfermedades neurodegenerativas:</vt:lpstr>
      <vt:lpstr>ÍNDICE</vt:lpstr>
      <vt:lpstr>1. Introducción</vt:lpstr>
      <vt:lpstr>2. Herramientas utilizadas</vt:lpstr>
      <vt:lpstr>3. Métodos</vt:lpstr>
      <vt:lpstr>3. Métodos</vt:lpstr>
      <vt:lpstr>3. Métodos</vt:lpstr>
      <vt:lpstr>3. Métodos</vt:lpstr>
      <vt:lpstr>3. Métodos</vt:lpstr>
      <vt:lpstr>4. Resultados</vt:lpstr>
      <vt:lpstr>4. Resultados</vt:lpstr>
      <vt:lpstr>4. Resultados</vt:lpstr>
      <vt:lpstr>4. Resultados</vt:lpstr>
      <vt:lpstr>4. Resultados</vt:lpstr>
      <vt:lpstr>4. Resultados</vt:lpstr>
      <vt:lpstr>5. Siguientes pasos</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predictivos utilizando inteligencia artificial para enfermedades neurodegenerativas:</dc:title>
  <dc:creator>RAQUEL ROCA PEREIRA</dc:creator>
  <cp:lastModifiedBy>raquel.roca.pereira@alumnos.upm.es</cp:lastModifiedBy>
  <cp:revision>48</cp:revision>
  <dcterms:created xsi:type="dcterms:W3CDTF">2024-04-09T16:52:36Z</dcterms:created>
  <dcterms:modified xsi:type="dcterms:W3CDTF">2024-05-15T09:51:35Z</dcterms:modified>
</cp:coreProperties>
</file>