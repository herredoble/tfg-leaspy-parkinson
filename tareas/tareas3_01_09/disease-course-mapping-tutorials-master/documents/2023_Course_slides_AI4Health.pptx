
<file path=[Content_Types].xml><?xml version="1.0" encoding="utf-8"?>
<Types xmlns="http://schemas.openxmlformats.org/package/2006/content-types">
  <Default Extension="emf" ContentType="image/x-emf"/>
  <Default Extension="gif" ContentType="image/gif"/>
  <Default Extension="jpeg" ContentType="image/jpeg"/>
  <Default Extension="mov" ContentType="video/quicktime"/>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1"/>
  </p:notesMasterIdLst>
  <p:sldIdLst>
    <p:sldId id="256" r:id="rId2"/>
    <p:sldId id="634" r:id="rId3"/>
    <p:sldId id="622" r:id="rId4"/>
    <p:sldId id="615" r:id="rId5"/>
    <p:sldId id="624" r:id="rId6"/>
    <p:sldId id="635" r:id="rId7"/>
    <p:sldId id="950" r:id="rId8"/>
    <p:sldId id="951" r:id="rId9"/>
    <p:sldId id="946" r:id="rId10"/>
    <p:sldId id="638" r:id="rId11"/>
    <p:sldId id="260" r:id="rId12"/>
    <p:sldId id="270" r:id="rId13"/>
    <p:sldId id="879" r:id="rId14"/>
    <p:sldId id="880" r:id="rId15"/>
    <p:sldId id="271" r:id="rId16"/>
    <p:sldId id="272" r:id="rId17"/>
    <p:sldId id="273" r:id="rId18"/>
    <p:sldId id="324" r:id="rId19"/>
    <p:sldId id="872" r:id="rId20"/>
    <p:sldId id="276" r:id="rId21"/>
    <p:sldId id="277" r:id="rId22"/>
    <p:sldId id="334" r:id="rId23"/>
    <p:sldId id="292" r:id="rId24"/>
    <p:sldId id="873" r:id="rId25"/>
    <p:sldId id="640" r:id="rId26"/>
    <p:sldId id="279" r:id="rId27"/>
    <p:sldId id="871" r:id="rId28"/>
    <p:sldId id="280" r:id="rId29"/>
    <p:sldId id="877" r:id="rId30"/>
    <p:sldId id="309" r:id="rId31"/>
    <p:sldId id="333" r:id="rId32"/>
    <p:sldId id="878" r:id="rId33"/>
    <p:sldId id="258" r:id="rId34"/>
    <p:sldId id="952" r:id="rId35"/>
    <p:sldId id="947" r:id="rId36"/>
    <p:sldId id="944" r:id="rId37"/>
    <p:sldId id="945" r:id="rId38"/>
    <p:sldId id="901" r:id="rId39"/>
    <p:sldId id="825" r:id="rId40"/>
    <p:sldId id="930" r:id="rId41"/>
    <p:sldId id="931" r:id="rId42"/>
    <p:sldId id="932" r:id="rId43"/>
    <p:sldId id="520" r:id="rId44"/>
    <p:sldId id="943" r:id="rId45"/>
    <p:sldId id="935" r:id="rId46"/>
    <p:sldId id="936" r:id="rId47"/>
    <p:sldId id="937" r:id="rId48"/>
    <p:sldId id="938" r:id="rId49"/>
    <p:sldId id="903" r:id="rId50"/>
    <p:sldId id="906" r:id="rId51"/>
    <p:sldId id="904" r:id="rId52"/>
    <p:sldId id="939" r:id="rId53"/>
    <p:sldId id="849" r:id="rId54"/>
    <p:sldId id="941" r:id="rId55"/>
    <p:sldId id="953" r:id="rId56"/>
    <p:sldId id="637" r:id="rId57"/>
    <p:sldId id="927" r:id="rId58"/>
    <p:sldId id="954" r:id="rId59"/>
    <p:sldId id="960" r:id="rId60"/>
    <p:sldId id="955" r:id="rId61"/>
    <p:sldId id="417" r:id="rId62"/>
    <p:sldId id="956" r:id="rId63"/>
    <p:sldId id="655" r:id="rId64"/>
    <p:sldId id="647" r:id="rId65"/>
    <p:sldId id="675" r:id="rId66"/>
    <p:sldId id="650" r:id="rId67"/>
    <p:sldId id="957" r:id="rId68"/>
    <p:sldId id="667" r:id="rId69"/>
    <p:sldId id="654" r:id="rId70"/>
    <p:sldId id="676" r:id="rId71"/>
    <p:sldId id="651" r:id="rId72"/>
    <p:sldId id="958" r:id="rId73"/>
    <p:sldId id="668" r:id="rId74"/>
    <p:sldId id="649" r:id="rId75"/>
    <p:sldId id="677" r:id="rId76"/>
    <p:sldId id="661" r:id="rId77"/>
    <p:sldId id="959" r:id="rId78"/>
    <p:sldId id="666" r:id="rId79"/>
    <p:sldId id="658" r:id="rId80"/>
  </p:sldIdLst>
  <p:sldSz cx="9144000" cy="5143500" type="screen16x9"/>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78"/>
    <a:srgbClr val="60D453"/>
    <a:srgbClr val="FD2931"/>
    <a:srgbClr val="3BC1E1"/>
    <a:srgbClr val="D039EE"/>
    <a:srgbClr val="FA4616"/>
    <a:srgbClr val="FF40FF"/>
    <a:srgbClr val="FF85FF"/>
    <a:srgbClr val="1A75B3"/>
    <a:srgbClr val="FE7E0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23" autoAdjust="0"/>
    <p:restoredTop sz="80225" autoAdjust="0"/>
  </p:normalViewPr>
  <p:slideViewPr>
    <p:cSldViewPr snapToGrid="0" snapToObjects="1">
      <p:cViewPr varScale="1">
        <p:scale>
          <a:sx n="149" d="100"/>
          <a:sy n="149" d="100"/>
        </p:scale>
        <p:origin x="176" y="44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F302BB-5BAE-894B-82D4-3C04B046A5E0}" type="datetimeFigureOut">
              <a:rPr lang="en-FR" smtClean="0"/>
              <a:t>7/5/23</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42643-C7A0-EE4A-89C4-327165196316}" type="slidenum">
              <a:rPr lang="en-FR" smtClean="0"/>
              <a:t>‹N°›</a:t>
            </a:fld>
            <a:endParaRPr lang="en-FR"/>
          </a:p>
        </p:txBody>
      </p:sp>
    </p:spTree>
    <p:extLst>
      <p:ext uri="{BB962C8B-B14F-4D97-AF65-F5344CB8AC3E}">
        <p14:creationId xmlns:p14="http://schemas.microsoft.com/office/powerpoint/2010/main" val="30585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1</a:t>
            </a:fld>
            <a:endParaRPr lang="en-FR"/>
          </a:p>
        </p:txBody>
      </p:sp>
    </p:spTree>
    <p:extLst>
      <p:ext uri="{BB962C8B-B14F-4D97-AF65-F5344CB8AC3E}">
        <p14:creationId xmlns:p14="http://schemas.microsoft.com/office/powerpoint/2010/main" val="206340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3</a:t>
            </a:fld>
            <a:endParaRPr lang="en-FR"/>
          </a:p>
        </p:txBody>
      </p:sp>
    </p:spTree>
    <p:extLst>
      <p:ext uri="{BB962C8B-B14F-4D97-AF65-F5344CB8AC3E}">
        <p14:creationId xmlns:p14="http://schemas.microsoft.com/office/powerpoint/2010/main" val="2274058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4</a:t>
            </a:fld>
            <a:endParaRPr lang="en-FR"/>
          </a:p>
        </p:txBody>
      </p:sp>
    </p:spTree>
    <p:extLst>
      <p:ext uri="{BB962C8B-B14F-4D97-AF65-F5344CB8AC3E}">
        <p14:creationId xmlns:p14="http://schemas.microsoft.com/office/powerpoint/2010/main" val="261479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5</a:t>
            </a:fld>
            <a:endParaRPr lang="en-FR"/>
          </a:p>
        </p:txBody>
      </p:sp>
    </p:spTree>
    <p:extLst>
      <p:ext uri="{BB962C8B-B14F-4D97-AF65-F5344CB8AC3E}">
        <p14:creationId xmlns:p14="http://schemas.microsoft.com/office/powerpoint/2010/main" val="1914409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6</a:t>
            </a:fld>
            <a:endParaRPr lang="en-FR"/>
          </a:p>
        </p:txBody>
      </p:sp>
    </p:spTree>
    <p:extLst>
      <p:ext uri="{BB962C8B-B14F-4D97-AF65-F5344CB8AC3E}">
        <p14:creationId xmlns:p14="http://schemas.microsoft.com/office/powerpoint/2010/main" val="3380232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10</a:t>
            </a:fld>
            <a:endParaRPr lang="en-FR"/>
          </a:p>
        </p:txBody>
      </p:sp>
    </p:spTree>
    <p:extLst>
      <p:ext uri="{BB962C8B-B14F-4D97-AF65-F5344CB8AC3E}">
        <p14:creationId xmlns:p14="http://schemas.microsoft.com/office/powerpoint/2010/main" val="1211179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13</a:t>
            </a:fld>
            <a:endParaRPr lang="en-FR"/>
          </a:p>
        </p:txBody>
      </p:sp>
    </p:spTree>
    <p:extLst>
      <p:ext uri="{BB962C8B-B14F-4D97-AF65-F5344CB8AC3E}">
        <p14:creationId xmlns:p14="http://schemas.microsoft.com/office/powerpoint/2010/main" val="961589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19</a:t>
            </a:fld>
            <a:endParaRPr lang="en-FR"/>
          </a:p>
        </p:txBody>
      </p:sp>
    </p:spTree>
    <p:extLst>
      <p:ext uri="{BB962C8B-B14F-4D97-AF65-F5344CB8AC3E}">
        <p14:creationId xmlns:p14="http://schemas.microsoft.com/office/powerpoint/2010/main" val="4058067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All curves are pieces</a:t>
            </a:r>
            <a:r>
              <a:rPr lang="en-US" b="1" baseline="0" dirty="0"/>
              <a:t> of the same logistic curve, which has been translated and dilated/</a:t>
            </a:r>
            <a:r>
              <a:rPr lang="en-US" b="1" baseline="0" dirty="0" err="1"/>
              <a:t>shrinked</a:t>
            </a:r>
            <a:r>
              <a:rPr lang="en-US" b="1" baseline="0" dirty="0"/>
              <a:t> along the time-axis</a:t>
            </a:r>
            <a:endParaRPr lang="en-US" b="1" dirty="0"/>
          </a:p>
        </p:txBody>
      </p:sp>
      <p:sp>
        <p:nvSpPr>
          <p:cNvPr id="4" name="Slide Number Placeholder 3"/>
          <p:cNvSpPr>
            <a:spLocks noGrp="1"/>
          </p:cNvSpPr>
          <p:nvPr>
            <p:ph type="sldNum" sz="quarter" idx="10"/>
          </p:nvPr>
        </p:nvSpPr>
        <p:spPr/>
        <p:txBody>
          <a:bodyPr/>
          <a:lstStyle/>
          <a:p>
            <a:fld id="{3A4584A0-0DCB-224A-BEAA-1112184BE4F1}" type="slidenum">
              <a:rPr lang="fr-FR" smtClean="0"/>
              <a:pPr/>
              <a:t>22</a:t>
            </a:fld>
            <a:endParaRPr lang="fr-FR"/>
          </a:p>
        </p:txBody>
      </p:sp>
    </p:spTree>
    <p:extLst>
      <p:ext uri="{BB962C8B-B14F-4D97-AF65-F5344CB8AC3E}">
        <p14:creationId xmlns:p14="http://schemas.microsoft.com/office/powerpoint/2010/main" val="1904637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24</a:t>
            </a:fld>
            <a:endParaRPr lang="en-FR"/>
          </a:p>
        </p:txBody>
      </p:sp>
    </p:spTree>
    <p:extLst>
      <p:ext uri="{BB962C8B-B14F-4D97-AF65-F5344CB8AC3E}">
        <p14:creationId xmlns:p14="http://schemas.microsoft.com/office/powerpoint/2010/main" val="344655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9A9186-E0E1-F443-AE7B-FCD872D17CCE}" type="slidenum">
              <a:rPr lang="en-FR" smtClean="0"/>
              <a:t>27</a:t>
            </a:fld>
            <a:endParaRPr lang="en-FR"/>
          </a:p>
        </p:txBody>
      </p:sp>
    </p:spTree>
    <p:extLst>
      <p:ext uri="{BB962C8B-B14F-4D97-AF65-F5344CB8AC3E}">
        <p14:creationId xmlns:p14="http://schemas.microsoft.com/office/powerpoint/2010/main" val="2049682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29</a:t>
            </a:fld>
            <a:endParaRPr lang="en-FR"/>
          </a:p>
        </p:txBody>
      </p:sp>
    </p:spTree>
    <p:extLst>
      <p:ext uri="{BB962C8B-B14F-4D97-AF65-F5344CB8AC3E}">
        <p14:creationId xmlns:p14="http://schemas.microsoft.com/office/powerpoint/2010/main" val="3222071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32</a:t>
            </a:fld>
            <a:endParaRPr lang="en-FR"/>
          </a:p>
        </p:txBody>
      </p:sp>
    </p:spTree>
    <p:extLst>
      <p:ext uri="{BB962C8B-B14F-4D97-AF65-F5344CB8AC3E}">
        <p14:creationId xmlns:p14="http://schemas.microsoft.com/office/powerpoint/2010/main" val="3331185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9842643-C7A0-EE4A-89C4-327165196316}" type="slidenum">
              <a:rPr lang="en-FR" smtClean="0"/>
              <a:t>35</a:t>
            </a:fld>
            <a:endParaRPr lang="en-FR"/>
          </a:p>
        </p:txBody>
      </p:sp>
    </p:spTree>
    <p:extLst>
      <p:ext uri="{BB962C8B-B14F-4D97-AF65-F5344CB8AC3E}">
        <p14:creationId xmlns:p14="http://schemas.microsoft.com/office/powerpoint/2010/main" val="3077921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56</a:t>
            </a:fld>
            <a:endParaRPr lang="en-FR"/>
          </a:p>
        </p:txBody>
      </p:sp>
    </p:spTree>
    <p:extLst>
      <p:ext uri="{BB962C8B-B14F-4D97-AF65-F5344CB8AC3E}">
        <p14:creationId xmlns:p14="http://schemas.microsoft.com/office/powerpoint/2010/main" val="1196476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E9842643-C7A0-EE4A-89C4-327165196316}" type="slidenum">
              <a:rPr lang="en-FR" smtClean="0"/>
              <a:t>57</a:t>
            </a:fld>
            <a:endParaRPr lang="en-FR"/>
          </a:p>
        </p:txBody>
      </p:sp>
    </p:spTree>
    <p:extLst>
      <p:ext uri="{BB962C8B-B14F-4D97-AF65-F5344CB8AC3E}">
        <p14:creationId xmlns:p14="http://schemas.microsoft.com/office/powerpoint/2010/main" val="1196476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A4584A0-0DCB-224A-BEAA-1112184BE4F1}" type="slidenum">
              <a:rPr lang="fr-FR" smtClean="0"/>
              <a:t>64</a:t>
            </a:fld>
            <a:endParaRPr lang="fr-FR"/>
          </a:p>
        </p:txBody>
      </p:sp>
    </p:spTree>
    <p:extLst>
      <p:ext uri="{BB962C8B-B14F-4D97-AF65-F5344CB8AC3E}">
        <p14:creationId xmlns:p14="http://schemas.microsoft.com/office/powerpoint/2010/main" val="3008480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A4584A0-0DCB-224A-BEAA-1112184BE4F1}" type="slidenum">
              <a:rPr lang="fr-FR" smtClean="0"/>
              <a:t>69</a:t>
            </a:fld>
            <a:endParaRPr lang="fr-FR"/>
          </a:p>
        </p:txBody>
      </p:sp>
    </p:spTree>
    <p:extLst>
      <p:ext uri="{BB962C8B-B14F-4D97-AF65-F5344CB8AC3E}">
        <p14:creationId xmlns:p14="http://schemas.microsoft.com/office/powerpoint/2010/main" val="984191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597822"/>
            <a:ext cx="7772400" cy="1102519"/>
          </a:xfrm>
        </p:spPr>
        <p:txBody>
          <a:bodyPr/>
          <a:lstStyle/>
          <a:p>
            <a:r>
              <a:rPr lang="fr-FR"/>
              <a:t>Cliquez et modifiez le titre</a:t>
            </a:r>
          </a:p>
        </p:txBody>
      </p:sp>
      <p:sp>
        <p:nvSpPr>
          <p:cNvPr id="3" name="Sous-titr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84" indent="0" algn="ctr">
              <a:buNone/>
              <a:defRPr>
                <a:solidFill>
                  <a:schemeClr val="tx1">
                    <a:tint val="75000"/>
                  </a:schemeClr>
                </a:solidFill>
              </a:defRPr>
            </a:lvl2pPr>
            <a:lvl3pPr marL="685766" indent="0" algn="ctr">
              <a:buNone/>
              <a:defRPr>
                <a:solidFill>
                  <a:schemeClr val="tx1">
                    <a:tint val="75000"/>
                  </a:schemeClr>
                </a:solidFill>
              </a:defRPr>
            </a:lvl3pPr>
            <a:lvl4pPr marL="1028649" indent="0" algn="ctr">
              <a:buNone/>
              <a:defRPr>
                <a:solidFill>
                  <a:schemeClr val="tx1">
                    <a:tint val="75000"/>
                  </a:schemeClr>
                </a:solidFill>
              </a:defRPr>
            </a:lvl4pPr>
            <a:lvl5pPr marL="1371532" indent="0" algn="ctr">
              <a:buNone/>
              <a:defRPr>
                <a:solidFill>
                  <a:schemeClr val="tx1">
                    <a:tint val="75000"/>
                  </a:schemeClr>
                </a:solidFill>
              </a:defRPr>
            </a:lvl5pPr>
            <a:lvl6pPr marL="1714415" indent="0" algn="ctr">
              <a:buNone/>
              <a:defRPr>
                <a:solidFill>
                  <a:schemeClr val="tx1">
                    <a:tint val="75000"/>
                  </a:schemeClr>
                </a:solidFill>
              </a:defRPr>
            </a:lvl6pPr>
            <a:lvl7pPr marL="2057297" indent="0" algn="ctr">
              <a:buNone/>
              <a:defRPr>
                <a:solidFill>
                  <a:schemeClr val="tx1">
                    <a:tint val="75000"/>
                  </a:schemeClr>
                </a:solidFill>
              </a:defRPr>
            </a:lvl7pPr>
            <a:lvl8pPr marL="2400180" indent="0" algn="ctr">
              <a:buNone/>
              <a:defRPr>
                <a:solidFill>
                  <a:schemeClr val="tx1">
                    <a:tint val="75000"/>
                  </a:schemeClr>
                </a:solidFill>
              </a:defRPr>
            </a:lvl8pPr>
            <a:lvl9pPr marL="2743064"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022440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4189550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3305176"/>
            <a:ext cx="7772400" cy="1021556"/>
          </a:xfrm>
        </p:spPr>
        <p:txBody>
          <a:bodyPr anchor="t"/>
          <a:lstStyle>
            <a:lvl1pPr algn="l">
              <a:defRPr sz="3000" b="1" cap="all"/>
            </a:lvl1pPr>
          </a:lstStyle>
          <a:p>
            <a:r>
              <a:rPr lang="fr-FR"/>
              <a:t>Cliquez et modifiez le titre</a:t>
            </a:r>
          </a:p>
        </p:txBody>
      </p:sp>
      <p:sp>
        <p:nvSpPr>
          <p:cNvPr id="3" name="Espace réservé du texte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884" indent="0">
              <a:buNone/>
              <a:defRPr sz="1350">
                <a:solidFill>
                  <a:schemeClr val="tx1">
                    <a:tint val="75000"/>
                  </a:schemeClr>
                </a:solidFill>
              </a:defRPr>
            </a:lvl2pPr>
            <a:lvl3pPr marL="685766" indent="0">
              <a:buNone/>
              <a:defRPr sz="1200">
                <a:solidFill>
                  <a:schemeClr val="tx1">
                    <a:tint val="75000"/>
                  </a:schemeClr>
                </a:solidFill>
              </a:defRPr>
            </a:lvl3pPr>
            <a:lvl4pPr marL="1028649" indent="0">
              <a:buNone/>
              <a:defRPr sz="1050">
                <a:solidFill>
                  <a:schemeClr val="tx1">
                    <a:tint val="75000"/>
                  </a:schemeClr>
                </a:solidFill>
              </a:defRPr>
            </a:lvl4pPr>
            <a:lvl5pPr marL="1371532" indent="0">
              <a:buNone/>
              <a:defRPr sz="1050">
                <a:solidFill>
                  <a:schemeClr val="tx1">
                    <a:tint val="75000"/>
                  </a:schemeClr>
                </a:solidFill>
              </a:defRPr>
            </a:lvl5pPr>
            <a:lvl6pPr marL="1714415" indent="0">
              <a:buNone/>
              <a:defRPr sz="1050">
                <a:solidFill>
                  <a:schemeClr val="tx1">
                    <a:tint val="75000"/>
                  </a:schemeClr>
                </a:solidFill>
              </a:defRPr>
            </a:lvl6pPr>
            <a:lvl7pPr marL="2057297" indent="0">
              <a:buNone/>
              <a:defRPr sz="1050">
                <a:solidFill>
                  <a:schemeClr val="tx1">
                    <a:tint val="75000"/>
                  </a:schemeClr>
                </a:solidFill>
              </a:defRPr>
            </a:lvl7pPr>
            <a:lvl8pPr marL="2400180" indent="0">
              <a:buNone/>
              <a:defRPr sz="1050">
                <a:solidFill>
                  <a:schemeClr val="tx1">
                    <a:tint val="75000"/>
                  </a:schemeClr>
                </a:solidFill>
              </a:defRPr>
            </a:lvl8pPr>
            <a:lvl9pPr marL="2743064" indent="0">
              <a:buNone/>
              <a:defRPr sz="105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35700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370111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151335"/>
            <a:ext cx="4040188" cy="47982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32" y="1151335"/>
            <a:ext cx="4041775" cy="47982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32"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170441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2590060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2139274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7" y="204787"/>
            <a:ext cx="3008313" cy="871538"/>
          </a:xfrm>
        </p:spPr>
        <p:txBody>
          <a:bodyPr anchor="b"/>
          <a:lstStyle>
            <a:lvl1pPr algn="l">
              <a:defRPr sz="1500" b="1"/>
            </a:lvl1pPr>
          </a:lstStyle>
          <a:p>
            <a:r>
              <a:rPr lang="fr-FR"/>
              <a:t>Cliquez et modifiez le titre</a:t>
            </a:r>
          </a:p>
        </p:txBody>
      </p:sp>
      <p:sp>
        <p:nvSpPr>
          <p:cNvPr id="3" name="Espace réservé du contenu 2"/>
          <p:cNvSpPr>
            <a:spLocks noGrp="1"/>
          </p:cNvSpPr>
          <p:nvPr>
            <p:ph idx="1"/>
          </p:nvPr>
        </p:nvSpPr>
        <p:spPr>
          <a:xfrm>
            <a:off x="3575050" y="204791"/>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7" y="1076328"/>
            <a:ext cx="3008313" cy="3518297"/>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25952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3600451"/>
            <a:ext cx="5486400" cy="425054"/>
          </a:xfrm>
        </p:spPr>
        <p:txBody>
          <a:bodyPr anchor="b"/>
          <a:lstStyle>
            <a:lvl1pPr algn="l">
              <a:defRPr sz="1500" b="1"/>
            </a:lvl1pPr>
          </a:lstStyle>
          <a:p>
            <a:r>
              <a:rPr lang="fr-FR"/>
              <a:t>Cliquez et modifiez le titre</a:t>
            </a:r>
          </a:p>
        </p:txBody>
      </p:sp>
      <p:sp>
        <p:nvSpPr>
          <p:cNvPr id="3" name="Espace réservé pour une image  2"/>
          <p:cNvSpPr>
            <a:spLocks noGrp="1"/>
          </p:cNvSpPr>
          <p:nvPr>
            <p:ph type="pic" idx="1"/>
          </p:nvPr>
        </p:nvSpPr>
        <p:spPr>
          <a:xfrm>
            <a:off x="1792288" y="459581"/>
            <a:ext cx="5486400" cy="30861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endParaRPr lang="fr-FR"/>
          </a:p>
        </p:txBody>
      </p:sp>
      <p:sp>
        <p:nvSpPr>
          <p:cNvPr id="4" name="Espace réservé du texte 3"/>
          <p:cNvSpPr>
            <a:spLocks noGrp="1"/>
          </p:cNvSpPr>
          <p:nvPr>
            <p:ph type="body" sz="half" idx="2"/>
          </p:nvPr>
        </p:nvSpPr>
        <p:spPr>
          <a:xfrm>
            <a:off x="1792288" y="4025506"/>
            <a:ext cx="5486400" cy="603647"/>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2967601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825697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05980"/>
            <a:ext cx="2057400" cy="4388644"/>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457200" y="205980"/>
            <a:ext cx="6019800" cy="43886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827216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476250" y="238125"/>
            <a:ext cx="1514475" cy="285750"/>
          </a:xfrm>
          <a:prstGeom prst="rect">
            <a:avLst/>
          </a:prstGeom>
        </p:spPr>
        <p:txBody>
          <a:bodyPr anchor="ctr"/>
          <a:lstStyle>
            <a:lvl1pPr marL="0" indent="0">
              <a:buNone/>
              <a:defRPr sz="1350">
                <a:solidFill>
                  <a:srgbClr val="702082"/>
                </a:solidFill>
                <a:latin typeface="Nexa Bold" charset="0"/>
                <a:ea typeface="Nexa Bold" charset="0"/>
                <a:cs typeface="Nexa Bold" charset="0"/>
              </a:defRPr>
            </a:lvl1pPr>
          </a:lstStyle>
          <a:p>
            <a:pPr lvl="0"/>
            <a:r>
              <a:rPr lang="fr-FR" dirty="0"/>
              <a:t>S Durrleman</a:t>
            </a:r>
          </a:p>
        </p:txBody>
      </p:sp>
      <p:sp>
        <p:nvSpPr>
          <p:cNvPr id="12" name="Espace réservé du texte 3"/>
          <p:cNvSpPr>
            <a:spLocks noGrp="1"/>
          </p:cNvSpPr>
          <p:nvPr>
            <p:ph type="body" sz="quarter" idx="11" hasCustomPrompt="1"/>
          </p:nvPr>
        </p:nvSpPr>
        <p:spPr>
          <a:xfrm>
            <a:off x="2209800" y="238125"/>
            <a:ext cx="2488442" cy="285750"/>
          </a:xfrm>
          <a:prstGeom prst="rect">
            <a:avLst/>
          </a:prstGeom>
        </p:spPr>
        <p:txBody>
          <a:bodyPr anchor="ctr"/>
          <a:lstStyle>
            <a:lvl1pPr marL="0" indent="0">
              <a:buNone/>
              <a:defRPr sz="1350" baseline="0">
                <a:solidFill>
                  <a:schemeClr val="tx1"/>
                </a:solidFill>
                <a:latin typeface="Nexa Light" charset="0"/>
                <a:ea typeface="Nexa Light" charset="0"/>
                <a:cs typeface="Nexa Light" charset="0"/>
              </a:defRPr>
            </a:lvl1pPr>
          </a:lstStyle>
          <a:p>
            <a:pPr lvl="0"/>
            <a:r>
              <a:rPr lang="fr-FR" dirty="0"/>
              <a:t>Digital </a:t>
            </a:r>
            <a:r>
              <a:rPr lang="fr-FR" dirty="0" err="1"/>
              <a:t>Models</a:t>
            </a:r>
            <a:r>
              <a:rPr lang="fr-FR" dirty="0"/>
              <a:t> of Brain </a:t>
            </a:r>
            <a:r>
              <a:rPr lang="fr-FR" dirty="0" err="1"/>
              <a:t>Aging</a:t>
            </a:r>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350">
                <a:solidFill>
                  <a:srgbClr val="702082"/>
                </a:solidFill>
                <a:latin typeface="Nexa Bold" charset="0"/>
                <a:ea typeface="Nexa Bold" charset="0"/>
                <a:cs typeface="Nexa Bold" charset="0"/>
              </a:defRPr>
            </a:lvl1pPr>
            <a:lvl2pPr marL="342900"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57"/>
            <a:ext cx="3600450" cy="212212"/>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29"/>
            <a:ext cx="3600450" cy="292894"/>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FFDE47E1-077C-5EED-F3A2-F09BFB30C76E}"/>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dirty="0"/>
          </a:p>
        </p:txBody>
      </p:sp>
    </p:spTree>
    <p:extLst>
      <p:ext uri="{BB962C8B-B14F-4D97-AF65-F5344CB8AC3E}">
        <p14:creationId xmlns:p14="http://schemas.microsoft.com/office/powerpoint/2010/main" val="300978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age Texte">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476250" y="238125"/>
            <a:ext cx="1514475" cy="285750"/>
          </a:xfrm>
          <a:prstGeom prst="rect">
            <a:avLst/>
          </a:prstGeom>
        </p:spPr>
        <p:txBody>
          <a:bodyPr anchor="ctr"/>
          <a:lstStyle>
            <a:lvl1pPr marL="0" indent="0">
              <a:buNone/>
              <a:defRPr sz="1350">
                <a:solidFill>
                  <a:srgbClr val="702082"/>
                </a:solidFill>
                <a:latin typeface="Nexa Bold" charset="0"/>
                <a:ea typeface="Nexa Bold" charset="0"/>
                <a:cs typeface="Nexa Bold" charset="0"/>
              </a:defRPr>
            </a:lvl1pPr>
          </a:lstStyle>
          <a:p>
            <a:pPr lvl="0"/>
            <a:r>
              <a:rPr lang="fr-FR" dirty="0"/>
              <a:t>S Durrleman</a:t>
            </a:r>
          </a:p>
        </p:txBody>
      </p:sp>
      <p:sp>
        <p:nvSpPr>
          <p:cNvPr id="12" name="Espace réservé du texte 3"/>
          <p:cNvSpPr>
            <a:spLocks noGrp="1"/>
          </p:cNvSpPr>
          <p:nvPr>
            <p:ph type="body" sz="quarter" idx="11" hasCustomPrompt="1"/>
          </p:nvPr>
        </p:nvSpPr>
        <p:spPr>
          <a:xfrm>
            <a:off x="2209800" y="238125"/>
            <a:ext cx="2478206" cy="285750"/>
          </a:xfrm>
          <a:prstGeom prst="rect">
            <a:avLst/>
          </a:prstGeom>
        </p:spPr>
        <p:txBody>
          <a:bodyPr anchor="ctr"/>
          <a:lstStyle>
            <a:lvl1pPr marL="0" indent="0">
              <a:buNone/>
              <a:defRPr sz="1350" baseline="0">
                <a:solidFill>
                  <a:schemeClr val="tx1"/>
                </a:solidFill>
                <a:latin typeface="Nexa Light" charset="0"/>
                <a:ea typeface="Nexa Light" charset="0"/>
                <a:cs typeface="Nexa Light" charset="0"/>
              </a:defRPr>
            </a:lvl1pPr>
          </a:lstStyle>
          <a:p>
            <a:pPr lvl="0"/>
            <a:r>
              <a:rPr lang="fr-FR" dirty="0"/>
              <a:t>Digital </a:t>
            </a:r>
            <a:r>
              <a:rPr lang="fr-FR" dirty="0" err="1"/>
              <a:t>Models</a:t>
            </a:r>
            <a:r>
              <a:rPr lang="fr-FR" dirty="0"/>
              <a:t> of Brain </a:t>
            </a:r>
            <a:r>
              <a:rPr lang="fr-FR" dirty="0" err="1"/>
              <a:t>Aging</a:t>
            </a:r>
            <a:endParaRPr lang="fr-FR" dirty="0"/>
          </a:p>
        </p:txBody>
      </p:sp>
      <p:sp>
        <p:nvSpPr>
          <p:cNvPr id="5" name="Espace réservé du texte 4"/>
          <p:cNvSpPr>
            <a:spLocks noGrp="1"/>
          </p:cNvSpPr>
          <p:nvPr>
            <p:ph type="body" sz="quarter" idx="13" hasCustomPrompt="1"/>
          </p:nvPr>
        </p:nvSpPr>
        <p:spPr>
          <a:xfrm>
            <a:off x="771525" y="1162050"/>
            <a:ext cx="6010275" cy="2638425"/>
          </a:xfrm>
          <a:prstGeom prst="rect">
            <a:avLst/>
          </a:prstGeom>
        </p:spPr>
        <p:txBody>
          <a:bodyPr/>
          <a:lstStyle>
            <a:lvl1pPr marL="0" indent="0">
              <a:lnSpc>
                <a:spcPct val="150000"/>
              </a:lnSpc>
              <a:buNone/>
              <a:defRPr sz="1350">
                <a:solidFill>
                  <a:srgbClr val="702082"/>
                </a:solidFill>
                <a:latin typeface="Nexa Bold" charset="0"/>
                <a:ea typeface="Nexa Bold" charset="0"/>
                <a:cs typeface="Nexa Bold" charset="0"/>
              </a:defRPr>
            </a:lvl1pPr>
            <a:lvl2pPr marL="342900"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0"/>
            <a:r>
              <a:rPr lang="fr-FR" dirty="0"/>
              <a:t>Titre</a:t>
            </a:r>
          </a:p>
          <a:p>
            <a:pPr lvl="1"/>
            <a:r>
              <a:rPr lang="fr-FR" dirty="0"/>
              <a:t>Texte</a:t>
            </a:r>
          </a:p>
          <a:p>
            <a:pPr lvl="0"/>
            <a:r>
              <a:rPr lang="fr-FR" dirty="0"/>
              <a:t>Titre</a:t>
            </a:r>
          </a:p>
          <a:p>
            <a:pPr lvl="1"/>
            <a:r>
              <a:rPr lang="fr-FR" dirty="0"/>
              <a:t>Texte</a:t>
            </a:r>
          </a:p>
          <a:p>
            <a:pPr lvl="1"/>
            <a:endParaRPr lang="fr-FR" dirty="0"/>
          </a:p>
        </p:txBody>
      </p:sp>
      <p:sp>
        <p:nvSpPr>
          <p:cNvPr id="3" name="Espace réservé du numéro de diapositive 5">
            <a:extLst>
              <a:ext uri="{FF2B5EF4-FFF2-40B4-BE49-F238E27FC236}">
                <a16:creationId xmlns:a16="http://schemas.microsoft.com/office/drawing/2014/main" id="{67440FB3-B663-2B90-EA5A-6570E4152530}"/>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dirty="0"/>
          </a:p>
        </p:txBody>
      </p:sp>
    </p:spTree>
    <p:extLst>
      <p:ext uri="{BB962C8B-B14F-4D97-AF65-F5344CB8AC3E}">
        <p14:creationId xmlns:p14="http://schemas.microsoft.com/office/powerpoint/2010/main" val="2010411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Page Texte">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Arial" panose="020B0604020202020204" pitchFamily="34" charset="0"/>
                <a:ea typeface="Arial" panose="020B0604020202020204" pitchFamily="34" charset="0"/>
                <a:cs typeface="Arial" panose="020B0604020202020204" pitchFamily="34" charset="0"/>
              </a:defRPr>
            </a:lvl1pPr>
          </a:lstStyle>
          <a:p>
            <a:pPr lvl="0"/>
            <a:endParaRPr lang="fr-FR" dirty="0"/>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7" y="1162050"/>
            <a:ext cx="6010275"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0"/>
            <a:r>
              <a:rPr lang="fr-FR" dirty="0"/>
              <a:t>Titre</a:t>
            </a:r>
          </a:p>
          <a:p>
            <a:pPr lvl="1"/>
            <a:r>
              <a:rPr lang="fr-FR" dirty="0"/>
              <a:t>Texte</a:t>
            </a:r>
          </a:p>
          <a:p>
            <a:pPr lvl="0"/>
            <a:r>
              <a:rPr lang="fr-FR" dirty="0"/>
              <a:t>Titre</a:t>
            </a:r>
          </a:p>
          <a:p>
            <a:pPr lvl="1"/>
            <a:r>
              <a:rPr lang="fr-FR" dirty="0"/>
              <a:t>Texte</a:t>
            </a:r>
          </a:p>
          <a:p>
            <a:pPr lvl="1"/>
            <a:endParaRPr lang="fr-FR" dirty="0"/>
          </a:p>
        </p:txBody>
      </p:sp>
      <p:sp>
        <p:nvSpPr>
          <p:cNvPr id="2" name="Espace réservé du numéro de diapositive 5">
            <a:extLst>
              <a:ext uri="{FF2B5EF4-FFF2-40B4-BE49-F238E27FC236}">
                <a16:creationId xmlns:a16="http://schemas.microsoft.com/office/drawing/2014/main" id="{5828189F-51F9-2525-1C90-E596216B8E2C}"/>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058071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83AC44F2-A48B-E25A-697E-0508777B736C}"/>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4060811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743B2DD8-48A0-B26A-8ED2-2CCBB139F403}"/>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373176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C542DEE0-0B62-5A17-AFED-FE86A5E45A50}"/>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697237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E4C83850-9F48-8986-4E5E-B7EFEA262BEF}"/>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40296412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1DDE5E7D-76AC-7F7B-FA7F-A34730D8EBA5}"/>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852575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BC5C7260-B65B-09EF-FC3E-A3304736322B}"/>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9342164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12F5AD96-2794-C5D7-6EC8-638479DDB841}"/>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19356383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265E3A96-A6A9-4325-EC12-735C1C2D6B3F}"/>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5533839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A54E68C2-4B87-787E-9680-4FD8CA536C0F}"/>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836516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4796D7C8-BB8C-73B5-0344-6092DE3C1BDB}"/>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31477508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1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476252" y="238125"/>
            <a:ext cx="1514475" cy="285750"/>
          </a:xfrm>
          <a:prstGeom prst="rect">
            <a:avLst/>
          </a:prstGeom>
        </p:spPr>
        <p:txBody>
          <a:bodyPr anchor="ctr"/>
          <a:lstStyle>
            <a:lvl1pPr marL="0" indent="0">
              <a:buNone/>
              <a:defRPr sz="1013">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209802" y="238125"/>
            <a:ext cx="1514475" cy="285750"/>
          </a:xfrm>
          <a:prstGeom prst="rect">
            <a:avLst/>
          </a:prstGeom>
        </p:spPr>
        <p:txBody>
          <a:bodyPr anchor="ctr"/>
          <a:lstStyle>
            <a:lvl1pPr marL="0" indent="0">
              <a:buNone/>
              <a:defRPr sz="1013">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771525" y="1162050"/>
            <a:ext cx="3752850" cy="2638425"/>
          </a:xfrm>
          <a:prstGeom prst="rect">
            <a:avLst/>
          </a:prstGeom>
        </p:spPr>
        <p:txBody>
          <a:bodyPr/>
          <a:lstStyle>
            <a:lvl1pPr marL="0" indent="0">
              <a:lnSpc>
                <a:spcPct val="150000"/>
              </a:lnSpc>
              <a:buNone/>
              <a:defRPr sz="1013">
                <a:solidFill>
                  <a:srgbClr val="702082"/>
                </a:solidFill>
                <a:latin typeface="Nexa Bold" charset="0"/>
                <a:ea typeface="Nexa Bold" charset="0"/>
                <a:cs typeface="Nexa Bold" charset="0"/>
              </a:defRPr>
            </a:lvl1pPr>
            <a:lvl2pPr marL="257156" indent="0">
              <a:lnSpc>
                <a:spcPct val="80000"/>
              </a:lnSpc>
              <a:buFontTx/>
              <a:buNone/>
              <a:defRPr sz="844">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4791075" y="1162050"/>
            <a:ext cx="3600450" cy="2638425"/>
          </a:xfrm>
          <a:prstGeom prst="rect">
            <a:avLst/>
          </a:prstGeom>
        </p:spPr>
        <p:txBody>
          <a:bodyPr/>
          <a:lstStyle/>
          <a:p>
            <a:endParaRPr lang="fr-FR"/>
          </a:p>
        </p:txBody>
      </p:sp>
      <p:sp>
        <p:nvSpPr>
          <p:cNvPr id="11" name="Espace réservé du texte 10"/>
          <p:cNvSpPr>
            <a:spLocks noGrp="1"/>
          </p:cNvSpPr>
          <p:nvPr>
            <p:ph type="body" sz="quarter" idx="15"/>
          </p:nvPr>
        </p:nvSpPr>
        <p:spPr>
          <a:xfrm>
            <a:off x="4791075" y="3993364"/>
            <a:ext cx="3600450" cy="212212"/>
          </a:xfrm>
          <a:prstGeom prst="rect">
            <a:avLst/>
          </a:prstGeom>
        </p:spPr>
        <p:txBody>
          <a:bodyPr/>
          <a:lstStyle>
            <a:lvl1pPr marL="0" indent="0">
              <a:buFontTx/>
              <a:buNone/>
              <a:defRPr sz="675">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4791075" y="4206837"/>
            <a:ext cx="3600450" cy="292894"/>
          </a:xfrm>
          <a:prstGeom prst="rect">
            <a:avLst/>
          </a:prstGeom>
        </p:spPr>
        <p:txBody>
          <a:bodyPr/>
          <a:lstStyle>
            <a:lvl1pPr marL="0" indent="0">
              <a:buFontTx/>
              <a:buNone/>
              <a:defRPr sz="675">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7BC3747C-E99C-5A82-B3D0-13750B286DBB}"/>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‹N°›</a:t>
            </a:fld>
            <a:endParaRPr lang="fr-FR"/>
          </a:p>
        </p:txBody>
      </p:sp>
    </p:spTree>
    <p:extLst>
      <p:ext uri="{BB962C8B-B14F-4D97-AF65-F5344CB8AC3E}">
        <p14:creationId xmlns:p14="http://schemas.microsoft.com/office/powerpoint/2010/main" val="850252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5" name="Espace réservé du pied de page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E69D5D-3C54-E347-B3D4-70BDFA7C6521}" type="slidenum">
              <a:rPr lang="fr-FR" smtClean="0"/>
              <a:t>‹N°›</a:t>
            </a:fld>
            <a:endParaRPr lang="fr-FR"/>
          </a:p>
        </p:txBody>
      </p:sp>
    </p:spTree>
    <p:extLst>
      <p:ext uri="{BB962C8B-B14F-4D97-AF65-F5344CB8AC3E}">
        <p14:creationId xmlns:p14="http://schemas.microsoft.com/office/powerpoint/2010/main" val="1412339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Lst>
  <p:hf hdr="0" ftr="0" dt="0"/>
  <p:txStyles>
    <p:titleStyle>
      <a:lvl1pPr algn="ctr" defTabSz="342884" rtl="0" eaLnBrk="1" latinLnBrk="0" hangingPunct="1">
        <a:spcBef>
          <a:spcPct val="0"/>
        </a:spcBef>
        <a:buNone/>
        <a:defRPr sz="3300" kern="1200">
          <a:solidFill>
            <a:schemeClr val="tx1"/>
          </a:solidFill>
          <a:latin typeface="+mj-lt"/>
          <a:ea typeface="+mj-ea"/>
          <a:cs typeface="+mj-cs"/>
        </a:defRPr>
      </a:lvl1pPr>
    </p:titleStyle>
    <p:bodyStyle>
      <a:lvl1pPr marL="257162" indent="-257162" algn="l" defTabSz="342884" rtl="0" eaLnBrk="1" latinLnBrk="0" hangingPunct="1">
        <a:spcBef>
          <a:spcPct val="20000"/>
        </a:spcBef>
        <a:buFont typeface="Arial"/>
        <a:buChar char="•"/>
        <a:defRPr sz="2400" kern="1200">
          <a:solidFill>
            <a:schemeClr val="tx1"/>
          </a:solidFill>
          <a:latin typeface="+mn-lt"/>
          <a:ea typeface="+mn-ea"/>
          <a:cs typeface="+mn-cs"/>
        </a:defRPr>
      </a:lvl1pPr>
      <a:lvl2pPr marL="557185" indent="-214303" algn="l" defTabSz="342884" rtl="0" eaLnBrk="1" latinLnBrk="0" hangingPunct="1">
        <a:spcBef>
          <a:spcPct val="20000"/>
        </a:spcBef>
        <a:buFont typeface="Arial"/>
        <a:buChar char="–"/>
        <a:defRPr sz="2100" kern="1200">
          <a:solidFill>
            <a:schemeClr val="tx1"/>
          </a:solidFill>
          <a:latin typeface="+mn-lt"/>
          <a:ea typeface="+mn-ea"/>
          <a:cs typeface="+mn-cs"/>
        </a:defRPr>
      </a:lvl2pPr>
      <a:lvl3pPr marL="857207" indent="-171442" algn="l" defTabSz="342884" rtl="0" eaLnBrk="1" latinLnBrk="0" hangingPunct="1">
        <a:spcBef>
          <a:spcPct val="20000"/>
        </a:spcBef>
        <a:buFont typeface="Arial"/>
        <a:buChar char="•"/>
        <a:defRPr sz="1800" kern="1200">
          <a:solidFill>
            <a:schemeClr val="tx1"/>
          </a:solidFill>
          <a:latin typeface="+mn-lt"/>
          <a:ea typeface="+mn-ea"/>
          <a:cs typeface="+mn-cs"/>
        </a:defRPr>
      </a:lvl3pPr>
      <a:lvl4pPr marL="1200090" indent="-171442" algn="l" defTabSz="342884" rtl="0" eaLnBrk="1" latinLnBrk="0" hangingPunct="1">
        <a:spcBef>
          <a:spcPct val="20000"/>
        </a:spcBef>
        <a:buFont typeface="Arial"/>
        <a:buChar char="–"/>
        <a:defRPr sz="1500" kern="1200">
          <a:solidFill>
            <a:schemeClr val="tx1"/>
          </a:solidFill>
          <a:latin typeface="+mn-lt"/>
          <a:ea typeface="+mn-ea"/>
          <a:cs typeface="+mn-cs"/>
        </a:defRPr>
      </a:lvl4pPr>
      <a:lvl5pPr marL="1542974" indent="-171442" algn="l" defTabSz="342884" rtl="0" eaLnBrk="1" latinLnBrk="0" hangingPunct="1">
        <a:spcBef>
          <a:spcPct val="20000"/>
        </a:spcBef>
        <a:buFont typeface="Arial"/>
        <a:buChar char="»"/>
        <a:defRPr sz="1500" kern="1200">
          <a:solidFill>
            <a:schemeClr val="tx1"/>
          </a:solidFill>
          <a:latin typeface="+mn-lt"/>
          <a:ea typeface="+mn-ea"/>
          <a:cs typeface="+mn-cs"/>
        </a:defRPr>
      </a:lvl5pPr>
      <a:lvl6pPr marL="1885856" indent="-171442" algn="l" defTabSz="342884" rtl="0" eaLnBrk="1" latinLnBrk="0" hangingPunct="1">
        <a:spcBef>
          <a:spcPct val="20000"/>
        </a:spcBef>
        <a:buFont typeface="Arial"/>
        <a:buChar char="•"/>
        <a:defRPr sz="1500" kern="1200">
          <a:solidFill>
            <a:schemeClr val="tx1"/>
          </a:solidFill>
          <a:latin typeface="+mn-lt"/>
          <a:ea typeface="+mn-ea"/>
          <a:cs typeface="+mn-cs"/>
        </a:defRPr>
      </a:lvl6pPr>
      <a:lvl7pPr marL="2228739" indent="-171442" algn="l" defTabSz="342884" rtl="0" eaLnBrk="1" latinLnBrk="0" hangingPunct="1">
        <a:spcBef>
          <a:spcPct val="20000"/>
        </a:spcBef>
        <a:buFont typeface="Arial"/>
        <a:buChar char="•"/>
        <a:defRPr sz="1500" kern="1200">
          <a:solidFill>
            <a:schemeClr val="tx1"/>
          </a:solidFill>
          <a:latin typeface="+mn-lt"/>
          <a:ea typeface="+mn-ea"/>
          <a:cs typeface="+mn-cs"/>
        </a:defRPr>
      </a:lvl7pPr>
      <a:lvl8pPr marL="2571622" indent="-171442" algn="l" defTabSz="342884" rtl="0" eaLnBrk="1" latinLnBrk="0" hangingPunct="1">
        <a:spcBef>
          <a:spcPct val="20000"/>
        </a:spcBef>
        <a:buFont typeface="Arial"/>
        <a:buChar char="•"/>
        <a:defRPr sz="1500" kern="1200">
          <a:solidFill>
            <a:schemeClr val="tx1"/>
          </a:solidFill>
          <a:latin typeface="+mn-lt"/>
          <a:ea typeface="+mn-ea"/>
          <a:cs typeface="+mn-cs"/>
        </a:defRPr>
      </a:lvl8pPr>
      <a:lvl9pPr marL="2914505" indent="-171442" algn="l" defTabSz="342884"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fr-FR"/>
      </a:defPPr>
      <a:lvl1pPr marL="0" algn="l" defTabSz="342884" rtl="0" eaLnBrk="1" latinLnBrk="0" hangingPunct="1">
        <a:defRPr sz="1350" kern="1200">
          <a:solidFill>
            <a:schemeClr val="tx1"/>
          </a:solidFill>
          <a:latin typeface="+mn-lt"/>
          <a:ea typeface="+mn-ea"/>
          <a:cs typeface="+mn-cs"/>
        </a:defRPr>
      </a:lvl1pPr>
      <a:lvl2pPr marL="342884" algn="l" defTabSz="342884" rtl="0" eaLnBrk="1" latinLnBrk="0" hangingPunct="1">
        <a:defRPr sz="1350" kern="1200">
          <a:solidFill>
            <a:schemeClr val="tx1"/>
          </a:solidFill>
          <a:latin typeface="+mn-lt"/>
          <a:ea typeface="+mn-ea"/>
          <a:cs typeface="+mn-cs"/>
        </a:defRPr>
      </a:lvl2pPr>
      <a:lvl3pPr marL="685766" algn="l" defTabSz="342884" rtl="0" eaLnBrk="1" latinLnBrk="0" hangingPunct="1">
        <a:defRPr sz="1350" kern="1200">
          <a:solidFill>
            <a:schemeClr val="tx1"/>
          </a:solidFill>
          <a:latin typeface="+mn-lt"/>
          <a:ea typeface="+mn-ea"/>
          <a:cs typeface="+mn-cs"/>
        </a:defRPr>
      </a:lvl3pPr>
      <a:lvl4pPr marL="1028649" algn="l" defTabSz="342884" rtl="0" eaLnBrk="1" latinLnBrk="0" hangingPunct="1">
        <a:defRPr sz="1350" kern="1200">
          <a:solidFill>
            <a:schemeClr val="tx1"/>
          </a:solidFill>
          <a:latin typeface="+mn-lt"/>
          <a:ea typeface="+mn-ea"/>
          <a:cs typeface="+mn-cs"/>
        </a:defRPr>
      </a:lvl4pPr>
      <a:lvl5pPr marL="1371532" algn="l" defTabSz="342884" rtl="0" eaLnBrk="1" latinLnBrk="0" hangingPunct="1">
        <a:defRPr sz="1350" kern="1200">
          <a:solidFill>
            <a:schemeClr val="tx1"/>
          </a:solidFill>
          <a:latin typeface="+mn-lt"/>
          <a:ea typeface="+mn-ea"/>
          <a:cs typeface="+mn-cs"/>
        </a:defRPr>
      </a:lvl5pPr>
      <a:lvl6pPr marL="1714415" algn="l" defTabSz="342884" rtl="0" eaLnBrk="1" latinLnBrk="0" hangingPunct="1">
        <a:defRPr sz="1350" kern="1200">
          <a:solidFill>
            <a:schemeClr val="tx1"/>
          </a:solidFill>
          <a:latin typeface="+mn-lt"/>
          <a:ea typeface="+mn-ea"/>
          <a:cs typeface="+mn-cs"/>
        </a:defRPr>
      </a:lvl6pPr>
      <a:lvl7pPr marL="2057297" algn="l" defTabSz="342884" rtl="0" eaLnBrk="1" latinLnBrk="0" hangingPunct="1">
        <a:defRPr sz="1350" kern="1200">
          <a:solidFill>
            <a:schemeClr val="tx1"/>
          </a:solidFill>
          <a:latin typeface="+mn-lt"/>
          <a:ea typeface="+mn-ea"/>
          <a:cs typeface="+mn-cs"/>
        </a:defRPr>
      </a:lvl7pPr>
      <a:lvl8pPr marL="2400180" algn="l" defTabSz="342884" rtl="0" eaLnBrk="1" latinLnBrk="0" hangingPunct="1">
        <a:defRPr sz="1350" kern="1200">
          <a:solidFill>
            <a:schemeClr val="tx1"/>
          </a:solidFill>
          <a:latin typeface="+mn-lt"/>
          <a:ea typeface="+mn-ea"/>
          <a:cs typeface="+mn-cs"/>
        </a:defRPr>
      </a:lvl8pPr>
      <a:lvl9pPr marL="2743064" algn="l" defTabSz="342884"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2.png"/><Relationship Id="rId3" Type="http://schemas.openxmlformats.org/officeDocument/2006/relationships/image" Target="../media/image14.emf"/><Relationship Id="rId7" Type="http://schemas.openxmlformats.org/officeDocument/2006/relationships/image" Target="../media/image16.emf"/><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21.png"/><Relationship Id="rId4" Type="http://schemas.openxmlformats.org/officeDocument/2006/relationships/image" Target="../media/image15.emf"/><Relationship Id="rId9" Type="http://schemas.openxmlformats.org/officeDocument/2006/relationships/image" Target="../media/image17.emf"/><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emf"/><Relationship Id="rId7" Type="http://schemas.openxmlformats.org/officeDocument/2006/relationships/image" Target="../media/image16.emf"/><Relationship Id="rId12" Type="http://schemas.openxmlformats.org/officeDocument/2006/relationships/image" Target="../media/image26.e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5.emf"/><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emf"/><Relationship Id="rId9" Type="http://schemas.openxmlformats.org/officeDocument/2006/relationships/image" Target="../media/image17.emf"/></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60.png"/><Relationship Id="rId2" Type="http://schemas.openxmlformats.org/officeDocument/2006/relationships/image" Target="../media/image29.emf"/><Relationship Id="rId1" Type="http://schemas.openxmlformats.org/officeDocument/2006/relationships/slideLayout" Target="../slideLayouts/slideLayout13.xml"/><Relationship Id="rId5" Type="http://schemas.openxmlformats.org/officeDocument/2006/relationships/image" Target="../media/image148.png"/><Relationship Id="rId4" Type="http://schemas.openxmlformats.org/officeDocument/2006/relationships/image" Target="../media/image147.png"/></Relationships>
</file>

<file path=ppt/slides/_rels/slide13.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image" Target="../media/image30.jpeg"/><Relationship Id="rId7" Type="http://schemas.openxmlformats.org/officeDocument/2006/relationships/image" Target="../media/image34.emf"/><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14.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slideLayout" Target="../slideLayouts/slideLayout13.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1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42.emf"/><Relationship Id="rId3" Type="http://schemas.openxmlformats.org/officeDocument/2006/relationships/image" Target="../media/image150.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image" Target="../media/image149.png"/><Relationship Id="rId1" Type="http://schemas.openxmlformats.org/officeDocument/2006/relationships/slideLayout" Target="../slideLayouts/slideLayout13.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43.emf"/></Relationships>
</file>

<file path=ppt/slides/_rels/slide16.x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image" Target="../media/image55.emf"/><Relationship Id="rId18" Type="http://schemas.openxmlformats.org/officeDocument/2006/relationships/image" Target="../media/image60.emf"/><Relationship Id="rId3" Type="http://schemas.openxmlformats.org/officeDocument/2006/relationships/image" Target="../media/image45.png"/><Relationship Id="rId21" Type="http://schemas.openxmlformats.org/officeDocument/2006/relationships/image" Target="../media/image63.emf"/><Relationship Id="rId7" Type="http://schemas.openxmlformats.org/officeDocument/2006/relationships/image" Target="../media/image49.emf"/><Relationship Id="rId12" Type="http://schemas.openxmlformats.org/officeDocument/2006/relationships/image" Target="../media/image54.emf"/><Relationship Id="rId17" Type="http://schemas.openxmlformats.org/officeDocument/2006/relationships/image" Target="../media/image59.emf"/><Relationship Id="rId2" Type="http://schemas.openxmlformats.org/officeDocument/2006/relationships/image" Target="../media/image44.png"/><Relationship Id="rId16" Type="http://schemas.openxmlformats.org/officeDocument/2006/relationships/image" Target="../media/image58.emf"/><Relationship Id="rId20" Type="http://schemas.openxmlformats.org/officeDocument/2006/relationships/image" Target="../media/image62.emf"/><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53.emf"/><Relationship Id="rId5" Type="http://schemas.openxmlformats.org/officeDocument/2006/relationships/image" Target="../media/image47.emf"/><Relationship Id="rId15" Type="http://schemas.openxmlformats.org/officeDocument/2006/relationships/image" Target="../media/image57.emf"/><Relationship Id="rId10" Type="http://schemas.openxmlformats.org/officeDocument/2006/relationships/image" Target="../media/image52.emf"/><Relationship Id="rId19" Type="http://schemas.openxmlformats.org/officeDocument/2006/relationships/image" Target="../media/image61.emf"/><Relationship Id="rId4" Type="http://schemas.openxmlformats.org/officeDocument/2006/relationships/image" Target="../media/image46.png"/><Relationship Id="rId9" Type="http://schemas.openxmlformats.org/officeDocument/2006/relationships/image" Target="../media/image51.emf"/><Relationship Id="rId14" Type="http://schemas.openxmlformats.org/officeDocument/2006/relationships/image" Target="../media/image56.emf"/></Relationships>
</file>

<file path=ppt/slides/_rels/slide17.x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image" Target="../media/image65.emf"/><Relationship Id="rId7" Type="http://schemas.openxmlformats.org/officeDocument/2006/relationships/image" Target="../media/image69.emf"/><Relationship Id="rId12" Type="http://schemas.openxmlformats.org/officeDocument/2006/relationships/image" Target="../media/image74.emf"/><Relationship Id="rId2" Type="http://schemas.openxmlformats.org/officeDocument/2006/relationships/image" Target="../media/image64.emf"/><Relationship Id="rId1" Type="http://schemas.openxmlformats.org/officeDocument/2006/relationships/slideLayout" Target="../slideLayouts/slideLayout13.xml"/><Relationship Id="rId6" Type="http://schemas.openxmlformats.org/officeDocument/2006/relationships/image" Target="../media/image68.emf"/><Relationship Id="rId11" Type="http://schemas.openxmlformats.org/officeDocument/2006/relationships/image" Target="../media/image73.emf"/><Relationship Id="rId5" Type="http://schemas.openxmlformats.org/officeDocument/2006/relationships/image" Target="../media/image67.emf"/><Relationship Id="rId10" Type="http://schemas.openxmlformats.org/officeDocument/2006/relationships/image" Target="../media/image72.emf"/><Relationship Id="rId4" Type="http://schemas.openxmlformats.org/officeDocument/2006/relationships/image" Target="../media/image66.emf"/><Relationship Id="rId9" Type="http://schemas.openxmlformats.org/officeDocument/2006/relationships/image" Target="../media/image71.emf"/></Relationships>
</file>

<file path=ppt/slides/_rels/slide18.x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image" Target="../media/image55.emf"/><Relationship Id="rId18" Type="http://schemas.openxmlformats.org/officeDocument/2006/relationships/image" Target="../media/image70.emf"/><Relationship Id="rId3" Type="http://schemas.openxmlformats.org/officeDocument/2006/relationships/image" Target="../media/image45.png"/><Relationship Id="rId7" Type="http://schemas.openxmlformats.org/officeDocument/2006/relationships/image" Target="../media/image49.emf"/><Relationship Id="rId12" Type="http://schemas.openxmlformats.org/officeDocument/2006/relationships/image" Target="../media/image54.emf"/><Relationship Id="rId17" Type="http://schemas.openxmlformats.org/officeDocument/2006/relationships/image" Target="../media/image69.emf"/><Relationship Id="rId2" Type="http://schemas.openxmlformats.org/officeDocument/2006/relationships/image" Target="../media/image44.png"/><Relationship Id="rId16" Type="http://schemas.openxmlformats.org/officeDocument/2006/relationships/image" Target="../media/image58.emf"/><Relationship Id="rId20" Type="http://schemas.openxmlformats.org/officeDocument/2006/relationships/image" Target="../media/image73.emf"/><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53.emf"/><Relationship Id="rId5" Type="http://schemas.openxmlformats.org/officeDocument/2006/relationships/image" Target="../media/image47.emf"/><Relationship Id="rId15" Type="http://schemas.openxmlformats.org/officeDocument/2006/relationships/image" Target="../media/image57.emf"/><Relationship Id="rId10" Type="http://schemas.openxmlformats.org/officeDocument/2006/relationships/image" Target="../media/image52.emf"/><Relationship Id="rId19" Type="http://schemas.openxmlformats.org/officeDocument/2006/relationships/image" Target="../media/image72.emf"/><Relationship Id="rId4" Type="http://schemas.openxmlformats.org/officeDocument/2006/relationships/image" Target="../media/image46.png"/><Relationship Id="rId9" Type="http://schemas.openxmlformats.org/officeDocument/2006/relationships/image" Target="../media/image51.emf"/><Relationship Id="rId14" Type="http://schemas.openxmlformats.org/officeDocument/2006/relationships/image" Target="../media/image56.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75.emf"/><Relationship Id="rId3" Type="http://schemas.openxmlformats.org/officeDocument/2006/relationships/image" Target="../media/image194.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39.emf"/><Relationship Id="rId2" Type="http://schemas.openxmlformats.org/officeDocument/2006/relationships/image" Target="../media/image193.png"/><Relationship Id="rId16" Type="http://schemas.openxmlformats.org/officeDocument/2006/relationships/image" Target="../media/image38.emf"/><Relationship Id="rId1" Type="http://schemas.openxmlformats.org/officeDocument/2006/relationships/slideLayout" Target="../slideLayouts/slideLayout13.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37.emf"/><Relationship Id="rId10" Type="http://schemas.openxmlformats.org/officeDocument/2006/relationships/image" Target="../media/image201.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36.emf"/></Relationships>
</file>

<file path=ppt/slides/_rels/slide2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13.xml"/><Relationship Id="rId5" Type="http://schemas.openxmlformats.org/officeDocument/2006/relationships/image" Target="../media/image36.emf"/><Relationship Id="rId4" Type="http://schemas.openxmlformats.org/officeDocument/2006/relationships/image" Target="../media/image78.emf"/></Relationships>
</file>

<file path=ppt/slides/_rels/slide22.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9.emf"/><Relationship Id="rId5" Type="http://schemas.openxmlformats.org/officeDocument/2006/relationships/image" Target="../media/image37.emf"/><Relationship Id="rId4" Type="http://schemas.openxmlformats.org/officeDocument/2006/relationships/image" Target="../media/image80.emf"/></Relationships>
</file>

<file path=ppt/slides/_rels/slide23.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3.xml"/><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s>
</file>

<file path=ppt/slides/_rels/slide26.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1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93.em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94.png"/><Relationship Id="rId4"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2.xml"/><Relationship Id="rId5" Type="http://schemas.openxmlformats.org/officeDocument/2006/relationships/image" Target="../media/image100.png"/><Relationship Id="rId4" Type="http://schemas.openxmlformats.org/officeDocument/2006/relationships/image" Target="../media/image9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3.emf"/><Relationship Id="rId7" Type="http://schemas.openxmlformats.org/officeDocument/2006/relationships/image" Target="../media/image107.emf"/><Relationship Id="rId2" Type="http://schemas.openxmlformats.org/officeDocument/2006/relationships/image" Target="../media/image102.emf"/><Relationship Id="rId1" Type="http://schemas.openxmlformats.org/officeDocument/2006/relationships/slideLayout" Target="../slideLayouts/slideLayout2.xml"/><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ov"/><Relationship Id="rId1" Type="http://schemas.microsoft.com/office/2007/relationships/media" Target="../media/media2.mov"/><Relationship Id="rId4" Type="http://schemas.openxmlformats.org/officeDocument/2006/relationships/image" Target="../media/image109.png"/></Relationships>
</file>

<file path=ppt/slides/_rels/slide4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hyperlink" Target="http://www.digital-brain.or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4.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15.tif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5.tif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hyperlink" Target="https://www.youtube.com/playlist?list=PLYXOv-91x4vZwUeNbinSkpr05Knc0ggRX" TargetMode="External"/><Relationship Id="rId3" Type="http://schemas.openxmlformats.org/officeDocument/2006/relationships/hyperlink" Target="https://gitlab.com/icm-institute/aramislab/leaspy/" TargetMode="External"/><Relationship Id="rId7" Type="http://schemas.openxmlformats.org/officeDocument/2006/relationships/hyperlink" Target="https://www.youtube.com/watch?v=8TvnMPfXuJ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youtube.com/watch?v=ixeRX8HpaU4" TargetMode="External"/><Relationship Id="rId5" Type="http://schemas.openxmlformats.org/officeDocument/2006/relationships/hyperlink" Target="http://www.digital-brain.org/" TargetMode="External"/><Relationship Id="rId4" Type="http://schemas.openxmlformats.org/officeDocument/2006/relationships/hyperlink" Target="https://gitlab.com/icm-institute/aramislab/disease-course-mapping-challenges"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colab.research.google.com/drive/1uZDC4LYE8tmBG83UGcZZPfWr-UUBRxgH?usp=sharing#scrollTo=U_vNmA7gBFd4" TargetMode="Externa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1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colab.research.google.com/drive/1dCMa9In1ef9_Y3HKt8SeSzKf0-3CcxNt?usp=sharing" TargetMode="Externa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124.jpeg"/><Relationship Id="rId5" Type="http://schemas.openxmlformats.org/officeDocument/2006/relationships/image" Target="../media/image123.png"/><Relationship Id="rId4" Type="http://schemas.openxmlformats.org/officeDocument/2006/relationships/image" Target="../media/image122.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0.xml"/><Relationship Id="rId5" Type="http://schemas.openxmlformats.org/officeDocument/2006/relationships/image" Target="../media/image128.png"/><Relationship Id="rId4" Type="http://schemas.openxmlformats.org/officeDocument/2006/relationships/image" Target="../media/image12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colab.research.google.com/drive/1UmzmerIjMCn2yfJZ-5tE8__QEYKIeeeq?usp=sharing" TargetMode="External"/><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image" Target="../media/image129.jpeg"/><Relationship Id="rId1" Type="http://schemas.openxmlformats.org/officeDocument/2006/relationships/slideLayout" Target="../slideLayouts/slideLayout22.xml"/><Relationship Id="rId5" Type="http://schemas.openxmlformats.org/officeDocument/2006/relationships/image" Target="../media/image132.png"/><Relationship Id="rId4" Type="http://schemas.openxmlformats.org/officeDocument/2006/relationships/image" Target="../media/image13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8.png"/><Relationship Id="rId2" Type="http://schemas.openxmlformats.org/officeDocument/2006/relationships/image" Target="../media/image135.jpeg"/><Relationship Id="rId1" Type="http://schemas.openxmlformats.org/officeDocument/2006/relationships/slideLayout" Target="../slideLayouts/slideLayout24.xml"/><Relationship Id="rId6" Type="http://schemas.microsoft.com/office/2007/relationships/hdphoto" Target="../media/hdphoto2.wdp"/><Relationship Id="rId5" Type="http://schemas.openxmlformats.org/officeDocument/2006/relationships/image" Target="../media/image137.png"/><Relationship Id="rId4" Type="http://schemas.microsoft.com/office/2007/relationships/hdphoto" Target="../media/hdphoto1.wdp"/></Relationships>
</file>

<file path=ppt/slides/_rels/slide79.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hyperlink" Target="https://gitlab.com/icm-institute/aramislab/leaspy" TargetMode="External"/><Relationship Id="rId7" Type="http://schemas.openxmlformats.org/officeDocument/2006/relationships/image" Target="../media/image141.png"/><Relationship Id="rId2" Type="http://schemas.openxmlformats.org/officeDocument/2006/relationships/hyperlink" Target="https://docs.google.com/forms/d/e/1FAIpQLSfLF8v0q_tRxNcFfBylS_x-1PM1FoQM21OLwg4ILgGc8jLkUQ/viewform?usp=sf_link" TargetMode="External"/><Relationship Id="rId1" Type="http://schemas.openxmlformats.org/officeDocument/2006/relationships/slideLayout" Target="../slideLayouts/slideLayout25.xml"/><Relationship Id="rId6" Type="http://schemas.openxmlformats.org/officeDocument/2006/relationships/image" Target="../media/image140.emf"/><Relationship Id="rId5" Type="http://schemas.openxmlformats.org/officeDocument/2006/relationships/hyperlink" Target="http://www.aramislab.fr/" TargetMode="External"/><Relationship Id="rId4"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931" y="77931"/>
            <a:ext cx="8988137" cy="4987637"/>
          </a:xfrm>
          <a:prstGeom prst="rect">
            <a:avLst/>
          </a:prstGeom>
          <a:solidFill>
            <a:srgbClr val="1C1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dirty="0">
              <a:solidFill>
                <a:srgbClr val="281E78"/>
              </a:solidFill>
            </a:endParaRPr>
          </a:p>
        </p:txBody>
      </p:sp>
      <p:sp>
        <p:nvSpPr>
          <p:cNvPr id="12" name="ZoneTexte 11"/>
          <p:cNvSpPr txBox="1"/>
          <p:nvPr/>
        </p:nvSpPr>
        <p:spPr>
          <a:xfrm>
            <a:off x="1659467" y="1690155"/>
            <a:ext cx="6611697" cy="614784"/>
          </a:xfrm>
          <a:prstGeom prst="rect">
            <a:avLst/>
          </a:prstGeom>
          <a:noFill/>
        </p:spPr>
        <p:txBody>
          <a:bodyPr wrap="square" rtlCol="0">
            <a:spAutoFit/>
          </a:bodyPr>
          <a:lstStyle/>
          <a:p>
            <a:pPr algn="r">
              <a:lnSpc>
                <a:spcPct val="70000"/>
              </a:lnSpc>
            </a:pPr>
            <a:r>
              <a:rPr lang="fr-FR" sz="2400" b="1" dirty="0" err="1">
                <a:solidFill>
                  <a:schemeClr val="bg1"/>
                </a:solidFill>
                <a:latin typeface="Arial"/>
                <a:cs typeface="Arial"/>
              </a:rPr>
              <a:t>Modelling</a:t>
            </a:r>
            <a:r>
              <a:rPr lang="fr-FR" sz="2400" b="1" dirty="0">
                <a:solidFill>
                  <a:schemeClr val="bg1"/>
                </a:solidFill>
                <a:latin typeface="Arial"/>
                <a:cs typeface="Arial"/>
              </a:rPr>
              <a:t> and </a:t>
            </a:r>
            <a:r>
              <a:rPr lang="fr-FR" sz="2400" b="1" dirty="0" err="1">
                <a:solidFill>
                  <a:schemeClr val="bg1"/>
                </a:solidFill>
                <a:latin typeface="Arial"/>
                <a:cs typeface="Arial"/>
              </a:rPr>
              <a:t>predicting</a:t>
            </a:r>
            <a:r>
              <a:rPr lang="fr-FR" sz="2400" b="1" dirty="0">
                <a:solidFill>
                  <a:schemeClr val="bg1"/>
                </a:solidFill>
                <a:latin typeface="Arial"/>
                <a:cs typeface="Arial"/>
              </a:rPr>
              <a:t> </a:t>
            </a:r>
            <a:r>
              <a:rPr lang="fr-FR" sz="2400" b="1" dirty="0" err="1">
                <a:solidFill>
                  <a:schemeClr val="bg1"/>
                </a:solidFill>
                <a:latin typeface="Arial"/>
                <a:cs typeface="Arial"/>
              </a:rPr>
              <a:t>disease</a:t>
            </a:r>
            <a:r>
              <a:rPr lang="fr-FR" sz="2400" b="1" dirty="0">
                <a:solidFill>
                  <a:schemeClr val="bg1"/>
                </a:solidFill>
                <a:latin typeface="Arial"/>
                <a:cs typeface="Arial"/>
              </a:rPr>
              <a:t> progression </a:t>
            </a:r>
            <a:r>
              <a:rPr lang="fr-FR" sz="2400" b="1" dirty="0" err="1">
                <a:solidFill>
                  <a:schemeClr val="bg1"/>
                </a:solidFill>
                <a:latin typeface="Arial"/>
                <a:cs typeface="Arial"/>
              </a:rPr>
              <a:t>with</a:t>
            </a:r>
            <a:r>
              <a:rPr lang="fr-FR" sz="2400" b="1" dirty="0">
                <a:solidFill>
                  <a:schemeClr val="bg1"/>
                </a:solidFill>
                <a:latin typeface="Arial"/>
                <a:cs typeface="Arial"/>
              </a:rPr>
              <a:t> longitudinal data</a:t>
            </a:r>
          </a:p>
        </p:txBody>
      </p:sp>
      <p:sp>
        <p:nvSpPr>
          <p:cNvPr id="13" name="ZoneTexte 12"/>
          <p:cNvSpPr txBox="1"/>
          <p:nvPr/>
        </p:nvSpPr>
        <p:spPr>
          <a:xfrm>
            <a:off x="3043075" y="2503399"/>
            <a:ext cx="5228089" cy="1323439"/>
          </a:xfrm>
          <a:prstGeom prst="rect">
            <a:avLst/>
          </a:prstGeom>
          <a:noFill/>
        </p:spPr>
        <p:txBody>
          <a:bodyPr wrap="square" rtlCol="0">
            <a:spAutoFit/>
          </a:bodyPr>
          <a:lstStyle/>
          <a:p>
            <a:pPr algn="r"/>
            <a:r>
              <a:rPr lang="fr-FR" sz="2000" dirty="0">
                <a:solidFill>
                  <a:srgbClr val="D53D22"/>
                </a:solidFill>
                <a:latin typeface="Arial"/>
                <a:cs typeface="Arial"/>
              </a:rPr>
              <a:t>Juliette </a:t>
            </a:r>
            <a:r>
              <a:rPr lang="fr-FR" sz="2000" dirty="0" err="1">
                <a:solidFill>
                  <a:srgbClr val="D53D22"/>
                </a:solidFill>
                <a:latin typeface="Arial"/>
                <a:cs typeface="Arial"/>
              </a:rPr>
              <a:t>Ortholand</a:t>
            </a:r>
            <a:endParaRPr lang="fr-FR" sz="2000" dirty="0">
              <a:solidFill>
                <a:srgbClr val="D53D22"/>
              </a:solidFill>
              <a:latin typeface="Arial"/>
              <a:cs typeface="Arial"/>
            </a:endParaRPr>
          </a:p>
          <a:p>
            <a:pPr algn="r"/>
            <a:r>
              <a:rPr lang="fr-FR" sz="2000" dirty="0">
                <a:solidFill>
                  <a:srgbClr val="D53D22"/>
                </a:solidFill>
                <a:latin typeface="Arial"/>
                <a:cs typeface="Arial"/>
              </a:rPr>
              <a:t>Sofia </a:t>
            </a:r>
            <a:r>
              <a:rPr lang="fr-FR" sz="2000" dirty="0" err="1">
                <a:solidFill>
                  <a:srgbClr val="D53D22"/>
                </a:solidFill>
                <a:latin typeface="Arial"/>
                <a:cs typeface="Arial"/>
              </a:rPr>
              <a:t>Kaisaridi</a:t>
            </a:r>
            <a:endParaRPr lang="fr-FR" sz="2000" dirty="0">
              <a:solidFill>
                <a:srgbClr val="D53D22"/>
              </a:solidFill>
              <a:latin typeface="Arial"/>
              <a:cs typeface="Arial"/>
            </a:endParaRPr>
          </a:p>
          <a:p>
            <a:pPr algn="r"/>
            <a:r>
              <a:rPr lang="fr-FR" sz="2000" dirty="0">
                <a:solidFill>
                  <a:srgbClr val="D53D22"/>
                </a:solidFill>
                <a:latin typeface="Arial"/>
                <a:cs typeface="Arial"/>
              </a:rPr>
              <a:t>Pierre-Emmanuel Poulet</a:t>
            </a:r>
          </a:p>
          <a:p>
            <a:pPr algn="r"/>
            <a:r>
              <a:rPr lang="fr-FR" sz="2000" dirty="0">
                <a:solidFill>
                  <a:srgbClr val="D53D22"/>
                </a:solidFill>
                <a:latin typeface="Arial"/>
                <a:cs typeface="Arial"/>
              </a:rPr>
              <a:t>Stanley </a:t>
            </a:r>
            <a:r>
              <a:rPr lang="fr-FR" sz="2000" dirty="0" err="1">
                <a:solidFill>
                  <a:srgbClr val="D53D22"/>
                </a:solidFill>
                <a:latin typeface="Arial"/>
                <a:cs typeface="Arial"/>
              </a:rPr>
              <a:t>Durrleman</a:t>
            </a:r>
            <a:endParaRPr lang="fr-FR" sz="2000" dirty="0">
              <a:solidFill>
                <a:srgbClr val="D53D22"/>
              </a:solidFill>
              <a:latin typeface="Arial"/>
              <a:cs typeface="Arial"/>
            </a:endParaRPr>
          </a:p>
        </p:txBody>
      </p:sp>
      <p:cxnSp>
        <p:nvCxnSpPr>
          <p:cNvPr id="16" name="Connecteur droit 15"/>
          <p:cNvCxnSpPr>
            <a:cxnSpLocks/>
          </p:cNvCxnSpPr>
          <p:nvPr/>
        </p:nvCxnSpPr>
        <p:spPr>
          <a:xfrm>
            <a:off x="395708" y="1203812"/>
            <a:ext cx="8352585"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a:cxnSpLocks/>
          </p:cNvCxnSpPr>
          <p:nvPr/>
        </p:nvCxnSpPr>
        <p:spPr>
          <a:xfrm>
            <a:off x="395708" y="4288832"/>
            <a:ext cx="8352585"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DDA0810A-8FEA-C348-9A83-3AED95717D40}"/>
              </a:ext>
            </a:extLst>
          </p:cNvPr>
          <p:cNvGrpSpPr/>
          <p:nvPr/>
        </p:nvGrpSpPr>
        <p:grpSpPr>
          <a:xfrm>
            <a:off x="395708" y="4370348"/>
            <a:ext cx="8352585" cy="543987"/>
            <a:chOff x="248260" y="4370348"/>
            <a:chExt cx="8352585" cy="543987"/>
          </a:xfrm>
        </p:grpSpPr>
        <p:grpSp>
          <p:nvGrpSpPr>
            <p:cNvPr id="37" name="Grouper 36"/>
            <p:cNvGrpSpPr/>
            <p:nvPr/>
          </p:nvGrpSpPr>
          <p:grpSpPr>
            <a:xfrm>
              <a:off x="248260" y="4380015"/>
              <a:ext cx="5067411" cy="447674"/>
              <a:chOff x="3390540" y="6041447"/>
              <a:chExt cx="5388685" cy="420383"/>
            </a:xfrm>
          </p:grpSpPr>
          <p:pic>
            <p:nvPicPr>
              <p:cNvPr id="38" name="Image 37" descr="APHP_logo.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90540" y="6079776"/>
                <a:ext cx="1672032" cy="336176"/>
              </a:xfrm>
              <a:prstGeom prst="rect">
                <a:avLst/>
              </a:prstGeom>
            </p:spPr>
          </p:pic>
          <p:pic>
            <p:nvPicPr>
              <p:cNvPr id="39" name="Image 3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60943" y="6045571"/>
                <a:ext cx="440806" cy="412134"/>
              </a:xfrm>
              <a:prstGeom prst="rect">
                <a:avLst/>
              </a:prstGeom>
            </p:spPr>
          </p:pic>
          <p:pic>
            <p:nvPicPr>
              <p:cNvPr id="40" name="Image 39" descr="INSERM_logo blanc.png"/>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088808" y="6041447"/>
                <a:ext cx="1330303" cy="420383"/>
              </a:xfrm>
              <a:prstGeom prst="rect">
                <a:avLst/>
              </a:prstGeom>
            </p:spPr>
          </p:pic>
          <p:pic>
            <p:nvPicPr>
              <p:cNvPr id="41" name="Image 40" descr="Sorbonne_logo blanc.psd"/>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802895" y="6054866"/>
                <a:ext cx="976330" cy="393545"/>
              </a:xfrm>
              <a:prstGeom prst="rect">
                <a:avLst/>
              </a:prstGeom>
            </p:spPr>
          </p:pic>
          <p:cxnSp>
            <p:nvCxnSpPr>
              <p:cNvPr id="42" name="Connecteur droit 41"/>
              <p:cNvCxnSpPr/>
              <p:nvPr/>
            </p:nvCxnSpPr>
            <p:spPr>
              <a:xfrm flipV="1">
                <a:off x="5998717" y="6054866"/>
                <a:ext cx="0" cy="406964"/>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flipV="1">
                <a:off x="7593096" y="6054866"/>
                <a:ext cx="0" cy="406964"/>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flipV="1">
                <a:off x="5186957" y="6054866"/>
                <a:ext cx="0" cy="406964"/>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grpSp>
        <p:pic>
          <p:nvPicPr>
            <p:cNvPr id="2" name="Image 1"/>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934641" y="4380015"/>
              <a:ext cx="1666204" cy="508221"/>
            </a:xfrm>
            <a:prstGeom prst="rect">
              <a:avLst/>
            </a:prstGeom>
          </p:spPr>
        </p:pic>
        <p:pic>
          <p:nvPicPr>
            <p:cNvPr id="6" name="Picture 5" descr="A picture containing clock, meter&#10;&#10;Description automatically generated">
              <a:extLst>
                <a:ext uri="{FF2B5EF4-FFF2-40B4-BE49-F238E27FC236}">
                  <a16:creationId xmlns:a16="http://schemas.microsoft.com/office/drawing/2014/main" id="{1DD3F733-1BC7-2E4C-92B2-BFC21FCE47D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510858" y="4370348"/>
              <a:ext cx="1284735" cy="543987"/>
            </a:xfrm>
            <a:prstGeom prst="rect">
              <a:avLst/>
            </a:prstGeom>
          </p:spPr>
        </p:pic>
        <p:cxnSp>
          <p:nvCxnSpPr>
            <p:cNvPr id="20" name="Connecteur droit 42">
              <a:extLst>
                <a:ext uri="{FF2B5EF4-FFF2-40B4-BE49-F238E27FC236}">
                  <a16:creationId xmlns:a16="http://schemas.microsoft.com/office/drawing/2014/main" id="{CE088388-A506-C343-9A97-3376626DA156}"/>
                </a:ext>
              </a:extLst>
            </p:cNvPr>
            <p:cNvCxnSpPr>
              <a:cxnSpLocks/>
            </p:cNvCxnSpPr>
            <p:nvPr/>
          </p:nvCxnSpPr>
          <p:spPr>
            <a:xfrm flipV="1">
              <a:off x="5404930" y="4399560"/>
              <a:ext cx="18259" cy="413839"/>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42">
              <a:extLst>
                <a:ext uri="{FF2B5EF4-FFF2-40B4-BE49-F238E27FC236}">
                  <a16:creationId xmlns:a16="http://schemas.microsoft.com/office/drawing/2014/main" id="{69ED9955-B635-ED44-A35A-4C32B93B7E24}"/>
                </a:ext>
              </a:extLst>
            </p:cNvPr>
            <p:cNvCxnSpPr>
              <a:cxnSpLocks/>
            </p:cNvCxnSpPr>
            <p:nvPr/>
          </p:nvCxnSpPr>
          <p:spPr>
            <a:xfrm flipV="1">
              <a:off x="6826898" y="4388648"/>
              <a:ext cx="18259" cy="413839"/>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32" name="ZoneTexte 11">
            <a:extLst>
              <a:ext uri="{FF2B5EF4-FFF2-40B4-BE49-F238E27FC236}">
                <a16:creationId xmlns:a16="http://schemas.microsoft.com/office/drawing/2014/main" id="{29E36F62-4F02-F64E-A5D4-ECD41E36917F}"/>
              </a:ext>
            </a:extLst>
          </p:cNvPr>
          <p:cNvSpPr txBox="1"/>
          <p:nvPr/>
        </p:nvSpPr>
        <p:spPr>
          <a:xfrm>
            <a:off x="2505563" y="280482"/>
            <a:ext cx="6303111" cy="369332"/>
          </a:xfrm>
          <a:prstGeom prst="rect">
            <a:avLst/>
          </a:prstGeom>
          <a:noFill/>
        </p:spPr>
        <p:txBody>
          <a:bodyPr wrap="square" rtlCol="0">
            <a:spAutoFit/>
          </a:bodyPr>
          <a:lstStyle/>
          <a:p>
            <a:pPr algn="r"/>
            <a:r>
              <a:rPr lang="fr-FR" dirty="0">
                <a:solidFill>
                  <a:schemeClr val="bg1"/>
                </a:solidFill>
                <a:latin typeface="Arial"/>
                <a:cs typeface="Arial"/>
              </a:rPr>
              <a:t>AI 4 </a:t>
            </a:r>
            <a:r>
              <a:rPr lang="fr-FR" dirty="0" err="1">
                <a:solidFill>
                  <a:schemeClr val="bg1"/>
                </a:solidFill>
                <a:latin typeface="Arial"/>
                <a:cs typeface="Arial"/>
              </a:rPr>
              <a:t>Health</a:t>
            </a:r>
            <a:r>
              <a:rPr lang="fr-FR" dirty="0">
                <a:solidFill>
                  <a:schemeClr val="bg1"/>
                </a:solidFill>
                <a:latin typeface="Arial"/>
                <a:cs typeface="Arial"/>
              </a:rPr>
              <a:t> Winter </a:t>
            </a:r>
            <a:r>
              <a:rPr lang="fr-FR" dirty="0" err="1">
                <a:solidFill>
                  <a:schemeClr val="bg1"/>
                </a:solidFill>
                <a:latin typeface="Arial"/>
                <a:cs typeface="Arial"/>
              </a:rPr>
              <a:t>School</a:t>
            </a:r>
            <a:endParaRPr lang="fr-FR" dirty="0">
              <a:solidFill>
                <a:schemeClr val="bg1"/>
              </a:solidFill>
              <a:latin typeface="Arial"/>
              <a:cs typeface="Arial"/>
            </a:endParaRPr>
          </a:p>
        </p:txBody>
      </p:sp>
      <p:sp>
        <p:nvSpPr>
          <p:cNvPr id="3" name="Espace réservé du numéro de diapositive 2">
            <a:extLst>
              <a:ext uri="{FF2B5EF4-FFF2-40B4-BE49-F238E27FC236}">
                <a16:creationId xmlns:a16="http://schemas.microsoft.com/office/drawing/2014/main" id="{D80EE39C-8589-3E35-6C6E-4C5E899401DB}"/>
              </a:ext>
            </a:extLst>
          </p:cNvPr>
          <p:cNvSpPr>
            <a:spLocks noGrp="1"/>
          </p:cNvSpPr>
          <p:nvPr>
            <p:ph type="sldNum" sz="quarter" idx="12"/>
          </p:nvPr>
        </p:nvSpPr>
        <p:spPr/>
        <p:txBody>
          <a:bodyPr/>
          <a:lstStyle/>
          <a:p>
            <a:fld id="{B6E69D5D-3C54-E347-B3D4-70BDFA7C6521}" type="slidenum">
              <a:rPr lang="fr-FR" smtClean="0"/>
              <a:t>1</a:t>
            </a:fld>
            <a:endParaRPr lang="fr-FR"/>
          </a:p>
        </p:txBody>
      </p:sp>
    </p:spTree>
    <p:extLst>
      <p:ext uri="{BB962C8B-B14F-4D97-AF65-F5344CB8AC3E}">
        <p14:creationId xmlns:p14="http://schemas.microsoft.com/office/powerpoint/2010/main" val="861871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3">
            <a:extLst>
              <a:ext uri="{FF2B5EF4-FFF2-40B4-BE49-F238E27FC236}">
                <a16:creationId xmlns:a16="http://schemas.microsoft.com/office/drawing/2014/main" id="{D0829B42-F1EF-2846-A554-524976144BB0}"/>
              </a:ext>
            </a:extLst>
          </p:cNvPr>
          <p:cNvSpPr txBox="1">
            <a:spLocks/>
          </p:cNvSpPr>
          <p:nvPr/>
        </p:nvSpPr>
        <p:spPr>
          <a:xfrm>
            <a:off x="1291761" y="2831630"/>
            <a:ext cx="6798013" cy="724841"/>
          </a:xfrm>
          <a:prstGeom prst="rect">
            <a:avLst/>
          </a:prstGeom>
        </p:spPr>
        <p:txBody>
          <a:bodyPr/>
          <a:lstStyle>
            <a:lvl1pPr marL="257162" indent="-257162" algn="l" defTabSz="342884" rtl="0" eaLnBrk="1" latinLnBrk="0" hangingPunct="1">
              <a:spcBef>
                <a:spcPct val="20000"/>
              </a:spcBef>
              <a:buFont typeface="Arial"/>
              <a:buChar char="•"/>
              <a:defRPr sz="2400" kern="1200">
                <a:solidFill>
                  <a:schemeClr val="tx1"/>
                </a:solidFill>
                <a:latin typeface="+mn-lt"/>
                <a:ea typeface="+mn-ea"/>
                <a:cs typeface="+mn-cs"/>
              </a:defRPr>
            </a:lvl1pPr>
            <a:lvl2pPr marL="557185" indent="-214303" algn="l" defTabSz="342884" rtl="0" eaLnBrk="1" latinLnBrk="0" hangingPunct="1">
              <a:spcBef>
                <a:spcPct val="20000"/>
              </a:spcBef>
              <a:buFont typeface="Arial"/>
              <a:buChar char="–"/>
              <a:defRPr sz="2100" kern="1200">
                <a:solidFill>
                  <a:schemeClr val="tx1"/>
                </a:solidFill>
                <a:latin typeface="+mn-lt"/>
                <a:ea typeface="+mn-ea"/>
                <a:cs typeface="+mn-cs"/>
              </a:defRPr>
            </a:lvl2pPr>
            <a:lvl3pPr marL="857207" indent="-171442" algn="l" defTabSz="342884" rtl="0" eaLnBrk="1" latinLnBrk="0" hangingPunct="1">
              <a:spcBef>
                <a:spcPct val="20000"/>
              </a:spcBef>
              <a:buFont typeface="Arial"/>
              <a:buChar char="•"/>
              <a:defRPr sz="1800" kern="1200">
                <a:solidFill>
                  <a:schemeClr val="tx1"/>
                </a:solidFill>
                <a:latin typeface="+mn-lt"/>
                <a:ea typeface="+mn-ea"/>
                <a:cs typeface="+mn-cs"/>
              </a:defRPr>
            </a:lvl3pPr>
            <a:lvl4pPr marL="1200090" indent="-171442" algn="l" defTabSz="342884" rtl="0" eaLnBrk="1" latinLnBrk="0" hangingPunct="1">
              <a:spcBef>
                <a:spcPct val="20000"/>
              </a:spcBef>
              <a:buFont typeface="Arial"/>
              <a:buChar char="–"/>
              <a:defRPr sz="1500" kern="1200">
                <a:solidFill>
                  <a:schemeClr val="tx1"/>
                </a:solidFill>
                <a:latin typeface="+mn-lt"/>
                <a:ea typeface="+mn-ea"/>
                <a:cs typeface="+mn-cs"/>
              </a:defRPr>
            </a:lvl4pPr>
            <a:lvl5pPr marL="1542974" indent="-171442" algn="l" defTabSz="342884" rtl="0" eaLnBrk="1" latinLnBrk="0" hangingPunct="1">
              <a:spcBef>
                <a:spcPct val="20000"/>
              </a:spcBef>
              <a:buFont typeface="Arial"/>
              <a:buChar char="»"/>
              <a:defRPr sz="1500" kern="1200">
                <a:solidFill>
                  <a:schemeClr val="tx1"/>
                </a:solidFill>
                <a:latin typeface="+mn-lt"/>
                <a:ea typeface="+mn-ea"/>
                <a:cs typeface="+mn-cs"/>
              </a:defRPr>
            </a:lvl5pPr>
            <a:lvl6pPr marL="1885856" indent="-171442" algn="l" defTabSz="342884" rtl="0" eaLnBrk="1" latinLnBrk="0" hangingPunct="1">
              <a:spcBef>
                <a:spcPct val="20000"/>
              </a:spcBef>
              <a:buFont typeface="Arial"/>
              <a:buChar char="•"/>
              <a:defRPr sz="1500" kern="1200">
                <a:solidFill>
                  <a:schemeClr val="tx1"/>
                </a:solidFill>
                <a:latin typeface="+mn-lt"/>
                <a:ea typeface="+mn-ea"/>
                <a:cs typeface="+mn-cs"/>
              </a:defRPr>
            </a:lvl6pPr>
            <a:lvl7pPr marL="2228739" indent="-171442" algn="l" defTabSz="342884" rtl="0" eaLnBrk="1" latinLnBrk="0" hangingPunct="1">
              <a:spcBef>
                <a:spcPct val="20000"/>
              </a:spcBef>
              <a:buFont typeface="Arial"/>
              <a:buChar char="•"/>
              <a:defRPr sz="1500" kern="1200">
                <a:solidFill>
                  <a:schemeClr val="tx1"/>
                </a:solidFill>
                <a:latin typeface="+mn-lt"/>
                <a:ea typeface="+mn-ea"/>
                <a:cs typeface="+mn-cs"/>
              </a:defRPr>
            </a:lvl7pPr>
            <a:lvl8pPr marL="2571622" indent="-171442" algn="l" defTabSz="342884" rtl="0" eaLnBrk="1" latinLnBrk="0" hangingPunct="1">
              <a:spcBef>
                <a:spcPct val="20000"/>
              </a:spcBef>
              <a:buFont typeface="Arial"/>
              <a:buChar char="•"/>
              <a:defRPr sz="1500" kern="1200">
                <a:solidFill>
                  <a:schemeClr val="tx1"/>
                </a:solidFill>
                <a:latin typeface="+mn-lt"/>
                <a:ea typeface="+mn-ea"/>
                <a:cs typeface="+mn-cs"/>
              </a:defRPr>
            </a:lvl8pPr>
            <a:lvl9pPr marL="2914505" indent="-171442" algn="l" defTabSz="342884"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defTabSz="685800">
              <a:spcBef>
                <a:spcPts val="0"/>
              </a:spcBef>
              <a:buNone/>
              <a:defRPr/>
            </a:pPr>
            <a:r>
              <a:rPr lang="fr-FR" altLang="x-none" b="1" dirty="0" err="1">
                <a:solidFill>
                  <a:srgbClr val="7030A0"/>
                </a:solidFill>
                <a:ea typeface="ＭＳ Ｐゴシック" charset="-128"/>
              </a:rPr>
              <a:t>Build</a:t>
            </a:r>
            <a:r>
              <a:rPr lang="fr-FR" altLang="x-none" b="1" dirty="0">
                <a:solidFill>
                  <a:srgbClr val="7030A0"/>
                </a:solidFill>
                <a:ea typeface="ＭＳ Ｐゴシック" charset="-128"/>
              </a:rPr>
              <a:t> </a:t>
            </a:r>
            <a:r>
              <a:rPr lang="fr-FR" altLang="x-none" b="1" dirty="0" err="1">
                <a:solidFill>
                  <a:srgbClr val="7030A0"/>
                </a:solidFill>
                <a:ea typeface="ＭＳ Ｐゴシック" charset="-128"/>
              </a:rPr>
              <a:t>computational</a:t>
            </a:r>
            <a:r>
              <a:rPr lang="fr-FR" altLang="x-none" b="1" dirty="0">
                <a:solidFill>
                  <a:srgbClr val="7030A0"/>
                </a:solidFill>
                <a:ea typeface="ＭＳ Ｐゴシック" charset="-128"/>
              </a:rPr>
              <a:t> model of </a:t>
            </a:r>
            <a:r>
              <a:rPr lang="fr-FR" altLang="x-none" b="1" dirty="0" err="1">
                <a:solidFill>
                  <a:srgbClr val="7030A0"/>
                </a:solidFill>
                <a:ea typeface="ＭＳ Ｐゴシック" charset="-128"/>
              </a:rPr>
              <a:t>disease</a:t>
            </a:r>
            <a:r>
              <a:rPr lang="fr-FR" altLang="x-none" b="1" dirty="0">
                <a:solidFill>
                  <a:srgbClr val="7030A0"/>
                </a:solidFill>
                <a:ea typeface="ＭＳ Ｐゴシック" charset="-128"/>
              </a:rPr>
              <a:t> progression</a:t>
            </a:r>
          </a:p>
          <a:p>
            <a:pPr marL="0" indent="0" algn="ctr" defTabSz="685800">
              <a:spcBef>
                <a:spcPts val="0"/>
              </a:spcBef>
              <a:buNone/>
              <a:defRPr/>
            </a:pPr>
            <a:r>
              <a:rPr lang="fr-FR" altLang="x-none" dirty="0" err="1">
                <a:ea typeface="ＭＳ Ｐゴシック" charset="-128"/>
              </a:rPr>
              <a:t>from</a:t>
            </a:r>
            <a:r>
              <a:rPr lang="fr-FR" altLang="x-none" dirty="0">
                <a:ea typeface="ＭＳ Ｐゴシック" charset="-128"/>
              </a:rPr>
              <a:t> </a:t>
            </a:r>
            <a:r>
              <a:rPr lang="fr-FR" altLang="x-none" dirty="0" err="1">
                <a:ea typeface="ＭＳ Ｐゴシック" charset="-128"/>
              </a:rPr>
              <a:t>clinical</a:t>
            </a:r>
            <a:r>
              <a:rPr lang="fr-FR" altLang="x-none" dirty="0">
                <a:ea typeface="ＭＳ Ｐゴシック" charset="-128"/>
              </a:rPr>
              <a:t> and </a:t>
            </a:r>
            <a:r>
              <a:rPr lang="fr-FR" altLang="x-none" dirty="0" err="1">
                <a:ea typeface="ＭＳ Ｐゴシック" charset="-128"/>
              </a:rPr>
              <a:t>imaging</a:t>
            </a:r>
            <a:r>
              <a:rPr lang="fr-FR" altLang="x-none" dirty="0">
                <a:ea typeface="ＭＳ Ｐゴシック" charset="-128"/>
              </a:rPr>
              <a:t> data</a:t>
            </a:r>
          </a:p>
        </p:txBody>
      </p:sp>
      <p:grpSp>
        <p:nvGrpSpPr>
          <p:cNvPr id="11" name="Grouper 4">
            <a:extLst>
              <a:ext uri="{FF2B5EF4-FFF2-40B4-BE49-F238E27FC236}">
                <a16:creationId xmlns:a16="http://schemas.microsoft.com/office/drawing/2014/main" id="{1DE79AA5-C718-1142-947E-5AEC3CC3B461}"/>
              </a:ext>
            </a:extLst>
          </p:cNvPr>
          <p:cNvGrpSpPr>
            <a:grpSpLocks/>
          </p:cNvGrpSpPr>
          <p:nvPr/>
        </p:nvGrpSpPr>
        <p:grpSpPr bwMode="auto">
          <a:xfrm>
            <a:off x="945356" y="670646"/>
            <a:ext cx="7253288" cy="2188602"/>
            <a:chOff x="323850" y="476672"/>
            <a:chExt cx="8143875" cy="2584228"/>
          </a:xfrm>
        </p:grpSpPr>
        <p:grpSp>
          <p:nvGrpSpPr>
            <p:cNvPr id="12" name="Grouper 34">
              <a:extLst>
                <a:ext uri="{FF2B5EF4-FFF2-40B4-BE49-F238E27FC236}">
                  <a16:creationId xmlns:a16="http://schemas.microsoft.com/office/drawing/2014/main" id="{BD5240A7-B9EA-5B4D-A545-8A68FE24A03B}"/>
                </a:ext>
              </a:extLst>
            </p:cNvPr>
            <p:cNvGrpSpPr>
              <a:grpSpLocks/>
            </p:cNvGrpSpPr>
            <p:nvPr/>
          </p:nvGrpSpPr>
          <p:grpSpPr bwMode="auto">
            <a:xfrm>
              <a:off x="323850" y="980729"/>
              <a:ext cx="6382162" cy="446415"/>
              <a:chOff x="179512" y="375280"/>
              <a:chExt cx="6383160" cy="447102"/>
            </a:xfrm>
          </p:grpSpPr>
          <p:sp>
            <p:nvSpPr>
              <p:cNvPr id="33" name="ZoneTexte 15">
                <a:extLst>
                  <a:ext uri="{FF2B5EF4-FFF2-40B4-BE49-F238E27FC236}">
                    <a16:creationId xmlns:a16="http://schemas.microsoft.com/office/drawing/2014/main" id="{6FA51D13-2CA1-424E-8299-AF004D6B6C3D}"/>
                  </a:ext>
                </a:extLst>
              </p:cNvPr>
              <p:cNvSpPr txBox="1">
                <a:spLocks noChangeArrowheads="1"/>
              </p:cNvSpPr>
              <p:nvPr/>
            </p:nvSpPr>
            <p:spPr bwMode="auto">
              <a:xfrm>
                <a:off x="5615785" y="522105"/>
                <a:ext cx="946887" cy="3002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050" dirty="0"/>
                  <a:t>~65 </a:t>
                </a:r>
                <a:r>
                  <a:rPr lang="fr-FR" altLang="x-none" sz="1050" dirty="0" err="1"/>
                  <a:t>years</a:t>
                </a:r>
                <a:endParaRPr lang="fr-FR" altLang="x-none" sz="1050" dirty="0"/>
              </a:p>
            </p:txBody>
          </p:sp>
          <p:cxnSp>
            <p:nvCxnSpPr>
              <p:cNvPr id="34" name="Connecteur droit avec flèche 16">
                <a:extLst>
                  <a:ext uri="{FF2B5EF4-FFF2-40B4-BE49-F238E27FC236}">
                    <a16:creationId xmlns:a16="http://schemas.microsoft.com/office/drawing/2014/main" id="{6075E15F-BCE0-9A42-8B42-0F382CDBDA57}"/>
                  </a:ext>
                </a:extLst>
              </p:cNvPr>
              <p:cNvCxnSpPr>
                <a:cxnSpLocks noChangeShapeType="1"/>
              </p:cNvCxnSpPr>
              <p:nvPr/>
            </p:nvCxnSpPr>
            <p:spPr bwMode="auto">
              <a:xfrm flipH="1">
                <a:off x="3213700" y="663408"/>
                <a:ext cx="2510230" cy="31799"/>
              </a:xfrm>
              <a:prstGeom prst="straightConnector1">
                <a:avLst/>
              </a:prstGeom>
              <a:noFill/>
              <a:ln w="25400">
                <a:solidFill>
                  <a:schemeClr val="accent1"/>
                </a:solidFill>
                <a:round/>
                <a:headEnd type="arrow" w="med" len="med"/>
                <a:tailEnd type="arrow" w="med" len="med"/>
              </a:ln>
              <a:effectLst>
                <a:outerShdw blurRad="40000" dist="20000" dir="5400000" rotWithShape="0">
                  <a:srgbClr val="000000">
                    <a:alpha val="37999"/>
                  </a:srgbClr>
                </a:outerShdw>
              </a:effectLst>
              <a:extLst>
                <a:ext uri="{909E8E84-426E-40dd-AFC4-6F175D3DCCD1}">
                  <a14:hiddenFill xmlns="" xmlns:a14="http://schemas.microsoft.com/office/drawing/2010/main">
                    <a:noFill/>
                  </a14:hiddenFill>
                </a:ext>
              </a:extLst>
            </p:spPr>
          </p:cxnSp>
          <p:grpSp>
            <p:nvGrpSpPr>
              <p:cNvPr id="35" name="Grouper 17">
                <a:extLst>
                  <a:ext uri="{FF2B5EF4-FFF2-40B4-BE49-F238E27FC236}">
                    <a16:creationId xmlns:a16="http://schemas.microsoft.com/office/drawing/2014/main" id="{4FC30857-8602-CF4F-93AE-30D193248B43}"/>
                  </a:ext>
                </a:extLst>
              </p:cNvPr>
              <p:cNvGrpSpPr>
                <a:grpSpLocks/>
              </p:cNvGrpSpPr>
              <p:nvPr/>
            </p:nvGrpSpPr>
            <p:grpSpPr bwMode="auto">
              <a:xfrm>
                <a:off x="179512" y="690297"/>
                <a:ext cx="3022971" cy="10411"/>
                <a:chOff x="582401" y="2076918"/>
                <a:chExt cx="3022971" cy="10411"/>
              </a:xfrm>
            </p:grpSpPr>
            <p:cxnSp>
              <p:nvCxnSpPr>
                <p:cNvPr id="38" name="Connecteur droit avec flèche 18">
                  <a:extLst>
                    <a:ext uri="{FF2B5EF4-FFF2-40B4-BE49-F238E27FC236}">
                      <a16:creationId xmlns:a16="http://schemas.microsoft.com/office/drawing/2014/main" id="{B84763F7-26AA-D344-8F0C-BAEB128D2E5C}"/>
                    </a:ext>
                  </a:extLst>
                </p:cNvPr>
                <p:cNvCxnSpPr>
                  <a:cxnSpLocks noChangeShapeType="1"/>
                </p:cNvCxnSpPr>
                <p:nvPr/>
              </p:nvCxnSpPr>
              <p:spPr bwMode="auto">
                <a:xfrm>
                  <a:off x="1166692" y="2081829"/>
                  <a:ext cx="2438782" cy="4769"/>
                </a:xfrm>
                <a:prstGeom prst="straightConnector1">
                  <a:avLst/>
                </a:prstGeom>
                <a:noFill/>
                <a:ln w="25400">
                  <a:solidFill>
                    <a:schemeClr val="accent1"/>
                  </a:solidFill>
                  <a:round/>
                  <a:headEnd/>
                  <a:tailEnd type="arrow" w="med" len="med"/>
                </a:ln>
                <a:effectLst>
                  <a:outerShdw blurRad="40000" dist="20000" dir="5400000" rotWithShape="0">
                    <a:srgbClr val="000000">
                      <a:alpha val="37999"/>
                    </a:srgbClr>
                  </a:outerShdw>
                </a:effectLst>
                <a:extLst>
                  <a:ext uri="{909E8E84-426E-40dd-AFC4-6F175D3DCCD1}">
                    <a14:hiddenFill xmlns="" xmlns:a14="http://schemas.microsoft.com/office/drawing/2010/main">
                      <a:noFill/>
                    </a14:hiddenFill>
                  </a:ext>
                </a:extLst>
              </p:spPr>
            </p:cxnSp>
            <p:cxnSp>
              <p:nvCxnSpPr>
                <p:cNvPr id="39" name="Connecteur droit 19">
                  <a:extLst>
                    <a:ext uri="{FF2B5EF4-FFF2-40B4-BE49-F238E27FC236}">
                      <a16:creationId xmlns:a16="http://schemas.microsoft.com/office/drawing/2014/main" id="{02292ABF-F6E1-2B49-AE06-3DA16A51E6BB}"/>
                    </a:ext>
                  </a:extLst>
                </p:cNvPr>
                <p:cNvCxnSpPr>
                  <a:cxnSpLocks noChangeShapeType="1"/>
                </p:cNvCxnSpPr>
                <p:nvPr/>
              </p:nvCxnSpPr>
              <p:spPr bwMode="auto">
                <a:xfrm flipH="1">
                  <a:off x="582401" y="2077058"/>
                  <a:ext cx="554125" cy="0"/>
                </a:xfrm>
                <a:prstGeom prst="line">
                  <a:avLst/>
                </a:prstGeom>
                <a:noFill/>
                <a:ln w="25400">
                  <a:solidFill>
                    <a:schemeClr val="accent1"/>
                  </a:solidFill>
                  <a:prstDash val="dash"/>
                  <a:round/>
                  <a:headEnd/>
                  <a:tailEnd/>
                </a:ln>
                <a:effectLst>
                  <a:outerShdw blurRad="40000" dist="20000" dir="5400000" rotWithShape="0">
                    <a:srgbClr val="000000">
                      <a:alpha val="37999"/>
                    </a:srgbClr>
                  </a:outerShdw>
                </a:effectLst>
                <a:extLst>
                  <a:ext uri="{909E8E84-426E-40dd-AFC4-6F175D3DCCD1}">
                    <a14:hiddenFill xmlns="" xmlns:a14="http://schemas.microsoft.com/office/drawing/2010/main">
                      <a:noFill/>
                    </a14:hiddenFill>
                  </a:ext>
                </a:extLst>
              </p:spPr>
            </p:cxnSp>
          </p:grpSp>
          <p:sp>
            <p:nvSpPr>
              <p:cNvPr id="36" name="ZoneTexte 27">
                <a:extLst>
                  <a:ext uri="{FF2B5EF4-FFF2-40B4-BE49-F238E27FC236}">
                    <a16:creationId xmlns:a16="http://schemas.microsoft.com/office/drawing/2014/main" id="{563C7246-267E-F24D-BDB5-6BFBCCCD9A7E}"/>
                  </a:ext>
                </a:extLst>
              </p:cNvPr>
              <p:cNvSpPr txBox="1">
                <a:spLocks noChangeArrowheads="1"/>
              </p:cNvSpPr>
              <p:nvPr/>
            </p:nvSpPr>
            <p:spPr bwMode="auto">
              <a:xfrm>
                <a:off x="3784236" y="375280"/>
                <a:ext cx="1162664" cy="3002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050" dirty="0"/>
                  <a:t>6 – 8 y</a:t>
                </a:r>
              </a:p>
            </p:txBody>
          </p:sp>
          <p:sp>
            <p:nvSpPr>
              <p:cNvPr id="37" name="ZoneTexte 28">
                <a:extLst>
                  <a:ext uri="{FF2B5EF4-FFF2-40B4-BE49-F238E27FC236}">
                    <a16:creationId xmlns:a16="http://schemas.microsoft.com/office/drawing/2014/main" id="{FB7EE399-0E81-4F48-BAE7-85FFED132CC9}"/>
                  </a:ext>
                </a:extLst>
              </p:cNvPr>
              <p:cNvSpPr txBox="1">
                <a:spLocks noChangeArrowheads="1"/>
              </p:cNvSpPr>
              <p:nvPr/>
            </p:nvSpPr>
            <p:spPr bwMode="auto">
              <a:xfrm>
                <a:off x="1268541" y="375280"/>
                <a:ext cx="1162664" cy="3002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050" dirty="0"/>
                  <a:t>&gt; 10 y</a:t>
                </a:r>
              </a:p>
            </p:txBody>
          </p:sp>
        </p:grpSp>
        <p:grpSp>
          <p:nvGrpSpPr>
            <p:cNvPr id="14" name="Grouper 3">
              <a:extLst>
                <a:ext uri="{FF2B5EF4-FFF2-40B4-BE49-F238E27FC236}">
                  <a16:creationId xmlns:a16="http://schemas.microsoft.com/office/drawing/2014/main" id="{853C51F2-750D-AB44-89AB-C90940B3D7EC}"/>
                </a:ext>
              </a:extLst>
            </p:cNvPr>
            <p:cNvGrpSpPr>
              <a:grpSpLocks/>
            </p:cNvGrpSpPr>
            <p:nvPr/>
          </p:nvGrpSpPr>
          <p:grpSpPr bwMode="auto">
            <a:xfrm>
              <a:off x="611188" y="476672"/>
              <a:ext cx="7856537" cy="2584228"/>
              <a:chOff x="611188" y="476250"/>
              <a:chExt cx="7856537" cy="2584228"/>
            </a:xfrm>
          </p:grpSpPr>
          <p:pic>
            <p:nvPicPr>
              <p:cNvPr id="16" name="Image 10" descr="PETScan_PIB-.png">
                <a:extLst>
                  <a:ext uri="{FF2B5EF4-FFF2-40B4-BE49-F238E27FC236}">
                    <a16:creationId xmlns:a16="http://schemas.microsoft.com/office/drawing/2014/main" id="{27E57F22-B2BF-9346-A604-313A6B674CE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12788" y="1349375"/>
                <a:ext cx="1079500" cy="129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9" name="Image 11" descr="PETScan_PIB+.png">
                <a:extLst>
                  <a:ext uri="{FF2B5EF4-FFF2-40B4-BE49-F238E27FC236}">
                    <a16:creationId xmlns:a16="http://schemas.microsoft.com/office/drawing/2014/main" id="{1F668CEA-7E58-FA4D-993F-48AF77F945B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008188" y="1349375"/>
                <a:ext cx="1008062" cy="129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 name="Image 12">
                <a:extLst>
                  <a:ext uri="{FF2B5EF4-FFF2-40B4-BE49-F238E27FC236}">
                    <a16:creationId xmlns:a16="http://schemas.microsoft.com/office/drawing/2014/main" id="{4A6F3276-0887-324C-A3F9-8C2E92EFE72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45038" y="1422400"/>
                <a:ext cx="1316037" cy="1152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 name="Image 13">
                <a:extLst>
                  <a:ext uri="{FF2B5EF4-FFF2-40B4-BE49-F238E27FC236}">
                    <a16:creationId xmlns:a16="http://schemas.microsoft.com/office/drawing/2014/main" id="{D146DDC1-36BC-2C4A-9563-207A3E2FCDE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329363" y="1422400"/>
                <a:ext cx="993775" cy="1152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2" name="Image 14">
                <a:extLst>
                  <a:ext uri="{FF2B5EF4-FFF2-40B4-BE49-F238E27FC236}">
                    <a16:creationId xmlns:a16="http://schemas.microsoft.com/office/drawing/2014/main" id="{5E9058D0-1FD0-FE4A-9E1F-704F19B9AD0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08863" y="1493838"/>
                <a:ext cx="1058862" cy="1057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3" name="Picture 5" descr="C:\Donnees\Dropbox\LENA\InProgress\Exposes\2016_05_DemiHeureDeScience\figures alex\2013.png">
                <a:extLst>
                  <a:ext uri="{FF2B5EF4-FFF2-40B4-BE49-F238E27FC236}">
                    <a16:creationId xmlns:a16="http://schemas.microsoft.com/office/drawing/2014/main" id="{CB90DE8A-B036-F74E-BC36-41B80F4F2BD7}"/>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376613" y="1422400"/>
                <a:ext cx="1233487" cy="1149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4" name="Grouper 33">
                <a:extLst>
                  <a:ext uri="{FF2B5EF4-FFF2-40B4-BE49-F238E27FC236}">
                    <a16:creationId xmlns:a16="http://schemas.microsoft.com/office/drawing/2014/main" id="{CA6085B3-8A66-5E4B-9CA4-85BF25FE4613}"/>
                  </a:ext>
                </a:extLst>
              </p:cNvPr>
              <p:cNvGrpSpPr>
                <a:grpSpLocks/>
              </p:cNvGrpSpPr>
              <p:nvPr/>
            </p:nvGrpSpPr>
            <p:grpSpPr bwMode="auto">
              <a:xfrm>
                <a:off x="611188" y="476250"/>
                <a:ext cx="7848600" cy="506413"/>
                <a:chOff x="467544" y="823077"/>
                <a:chExt cx="7704857" cy="505229"/>
              </a:xfrm>
            </p:grpSpPr>
            <p:sp>
              <p:nvSpPr>
                <p:cNvPr id="29" name="Chevron 28">
                  <a:extLst>
                    <a:ext uri="{FF2B5EF4-FFF2-40B4-BE49-F238E27FC236}">
                      <a16:creationId xmlns:a16="http://schemas.microsoft.com/office/drawing/2014/main" id="{DDCE0E70-FCB5-3549-A2CB-72ED8EE5FEF8}"/>
                    </a:ext>
                  </a:extLst>
                </p:cNvPr>
                <p:cNvSpPr>
                  <a:spLocks noChangeArrowheads="1"/>
                </p:cNvSpPr>
                <p:nvPr/>
              </p:nvSpPr>
              <p:spPr bwMode="auto">
                <a:xfrm>
                  <a:off x="1187537" y="837332"/>
                  <a:ext cx="431683" cy="490974"/>
                </a:xfrm>
                <a:prstGeom prst="chevron">
                  <a:avLst>
                    <a:gd name="adj" fmla="val 50000"/>
                  </a:avLst>
                </a:prstGeom>
                <a:gradFill>
                  <a:gsLst>
                    <a:gs pos="0">
                      <a:schemeClr val="accent1"/>
                    </a:gs>
                    <a:gs pos="100000">
                      <a:schemeClr val="tx2"/>
                    </a:gs>
                  </a:gsLst>
                  <a:lin ang="5400000" scaled="0"/>
                </a:gradFill>
                <a:ln w="9525">
                  <a:solidFill>
                    <a:schemeClr val="accent6"/>
                  </a:solidFill>
                  <a:miter lim="800000"/>
                  <a:headEnd/>
                  <a:tailEnd/>
                </a:ln>
                <a:effectLst>
                  <a:outerShdw blurRad="40000" dist="23000" dir="5400000" rotWithShape="0">
                    <a:srgbClr val="000000">
                      <a:alpha val="34999"/>
                    </a:srgbClr>
                  </a:outerShdw>
                </a:effectLst>
              </p:spPr>
              <p:txBody>
                <a:bodyPr anchor="ct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endParaRPr lang="x-none" altLang="x-none" sz="1350"/>
                </a:p>
              </p:txBody>
            </p:sp>
            <p:sp>
              <p:nvSpPr>
                <p:cNvPr id="30" name="Chevron 29">
                  <a:extLst>
                    <a:ext uri="{FF2B5EF4-FFF2-40B4-BE49-F238E27FC236}">
                      <a16:creationId xmlns:a16="http://schemas.microsoft.com/office/drawing/2014/main" id="{327A13EE-48C3-A846-978D-75BD29E08EA6}"/>
                    </a:ext>
                  </a:extLst>
                </p:cNvPr>
                <p:cNvSpPr>
                  <a:spLocks noChangeArrowheads="1"/>
                </p:cNvSpPr>
                <p:nvPr/>
              </p:nvSpPr>
              <p:spPr bwMode="auto">
                <a:xfrm>
                  <a:off x="1619220" y="823077"/>
                  <a:ext cx="6553181" cy="490974"/>
                </a:xfrm>
                <a:prstGeom prst="chevron">
                  <a:avLst>
                    <a:gd name="adj" fmla="val 49991"/>
                  </a:avLst>
                </a:prstGeom>
                <a:gradFill>
                  <a:gsLst>
                    <a:gs pos="0">
                      <a:schemeClr val="accent1"/>
                    </a:gs>
                    <a:gs pos="100000">
                      <a:schemeClr val="tx2"/>
                    </a:gs>
                  </a:gsLst>
                  <a:lin ang="5400000" scaled="0"/>
                </a:gradFill>
                <a:ln w="9525">
                  <a:solidFill>
                    <a:schemeClr val="accent6"/>
                  </a:solidFill>
                  <a:miter lim="800000"/>
                  <a:headEnd/>
                  <a:tailEnd/>
                </a:ln>
                <a:effectLst>
                  <a:outerShdw blurRad="40000" dist="23000" dir="5400000" rotWithShape="0">
                    <a:srgbClr val="000000">
                      <a:alpha val="34999"/>
                    </a:srgbClr>
                  </a:outerShdw>
                </a:effectLst>
              </p:spPr>
              <p:txBody>
                <a:bodyPr anchor="ct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350" dirty="0" err="1">
                      <a:solidFill>
                        <a:schemeClr val="bg1"/>
                      </a:solidFill>
                    </a:rPr>
                    <a:t>Alzheimer’s</a:t>
                  </a:r>
                  <a:r>
                    <a:rPr lang="fr-FR" altLang="x-none" sz="1350" dirty="0">
                      <a:solidFill>
                        <a:schemeClr val="bg1"/>
                      </a:solidFill>
                    </a:rPr>
                    <a:t> </a:t>
                  </a:r>
                  <a:r>
                    <a:rPr lang="fr-FR" altLang="x-none" sz="1350" dirty="0" err="1">
                      <a:solidFill>
                        <a:schemeClr val="bg1"/>
                      </a:solidFill>
                    </a:rPr>
                    <a:t>Disease</a:t>
                  </a:r>
                  <a:endParaRPr lang="fr-FR" altLang="x-none" sz="1350" dirty="0">
                    <a:solidFill>
                      <a:schemeClr val="bg1"/>
                    </a:solidFill>
                  </a:endParaRPr>
                </a:p>
              </p:txBody>
            </p:sp>
            <p:sp>
              <p:nvSpPr>
                <p:cNvPr id="31" name="Chevron 30">
                  <a:extLst>
                    <a:ext uri="{FF2B5EF4-FFF2-40B4-BE49-F238E27FC236}">
                      <a16:creationId xmlns:a16="http://schemas.microsoft.com/office/drawing/2014/main" id="{499BA9E3-8626-BB48-BA89-D48FCF94C265}"/>
                    </a:ext>
                  </a:extLst>
                </p:cNvPr>
                <p:cNvSpPr>
                  <a:spLocks noChangeArrowheads="1"/>
                </p:cNvSpPr>
                <p:nvPr/>
              </p:nvSpPr>
              <p:spPr bwMode="auto">
                <a:xfrm>
                  <a:off x="827540" y="837332"/>
                  <a:ext cx="431684" cy="490974"/>
                </a:xfrm>
                <a:prstGeom prst="chevron">
                  <a:avLst>
                    <a:gd name="adj" fmla="val 50000"/>
                  </a:avLst>
                </a:prstGeom>
                <a:gradFill>
                  <a:gsLst>
                    <a:gs pos="0">
                      <a:schemeClr val="accent1"/>
                    </a:gs>
                    <a:gs pos="100000">
                      <a:schemeClr val="tx2"/>
                    </a:gs>
                  </a:gsLst>
                  <a:lin ang="5400000" scaled="0"/>
                </a:gradFill>
                <a:ln w="9525">
                  <a:solidFill>
                    <a:schemeClr val="accent6"/>
                  </a:solidFill>
                  <a:miter lim="800000"/>
                  <a:headEnd/>
                  <a:tailEnd/>
                </a:ln>
                <a:effectLst>
                  <a:outerShdw blurRad="40000" dist="23000" dir="5400000" rotWithShape="0">
                    <a:srgbClr val="000000">
                      <a:alpha val="34999"/>
                    </a:srgbClr>
                  </a:outerShdw>
                </a:effectLst>
              </p:spPr>
              <p:txBody>
                <a:bodyPr anchor="ct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endParaRPr lang="x-none" altLang="x-none" sz="1350"/>
                </a:p>
              </p:txBody>
            </p:sp>
            <p:sp>
              <p:nvSpPr>
                <p:cNvPr id="32" name="Chevron 31">
                  <a:extLst>
                    <a:ext uri="{FF2B5EF4-FFF2-40B4-BE49-F238E27FC236}">
                      <a16:creationId xmlns:a16="http://schemas.microsoft.com/office/drawing/2014/main" id="{7D5C2B14-C156-C74F-BEA3-DA92AD8A6C35}"/>
                    </a:ext>
                  </a:extLst>
                </p:cNvPr>
                <p:cNvSpPr>
                  <a:spLocks noChangeArrowheads="1"/>
                </p:cNvSpPr>
                <p:nvPr/>
              </p:nvSpPr>
              <p:spPr bwMode="auto">
                <a:xfrm>
                  <a:off x="467544" y="837332"/>
                  <a:ext cx="431683" cy="490974"/>
                </a:xfrm>
                <a:prstGeom prst="chevron">
                  <a:avLst>
                    <a:gd name="adj" fmla="val 50000"/>
                  </a:avLst>
                </a:prstGeom>
                <a:gradFill>
                  <a:gsLst>
                    <a:gs pos="0">
                      <a:schemeClr val="accent1"/>
                    </a:gs>
                    <a:gs pos="100000">
                      <a:schemeClr val="tx2"/>
                    </a:gs>
                  </a:gsLst>
                  <a:lin ang="5400000" scaled="0"/>
                </a:gradFill>
                <a:ln w="9525">
                  <a:solidFill>
                    <a:schemeClr val="accent6"/>
                  </a:solidFill>
                  <a:miter lim="800000"/>
                  <a:headEnd/>
                  <a:tailEnd/>
                </a:ln>
                <a:effectLst>
                  <a:outerShdw blurRad="40000" dist="23000" dir="5400000" rotWithShape="0">
                    <a:srgbClr val="000000">
                      <a:alpha val="34999"/>
                    </a:srgbClr>
                  </a:outerShdw>
                </a:effectLst>
              </p:spPr>
              <p:txBody>
                <a:bodyPr anchor="ct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endParaRPr lang="x-none" altLang="x-none" sz="1350"/>
                </a:p>
              </p:txBody>
            </p:sp>
          </p:grpSp>
          <p:sp>
            <p:nvSpPr>
              <p:cNvPr id="25" name="ZoneTexte 39">
                <a:extLst>
                  <a:ext uri="{FF2B5EF4-FFF2-40B4-BE49-F238E27FC236}">
                    <a16:creationId xmlns:a16="http://schemas.microsoft.com/office/drawing/2014/main" id="{12C1B582-FC1F-2B4D-97B7-9D8AD75665AB}"/>
                  </a:ext>
                </a:extLst>
              </p:cNvPr>
              <p:cNvSpPr txBox="1">
                <a:spLocks noChangeArrowheads="1"/>
              </p:cNvSpPr>
              <p:nvPr/>
            </p:nvSpPr>
            <p:spPr bwMode="auto">
              <a:xfrm>
                <a:off x="5724525" y="2636838"/>
                <a:ext cx="1079500" cy="2998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050" dirty="0" err="1"/>
                  <a:t>diagnosis</a:t>
                </a:r>
                <a:endParaRPr lang="fr-FR" altLang="x-none" sz="1050" dirty="0"/>
              </a:p>
            </p:txBody>
          </p:sp>
          <p:cxnSp>
            <p:nvCxnSpPr>
              <p:cNvPr id="26" name="Connecteur droit avec flèche 41">
                <a:extLst>
                  <a:ext uri="{FF2B5EF4-FFF2-40B4-BE49-F238E27FC236}">
                    <a16:creationId xmlns:a16="http://schemas.microsoft.com/office/drawing/2014/main" id="{39E2F257-ECBB-764A-8FAF-1A1A796B18F8}"/>
                  </a:ext>
                </a:extLst>
              </p:cNvPr>
              <p:cNvCxnSpPr>
                <a:cxnSpLocks noChangeShapeType="1"/>
              </p:cNvCxnSpPr>
              <p:nvPr/>
            </p:nvCxnSpPr>
            <p:spPr bwMode="auto">
              <a:xfrm flipV="1">
                <a:off x="6804025" y="2781300"/>
                <a:ext cx="1655763" cy="9525"/>
              </a:xfrm>
              <a:prstGeom prst="straightConnector1">
                <a:avLst/>
              </a:prstGeom>
              <a:noFill/>
              <a:ln w="25400">
                <a:solidFill>
                  <a:schemeClr val="accent1"/>
                </a:solidFill>
                <a:round/>
                <a:headEnd/>
                <a:tailEnd type="arrow" w="med" len="med"/>
              </a:ln>
              <a:effectLst>
                <a:outerShdw blurRad="40000" dist="20000" dir="5400000" rotWithShape="0">
                  <a:srgbClr val="000000">
                    <a:alpha val="37999"/>
                  </a:srgbClr>
                </a:outerShdw>
              </a:effectLst>
              <a:extLst>
                <a:ext uri="{909E8E84-426E-40dd-AFC4-6F175D3DCCD1}">
                  <a14:hiddenFill xmlns="" xmlns:a14="http://schemas.microsoft.com/office/drawing/2010/main">
                    <a:noFill/>
                  </a14:hiddenFill>
                </a:ext>
              </a:extLst>
            </p:spPr>
          </p:cxnSp>
          <p:sp>
            <p:nvSpPr>
              <p:cNvPr id="27" name="ZoneTexte 44">
                <a:extLst>
                  <a:ext uri="{FF2B5EF4-FFF2-40B4-BE49-F238E27FC236}">
                    <a16:creationId xmlns:a16="http://schemas.microsoft.com/office/drawing/2014/main" id="{DDFAA509-BADD-FF40-83E2-5CD415C3D685}"/>
                  </a:ext>
                </a:extLst>
              </p:cNvPr>
              <p:cNvSpPr txBox="1">
                <a:spLocks noChangeArrowheads="1"/>
              </p:cNvSpPr>
              <p:nvPr/>
            </p:nvSpPr>
            <p:spPr bwMode="auto">
              <a:xfrm>
                <a:off x="6804025" y="2760663"/>
                <a:ext cx="1655763" cy="2998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ctr"/>
                <a:r>
                  <a:rPr lang="fr-FR" altLang="x-none" sz="1050" dirty="0"/>
                  <a:t>care</a:t>
                </a:r>
              </a:p>
            </p:txBody>
          </p:sp>
          <p:cxnSp>
            <p:nvCxnSpPr>
              <p:cNvPr id="28" name="Connecteur droit avec flèche 28">
                <a:extLst>
                  <a:ext uri="{FF2B5EF4-FFF2-40B4-BE49-F238E27FC236}">
                    <a16:creationId xmlns:a16="http://schemas.microsoft.com/office/drawing/2014/main" id="{E5472CEA-E414-1F45-9EED-6EB460BEF0F8}"/>
                  </a:ext>
                </a:extLst>
              </p:cNvPr>
              <p:cNvCxnSpPr>
                <a:cxnSpLocks noChangeShapeType="1"/>
              </p:cNvCxnSpPr>
              <p:nvPr/>
            </p:nvCxnSpPr>
            <p:spPr bwMode="auto">
              <a:xfrm>
                <a:off x="6598096" y="1268760"/>
                <a:ext cx="1862336" cy="0"/>
              </a:xfrm>
              <a:prstGeom prst="straightConnector1">
                <a:avLst/>
              </a:prstGeom>
              <a:noFill/>
              <a:ln w="25400">
                <a:solidFill>
                  <a:schemeClr val="accent1"/>
                </a:solidFill>
                <a:round/>
                <a:headEnd/>
                <a:tailEnd type="arrow" w="med" len="med"/>
              </a:ln>
              <a:effectLst>
                <a:outerShdw blurRad="40000" dist="20000" dir="5400000" rotWithShape="0">
                  <a:srgbClr val="000000">
                    <a:alpha val="37999"/>
                  </a:srgbClr>
                </a:outerShdw>
              </a:effectLst>
              <a:extLst>
                <a:ext uri="{909E8E84-426E-40dd-AFC4-6F175D3DCCD1}">
                  <a14:hiddenFill xmlns="" xmlns:a14="http://schemas.microsoft.com/office/drawing/2010/main">
                    <a:noFill/>
                  </a14:hiddenFill>
                </a:ext>
              </a:extLst>
            </p:spPr>
          </p:cxnSp>
        </p:grpSp>
      </p:grpSp>
      <p:sp>
        <p:nvSpPr>
          <p:cNvPr id="40" name="ZoneTexte 2">
            <a:extLst>
              <a:ext uri="{FF2B5EF4-FFF2-40B4-BE49-F238E27FC236}">
                <a16:creationId xmlns:a16="http://schemas.microsoft.com/office/drawing/2014/main" id="{E00D0479-3181-814F-A0A2-DD883EDC2AE7}"/>
              </a:ext>
            </a:extLst>
          </p:cNvPr>
          <p:cNvSpPr txBox="1">
            <a:spLocks noChangeArrowheads="1"/>
          </p:cNvSpPr>
          <p:nvPr/>
        </p:nvSpPr>
        <p:spPr bwMode="auto">
          <a:xfrm>
            <a:off x="100117" y="4486228"/>
            <a:ext cx="4690767" cy="3000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just"/>
            <a:r>
              <a:rPr lang="fr-FR" altLang="x-none" sz="1350" b="1" dirty="0">
                <a:solidFill>
                  <a:srgbClr val="7030A0"/>
                </a:solidFill>
              </a:rPr>
              <a:t>Position</a:t>
            </a:r>
            <a:r>
              <a:rPr lang="fr-FR" altLang="x-none" sz="1350" dirty="0">
                <a:solidFill>
                  <a:srgbClr val="7030A0"/>
                </a:solidFill>
              </a:rPr>
              <a:t> </a:t>
            </a:r>
            <a:r>
              <a:rPr lang="fr-FR" altLang="x-none" sz="1350" dirty="0" err="1"/>
              <a:t>individual</a:t>
            </a:r>
            <a:r>
              <a:rPr lang="fr-FR" altLang="x-none" sz="1350" dirty="0"/>
              <a:t> </a:t>
            </a:r>
            <a:r>
              <a:rPr lang="fr-FR" altLang="x-none" sz="1350" dirty="0" err="1"/>
              <a:t>subject</a:t>
            </a:r>
            <a:r>
              <a:rPr lang="fr-FR" altLang="x-none" sz="1350" dirty="0"/>
              <a:t> on </a:t>
            </a:r>
            <a:r>
              <a:rPr lang="fr-FR" altLang="x-none" sz="1350" dirty="0" err="1"/>
              <a:t>his</a:t>
            </a:r>
            <a:r>
              <a:rPr lang="fr-FR" altLang="x-none" sz="1350" dirty="0"/>
              <a:t> </a:t>
            </a:r>
            <a:r>
              <a:rPr lang="fr-FR" altLang="x-none" sz="1350" dirty="0" err="1"/>
              <a:t>own</a:t>
            </a:r>
            <a:r>
              <a:rPr lang="fr-FR" altLang="x-none" sz="1350" dirty="0"/>
              <a:t> </a:t>
            </a:r>
            <a:r>
              <a:rPr lang="fr-FR" altLang="x-none" sz="1350" dirty="0" err="1"/>
              <a:t>trajectory</a:t>
            </a:r>
            <a:endParaRPr lang="fr-FR" altLang="x-none" sz="1350" dirty="0">
              <a:solidFill>
                <a:srgbClr val="7030A0"/>
              </a:solidFill>
            </a:endParaRPr>
          </a:p>
        </p:txBody>
      </p:sp>
      <p:sp>
        <p:nvSpPr>
          <p:cNvPr id="2" name="Rectangle 1">
            <a:extLst>
              <a:ext uri="{FF2B5EF4-FFF2-40B4-BE49-F238E27FC236}">
                <a16:creationId xmlns:a16="http://schemas.microsoft.com/office/drawing/2014/main" id="{6C51E9D3-EB5B-1E43-9983-5E4A086EC7AC}"/>
              </a:ext>
            </a:extLst>
          </p:cNvPr>
          <p:cNvSpPr/>
          <p:nvPr/>
        </p:nvSpPr>
        <p:spPr>
          <a:xfrm>
            <a:off x="4762876" y="4484377"/>
            <a:ext cx="4381124" cy="300082"/>
          </a:xfrm>
          <a:prstGeom prst="rect">
            <a:avLst/>
          </a:prstGeom>
        </p:spPr>
        <p:txBody>
          <a:bodyPr wrap="square">
            <a:spAutoFit/>
          </a:bodyPr>
          <a:lstStyle/>
          <a:p>
            <a:pPr algn="just"/>
            <a:r>
              <a:rPr lang="fr-FR" altLang="x-none" sz="1350" b="1" dirty="0" err="1">
                <a:solidFill>
                  <a:srgbClr val="7030A0"/>
                </a:solidFill>
                <a:latin typeface="Tahoma" charset="0"/>
                <a:ea typeface="ＭＳ Ｐゴシック" charset="-128"/>
              </a:rPr>
              <a:t>Determine</a:t>
            </a:r>
            <a:r>
              <a:rPr lang="fr-FR" altLang="x-none" sz="1350" dirty="0">
                <a:latin typeface="Tahoma" charset="0"/>
                <a:ea typeface="ＭＳ Ｐゴシック" charset="-128"/>
              </a:rPr>
              <a:t> </a:t>
            </a:r>
            <a:r>
              <a:rPr lang="fr-FR" altLang="x-none" sz="1350" i="1" dirty="0" err="1">
                <a:latin typeface="Tahoma" charset="0"/>
                <a:ea typeface="ＭＳ Ｐゴシック" charset="-128"/>
              </a:rPr>
              <a:t>who</a:t>
            </a:r>
            <a:r>
              <a:rPr lang="fr-FR" altLang="x-none" sz="1350" dirty="0">
                <a:latin typeface="Tahoma" charset="0"/>
                <a:ea typeface="ＭＳ Ｐゴシック" charset="-128"/>
              </a:rPr>
              <a:t> and </a:t>
            </a:r>
            <a:r>
              <a:rPr lang="fr-FR" altLang="x-none" sz="1350" i="1" dirty="0" err="1">
                <a:latin typeface="Tahoma" charset="0"/>
                <a:ea typeface="ＭＳ Ｐゴシック" charset="-128"/>
              </a:rPr>
              <a:t>when</a:t>
            </a:r>
            <a:r>
              <a:rPr lang="fr-FR" altLang="x-none" sz="1350" dirty="0">
                <a:latin typeface="Tahoma" charset="0"/>
                <a:ea typeface="ＭＳ Ｐゴシック" charset="-128"/>
              </a:rPr>
              <a:t> to </a:t>
            </a:r>
            <a:r>
              <a:rPr lang="fr-FR" altLang="x-none" sz="1350" dirty="0" err="1">
                <a:latin typeface="Tahoma" charset="0"/>
                <a:ea typeface="ＭＳ Ｐゴシック" charset="-128"/>
              </a:rPr>
              <a:t>treat</a:t>
            </a:r>
            <a:r>
              <a:rPr lang="fr-FR" altLang="x-none" sz="1350" dirty="0">
                <a:latin typeface="Tahoma" charset="0"/>
                <a:ea typeface="ＭＳ Ｐゴシック" charset="-128"/>
              </a:rPr>
              <a:t> or </a:t>
            </a:r>
            <a:r>
              <a:rPr lang="fr-FR" altLang="x-none" sz="1350" dirty="0" err="1">
                <a:latin typeface="Tahoma" charset="0"/>
                <a:ea typeface="ＭＳ Ｐゴシック" charset="-128"/>
              </a:rPr>
              <a:t>intervene</a:t>
            </a:r>
            <a:endParaRPr lang="fr-FR" altLang="x-none" sz="1350" dirty="0">
              <a:latin typeface="Tahoma" charset="0"/>
              <a:ea typeface="ＭＳ Ｐゴシック" charset="-128"/>
            </a:endParaRPr>
          </a:p>
        </p:txBody>
      </p:sp>
      <p:sp>
        <p:nvSpPr>
          <p:cNvPr id="3" name="Espace réservé du numéro de diapositive 2">
            <a:extLst>
              <a:ext uri="{FF2B5EF4-FFF2-40B4-BE49-F238E27FC236}">
                <a16:creationId xmlns:a16="http://schemas.microsoft.com/office/drawing/2014/main" id="{EACF31CD-B949-444E-00F1-F59A3701A943}"/>
              </a:ext>
            </a:extLst>
          </p:cNvPr>
          <p:cNvSpPr>
            <a:spLocks noGrp="1"/>
          </p:cNvSpPr>
          <p:nvPr>
            <p:ph type="sldNum" sz="quarter" idx="12"/>
          </p:nvPr>
        </p:nvSpPr>
        <p:spPr/>
        <p:txBody>
          <a:bodyPr/>
          <a:lstStyle/>
          <a:p>
            <a:fld id="{B6E69D5D-3C54-E347-B3D4-70BDFA7C6521}" type="slidenum">
              <a:rPr lang="fr-FR" smtClean="0"/>
              <a:t>2</a:t>
            </a:fld>
            <a:endParaRPr lang="fr-FR"/>
          </a:p>
        </p:txBody>
      </p:sp>
      <p:sp>
        <p:nvSpPr>
          <p:cNvPr id="4" name="ZoneTexte 2">
            <a:extLst>
              <a:ext uri="{FF2B5EF4-FFF2-40B4-BE49-F238E27FC236}">
                <a16:creationId xmlns:a16="http://schemas.microsoft.com/office/drawing/2014/main" id="{BDCB4238-471D-C295-76A0-542D6FE9A7FA}"/>
              </a:ext>
            </a:extLst>
          </p:cNvPr>
          <p:cNvSpPr txBox="1">
            <a:spLocks noChangeArrowheads="1"/>
          </p:cNvSpPr>
          <p:nvPr/>
        </p:nvSpPr>
        <p:spPr bwMode="auto">
          <a:xfrm>
            <a:off x="100117" y="4009504"/>
            <a:ext cx="4690767" cy="3000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charset="0"/>
                <a:ea typeface="ＭＳ Ｐゴシック" charset="-128"/>
              </a:defRPr>
            </a:lvl1pPr>
            <a:lvl2pPr marL="742950" indent="-285750">
              <a:defRPr sz="2400">
                <a:solidFill>
                  <a:schemeClr val="tx1"/>
                </a:solidFill>
                <a:latin typeface="Tahoma" charset="0"/>
                <a:ea typeface="ＭＳ Ｐゴシック" charset="-128"/>
              </a:defRPr>
            </a:lvl2pPr>
            <a:lvl3pPr marL="1143000" indent="-228600">
              <a:defRPr sz="2400">
                <a:solidFill>
                  <a:schemeClr val="tx1"/>
                </a:solidFill>
                <a:latin typeface="Tahoma" charset="0"/>
                <a:ea typeface="ＭＳ Ｐゴシック" charset="-128"/>
              </a:defRPr>
            </a:lvl3pPr>
            <a:lvl4pPr marL="1600200" indent="-228600">
              <a:defRPr sz="2400">
                <a:solidFill>
                  <a:schemeClr val="tx1"/>
                </a:solidFill>
                <a:latin typeface="Tahoma" charset="0"/>
                <a:ea typeface="ＭＳ Ｐゴシック" charset="-128"/>
              </a:defRPr>
            </a:lvl4pPr>
            <a:lvl5pPr marL="2057400" indent="-228600">
              <a:defRPr sz="2400">
                <a:solidFill>
                  <a:schemeClr val="tx1"/>
                </a:solidFill>
                <a:latin typeface="Tahoma" charset="0"/>
                <a:ea typeface="ＭＳ Ｐゴシック" charset="-128"/>
              </a:defRPr>
            </a:lvl5pPr>
            <a:lvl6pPr marL="2514600" indent="-228600" eaLnBrk="0" fontAlgn="base" hangingPunct="0">
              <a:spcBef>
                <a:spcPct val="0"/>
              </a:spcBef>
              <a:spcAft>
                <a:spcPct val="0"/>
              </a:spcAft>
              <a:defRPr sz="2400">
                <a:solidFill>
                  <a:schemeClr val="tx1"/>
                </a:solidFill>
                <a:latin typeface="Tahoma" charset="0"/>
                <a:ea typeface="ＭＳ Ｐゴシック" charset="-128"/>
              </a:defRPr>
            </a:lvl6pPr>
            <a:lvl7pPr marL="2971800" indent="-228600" eaLnBrk="0" fontAlgn="base" hangingPunct="0">
              <a:spcBef>
                <a:spcPct val="0"/>
              </a:spcBef>
              <a:spcAft>
                <a:spcPct val="0"/>
              </a:spcAft>
              <a:defRPr sz="2400">
                <a:solidFill>
                  <a:schemeClr val="tx1"/>
                </a:solidFill>
                <a:latin typeface="Tahoma" charset="0"/>
                <a:ea typeface="ＭＳ Ｐゴシック" charset="-128"/>
              </a:defRPr>
            </a:lvl7pPr>
            <a:lvl8pPr marL="3429000" indent="-228600" eaLnBrk="0" fontAlgn="base" hangingPunct="0">
              <a:spcBef>
                <a:spcPct val="0"/>
              </a:spcBef>
              <a:spcAft>
                <a:spcPct val="0"/>
              </a:spcAft>
              <a:defRPr sz="2400">
                <a:solidFill>
                  <a:schemeClr val="tx1"/>
                </a:solidFill>
                <a:latin typeface="Tahoma" charset="0"/>
                <a:ea typeface="ＭＳ Ｐゴシック" charset="-128"/>
              </a:defRPr>
            </a:lvl8pPr>
            <a:lvl9pPr marL="3886200" indent="-228600" eaLnBrk="0" fontAlgn="base" hangingPunct="0">
              <a:spcBef>
                <a:spcPct val="0"/>
              </a:spcBef>
              <a:spcAft>
                <a:spcPct val="0"/>
              </a:spcAft>
              <a:defRPr sz="2400">
                <a:solidFill>
                  <a:schemeClr val="tx1"/>
                </a:solidFill>
                <a:latin typeface="Tahoma" charset="0"/>
                <a:ea typeface="ＭＳ Ｐゴシック" charset="-128"/>
              </a:defRPr>
            </a:lvl9pPr>
          </a:lstStyle>
          <a:p>
            <a:pPr algn="just"/>
            <a:r>
              <a:rPr lang="fr-FR" altLang="x-none" sz="1350" b="1" dirty="0" err="1">
                <a:solidFill>
                  <a:srgbClr val="7030A0"/>
                </a:solidFill>
              </a:rPr>
              <a:t>Summarize</a:t>
            </a:r>
            <a:r>
              <a:rPr lang="fr-FR" altLang="x-none" sz="1350" dirty="0">
                <a:solidFill>
                  <a:srgbClr val="7030A0"/>
                </a:solidFill>
              </a:rPr>
              <a:t> </a:t>
            </a:r>
            <a:r>
              <a:rPr lang="fr-FR" altLang="x-none" sz="1350" dirty="0"/>
              <a:t>the </a:t>
            </a:r>
            <a:r>
              <a:rPr lang="fr-FR" altLang="x-none" sz="1350" dirty="0" err="1"/>
              <a:t>variability</a:t>
            </a:r>
            <a:r>
              <a:rPr lang="fr-FR" altLang="x-none" sz="1350" dirty="0"/>
              <a:t> of </a:t>
            </a:r>
            <a:r>
              <a:rPr lang="fr-FR" altLang="x-none" sz="1350" dirty="0" err="1"/>
              <a:t>disease</a:t>
            </a:r>
            <a:r>
              <a:rPr lang="fr-FR" altLang="x-none" sz="1350" dirty="0"/>
              <a:t> progression profiles</a:t>
            </a:r>
          </a:p>
        </p:txBody>
      </p:sp>
      <p:sp>
        <p:nvSpPr>
          <p:cNvPr id="5" name="Rectangle 4">
            <a:extLst>
              <a:ext uri="{FF2B5EF4-FFF2-40B4-BE49-F238E27FC236}">
                <a16:creationId xmlns:a16="http://schemas.microsoft.com/office/drawing/2014/main" id="{01CB7099-3806-6324-7B94-213AD2EC3221}"/>
              </a:ext>
            </a:extLst>
          </p:cNvPr>
          <p:cNvSpPr/>
          <p:nvPr/>
        </p:nvSpPr>
        <p:spPr>
          <a:xfrm>
            <a:off x="4763740" y="4010443"/>
            <a:ext cx="4381124" cy="300082"/>
          </a:xfrm>
          <a:prstGeom prst="rect">
            <a:avLst/>
          </a:prstGeom>
        </p:spPr>
        <p:txBody>
          <a:bodyPr wrap="square">
            <a:spAutoFit/>
          </a:bodyPr>
          <a:lstStyle/>
          <a:p>
            <a:pPr algn="just"/>
            <a:r>
              <a:rPr lang="fr-FR" altLang="x-none" sz="1350" b="1" dirty="0" err="1">
                <a:solidFill>
                  <a:srgbClr val="7030A0"/>
                </a:solidFill>
                <a:latin typeface="Tahoma" charset="0"/>
                <a:ea typeface="ＭＳ Ｐゴシック" charset="-128"/>
              </a:rPr>
              <a:t>Predict</a:t>
            </a:r>
            <a:r>
              <a:rPr lang="fr-FR" altLang="x-none" sz="1350" dirty="0">
                <a:latin typeface="Tahoma" charset="0"/>
                <a:ea typeface="ＭＳ Ｐゴシック" charset="-128"/>
              </a:rPr>
              <a:t> the future progression</a:t>
            </a:r>
          </a:p>
        </p:txBody>
      </p:sp>
    </p:spTree>
    <p:extLst>
      <p:ext uri="{BB962C8B-B14F-4D97-AF65-F5344CB8AC3E}">
        <p14:creationId xmlns:p14="http://schemas.microsoft.com/office/powerpoint/2010/main" val="94177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0" grpId="0"/>
      <p:bldP spid="2" grpId="0"/>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ourbes du carnet de santé | bébésanté.fr">
            <a:extLst>
              <a:ext uri="{FF2B5EF4-FFF2-40B4-BE49-F238E27FC236}">
                <a16:creationId xmlns:a16="http://schemas.microsoft.com/office/drawing/2014/main" id="{F1B1849D-974D-8D4F-8288-0CC98DD1E40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133784" y="0"/>
            <a:ext cx="4876431"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842AB9E0-4B29-7245-9557-96E079DD5160}"/>
              </a:ext>
            </a:extLst>
          </p:cNvPr>
          <p:cNvSpPr>
            <a:spLocks noChangeAspect="1"/>
          </p:cNvSpPr>
          <p:nvPr/>
        </p:nvSpPr>
        <p:spPr>
          <a:xfrm>
            <a:off x="3415292" y="2357734"/>
            <a:ext cx="108000" cy="108000"/>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cxnSp>
        <p:nvCxnSpPr>
          <p:cNvPr id="5" name="Straight Connector 4">
            <a:extLst>
              <a:ext uri="{FF2B5EF4-FFF2-40B4-BE49-F238E27FC236}">
                <a16:creationId xmlns:a16="http://schemas.microsoft.com/office/drawing/2014/main" id="{CEED34C2-B640-0D44-A05C-8230C24D9E64}"/>
              </a:ext>
            </a:extLst>
          </p:cNvPr>
          <p:cNvCxnSpPr>
            <a:cxnSpLocks/>
          </p:cNvCxnSpPr>
          <p:nvPr/>
        </p:nvCxnSpPr>
        <p:spPr>
          <a:xfrm>
            <a:off x="3467720" y="2449918"/>
            <a:ext cx="15816" cy="2440134"/>
          </a:xfrm>
          <a:prstGeom prst="line">
            <a:avLst/>
          </a:prstGeom>
          <a:ln>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0998EE8-27F3-2140-8D16-9C13B511EAEE}"/>
              </a:ext>
            </a:extLst>
          </p:cNvPr>
          <p:cNvCxnSpPr>
            <a:cxnSpLocks/>
          </p:cNvCxnSpPr>
          <p:nvPr/>
        </p:nvCxnSpPr>
        <p:spPr>
          <a:xfrm>
            <a:off x="3457641" y="1948899"/>
            <a:ext cx="0" cy="1128130"/>
          </a:xfrm>
          <a:prstGeom prst="straightConnector1">
            <a:avLst/>
          </a:prstGeom>
          <a:ln>
            <a:solidFill>
              <a:schemeClr val="accent2"/>
            </a:solidFill>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A30C089-33AE-754B-8086-05F8707ABC28}"/>
              </a:ext>
            </a:extLst>
          </p:cNvPr>
          <p:cNvSpPr txBox="1"/>
          <p:nvPr/>
        </p:nvSpPr>
        <p:spPr>
          <a:xfrm>
            <a:off x="32947" y="659848"/>
            <a:ext cx="2226549" cy="2062103"/>
          </a:xfrm>
          <a:prstGeom prst="rect">
            <a:avLst/>
          </a:prstGeom>
          <a:noFill/>
          <a:ln>
            <a:solidFill>
              <a:schemeClr val="tx1"/>
            </a:solidFill>
          </a:ln>
        </p:spPr>
        <p:txBody>
          <a:bodyPr wrap="square" rtlCol="0">
            <a:spAutoFit/>
          </a:bodyPr>
          <a:lstStyle/>
          <a:p>
            <a:pPr algn="ctr"/>
            <a:r>
              <a:rPr lang="en-FR" sz="1600" dirty="0"/>
              <a:t>How to extend to multiple biomarkers to study to </a:t>
            </a:r>
            <a:r>
              <a:rPr lang="en-FR" sz="1600" i="1" dirty="0"/>
              <a:t>joint</a:t>
            </a:r>
            <a:r>
              <a:rPr lang="en-FR" sz="1600" dirty="0"/>
              <a:t> distribution?</a:t>
            </a:r>
          </a:p>
          <a:p>
            <a:pPr algn="ctr"/>
            <a:br>
              <a:rPr lang="en-FR" sz="1600" dirty="0"/>
            </a:br>
            <a:r>
              <a:rPr lang="en-FR" sz="1600" dirty="0"/>
              <a:t>How to extend to </a:t>
            </a:r>
            <a:r>
              <a:rPr lang="en-FR" sz="1600" i="1" dirty="0"/>
              <a:t>structured</a:t>
            </a:r>
            <a:r>
              <a:rPr lang="en-FR" sz="1600" dirty="0"/>
              <a:t> data such as images?</a:t>
            </a:r>
          </a:p>
        </p:txBody>
      </p:sp>
      <p:sp>
        <p:nvSpPr>
          <p:cNvPr id="13" name="TextBox 12">
            <a:extLst>
              <a:ext uri="{FF2B5EF4-FFF2-40B4-BE49-F238E27FC236}">
                <a16:creationId xmlns:a16="http://schemas.microsoft.com/office/drawing/2014/main" id="{EE3EEC4E-BCD9-EC49-87A5-8868B2CA0F08}"/>
              </a:ext>
            </a:extLst>
          </p:cNvPr>
          <p:cNvSpPr txBox="1"/>
          <p:nvPr/>
        </p:nvSpPr>
        <p:spPr>
          <a:xfrm>
            <a:off x="2259496" y="0"/>
            <a:ext cx="2756452" cy="369332"/>
          </a:xfrm>
          <a:prstGeom prst="rect">
            <a:avLst/>
          </a:prstGeom>
          <a:noFill/>
        </p:spPr>
        <p:txBody>
          <a:bodyPr wrap="square" rtlCol="0">
            <a:spAutoFit/>
          </a:bodyPr>
          <a:lstStyle/>
          <a:p>
            <a:r>
              <a:rPr lang="en-FR" dirty="0"/>
              <a:t>Weight (kg)</a:t>
            </a:r>
          </a:p>
        </p:txBody>
      </p:sp>
      <p:sp>
        <p:nvSpPr>
          <p:cNvPr id="14" name="TextBox 13">
            <a:extLst>
              <a:ext uri="{FF2B5EF4-FFF2-40B4-BE49-F238E27FC236}">
                <a16:creationId xmlns:a16="http://schemas.microsoft.com/office/drawing/2014/main" id="{4A41E607-D92D-764E-888C-647062F4D1C9}"/>
              </a:ext>
            </a:extLst>
          </p:cNvPr>
          <p:cNvSpPr txBox="1"/>
          <p:nvPr/>
        </p:nvSpPr>
        <p:spPr>
          <a:xfrm>
            <a:off x="6983710" y="3669985"/>
            <a:ext cx="2133785" cy="830997"/>
          </a:xfrm>
          <a:prstGeom prst="rect">
            <a:avLst/>
          </a:prstGeom>
          <a:noFill/>
          <a:ln>
            <a:solidFill>
              <a:schemeClr val="tx1"/>
            </a:solidFill>
          </a:ln>
        </p:spPr>
        <p:txBody>
          <a:bodyPr wrap="square" rtlCol="0">
            <a:spAutoFit/>
          </a:bodyPr>
          <a:lstStyle/>
          <a:p>
            <a:pPr algn="ctr"/>
            <a:r>
              <a:rPr lang="en-FR" sz="1600" dirty="0"/>
              <a:t>Age is not a good marker of disease progression</a:t>
            </a:r>
          </a:p>
        </p:txBody>
      </p:sp>
      <p:sp>
        <p:nvSpPr>
          <p:cNvPr id="15" name="TextBox 14">
            <a:extLst>
              <a:ext uri="{FF2B5EF4-FFF2-40B4-BE49-F238E27FC236}">
                <a16:creationId xmlns:a16="http://schemas.microsoft.com/office/drawing/2014/main" id="{5DB0F5AC-6978-4847-A088-F1472922745F}"/>
              </a:ext>
            </a:extLst>
          </p:cNvPr>
          <p:cNvSpPr txBox="1"/>
          <p:nvPr/>
        </p:nvSpPr>
        <p:spPr>
          <a:xfrm>
            <a:off x="6983709" y="1058016"/>
            <a:ext cx="2133785" cy="830997"/>
          </a:xfrm>
          <a:prstGeom prst="rect">
            <a:avLst/>
          </a:prstGeom>
          <a:noFill/>
          <a:ln>
            <a:solidFill>
              <a:schemeClr val="tx1"/>
            </a:solidFill>
          </a:ln>
        </p:spPr>
        <p:txBody>
          <a:bodyPr wrap="square" rtlCol="0">
            <a:spAutoFit/>
          </a:bodyPr>
          <a:lstStyle/>
          <a:p>
            <a:pPr algn="ctr"/>
            <a:r>
              <a:rPr lang="en-FR" sz="1600" dirty="0"/>
              <a:t>Could the model predict future progression?</a:t>
            </a:r>
          </a:p>
        </p:txBody>
      </p:sp>
      <p:cxnSp>
        <p:nvCxnSpPr>
          <p:cNvPr id="12" name="Straight Arrow Connector 11">
            <a:extLst>
              <a:ext uri="{FF2B5EF4-FFF2-40B4-BE49-F238E27FC236}">
                <a16:creationId xmlns:a16="http://schemas.microsoft.com/office/drawing/2014/main" id="{E5463EE5-7685-0546-BD23-1801AF911C31}"/>
              </a:ext>
            </a:extLst>
          </p:cNvPr>
          <p:cNvCxnSpPr>
            <a:stCxn id="15" idx="1"/>
          </p:cNvCxnSpPr>
          <p:nvPr/>
        </p:nvCxnSpPr>
        <p:spPr>
          <a:xfrm flipH="1">
            <a:off x="3637723" y="1473515"/>
            <a:ext cx="3345986" cy="884219"/>
          </a:xfrm>
          <a:prstGeom prst="straightConnector1">
            <a:avLst/>
          </a:prstGeom>
          <a:ln>
            <a:solidFill>
              <a:schemeClr val="tx1"/>
            </a:solidFill>
            <a:tailEnd type="triangle" w="lg"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2AD9CAA-3636-F84B-BDB9-7367F993E1EF}"/>
              </a:ext>
            </a:extLst>
          </p:cNvPr>
          <p:cNvCxnSpPr>
            <a:cxnSpLocks/>
            <a:stCxn id="14" idx="1"/>
          </p:cNvCxnSpPr>
          <p:nvPr/>
        </p:nvCxnSpPr>
        <p:spPr>
          <a:xfrm flipH="1">
            <a:off x="3581840" y="4085484"/>
            <a:ext cx="3401870" cy="760878"/>
          </a:xfrm>
          <a:prstGeom prst="straightConnector1">
            <a:avLst/>
          </a:prstGeom>
          <a:ln>
            <a:solidFill>
              <a:schemeClr val="tx1"/>
            </a:solidFill>
            <a:tailEnd type="triangle" w="lg"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9DFC74B-0932-AF4F-AEF6-A16A8B5A81CF}"/>
              </a:ext>
            </a:extLst>
          </p:cNvPr>
          <p:cNvCxnSpPr>
            <a:cxnSpLocks/>
            <a:stCxn id="10" idx="3"/>
          </p:cNvCxnSpPr>
          <p:nvPr/>
        </p:nvCxnSpPr>
        <p:spPr>
          <a:xfrm flipV="1">
            <a:off x="2259496" y="362721"/>
            <a:ext cx="288326" cy="1328179"/>
          </a:xfrm>
          <a:prstGeom prst="straightConnector1">
            <a:avLst/>
          </a:prstGeom>
          <a:ln>
            <a:solidFill>
              <a:schemeClr val="tx1"/>
            </a:solidFill>
            <a:tailEnd type="triangle" w="lg" len="med"/>
          </a:ln>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98283547-4DC3-BE67-4C52-857F3AE8EF26}"/>
              </a:ext>
            </a:extLst>
          </p:cNvPr>
          <p:cNvSpPr>
            <a:spLocks noGrp="1"/>
          </p:cNvSpPr>
          <p:nvPr>
            <p:ph type="sldNum" sz="quarter" idx="12"/>
          </p:nvPr>
        </p:nvSpPr>
        <p:spPr/>
        <p:txBody>
          <a:bodyPr/>
          <a:lstStyle/>
          <a:p>
            <a:fld id="{B6E69D5D-3C54-E347-B3D4-70BDFA7C6521}" type="slidenum">
              <a:rPr lang="fr-FR" smtClean="0"/>
              <a:t>3</a:t>
            </a:fld>
            <a:endParaRPr lang="fr-FR"/>
          </a:p>
        </p:txBody>
      </p:sp>
    </p:spTree>
    <p:extLst>
      <p:ext uri="{BB962C8B-B14F-4D97-AF65-F5344CB8AC3E}">
        <p14:creationId xmlns:p14="http://schemas.microsoft.com/office/powerpoint/2010/main" val="358861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ZoneTexte 642">
            <a:extLst>
              <a:ext uri="{FF2B5EF4-FFF2-40B4-BE49-F238E27FC236}">
                <a16:creationId xmlns:a16="http://schemas.microsoft.com/office/drawing/2014/main" id="{D26595E4-5AB8-954F-A701-7162C8E2BFE4}"/>
              </a:ext>
            </a:extLst>
          </p:cNvPr>
          <p:cNvSpPr txBox="1"/>
          <p:nvPr/>
        </p:nvSpPr>
        <p:spPr>
          <a:xfrm>
            <a:off x="358364" y="2158408"/>
            <a:ext cx="1793728" cy="338554"/>
          </a:xfrm>
          <a:prstGeom prst="rect">
            <a:avLst/>
          </a:prstGeom>
          <a:noFill/>
        </p:spPr>
        <p:txBody>
          <a:bodyPr wrap="square" rtlCol="0">
            <a:spAutoFit/>
          </a:bodyPr>
          <a:lstStyle/>
          <a:p>
            <a:pPr algn="ctr"/>
            <a:r>
              <a:rPr lang="en-US" sz="1600" noProof="1"/>
              <a:t>Age (years)</a:t>
            </a:r>
          </a:p>
        </p:txBody>
      </p:sp>
      <p:sp>
        <p:nvSpPr>
          <p:cNvPr id="644" name="ZoneTexte 643">
            <a:extLst>
              <a:ext uri="{FF2B5EF4-FFF2-40B4-BE49-F238E27FC236}">
                <a16:creationId xmlns:a16="http://schemas.microsoft.com/office/drawing/2014/main" id="{BCEDF289-E9AF-3E47-89F7-35FD1A16A982}"/>
              </a:ext>
            </a:extLst>
          </p:cNvPr>
          <p:cNvSpPr txBox="1"/>
          <p:nvPr/>
        </p:nvSpPr>
        <p:spPr>
          <a:xfrm rot="16200000">
            <a:off x="-909154" y="1175137"/>
            <a:ext cx="2044149" cy="338554"/>
          </a:xfrm>
          <a:prstGeom prst="rect">
            <a:avLst/>
          </a:prstGeom>
          <a:noFill/>
        </p:spPr>
        <p:txBody>
          <a:bodyPr wrap="none" rtlCol="0">
            <a:spAutoFit/>
          </a:bodyPr>
          <a:lstStyle/>
          <a:p>
            <a:r>
              <a:rPr lang="en-US" sz="1600" noProof="1"/>
              <a:t>Normalized biomarker</a:t>
            </a:r>
          </a:p>
        </p:txBody>
      </p:sp>
      <p:grpSp>
        <p:nvGrpSpPr>
          <p:cNvPr id="2" name="Group 1">
            <a:extLst>
              <a:ext uri="{FF2B5EF4-FFF2-40B4-BE49-F238E27FC236}">
                <a16:creationId xmlns:a16="http://schemas.microsoft.com/office/drawing/2014/main" id="{252F543D-5EA5-CD45-BDE3-2842F1CCD864}"/>
              </a:ext>
            </a:extLst>
          </p:cNvPr>
          <p:cNvGrpSpPr>
            <a:grpSpLocks noChangeAspect="1"/>
          </p:cNvGrpSpPr>
          <p:nvPr/>
        </p:nvGrpSpPr>
        <p:grpSpPr>
          <a:xfrm>
            <a:off x="169714" y="343783"/>
            <a:ext cx="2367222" cy="1830263"/>
            <a:chOff x="222723" y="423297"/>
            <a:chExt cx="2113591" cy="1634164"/>
          </a:xfrm>
        </p:grpSpPr>
        <p:pic>
          <p:nvPicPr>
            <p:cNvPr id="10" name="Image 9">
              <a:extLst>
                <a:ext uri="{FF2B5EF4-FFF2-40B4-BE49-F238E27FC236}">
                  <a16:creationId xmlns:a16="http://schemas.microsoft.com/office/drawing/2014/main" id="{9E54E899-94CF-C448-B414-0F57BE38D75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560" b="7114"/>
            <a:stretch/>
          </p:blipFill>
          <p:spPr>
            <a:xfrm>
              <a:off x="222723" y="423297"/>
              <a:ext cx="2113591" cy="1634164"/>
            </a:xfrm>
            <a:prstGeom prst="rect">
              <a:avLst/>
            </a:prstGeom>
          </p:spPr>
        </p:pic>
        <p:grpSp>
          <p:nvGrpSpPr>
            <p:cNvPr id="327" name="Groupe 326">
              <a:extLst>
                <a:ext uri="{FF2B5EF4-FFF2-40B4-BE49-F238E27FC236}">
                  <a16:creationId xmlns:a16="http://schemas.microsoft.com/office/drawing/2014/main" id="{E591EADE-4431-CF4E-A4E5-50425456863E}"/>
                </a:ext>
              </a:extLst>
            </p:cNvPr>
            <p:cNvGrpSpPr/>
            <p:nvPr/>
          </p:nvGrpSpPr>
          <p:grpSpPr>
            <a:xfrm>
              <a:off x="682942" y="634382"/>
              <a:ext cx="397714" cy="1325940"/>
              <a:chOff x="2629676" y="557784"/>
              <a:chExt cx="1586167" cy="5288124"/>
            </a:xfrm>
          </p:grpSpPr>
          <p:grpSp>
            <p:nvGrpSpPr>
              <p:cNvPr id="328" name="Groupe 327">
                <a:extLst>
                  <a:ext uri="{FF2B5EF4-FFF2-40B4-BE49-F238E27FC236}">
                    <a16:creationId xmlns:a16="http://schemas.microsoft.com/office/drawing/2014/main" id="{24947280-A75B-054B-885D-037A1A255B0A}"/>
                  </a:ext>
                </a:extLst>
              </p:cNvPr>
              <p:cNvGrpSpPr/>
              <p:nvPr/>
            </p:nvGrpSpPr>
            <p:grpSpPr>
              <a:xfrm>
                <a:off x="2751513" y="557784"/>
                <a:ext cx="1339995" cy="5288124"/>
                <a:chOff x="3197977" y="533012"/>
                <a:chExt cx="1339995" cy="5312896"/>
              </a:xfrm>
            </p:grpSpPr>
            <p:cxnSp>
              <p:nvCxnSpPr>
                <p:cNvPr id="347" name="Connecteur droit 346">
                  <a:extLst>
                    <a:ext uri="{FF2B5EF4-FFF2-40B4-BE49-F238E27FC236}">
                      <a16:creationId xmlns:a16="http://schemas.microsoft.com/office/drawing/2014/main" id="{4C4667DE-BD0A-A445-817F-269D5C7371D0}"/>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8" name="Connecteur droit 347">
                  <a:extLst>
                    <a:ext uri="{FF2B5EF4-FFF2-40B4-BE49-F238E27FC236}">
                      <a16:creationId xmlns:a16="http://schemas.microsoft.com/office/drawing/2014/main" id="{72033BFD-B79B-AE4C-9935-A534723148AF}"/>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9" name="Connecteur droit 348">
                  <a:extLst>
                    <a:ext uri="{FF2B5EF4-FFF2-40B4-BE49-F238E27FC236}">
                      <a16:creationId xmlns:a16="http://schemas.microsoft.com/office/drawing/2014/main" id="{D2F6E23E-7120-C541-A921-CD1A0D940566}"/>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0" name="Connecteur droit 349">
                  <a:extLst>
                    <a:ext uri="{FF2B5EF4-FFF2-40B4-BE49-F238E27FC236}">
                      <a16:creationId xmlns:a16="http://schemas.microsoft.com/office/drawing/2014/main" id="{EF6872A7-55BC-B943-88C8-7FBF54F791D7}"/>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29" name="Groupe 328">
                <a:extLst>
                  <a:ext uri="{FF2B5EF4-FFF2-40B4-BE49-F238E27FC236}">
                    <a16:creationId xmlns:a16="http://schemas.microsoft.com/office/drawing/2014/main" id="{6F0C9D8F-2CE5-9949-897F-B6C1DDEE4D0E}"/>
                  </a:ext>
                </a:extLst>
              </p:cNvPr>
              <p:cNvGrpSpPr/>
              <p:nvPr/>
            </p:nvGrpSpPr>
            <p:grpSpPr>
              <a:xfrm>
                <a:off x="2629676" y="3044190"/>
                <a:ext cx="1586167" cy="1635678"/>
                <a:chOff x="3047133" y="2912478"/>
                <a:chExt cx="1586167" cy="1635678"/>
              </a:xfrm>
            </p:grpSpPr>
            <p:sp>
              <p:nvSpPr>
                <p:cNvPr id="339" name="Ellipse 338">
                  <a:extLst>
                    <a:ext uri="{FF2B5EF4-FFF2-40B4-BE49-F238E27FC236}">
                      <a16:creationId xmlns:a16="http://schemas.microsoft.com/office/drawing/2014/main" id="{53C86625-7476-7A40-A38C-9F7CE8F287CA}"/>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0" name="Ellipse 339">
                  <a:extLst>
                    <a:ext uri="{FF2B5EF4-FFF2-40B4-BE49-F238E27FC236}">
                      <a16:creationId xmlns:a16="http://schemas.microsoft.com/office/drawing/2014/main" id="{F0D02D77-59A3-8C40-8722-633D5BE1657C}"/>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1" name="Ellipse 340">
                  <a:extLst>
                    <a:ext uri="{FF2B5EF4-FFF2-40B4-BE49-F238E27FC236}">
                      <a16:creationId xmlns:a16="http://schemas.microsoft.com/office/drawing/2014/main" id="{6B5D886A-49FC-8A48-A892-46E5D4812DBF}"/>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2" name="Ellipse 341">
                  <a:extLst>
                    <a:ext uri="{FF2B5EF4-FFF2-40B4-BE49-F238E27FC236}">
                      <a16:creationId xmlns:a16="http://schemas.microsoft.com/office/drawing/2014/main" id="{3641C703-4ADD-934E-ADDD-28D1BB7E5AF0}"/>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3" name="Ellipse 342">
                  <a:extLst>
                    <a:ext uri="{FF2B5EF4-FFF2-40B4-BE49-F238E27FC236}">
                      <a16:creationId xmlns:a16="http://schemas.microsoft.com/office/drawing/2014/main" id="{F1E4B734-7AA1-A54E-AF96-7472951F4D71}"/>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4" name="Ellipse 343">
                  <a:extLst>
                    <a:ext uri="{FF2B5EF4-FFF2-40B4-BE49-F238E27FC236}">
                      <a16:creationId xmlns:a16="http://schemas.microsoft.com/office/drawing/2014/main" id="{074E0019-46BD-0C4B-BCE4-91F914C1331E}"/>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5" name="Ellipse 344">
                  <a:extLst>
                    <a:ext uri="{FF2B5EF4-FFF2-40B4-BE49-F238E27FC236}">
                      <a16:creationId xmlns:a16="http://schemas.microsoft.com/office/drawing/2014/main" id="{DD886354-5AC1-CD45-A39E-1171A5D67B6E}"/>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6" name="Ellipse 345">
                  <a:extLst>
                    <a:ext uri="{FF2B5EF4-FFF2-40B4-BE49-F238E27FC236}">
                      <a16:creationId xmlns:a16="http://schemas.microsoft.com/office/drawing/2014/main" id="{A003DED0-EBF8-9347-82E6-D50719C7B917}"/>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657" name="Groupe 656">
              <a:extLst>
                <a:ext uri="{FF2B5EF4-FFF2-40B4-BE49-F238E27FC236}">
                  <a16:creationId xmlns:a16="http://schemas.microsoft.com/office/drawing/2014/main" id="{87D478D4-A16F-9F4C-8847-EFB58C20CD6E}"/>
                </a:ext>
              </a:extLst>
            </p:cNvPr>
            <p:cNvGrpSpPr/>
            <p:nvPr/>
          </p:nvGrpSpPr>
          <p:grpSpPr>
            <a:xfrm>
              <a:off x="695925" y="1812833"/>
              <a:ext cx="368009" cy="167181"/>
              <a:chOff x="15527127" y="4564157"/>
              <a:chExt cx="1467698" cy="666751"/>
            </a:xfrm>
          </p:grpSpPr>
          <p:sp>
            <p:nvSpPr>
              <p:cNvPr id="658" name="Losange 657">
                <a:extLst>
                  <a:ext uri="{FF2B5EF4-FFF2-40B4-BE49-F238E27FC236}">
                    <a16:creationId xmlns:a16="http://schemas.microsoft.com/office/drawing/2014/main" id="{007DF053-087F-DB4E-9B6F-7FA72BF1DF1C}"/>
                  </a:ext>
                </a:extLst>
              </p:cNvPr>
              <p:cNvSpPr/>
              <p:nvPr/>
            </p:nvSpPr>
            <p:spPr>
              <a:xfrm>
                <a:off x="15531121" y="4914640"/>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59" name="Losange 658">
                <a:extLst>
                  <a:ext uri="{FF2B5EF4-FFF2-40B4-BE49-F238E27FC236}">
                    <a16:creationId xmlns:a16="http://schemas.microsoft.com/office/drawing/2014/main" id="{86A7A508-1642-6748-B43F-84FC3772EB24}"/>
                  </a:ext>
                </a:extLst>
              </p:cNvPr>
              <p:cNvSpPr/>
              <p:nvPr/>
            </p:nvSpPr>
            <p:spPr>
              <a:xfrm>
                <a:off x="15920380" y="4876298"/>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0" name="Losange 659">
                <a:extLst>
                  <a:ext uri="{FF2B5EF4-FFF2-40B4-BE49-F238E27FC236}">
                    <a16:creationId xmlns:a16="http://schemas.microsoft.com/office/drawing/2014/main" id="{A4A788FD-85B6-7F40-A6AC-9FCF22004342}"/>
                  </a:ext>
                </a:extLst>
              </p:cNvPr>
              <p:cNvSpPr/>
              <p:nvPr/>
            </p:nvSpPr>
            <p:spPr>
              <a:xfrm>
                <a:off x="16441760" y="4770936"/>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1" name="Losange 660">
                <a:extLst>
                  <a:ext uri="{FF2B5EF4-FFF2-40B4-BE49-F238E27FC236}">
                    <a16:creationId xmlns:a16="http://schemas.microsoft.com/office/drawing/2014/main" id="{FBA47563-8BCE-774E-9A01-FC92984ADE8F}"/>
                  </a:ext>
                </a:extLst>
              </p:cNvPr>
              <p:cNvSpPr/>
              <p:nvPr/>
            </p:nvSpPr>
            <p:spPr>
              <a:xfrm>
                <a:off x="16865397" y="4564157"/>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2" name="Losange 661">
                <a:extLst>
                  <a:ext uri="{FF2B5EF4-FFF2-40B4-BE49-F238E27FC236}">
                    <a16:creationId xmlns:a16="http://schemas.microsoft.com/office/drawing/2014/main" id="{BBB36F2E-ED98-F845-B786-F32A5EAD4813}"/>
                  </a:ext>
                </a:extLst>
              </p:cNvPr>
              <p:cNvSpPr/>
              <p:nvPr/>
            </p:nvSpPr>
            <p:spPr>
              <a:xfrm>
                <a:off x="16865225" y="483163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3" name="Losange 662">
                <a:extLst>
                  <a:ext uri="{FF2B5EF4-FFF2-40B4-BE49-F238E27FC236}">
                    <a16:creationId xmlns:a16="http://schemas.microsoft.com/office/drawing/2014/main" id="{AFACA5A3-25EB-664B-8AA1-1BA0B20CE8C7}"/>
                  </a:ext>
                </a:extLst>
              </p:cNvPr>
              <p:cNvSpPr/>
              <p:nvPr/>
            </p:nvSpPr>
            <p:spPr>
              <a:xfrm>
                <a:off x="16441662" y="4906053"/>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4" name="Losange 663">
                <a:extLst>
                  <a:ext uri="{FF2B5EF4-FFF2-40B4-BE49-F238E27FC236}">
                    <a16:creationId xmlns:a16="http://schemas.microsoft.com/office/drawing/2014/main" id="{D3F6F086-F3FB-894D-932A-D7609D0B4739}"/>
                  </a:ext>
                </a:extLst>
              </p:cNvPr>
              <p:cNvSpPr/>
              <p:nvPr/>
            </p:nvSpPr>
            <p:spPr>
              <a:xfrm>
                <a:off x="15914825" y="495556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5" name="Losange 664">
                <a:extLst>
                  <a:ext uri="{FF2B5EF4-FFF2-40B4-BE49-F238E27FC236}">
                    <a16:creationId xmlns:a16="http://schemas.microsoft.com/office/drawing/2014/main" id="{6D459A17-1A33-B94C-9313-522F505C7108}"/>
                  </a:ext>
                </a:extLst>
              </p:cNvPr>
              <p:cNvSpPr/>
              <p:nvPr/>
            </p:nvSpPr>
            <p:spPr>
              <a:xfrm>
                <a:off x="15527127" y="4982508"/>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16" name="Group 15">
            <a:extLst>
              <a:ext uri="{FF2B5EF4-FFF2-40B4-BE49-F238E27FC236}">
                <a16:creationId xmlns:a16="http://schemas.microsoft.com/office/drawing/2014/main" id="{5D00BCF7-E473-6041-9B6C-F34B132F51B4}"/>
              </a:ext>
            </a:extLst>
          </p:cNvPr>
          <p:cNvGrpSpPr>
            <a:grpSpLocks noChangeAspect="1"/>
          </p:cNvGrpSpPr>
          <p:nvPr/>
        </p:nvGrpSpPr>
        <p:grpSpPr>
          <a:xfrm>
            <a:off x="7000472" y="370765"/>
            <a:ext cx="2373947" cy="1848823"/>
            <a:chOff x="7123322" y="424766"/>
            <a:chExt cx="2119595" cy="1650735"/>
          </a:xfrm>
        </p:grpSpPr>
        <p:pic>
          <p:nvPicPr>
            <p:cNvPr id="40" name="Image 39">
              <a:extLst>
                <a:ext uri="{FF2B5EF4-FFF2-40B4-BE49-F238E27FC236}">
                  <a16:creationId xmlns:a16="http://schemas.microsoft.com/office/drawing/2014/main" id="{ED5E3570-3FCD-994D-A200-9F122455557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357" b="6234"/>
            <a:stretch/>
          </p:blipFill>
          <p:spPr>
            <a:xfrm>
              <a:off x="7123322" y="424766"/>
              <a:ext cx="2119595" cy="1650735"/>
            </a:xfrm>
            <a:prstGeom prst="rect">
              <a:avLst/>
            </a:prstGeom>
          </p:spPr>
        </p:pic>
        <p:grpSp>
          <p:nvGrpSpPr>
            <p:cNvPr id="450" name="Groupe 449">
              <a:extLst>
                <a:ext uri="{FF2B5EF4-FFF2-40B4-BE49-F238E27FC236}">
                  <a16:creationId xmlns:a16="http://schemas.microsoft.com/office/drawing/2014/main" id="{41EA58CB-478C-E04C-A19F-B9663FDB2925}"/>
                </a:ext>
              </a:extLst>
            </p:cNvPr>
            <p:cNvGrpSpPr/>
            <p:nvPr/>
          </p:nvGrpSpPr>
          <p:grpSpPr>
            <a:xfrm>
              <a:off x="7593090" y="1095500"/>
              <a:ext cx="370160" cy="674108"/>
              <a:chOff x="15518550" y="2383663"/>
              <a:chExt cx="1476275" cy="2688484"/>
            </a:xfrm>
          </p:grpSpPr>
          <p:sp>
            <p:nvSpPr>
              <p:cNvPr id="451" name="Losange 450">
                <a:extLst>
                  <a:ext uri="{FF2B5EF4-FFF2-40B4-BE49-F238E27FC236}">
                    <a16:creationId xmlns:a16="http://schemas.microsoft.com/office/drawing/2014/main" id="{9712F3E5-609A-2244-9F86-D71C3611A285}"/>
                  </a:ext>
                </a:extLst>
              </p:cNvPr>
              <p:cNvSpPr/>
              <p:nvPr/>
            </p:nvSpPr>
            <p:spPr>
              <a:xfrm>
                <a:off x="15532682" y="337743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2" name="Losange 451">
                <a:extLst>
                  <a:ext uri="{FF2B5EF4-FFF2-40B4-BE49-F238E27FC236}">
                    <a16:creationId xmlns:a16="http://schemas.microsoft.com/office/drawing/2014/main" id="{2A0FDCDD-AE8E-D344-B2A6-A9455849D298}"/>
                  </a:ext>
                </a:extLst>
              </p:cNvPr>
              <p:cNvSpPr/>
              <p:nvPr/>
            </p:nvSpPr>
            <p:spPr>
              <a:xfrm>
                <a:off x="15928957" y="313222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3" name="Losange 452">
                <a:extLst>
                  <a:ext uri="{FF2B5EF4-FFF2-40B4-BE49-F238E27FC236}">
                    <a16:creationId xmlns:a16="http://schemas.microsoft.com/office/drawing/2014/main" id="{135BE1ED-2831-0844-9079-730A456D9876}"/>
                  </a:ext>
                </a:extLst>
              </p:cNvPr>
              <p:cNvSpPr/>
              <p:nvPr/>
            </p:nvSpPr>
            <p:spPr>
              <a:xfrm>
                <a:off x="16441760" y="2706365"/>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4" name="Losange 453">
                <a:extLst>
                  <a:ext uri="{FF2B5EF4-FFF2-40B4-BE49-F238E27FC236}">
                    <a16:creationId xmlns:a16="http://schemas.microsoft.com/office/drawing/2014/main" id="{4AC20D73-F736-E149-90F2-C872A9234E93}"/>
                  </a:ext>
                </a:extLst>
              </p:cNvPr>
              <p:cNvSpPr/>
              <p:nvPr/>
            </p:nvSpPr>
            <p:spPr>
              <a:xfrm>
                <a:off x="16865397" y="2383663"/>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5" name="Losange 454">
                <a:extLst>
                  <a:ext uri="{FF2B5EF4-FFF2-40B4-BE49-F238E27FC236}">
                    <a16:creationId xmlns:a16="http://schemas.microsoft.com/office/drawing/2014/main" id="{62C5C5F7-4075-4343-A23E-AC9D0009BA68}"/>
                  </a:ext>
                </a:extLst>
              </p:cNvPr>
              <p:cNvSpPr/>
              <p:nvPr/>
            </p:nvSpPr>
            <p:spPr>
              <a:xfrm>
                <a:off x="16865225"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6" name="Losange 455">
                <a:extLst>
                  <a:ext uri="{FF2B5EF4-FFF2-40B4-BE49-F238E27FC236}">
                    <a16:creationId xmlns:a16="http://schemas.microsoft.com/office/drawing/2014/main" id="{D57CFD03-7018-664A-9395-78C92E1FB2E7}"/>
                  </a:ext>
                </a:extLst>
              </p:cNvPr>
              <p:cNvSpPr/>
              <p:nvPr/>
            </p:nvSpPr>
            <p:spPr>
              <a:xfrm>
                <a:off x="16427628" y="44693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7" name="Losange 456">
                <a:extLst>
                  <a:ext uri="{FF2B5EF4-FFF2-40B4-BE49-F238E27FC236}">
                    <a16:creationId xmlns:a16="http://schemas.microsoft.com/office/drawing/2014/main" id="{A00F3688-5397-9341-A50B-9804CE956C8A}"/>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8" name="Losange 457">
                <a:extLst>
                  <a:ext uri="{FF2B5EF4-FFF2-40B4-BE49-F238E27FC236}">
                    <a16:creationId xmlns:a16="http://schemas.microsoft.com/office/drawing/2014/main" id="{4A7C6D8B-CB99-DB45-BCD1-EC580F00A886}"/>
                  </a:ext>
                </a:extLst>
              </p:cNvPr>
              <p:cNvSpPr/>
              <p:nvPr/>
            </p:nvSpPr>
            <p:spPr>
              <a:xfrm>
                <a:off x="15518550" y="482374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66" name="Groupe 365">
              <a:extLst>
                <a:ext uri="{FF2B5EF4-FFF2-40B4-BE49-F238E27FC236}">
                  <a16:creationId xmlns:a16="http://schemas.microsoft.com/office/drawing/2014/main" id="{3B648F1F-6515-5A47-B184-B848CC186AAF}"/>
                </a:ext>
              </a:extLst>
            </p:cNvPr>
            <p:cNvGrpSpPr/>
            <p:nvPr/>
          </p:nvGrpSpPr>
          <p:grpSpPr>
            <a:xfrm>
              <a:off x="7583337" y="634382"/>
              <a:ext cx="397714" cy="1325940"/>
              <a:chOff x="2629676" y="557784"/>
              <a:chExt cx="1586167" cy="5288124"/>
            </a:xfrm>
          </p:grpSpPr>
          <p:grpSp>
            <p:nvGrpSpPr>
              <p:cNvPr id="367" name="Groupe 366">
                <a:extLst>
                  <a:ext uri="{FF2B5EF4-FFF2-40B4-BE49-F238E27FC236}">
                    <a16:creationId xmlns:a16="http://schemas.microsoft.com/office/drawing/2014/main" id="{956B7F6C-1AB6-E24E-B4E6-F8B0952E6FDF}"/>
                  </a:ext>
                </a:extLst>
              </p:cNvPr>
              <p:cNvGrpSpPr/>
              <p:nvPr/>
            </p:nvGrpSpPr>
            <p:grpSpPr>
              <a:xfrm>
                <a:off x="2751513" y="557784"/>
                <a:ext cx="1339995" cy="5288124"/>
                <a:chOff x="3197977" y="533012"/>
                <a:chExt cx="1339995" cy="5312896"/>
              </a:xfrm>
            </p:grpSpPr>
            <p:cxnSp>
              <p:nvCxnSpPr>
                <p:cNvPr id="416" name="Connecteur droit 415">
                  <a:extLst>
                    <a:ext uri="{FF2B5EF4-FFF2-40B4-BE49-F238E27FC236}">
                      <a16:creationId xmlns:a16="http://schemas.microsoft.com/office/drawing/2014/main" id="{C469CFE5-A77D-9542-B8BC-9E48DCDDE700}"/>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9" name="Connecteur droit 458">
                  <a:extLst>
                    <a:ext uri="{FF2B5EF4-FFF2-40B4-BE49-F238E27FC236}">
                      <a16:creationId xmlns:a16="http://schemas.microsoft.com/office/drawing/2014/main" id="{4F92CBB4-A054-2549-B63C-8723E0CE60E3}"/>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6" name="Connecteur droit 475">
                  <a:extLst>
                    <a:ext uri="{FF2B5EF4-FFF2-40B4-BE49-F238E27FC236}">
                      <a16:creationId xmlns:a16="http://schemas.microsoft.com/office/drawing/2014/main" id="{8D57B250-ACBC-874C-982E-7D4B8DF6E444}"/>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7" name="Connecteur droit 476">
                  <a:extLst>
                    <a:ext uri="{FF2B5EF4-FFF2-40B4-BE49-F238E27FC236}">
                      <a16:creationId xmlns:a16="http://schemas.microsoft.com/office/drawing/2014/main" id="{77CA5EBE-3E60-0D4F-944E-0CB3E951F331}"/>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68" name="Groupe 367">
                <a:extLst>
                  <a:ext uri="{FF2B5EF4-FFF2-40B4-BE49-F238E27FC236}">
                    <a16:creationId xmlns:a16="http://schemas.microsoft.com/office/drawing/2014/main" id="{F2FD8CCC-1706-A340-8394-6F4A127967EB}"/>
                  </a:ext>
                </a:extLst>
              </p:cNvPr>
              <p:cNvGrpSpPr/>
              <p:nvPr/>
            </p:nvGrpSpPr>
            <p:grpSpPr>
              <a:xfrm>
                <a:off x="2629676" y="3044190"/>
                <a:ext cx="1586167" cy="1635678"/>
                <a:chOff x="3047133" y="2912478"/>
                <a:chExt cx="1586167" cy="1635678"/>
              </a:xfrm>
            </p:grpSpPr>
            <p:sp>
              <p:nvSpPr>
                <p:cNvPr id="408" name="Ellipse 407">
                  <a:extLst>
                    <a:ext uri="{FF2B5EF4-FFF2-40B4-BE49-F238E27FC236}">
                      <a16:creationId xmlns:a16="http://schemas.microsoft.com/office/drawing/2014/main" id="{FB138DB1-5E9F-7845-B824-133E018A1036}"/>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09" name="Ellipse 408">
                  <a:extLst>
                    <a:ext uri="{FF2B5EF4-FFF2-40B4-BE49-F238E27FC236}">
                      <a16:creationId xmlns:a16="http://schemas.microsoft.com/office/drawing/2014/main" id="{1EB9D68C-A821-A843-BEA3-8CC9DA29C8C0}"/>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0" name="Ellipse 409">
                  <a:extLst>
                    <a:ext uri="{FF2B5EF4-FFF2-40B4-BE49-F238E27FC236}">
                      <a16:creationId xmlns:a16="http://schemas.microsoft.com/office/drawing/2014/main" id="{F0F5D4B1-2685-3246-9852-A01C798D6379}"/>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1" name="Ellipse 410">
                  <a:extLst>
                    <a:ext uri="{FF2B5EF4-FFF2-40B4-BE49-F238E27FC236}">
                      <a16:creationId xmlns:a16="http://schemas.microsoft.com/office/drawing/2014/main" id="{F62CB94B-5288-BA4D-91F4-C6E68BB11AB3}"/>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2" name="Ellipse 411">
                  <a:extLst>
                    <a:ext uri="{FF2B5EF4-FFF2-40B4-BE49-F238E27FC236}">
                      <a16:creationId xmlns:a16="http://schemas.microsoft.com/office/drawing/2014/main" id="{CD0283F4-A3A6-1548-9D14-0B6B9126A9E6}"/>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3" name="Ellipse 412">
                  <a:extLst>
                    <a:ext uri="{FF2B5EF4-FFF2-40B4-BE49-F238E27FC236}">
                      <a16:creationId xmlns:a16="http://schemas.microsoft.com/office/drawing/2014/main" id="{49F77D7A-83DB-7149-AAE1-8DE2321AF24A}"/>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4" name="Ellipse 413">
                  <a:extLst>
                    <a:ext uri="{FF2B5EF4-FFF2-40B4-BE49-F238E27FC236}">
                      <a16:creationId xmlns:a16="http://schemas.microsoft.com/office/drawing/2014/main" id="{806D37B5-ECF0-4B43-A0B0-2FCEA87F04C5}"/>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5" name="Ellipse 414">
                  <a:extLst>
                    <a:ext uri="{FF2B5EF4-FFF2-40B4-BE49-F238E27FC236}">
                      <a16:creationId xmlns:a16="http://schemas.microsoft.com/office/drawing/2014/main" id="{AB1B2AE0-C035-CA49-81D9-F04D79E207F4}"/>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mc:AlternateContent xmlns:mc="http://schemas.openxmlformats.org/markup-compatibility/2006" xmlns:a14="http://schemas.microsoft.com/office/drawing/2010/main">
          <mc:Choice Requires="a14">
            <p:sp>
              <p:nvSpPr>
                <p:cNvPr id="609" name="ZoneTexte 608">
                  <a:extLst>
                    <a:ext uri="{FF2B5EF4-FFF2-40B4-BE49-F238E27FC236}">
                      <a16:creationId xmlns:a16="http://schemas.microsoft.com/office/drawing/2014/main" id="{B075F65B-063E-384D-BEC1-14F179502871}"/>
                    </a:ext>
                  </a:extLst>
                </p:cNvPr>
                <p:cNvSpPr txBox="1"/>
                <p:nvPr/>
              </p:nvSpPr>
              <p:spPr>
                <a:xfrm>
                  <a:off x="7985243" y="754529"/>
                  <a:ext cx="474874" cy="233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914" b="1" i="1" noProof="1" dirty="0">
                            <a:latin typeface="Cambria Math" panose="02040503050406030204" pitchFamily="18" charset="0"/>
                            <a:ea typeface="Cambria Math" panose="02040503050406030204" pitchFamily="18" charset="0"/>
                          </a:rPr>
                          <m:t>+</m:t>
                        </m:r>
                        <m:r>
                          <a:rPr lang="fr-FR" sz="914" b="1" i="1" noProof="1" dirty="0">
                            <a:latin typeface="Cambria Math" panose="02040503050406030204" pitchFamily="18" charset="0"/>
                          </a:rPr>
                          <m:t> </m:t>
                        </m:r>
                        <m:sSub>
                          <m:sSubPr>
                            <m:ctrlPr>
                              <a:rPr lang="fr-FR" sz="914" b="1" i="1" noProof="1" dirty="0">
                                <a:latin typeface="Cambria Math" panose="02040503050406030204" pitchFamily="18" charset="0"/>
                              </a:rPr>
                            </m:ctrlPr>
                          </m:sSubPr>
                          <m:e>
                            <m:r>
                              <a:rPr lang="fr-FR" sz="914" b="1" i="1" noProof="1" dirty="0">
                                <a:latin typeface="Cambria Math" panose="02040503050406030204" pitchFamily="18" charset="0"/>
                              </a:rPr>
                              <m:t>𝒘</m:t>
                            </m:r>
                          </m:e>
                          <m:sub>
                            <m:r>
                              <a:rPr lang="fr-FR" sz="914" b="1" i="1" noProof="1" dirty="0">
                                <a:latin typeface="Cambria Math" panose="02040503050406030204" pitchFamily="18" charset="0"/>
                              </a:rPr>
                              <m:t>𝟎</m:t>
                            </m:r>
                          </m:sub>
                        </m:sSub>
                      </m:oMath>
                    </m:oMathPara>
                  </a14:m>
                  <a:endParaRPr lang="en-US" sz="914" b="1" noProof="1"/>
                </a:p>
              </p:txBody>
            </p:sp>
          </mc:Choice>
          <mc:Fallback xmlns="">
            <p:sp>
              <p:nvSpPr>
                <p:cNvPr id="609" name="ZoneTexte 608">
                  <a:extLst>
                    <a:ext uri="{FF2B5EF4-FFF2-40B4-BE49-F238E27FC236}">
                      <a16:creationId xmlns:a16="http://schemas.microsoft.com/office/drawing/2014/main" id="{B075F65B-063E-384D-BEC1-14F179502871}"/>
                    </a:ext>
                  </a:extLst>
                </p:cNvPr>
                <p:cNvSpPr txBox="1">
                  <a:spLocks noRot="1" noChangeAspect="1" noMove="1" noResize="1" noEditPoints="1" noAdjustHandles="1" noChangeArrowheads="1" noChangeShapeType="1" noTextEdit="1"/>
                </p:cNvSpPr>
                <p:nvPr/>
              </p:nvSpPr>
              <p:spPr>
                <a:xfrm>
                  <a:off x="7985243" y="754529"/>
                  <a:ext cx="474874" cy="233013"/>
                </a:xfrm>
                <a:prstGeom prst="rect">
                  <a:avLst/>
                </a:prstGeom>
                <a:blipFill>
                  <a:blip r:embed="rId5"/>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627" name="ZoneTexte 626">
                  <a:extLst>
                    <a:ext uri="{FF2B5EF4-FFF2-40B4-BE49-F238E27FC236}">
                      <a16:creationId xmlns:a16="http://schemas.microsoft.com/office/drawing/2014/main" id="{95FF9D6A-27B5-9340-BA5B-DBB8C39964F6}"/>
                    </a:ext>
                  </a:extLst>
                </p:cNvPr>
                <p:cNvSpPr txBox="1"/>
                <p:nvPr/>
              </p:nvSpPr>
              <p:spPr>
                <a:xfrm>
                  <a:off x="8218831" y="1136573"/>
                  <a:ext cx="474874" cy="233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914" b="1" i="1" noProof="1" dirty="0">
                            <a:latin typeface="Cambria Math" panose="02040503050406030204" pitchFamily="18" charset="0"/>
                            <a:ea typeface="Cambria Math" panose="02040503050406030204" pitchFamily="18" charset="0"/>
                          </a:rPr>
                          <m:t>+</m:t>
                        </m:r>
                        <m:r>
                          <a:rPr lang="fr-FR" sz="914" b="1" i="1" noProof="1" dirty="0">
                            <a:latin typeface="Cambria Math" panose="02040503050406030204" pitchFamily="18" charset="0"/>
                          </a:rPr>
                          <m:t> </m:t>
                        </m:r>
                        <m:sSub>
                          <m:sSubPr>
                            <m:ctrlPr>
                              <a:rPr lang="fr-FR" sz="914" b="1" i="1" noProof="1" dirty="0">
                                <a:latin typeface="Cambria Math" panose="02040503050406030204" pitchFamily="18" charset="0"/>
                              </a:rPr>
                            </m:ctrlPr>
                          </m:sSubPr>
                          <m:e>
                            <m:r>
                              <a:rPr lang="fr-FR" sz="914" b="1" i="1" noProof="1" dirty="0">
                                <a:latin typeface="Cambria Math" panose="02040503050406030204" pitchFamily="18" charset="0"/>
                              </a:rPr>
                              <m:t>𝒘</m:t>
                            </m:r>
                          </m:e>
                          <m:sub>
                            <m:r>
                              <a:rPr lang="fr-FR" sz="914" b="1" i="1" noProof="1" dirty="0">
                                <a:latin typeface="Cambria Math" panose="02040503050406030204" pitchFamily="18" charset="0"/>
                              </a:rPr>
                              <m:t>𝟏</m:t>
                            </m:r>
                          </m:sub>
                        </m:sSub>
                      </m:oMath>
                    </m:oMathPara>
                  </a14:m>
                  <a:endParaRPr lang="en-US" sz="914" b="1" noProof="1"/>
                </a:p>
              </p:txBody>
            </p:sp>
          </mc:Choice>
          <mc:Fallback xmlns="">
            <p:sp>
              <p:nvSpPr>
                <p:cNvPr id="627" name="ZoneTexte 626">
                  <a:extLst>
                    <a:ext uri="{FF2B5EF4-FFF2-40B4-BE49-F238E27FC236}">
                      <a16:creationId xmlns:a16="http://schemas.microsoft.com/office/drawing/2014/main" id="{95FF9D6A-27B5-9340-BA5B-DBB8C39964F6}"/>
                    </a:ext>
                  </a:extLst>
                </p:cNvPr>
                <p:cNvSpPr txBox="1">
                  <a:spLocks noRot="1" noChangeAspect="1" noMove="1" noResize="1" noEditPoints="1" noAdjustHandles="1" noChangeArrowheads="1" noChangeShapeType="1" noTextEdit="1"/>
                </p:cNvSpPr>
                <p:nvPr/>
              </p:nvSpPr>
              <p:spPr>
                <a:xfrm>
                  <a:off x="8218831" y="1136573"/>
                  <a:ext cx="474874" cy="233013"/>
                </a:xfrm>
                <a:prstGeom prst="rect">
                  <a:avLst/>
                </a:prstGeom>
                <a:blipFill>
                  <a:blip r:embed="rId6"/>
                  <a:stretch>
                    <a:fillRect/>
                  </a:stretch>
                </a:blipFill>
              </p:spPr>
              <p:txBody>
                <a:bodyPr/>
                <a:lstStyle/>
                <a:p>
                  <a:r>
                    <a:rPr lang="en-FR">
                      <a:noFill/>
                    </a:rPr>
                    <a:t> </a:t>
                  </a:r>
                </a:p>
              </p:txBody>
            </p:sp>
          </mc:Fallback>
        </mc:AlternateContent>
        <p:sp>
          <p:nvSpPr>
            <p:cNvPr id="721" name="Flèche vers la gauche 720">
              <a:extLst>
                <a:ext uri="{FF2B5EF4-FFF2-40B4-BE49-F238E27FC236}">
                  <a16:creationId xmlns:a16="http://schemas.microsoft.com/office/drawing/2014/main" id="{D5ED44EB-2EC0-EC4A-B650-C69D6FA4F7A6}"/>
                </a:ext>
              </a:extLst>
            </p:cNvPr>
            <p:cNvSpPr/>
            <p:nvPr/>
          </p:nvSpPr>
          <p:spPr>
            <a:xfrm rot="10800000">
              <a:off x="8039370" y="1076747"/>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3" name="Flèche vers la gauche 722">
              <a:extLst>
                <a:ext uri="{FF2B5EF4-FFF2-40B4-BE49-F238E27FC236}">
                  <a16:creationId xmlns:a16="http://schemas.microsoft.com/office/drawing/2014/main" id="{21171078-EA5C-1D47-9122-0C7FEC71A89A}"/>
                </a:ext>
              </a:extLst>
            </p:cNvPr>
            <p:cNvSpPr/>
            <p:nvPr/>
          </p:nvSpPr>
          <p:spPr>
            <a:xfrm>
              <a:off x="7437624" y="1690518"/>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4" name="Flèche vers la gauche 723">
              <a:extLst>
                <a:ext uri="{FF2B5EF4-FFF2-40B4-BE49-F238E27FC236}">
                  <a16:creationId xmlns:a16="http://schemas.microsoft.com/office/drawing/2014/main" id="{E42FF99D-7E18-B046-BA49-0C9AA5A6EB1E}"/>
                </a:ext>
              </a:extLst>
            </p:cNvPr>
            <p:cNvSpPr/>
            <p:nvPr/>
          </p:nvSpPr>
          <p:spPr>
            <a:xfrm>
              <a:off x="8249463" y="1300743"/>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5" name="Flèche vers la gauche 724">
              <a:extLst>
                <a:ext uri="{FF2B5EF4-FFF2-40B4-BE49-F238E27FC236}">
                  <a16:creationId xmlns:a16="http://schemas.microsoft.com/office/drawing/2014/main" id="{4C054FDA-6CA6-5946-8A6F-993DC1379D86}"/>
                </a:ext>
              </a:extLst>
            </p:cNvPr>
            <p:cNvSpPr/>
            <p:nvPr/>
          </p:nvSpPr>
          <p:spPr>
            <a:xfrm rot="10800000">
              <a:off x="8267578" y="927280"/>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6" name="Flèche vers la gauche 725">
              <a:extLst>
                <a:ext uri="{FF2B5EF4-FFF2-40B4-BE49-F238E27FC236}">
                  <a16:creationId xmlns:a16="http://schemas.microsoft.com/office/drawing/2014/main" id="{83351B85-958B-084A-816E-F06142FE8666}"/>
                </a:ext>
              </a:extLst>
            </p:cNvPr>
            <p:cNvSpPr/>
            <p:nvPr/>
          </p:nvSpPr>
          <p:spPr>
            <a:xfrm>
              <a:off x="8033609" y="1433505"/>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7" name="Flèche vers la gauche 726">
              <a:extLst>
                <a:ext uri="{FF2B5EF4-FFF2-40B4-BE49-F238E27FC236}">
                  <a16:creationId xmlns:a16="http://schemas.microsoft.com/office/drawing/2014/main" id="{45C733BD-DF94-3942-BF29-35B58D24A300}"/>
                </a:ext>
              </a:extLst>
            </p:cNvPr>
            <p:cNvSpPr/>
            <p:nvPr/>
          </p:nvSpPr>
          <p:spPr>
            <a:xfrm rot="10800000">
              <a:off x="7309932" y="1618452"/>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grpSp>
        <p:nvGrpSpPr>
          <p:cNvPr id="5" name="Group 4">
            <a:extLst>
              <a:ext uri="{FF2B5EF4-FFF2-40B4-BE49-F238E27FC236}">
                <a16:creationId xmlns:a16="http://schemas.microsoft.com/office/drawing/2014/main" id="{5291252E-4FAC-CC45-987C-0AEDD468EDF0}"/>
              </a:ext>
            </a:extLst>
          </p:cNvPr>
          <p:cNvGrpSpPr>
            <a:grpSpLocks noChangeAspect="1"/>
          </p:cNvGrpSpPr>
          <p:nvPr/>
        </p:nvGrpSpPr>
        <p:grpSpPr>
          <a:xfrm>
            <a:off x="2436672" y="329472"/>
            <a:ext cx="2386081" cy="1839686"/>
            <a:chOff x="2463177" y="422237"/>
            <a:chExt cx="2130430" cy="1642576"/>
          </a:xfrm>
        </p:grpSpPr>
        <p:pic>
          <p:nvPicPr>
            <p:cNvPr id="714" name="Image 713">
              <a:extLst>
                <a:ext uri="{FF2B5EF4-FFF2-40B4-BE49-F238E27FC236}">
                  <a16:creationId xmlns:a16="http://schemas.microsoft.com/office/drawing/2014/main" id="{8F1617AF-0979-E744-903A-5B2CB26D70F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5955" b="6774"/>
            <a:stretch/>
          </p:blipFill>
          <p:spPr>
            <a:xfrm>
              <a:off x="2463177" y="422237"/>
              <a:ext cx="2130430" cy="1642576"/>
            </a:xfrm>
            <a:prstGeom prst="rect">
              <a:avLst/>
            </a:prstGeom>
          </p:spPr>
        </p:pic>
        <p:grpSp>
          <p:nvGrpSpPr>
            <p:cNvPr id="369" name="Groupe 368">
              <a:extLst>
                <a:ext uri="{FF2B5EF4-FFF2-40B4-BE49-F238E27FC236}">
                  <a16:creationId xmlns:a16="http://schemas.microsoft.com/office/drawing/2014/main" id="{1BD6512A-2FBF-1B44-8DCD-8F1B4342A89F}"/>
                </a:ext>
              </a:extLst>
            </p:cNvPr>
            <p:cNvGrpSpPr/>
            <p:nvPr/>
          </p:nvGrpSpPr>
          <p:grpSpPr>
            <a:xfrm>
              <a:off x="2933502" y="634382"/>
              <a:ext cx="397714" cy="1325940"/>
              <a:chOff x="2629676" y="557784"/>
              <a:chExt cx="1586167" cy="5288124"/>
            </a:xfrm>
          </p:grpSpPr>
          <p:grpSp>
            <p:nvGrpSpPr>
              <p:cNvPr id="370" name="Groupe 369">
                <a:extLst>
                  <a:ext uri="{FF2B5EF4-FFF2-40B4-BE49-F238E27FC236}">
                    <a16:creationId xmlns:a16="http://schemas.microsoft.com/office/drawing/2014/main" id="{3E58947A-5639-9B41-919A-E52E1FC477D1}"/>
                  </a:ext>
                </a:extLst>
              </p:cNvPr>
              <p:cNvGrpSpPr/>
              <p:nvPr/>
            </p:nvGrpSpPr>
            <p:grpSpPr>
              <a:xfrm>
                <a:off x="2751513" y="557784"/>
                <a:ext cx="1339995" cy="5288124"/>
                <a:chOff x="3197977" y="533012"/>
                <a:chExt cx="1339995" cy="5312896"/>
              </a:xfrm>
            </p:grpSpPr>
            <p:cxnSp>
              <p:nvCxnSpPr>
                <p:cNvPr id="380" name="Connecteur droit 379">
                  <a:extLst>
                    <a:ext uri="{FF2B5EF4-FFF2-40B4-BE49-F238E27FC236}">
                      <a16:creationId xmlns:a16="http://schemas.microsoft.com/office/drawing/2014/main" id="{483C0739-C5F2-CB41-9DC8-F179A06E5E5F}"/>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1" name="Connecteur droit 380">
                  <a:extLst>
                    <a:ext uri="{FF2B5EF4-FFF2-40B4-BE49-F238E27FC236}">
                      <a16:creationId xmlns:a16="http://schemas.microsoft.com/office/drawing/2014/main" id="{091456C4-FF43-7744-A2BF-AE34026F1C0D}"/>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2" name="Connecteur droit 381">
                  <a:extLst>
                    <a:ext uri="{FF2B5EF4-FFF2-40B4-BE49-F238E27FC236}">
                      <a16:creationId xmlns:a16="http://schemas.microsoft.com/office/drawing/2014/main" id="{E3D4FCB5-DB1D-A641-AC91-359B558A5366}"/>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3" name="Connecteur droit 382">
                  <a:extLst>
                    <a:ext uri="{FF2B5EF4-FFF2-40B4-BE49-F238E27FC236}">
                      <a16:creationId xmlns:a16="http://schemas.microsoft.com/office/drawing/2014/main" id="{6DB60957-8B8C-1A45-829B-45BB0DB6866B}"/>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71" name="Groupe 370">
                <a:extLst>
                  <a:ext uri="{FF2B5EF4-FFF2-40B4-BE49-F238E27FC236}">
                    <a16:creationId xmlns:a16="http://schemas.microsoft.com/office/drawing/2014/main" id="{6A82DE10-23D7-BE48-9345-5D82893FC21C}"/>
                  </a:ext>
                </a:extLst>
              </p:cNvPr>
              <p:cNvGrpSpPr/>
              <p:nvPr/>
            </p:nvGrpSpPr>
            <p:grpSpPr>
              <a:xfrm>
                <a:off x="2629676" y="3044190"/>
                <a:ext cx="1586167" cy="1635678"/>
                <a:chOff x="3047133" y="2912478"/>
                <a:chExt cx="1586167" cy="1635678"/>
              </a:xfrm>
            </p:grpSpPr>
            <p:sp>
              <p:nvSpPr>
                <p:cNvPr id="372" name="Ellipse 371">
                  <a:extLst>
                    <a:ext uri="{FF2B5EF4-FFF2-40B4-BE49-F238E27FC236}">
                      <a16:creationId xmlns:a16="http://schemas.microsoft.com/office/drawing/2014/main" id="{AB34E364-036C-7349-A79F-C06B4BE4E0FD}"/>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3" name="Ellipse 372">
                  <a:extLst>
                    <a:ext uri="{FF2B5EF4-FFF2-40B4-BE49-F238E27FC236}">
                      <a16:creationId xmlns:a16="http://schemas.microsoft.com/office/drawing/2014/main" id="{EF1472F6-9555-7D46-9D68-3EDD3F954CE8}"/>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4" name="Ellipse 373">
                  <a:extLst>
                    <a:ext uri="{FF2B5EF4-FFF2-40B4-BE49-F238E27FC236}">
                      <a16:creationId xmlns:a16="http://schemas.microsoft.com/office/drawing/2014/main" id="{FF0562A7-5AF7-BF4C-A88B-0923D70425CE}"/>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5" name="Ellipse 374">
                  <a:extLst>
                    <a:ext uri="{FF2B5EF4-FFF2-40B4-BE49-F238E27FC236}">
                      <a16:creationId xmlns:a16="http://schemas.microsoft.com/office/drawing/2014/main" id="{47EC82A6-9863-A846-B31A-CE7341EB0BA7}"/>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6" name="Ellipse 375">
                  <a:extLst>
                    <a:ext uri="{FF2B5EF4-FFF2-40B4-BE49-F238E27FC236}">
                      <a16:creationId xmlns:a16="http://schemas.microsoft.com/office/drawing/2014/main" id="{4CC09C4D-80C9-FE44-8C3A-9DDDFB946643}"/>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7" name="Ellipse 376">
                  <a:extLst>
                    <a:ext uri="{FF2B5EF4-FFF2-40B4-BE49-F238E27FC236}">
                      <a16:creationId xmlns:a16="http://schemas.microsoft.com/office/drawing/2014/main" id="{ADB09898-1DE5-BF43-93A6-68BDA6369CC0}"/>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8" name="Ellipse 377">
                  <a:extLst>
                    <a:ext uri="{FF2B5EF4-FFF2-40B4-BE49-F238E27FC236}">
                      <a16:creationId xmlns:a16="http://schemas.microsoft.com/office/drawing/2014/main" id="{ACF56DF5-206D-BF45-B0BC-37BFEA7026CF}"/>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9" name="Ellipse 378">
                  <a:extLst>
                    <a:ext uri="{FF2B5EF4-FFF2-40B4-BE49-F238E27FC236}">
                      <a16:creationId xmlns:a16="http://schemas.microsoft.com/office/drawing/2014/main" id="{8AF9C47B-0004-6840-A593-0F5E8AC378B5}"/>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330" name="Groupe 329">
              <a:extLst>
                <a:ext uri="{FF2B5EF4-FFF2-40B4-BE49-F238E27FC236}">
                  <a16:creationId xmlns:a16="http://schemas.microsoft.com/office/drawing/2014/main" id="{4CA0EB1D-0D2F-2245-9888-B6D1AD96D4D4}"/>
                </a:ext>
              </a:extLst>
            </p:cNvPr>
            <p:cNvGrpSpPr/>
            <p:nvPr/>
          </p:nvGrpSpPr>
          <p:grpSpPr>
            <a:xfrm>
              <a:off x="2945074" y="949515"/>
              <a:ext cx="370160" cy="862051"/>
              <a:chOff x="15518550" y="1801444"/>
              <a:chExt cx="1476275" cy="3438041"/>
            </a:xfrm>
          </p:grpSpPr>
          <p:sp>
            <p:nvSpPr>
              <p:cNvPr id="331" name="Losange 330">
                <a:extLst>
                  <a:ext uri="{FF2B5EF4-FFF2-40B4-BE49-F238E27FC236}">
                    <a16:creationId xmlns:a16="http://schemas.microsoft.com/office/drawing/2014/main" id="{9AB87E58-702C-384D-BE8E-DD1A15A39F9B}"/>
                  </a:ext>
                </a:extLst>
              </p:cNvPr>
              <p:cNvSpPr/>
              <p:nvPr/>
            </p:nvSpPr>
            <p:spPr>
              <a:xfrm>
                <a:off x="15532682" y="377869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2" name="Losange 331">
                <a:extLst>
                  <a:ext uri="{FF2B5EF4-FFF2-40B4-BE49-F238E27FC236}">
                    <a16:creationId xmlns:a16="http://schemas.microsoft.com/office/drawing/2014/main" id="{0595F4E8-04D8-DD47-9574-A45BE390B742}"/>
                  </a:ext>
                </a:extLst>
              </p:cNvPr>
              <p:cNvSpPr/>
              <p:nvPr/>
            </p:nvSpPr>
            <p:spPr>
              <a:xfrm>
                <a:off x="15928957" y="317421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3" name="Losange 332">
                <a:extLst>
                  <a:ext uri="{FF2B5EF4-FFF2-40B4-BE49-F238E27FC236}">
                    <a16:creationId xmlns:a16="http://schemas.microsoft.com/office/drawing/2014/main" id="{E368D498-84FD-8749-81F9-D6F75C436372}"/>
                  </a:ext>
                </a:extLst>
              </p:cNvPr>
              <p:cNvSpPr/>
              <p:nvPr/>
            </p:nvSpPr>
            <p:spPr>
              <a:xfrm>
                <a:off x="16441760" y="2351202"/>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4" name="Losange 333">
                <a:extLst>
                  <a:ext uri="{FF2B5EF4-FFF2-40B4-BE49-F238E27FC236}">
                    <a16:creationId xmlns:a16="http://schemas.microsoft.com/office/drawing/2014/main" id="{9935F132-22BB-9C4B-B353-581C79F1FAA2}"/>
                  </a:ext>
                </a:extLst>
              </p:cNvPr>
              <p:cNvSpPr/>
              <p:nvPr/>
            </p:nvSpPr>
            <p:spPr>
              <a:xfrm>
                <a:off x="16865397" y="180144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5" name="Losange 334">
                <a:extLst>
                  <a:ext uri="{FF2B5EF4-FFF2-40B4-BE49-F238E27FC236}">
                    <a16:creationId xmlns:a16="http://schemas.microsoft.com/office/drawing/2014/main" id="{B8212E7D-A4B6-2A4D-A68D-5866E4111322}"/>
                  </a:ext>
                </a:extLst>
              </p:cNvPr>
              <p:cNvSpPr/>
              <p:nvPr/>
            </p:nvSpPr>
            <p:spPr>
              <a:xfrm>
                <a:off x="16865225" y="3805961"/>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6" name="Losange 335">
                <a:extLst>
                  <a:ext uri="{FF2B5EF4-FFF2-40B4-BE49-F238E27FC236}">
                    <a16:creationId xmlns:a16="http://schemas.microsoft.com/office/drawing/2014/main" id="{81B07BA8-CD27-D54B-B039-AF6C1262513C}"/>
                  </a:ext>
                </a:extLst>
              </p:cNvPr>
              <p:cNvSpPr/>
              <p:nvPr/>
            </p:nvSpPr>
            <p:spPr>
              <a:xfrm>
                <a:off x="16427628"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7" name="Losange 336">
                <a:extLst>
                  <a:ext uri="{FF2B5EF4-FFF2-40B4-BE49-F238E27FC236}">
                    <a16:creationId xmlns:a16="http://schemas.microsoft.com/office/drawing/2014/main" id="{E419FF99-F731-C842-B0F9-B823403CFD99}"/>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8" name="Losange 337">
                <a:extLst>
                  <a:ext uri="{FF2B5EF4-FFF2-40B4-BE49-F238E27FC236}">
                    <a16:creationId xmlns:a16="http://schemas.microsoft.com/office/drawing/2014/main" id="{C471D8FB-205D-EA4D-8878-FDC47BB85942}"/>
                  </a:ext>
                </a:extLst>
              </p:cNvPr>
              <p:cNvSpPr/>
              <p:nvPr/>
            </p:nvSpPr>
            <p:spPr>
              <a:xfrm>
                <a:off x="15518550" y="499108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mc:AlternateContent xmlns:mc="http://schemas.openxmlformats.org/markup-compatibility/2006" xmlns:a14="http://schemas.microsoft.com/office/drawing/2010/main">
          <mc:Choice Requires="a14">
            <p:sp>
              <p:nvSpPr>
                <p:cNvPr id="607" name="ZoneTexte 606">
                  <a:extLst>
                    <a:ext uri="{FF2B5EF4-FFF2-40B4-BE49-F238E27FC236}">
                      <a16:creationId xmlns:a16="http://schemas.microsoft.com/office/drawing/2014/main" id="{FE19A1EF-E1EF-1247-BA28-75C584DFAAC7}"/>
                    </a:ext>
                  </a:extLst>
                </p:cNvPr>
                <p:cNvSpPr txBox="1"/>
                <p:nvPr/>
              </p:nvSpPr>
              <p:spPr>
                <a:xfrm>
                  <a:off x="3744660" y="649726"/>
                  <a:ext cx="484428" cy="3034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372" b="1" i="1" noProof="1" dirty="0">
                            <a:latin typeface="Cambria Math" panose="02040503050406030204" pitchFamily="18" charset="0"/>
                          </a:rPr>
                          <m:t>+ </m:t>
                        </m:r>
                        <m:r>
                          <a:rPr lang="fr-FR" sz="1372" b="1" i="1" noProof="1" dirty="0">
                            <a:latin typeface="Cambria Math" panose="02040503050406030204" pitchFamily="18" charset="0"/>
                          </a:rPr>
                          <m:t>𝝉</m:t>
                        </m:r>
                      </m:oMath>
                    </m:oMathPara>
                  </a14:m>
                  <a:endParaRPr lang="en-US" sz="1372" b="1" noProof="1"/>
                </a:p>
              </p:txBody>
            </p:sp>
          </mc:Choice>
          <mc:Fallback xmlns="">
            <p:sp>
              <p:nvSpPr>
                <p:cNvPr id="607" name="ZoneTexte 606">
                  <a:extLst>
                    <a:ext uri="{FF2B5EF4-FFF2-40B4-BE49-F238E27FC236}">
                      <a16:creationId xmlns:a16="http://schemas.microsoft.com/office/drawing/2014/main" id="{FE19A1EF-E1EF-1247-BA28-75C584DFAAC7}"/>
                    </a:ext>
                  </a:extLst>
                </p:cNvPr>
                <p:cNvSpPr txBox="1">
                  <a:spLocks noRot="1" noChangeAspect="1" noMove="1" noResize="1" noEditPoints="1" noAdjustHandles="1" noChangeArrowheads="1" noChangeShapeType="1" noTextEdit="1"/>
                </p:cNvSpPr>
                <p:nvPr/>
              </p:nvSpPr>
              <p:spPr>
                <a:xfrm>
                  <a:off x="3744660" y="649726"/>
                  <a:ext cx="484428" cy="303481"/>
                </a:xfrm>
                <a:prstGeom prst="rect">
                  <a:avLst/>
                </a:prstGeom>
                <a:blipFill>
                  <a:blip r:embed="rId8"/>
                  <a:stretch>
                    <a:fillRect/>
                  </a:stretch>
                </a:blipFill>
              </p:spPr>
              <p:txBody>
                <a:bodyPr/>
                <a:lstStyle/>
                <a:p>
                  <a:r>
                    <a:rPr lang="en-FR">
                      <a:noFill/>
                    </a:rPr>
                    <a:t> </a:t>
                  </a:r>
                </a:p>
              </p:txBody>
            </p:sp>
          </mc:Fallback>
        </mc:AlternateContent>
        <p:sp>
          <p:nvSpPr>
            <p:cNvPr id="421" name="Flèche vers la gauche 420">
              <a:extLst>
                <a:ext uri="{FF2B5EF4-FFF2-40B4-BE49-F238E27FC236}">
                  <a16:creationId xmlns:a16="http://schemas.microsoft.com/office/drawing/2014/main" id="{2AB07C3D-8722-2146-B26A-668D983D4C77}"/>
                </a:ext>
              </a:extLst>
            </p:cNvPr>
            <p:cNvSpPr/>
            <p:nvPr/>
          </p:nvSpPr>
          <p:spPr>
            <a:xfrm>
              <a:off x="3669922" y="1092765"/>
              <a:ext cx="203409"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2" name="Flèche vers la gauche 421">
              <a:extLst>
                <a:ext uri="{FF2B5EF4-FFF2-40B4-BE49-F238E27FC236}">
                  <a16:creationId xmlns:a16="http://schemas.microsoft.com/office/drawing/2014/main" id="{B684BA86-5BF2-354D-A52B-FCFB9890F1D4}"/>
                </a:ext>
              </a:extLst>
            </p:cNvPr>
            <p:cNvSpPr/>
            <p:nvPr/>
          </p:nvSpPr>
          <p:spPr>
            <a:xfrm>
              <a:off x="3513301" y="1329441"/>
              <a:ext cx="203409" cy="57159"/>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3" name="Flèche vers la gauche 422">
              <a:extLst>
                <a:ext uri="{FF2B5EF4-FFF2-40B4-BE49-F238E27FC236}">
                  <a16:creationId xmlns:a16="http://schemas.microsoft.com/office/drawing/2014/main" id="{B24DFE10-A4AC-404F-A559-F2F7198FF0FF}"/>
                </a:ext>
              </a:extLst>
            </p:cNvPr>
            <p:cNvSpPr/>
            <p:nvPr/>
          </p:nvSpPr>
          <p:spPr>
            <a:xfrm flipV="1">
              <a:off x="3316593" y="1607003"/>
              <a:ext cx="203409" cy="57159"/>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4" name="Flèche vers la gauche 423">
              <a:extLst>
                <a:ext uri="{FF2B5EF4-FFF2-40B4-BE49-F238E27FC236}">
                  <a16:creationId xmlns:a16="http://schemas.microsoft.com/office/drawing/2014/main" id="{CEFACFDE-ACA2-204E-80BC-0287A9E230FD}"/>
                </a:ext>
              </a:extLst>
            </p:cNvPr>
            <p:cNvSpPr/>
            <p:nvPr/>
          </p:nvSpPr>
          <p:spPr>
            <a:xfrm>
              <a:off x="3848777" y="876245"/>
              <a:ext cx="203409"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grpSp>
        <p:nvGrpSpPr>
          <p:cNvPr id="7" name="Group 6">
            <a:extLst>
              <a:ext uri="{FF2B5EF4-FFF2-40B4-BE49-F238E27FC236}">
                <a16:creationId xmlns:a16="http://schemas.microsoft.com/office/drawing/2014/main" id="{849F17E7-5AE8-CC4A-A215-FE2C913002A7}"/>
              </a:ext>
            </a:extLst>
          </p:cNvPr>
          <p:cNvGrpSpPr>
            <a:grpSpLocks noChangeAspect="1"/>
          </p:cNvGrpSpPr>
          <p:nvPr/>
        </p:nvGrpSpPr>
        <p:grpSpPr>
          <a:xfrm>
            <a:off x="4749130" y="355910"/>
            <a:ext cx="2374321" cy="1839686"/>
            <a:chOff x="4818424" y="422237"/>
            <a:chExt cx="2119930" cy="1642576"/>
          </a:xfrm>
        </p:grpSpPr>
        <p:pic>
          <p:nvPicPr>
            <p:cNvPr id="715" name="Image 714">
              <a:extLst>
                <a:ext uri="{FF2B5EF4-FFF2-40B4-BE49-F238E27FC236}">
                  <a16:creationId xmlns:a16="http://schemas.microsoft.com/office/drawing/2014/main" id="{F996FC11-E397-1E49-9A24-19E54DB6839A}"/>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l="6418" b="6774"/>
            <a:stretch/>
          </p:blipFill>
          <p:spPr>
            <a:xfrm>
              <a:off x="4818424" y="422237"/>
              <a:ext cx="2119930" cy="1642576"/>
            </a:xfrm>
            <a:prstGeom prst="rect">
              <a:avLst/>
            </a:prstGeom>
          </p:spPr>
        </p:pic>
        <p:grpSp>
          <p:nvGrpSpPr>
            <p:cNvPr id="432" name="Groupe 431">
              <a:extLst>
                <a:ext uri="{FF2B5EF4-FFF2-40B4-BE49-F238E27FC236}">
                  <a16:creationId xmlns:a16="http://schemas.microsoft.com/office/drawing/2014/main" id="{17FDAFE3-CC01-234B-9606-02F0D8015116}"/>
                </a:ext>
              </a:extLst>
            </p:cNvPr>
            <p:cNvGrpSpPr/>
            <p:nvPr/>
          </p:nvGrpSpPr>
          <p:grpSpPr>
            <a:xfrm>
              <a:off x="5292955" y="949515"/>
              <a:ext cx="370160" cy="862051"/>
              <a:chOff x="15518550" y="1801444"/>
              <a:chExt cx="1476275" cy="3438041"/>
            </a:xfrm>
          </p:grpSpPr>
          <p:sp>
            <p:nvSpPr>
              <p:cNvPr id="433" name="Losange 432">
                <a:extLst>
                  <a:ext uri="{FF2B5EF4-FFF2-40B4-BE49-F238E27FC236}">
                    <a16:creationId xmlns:a16="http://schemas.microsoft.com/office/drawing/2014/main" id="{A42B218B-CB59-E844-BC18-4B99AEC04712}"/>
                  </a:ext>
                </a:extLst>
              </p:cNvPr>
              <p:cNvSpPr/>
              <p:nvPr/>
            </p:nvSpPr>
            <p:spPr>
              <a:xfrm>
                <a:off x="15532682" y="377869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4" name="Losange 433">
                <a:extLst>
                  <a:ext uri="{FF2B5EF4-FFF2-40B4-BE49-F238E27FC236}">
                    <a16:creationId xmlns:a16="http://schemas.microsoft.com/office/drawing/2014/main" id="{7032B349-9FF7-2A4D-8743-5C09634AFE72}"/>
                  </a:ext>
                </a:extLst>
              </p:cNvPr>
              <p:cNvSpPr/>
              <p:nvPr/>
            </p:nvSpPr>
            <p:spPr>
              <a:xfrm>
                <a:off x="15928957" y="317421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5" name="Losange 434">
                <a:extLst>
                  <a:ext uri="{FF2B5EF4-FFF2-40B4-BE49-F238E27FC236}">
                    <a16:creationId xmlns:a16="http://schemas.microsoft.com/office/drawing/2014/main" id="{7840DEB3-8770-404F-BC7A-BBF7A9D40297}"/>
                  </a:ext>
                </a:extLst>
              </p:cNvPr>
              <p:cNvSpPr/>
              <p:nvPr/>
            </p:nvSpPr>
            <p:spPr>
              <a:xfrm>
                <a:off x="16441760" y="2351202"/>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6" name="Losange 435">
                <a:extLst>
                  <a:ext uri="{FF2B5EF4-FFF2-40B4-BE49-F238E27FC236}">
                    <a16:creationId xmlns:a16="http://schemas.microsoft.com/office/drawing/2014/main" id="{FCED9859-E4A9-2844-9D5A-F6B9F5A7AD16}"/>
                  </a:ext>
                </a:extLst>
              </p:cNvPr>
              <p:cNvSpPr/>
              <p:nvPr/>
            </p:nvSpPr>
            <p:spPr>
              <a:xfrm>
                <a:off x="16865397" y="180144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7" name="Losange 436">
                <a:extLst>
                  <a:ext uri="{FF2B5EF4-FFF2-40B4-BE49-F238E27FC236}">
                    <a16:creationId xmlns:a16="http://schemas.microsoft.com/office/drawing/2014/main" id="{311F3E26-E782-F949-B68D-66E74173A274}"/>
                  </a:ext>
                </a:extLst>
              </p:cNvPr>
              <p:cNvSpPr/>
              <p:nvPr/>
            </p:nvSpPr>
            <p:spPr>
              <a:xfrm>
                <a:off x="16865225" y="3805961"/>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8" name="Losange 437">
                <a:extLst>
                  <a:ext uri="{FF2B5EF4-FFF2-40B4-BE49-F238E27FC236}">
                    <a16:creationId xmlns:a16="http://schemas.microsoft.com/office/drawing/2014/main" id="{66602F5A-8500-8247-9149-CF4D0B02B3FF}"/>
                  </a:ext>
                </a:extLst>
              </p:cNvPr>
              <p:cNvSpPr/>
              <p:nvPr/>
            </p:nvSpPr>
            <p:spPr>
              <a:xfrm>
                <a:off x="16427628"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9" name="Losange 438">
                <a:extLst>
                  <a:ext uri="{FF2B5EF4-FFF2-40B4-BE49-F238E27FC236}">
                    <a16:creationId xmlns:a16="http://schemas.microsoft.com/office/drawing/2014/main" id="{21F5E50E-7161-CC43-918B-5369459F7996}"/>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0" name="Losange 439">
                <a:extLst>
                  <a:ext uri="{FF2B5EF4-FFF2-40B4-BE49-F238E27FC236}">
                    <a16:creationId xmlns:a16="http://schemas.microsoft.com/office/drawing/2014/main" id="{0D9CF371-66CE-0647-BA51-708A233DA45E}"/>
                  </a:ext>
                </a:extLst>
              </p:cNvPr>
              <p:cNvSpPr/>
              <p:nvPr/>
            </p:nvSpPr>
            <p:spPr>
              <a:xfrm>
                <a:off x="15518550" y="499108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441" name="Groupe 440">
              <a:extLst>
                <a:ext uri="{FF2B5EF4-FFF2-40B4-BE49-F238E27FC236}">
                  <a16:creationId xmlns:a16="http://schemas.microsoft.com/office/drawing/2014/main" id="{A2CB6CEE-964B-D043-B94C-EAFCC775F285}"/>
                </a:ext>
              </a:extLst>
            </p:cNvPr>
            <p:cNvGrpSpPr/>
            <p:nvPr/>
          </p:nvGrpSpPr>
          <p:grpSpPr>
            <a:xfrm>
              <a:off x="5292955" y="1095500"/>
              <a:ext cx="370160" cy="674108"/>
              <a:chOff x="15518550" y="2383663"/>
              <a:chExt cx="1476275" cy="2688484"/>
            </a:xfrm>
          </p:grpSpPr>
          <p:sp>
            <p:nvSpPr>
              <p:cNvPr id="442" name="Losange 441">
                <a:extLst>
                  <a:ext uri="{FF2B5EF4-FFF2-40B4-BE49-F238E27FC236}">
                    <a16:creationId xmlns:a16="http://schemas.microsoft.com/office/drawing/2014/main" id="{0D0BFB44-1730-B344-ABE9-E0C11C2961C0}"/>
                  </a:ext>
                </a:extLst>
              </p:cNvPr>
              <p:cNvSpPr/>
              <p:nvPr/>
            </p:nvSpPr>
            <p:spPr>
              <a:xfrm>
                <a:off x="15532682" y="337743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3" name="Losange 442">
                <a:extLst>
                  <a:ext uri="{FF2B5EF4-FFF2-40B4-BE49-F238E27FC236}">
                    <a16:creationId xmlns:a16="http://schemas.microsoft.com/office/drawing/2014/main" id="{5EA882AA-F7AF-D944-B25C-F551EF27C10A}"/>
                  </a:ext>
                </a:extLst>
              </p:cNvPr>
              <p:cNvSpPr/>
              <p:nvPr/>
            </p:nvSpPr>
            <p:spPr>
              <a:xfrm>
                <a:off x="15928957" y="313222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4" name="Losange 443">
                <a:extLst>
                  <a:ext uri="{FF2B5EF4-FFF2-40B4-BE49-F238E27FC236}">
                    <a16:creationId xmlns:a16="http://schemas.microsoft.com/office/drawing/2014/main" id="{13B483AE-644B-4542-9DA4-37FBA8232DFA}"/>
                  </a:ext>
                </a:extLst>
              </p:cNvPr>
              <p:cNvSpPr/>
              <p:nvPr/>
            </p:nvSpPr>
            <p:spPr>
              <a:xfrm>
                <a:off x="16441760" y="2706365"/>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5" name="Losange 444">
                <a:extLst>
                  <a:ext uri="{FF2B5EF4-FFF2-40B4-BE49-F238E27FC236}">
                    <a16:creationId xmlns:a16="http://schemas.microsoft.com/office/drawing/2014/main" id="{C6A30CBA-0E6D-D94F-8065-8D7E428BB164}"/>
                  </a:ext>
                </a:extLst>
              </p:cNvPr>
              <p:cNvSpPr/>
              <p:nvPr/>
            </p:nvSpPr>
            <p:spPr>
              <a:xfrm>
                <a:off x="16865397" y="2383663"/>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6" name="Losange 445">
                <a:extLst>
                  <a:ext uri="{FF2B5EF4-FFF2-40B4-BE49-F238E27FC236}">
                    <a16:creationId xmlns:a16="http://schemas.microsoft.com/office/drawing/2014/main" id="{1D6FA239-E77B-3341-A925-2A142D1F16F4}"/>
                  </a:ext>
                </a:extLst>
              </p:cNvPr>
              <p:cNvSpPr/>
              <p:nvPr/>
            </p:nvSpPr>
            <p:spPr>
              <a:xfrm>
                <a:off x="16865225"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7" name="Losange 446">
                <a:extLst>
                  <a:ext uri="{FF2B5EF4-FFF2-40B4-BE49-F238E27FC236}">
                    <a16:creationId xmlns:a16="http://schemas.microsoft.com/office/drawing/2014/main" id="{5164F2F8-2258-2E41-A7A5-826542E5361C}"/>
                  </a:ext>
                </a:extLst>
              </p:cNvPr>
              <p:cNvSpPr/>
              <p:nvPr/>
            </p:nvSpPr>
            <p:spPr>
              <a:xfrm>
                <a:off x="16427628" y="44693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8" name="Losange 447">
                <a:extLst>
                  <a:ext uri="{FF2B5EF4-FFF2-40B4-BE49-F238E27FC236}">
                    <a16:creationId xmlns:a16="http://schemas.microsoft.com/office/drawing/2014/main" id="{AF0BCB4D-E800-F645-8CFB-DAA7D2298E85}"/>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9" name="Losange 448">
                <a:extLst>
                  <a:ext uri="{FF2B5EF4-FFF2-40B4-BE49-F238E27FC236}">
                    <a16:creationId xmlns:a16="http://schemas.microsoft.com/office/drawing/2014/main" id="{2F0667B3-272F-5E43-B5BC-5745C9FBBF8F}"/>
                  </a:ext>
                </a:extLst>
              </p:cNvPr>
              <p:cNvSpPr/>
              <p:nvPr/>
            </p:nvSpPr>
            <p:spPr>
              <a:xfrm>
                <a:off x="15518550" y="482374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mc:AlternateContent xmlns:mc="http://schemas.openxmlformats.org/markup-compatibility/2006" xmlns:a14="http://schemas.microsoft.com/office/drawing/2010/main">
          <mc:Choice Requires="a14">
            <p:sp>
              <p:nvSpPr>
                <p:cNvPr id="246" name="ZoneTexte 245">
                  <a:extLst>
                    <a:ext uri="{FF2B5EF4-FFF2-40B4-BE49-F238E27FC236}">
                      <a16:creationId xmlns:a16="http://schemas.microsoft.com/office/drawing/2014/main" id="{992D4D35-B978-764A-8ED1-C725E57CAAA3}"/>
                    </a:ext>
                  </a:extLst>
                </p:cNvPr>
                <p:cNvSpPr txBox="1"/>
                <p:nvPr/>
              </p:nvSpPr>
              <p:spPr>
                <a:xfrm>
                  <a:off x="5899340" y="729273"/>
                  <a:ext cx="470000" cy="2799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219" b="1" i="1" noProof="1" dirty="0">
                            <a:latin typeface="Cambria Math" panose="02040503050406030204" pitchFamily="18" charset="0"/>
                            <a:ea typeface="Cambria Math" panose="02040503050406030204" pitchFamily="18" charset="0"/>
                          </a:rPr>
                          <m:t>×</m:t>
                        </m:r>
                        <m:r>
                          <a:rPr lang="fr-FR" sz="1219" b="1" i="1" noProof="1" dirty="0">
                            <a:latin typeface="Cambria Math" panose="02040503050406030204" pitchFamily="18" charset="0"/>
                          </a:rPr>
                          <m:t> </m:t>
                        </m:r>
                        <m:r>
                          <a:rPr lang="fr-FR" sz="1219" b="1" i="1" noProof="1" dirty="0">
                            <a:latin typeface="Cambria Math" panose="02040503050406030204" pitchFamily="18" charset="0"/>
                          </a:rPr>
                          <m:t>𝜶</m:t>
                        </m:r>
                      </m:oMath>
                    </m:oMathPara>
                  </a14:m>
                  <a:endParaRPr lang="en-US" sz="1219" b="1" noProof="1"/>
                </a:p>
              </p:txBody>
            </p:sp>
          </mc:Choice>
          <mc:Fallback xmlns="">
            <p:sp>
              <p:nvSpPr>
                <p:cNvPr id="246" name="ZoneTexte 245">
                  <a:extLst>
                    <a:ext uri="{FF2B5EF4-FFF2-40B4-BE49-F238E27FC236}">
                      <a16:creationId xmlns:a16="http://schemas.microsoft.com/office/drawing/2014/main" id="{992D4D35-B978-764A-8ED1-C725E57CAAA3}"/>
                    </a:ext>
                  </a:extLst>
                </p:cNvPr>
                <p:cNvSpPr txBox="1">
                  <a:spLocks noRot="1" noChangeAspect="1" noMove="1" noResize="1" noEditPoints="1" noAdjustHandles="1" noChangeArrowheads="1" noChangeShapeType="1" noTextEdit="1"/>
                </p:cNvSpPr>
                <p:nvPr/>
              </p:nvSpPr>
              <p:spPr>
                <a:xfrm>
                  <a:off x="5899340" y="729273"/>
                  <a:ext cx="470000" cy="279948"/>
                </a:xfrm>
                <a:prstGeom prst="rect">
                  <a:avLst/>
                </a:prstGeom>
                <a:blipFill>
                  <a:blip r:embed="rId10"/>
                  <a:stretch>
                    <a:fillRect/>
                  </a:stretch>
                </a:blipFill>
              </p:spPr>
              <p:txBody>
                <a:bodyPr/>
                <a:lstStyle/>
                <a:p>
                  <a:r>
                    <a:rPr lang="en-FR">
                      <a:noFill/>
                    </a:rPr>
                    <a:t> </a:t>
                  </a:r>
                </a:p>
              </p:txBody>
            </p:sp>
          </mc:Fallback>
        </mc:AlternateContent>
        <p:grpSp>
          <p:nvGrpSpPr>
            <p:cNvPr id="351" name="Groupe 350">
              <a:extLst>
                <a:ext uri="{FF2B5EF4-FFF2-40B4-BE49-F238E27FC236}">
                  <a16:creationId xmlns:a16="http://schemas.microsoft.com/office/drawing/2014/main" id="{BA6AE3FA-40CA-4C4A-800F-CAAD064AE409}"/>
                </a:ext>
              </a:extLst>
            </p:cNvPr>
            <p:cNvGrpSpPr/>
            <p:nvPr/>
          </p:nvGrpSpPr>
          <p:grpSpPr>
            <a:xfrm>
              <a:off x="5281643" y="634382"/>
              <a:ext cx="397714" cy="1325940"/>
              <a:chOff x="2629676" y="557784"/>
              <a:chExt cx="1586167" cy="5288124"/>
            </a:xfrm>
          </p:grpSpPr>
          <p:grpSp>
            <p:nvGrpSpPr>
              <p:cNvPr id="352" name="Groupe 351">
                <a:extLst>
                  <a:ext uri="{FF2B5EF4-FFF2-40B4-BE49-F238E27FC236}">
                    <a16:creationId xmlns:a16="http://schemas.microsoft.com/office/drawing/2014/main" id="{F9EB8C55-6E8B-554B-8CDA-B3293867732F}"/>
                  </a:ext>
                </a:extLst>
              </p:cNvPr>
              <p:cNvGrpSpPr/>
              <p:nvPr/>
            </p:nvGrpSpPr>
            <p:grpSpPr>
              <a:xfrm>
                <a:off x="2751513" y="557784"/>
                <a:ext cx="1339995" cy="5288124"/>
                <a:chOff x="3197977" y="533012"/>
                <a:chExt cx="1339995" cy="5312896"/>
              </a:xfrm>
            </p:grpSpPr>
            <p:cxnSp>
              <p:nvCxnSpPr>
                <p:cNvPr id="362" name="Connecteur droit 361">
                  <a:extLst>
                    <a:ext uri="{FF2B5EF4-FFF2-40B4-BE49-F238E27FC236}">
                      <a16:creationId xmlns:a16="http://schemas.microsoft.com/office/drawing/2014/main" id="{E9D1DFC0-0DD8-9442-9737-2B2C35D3F744}"/>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3" name="Connecteur droit 362">
                  <a:extLst>
                    <a:ext uri="{FF2B5EF4-FFF2-40B4-BE49-F238E27FC236}">
                      <a16:creationId xmlns:a16="http://schemas.microsoft.com/office/drawing/2014/main" id="{8FE62FD7-640E-0B43-939D-79C017252077}"/>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4" name="Connecteur droit 363">
                  <a:extLst>
                    <a:ext uri="{FF2B5EF4-FFF2-40B4-BE49-F238E27FC236}">
                      <a16:creationId xmlns:a16="http://schemas.microsoft.com/office/drawing/2014/main" id="{CEF7DBC0-19E2-834B-9A89-97B6355918D7}"/>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5" name="Connecteur droit 364">
                  <a:extLst>
                    <a:ext uri="{FF2B5EF4-FFF2-40B4-BE49-F238E27FC236}">
                      <a16:creationId xmlns:a16="http://schemas.microsoft.com/office/drawing/2014/main" id="{6D3FA04F-963D-824A-89FF-BDD003F9F878}"/>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53" name="Groupe 352">
                <a:extLst>
                  <a:ext uri="{FF2B5EF4-FFF2-40B4-BE49-F238E27FC236}">
                    <a16:creationId xmlns:a16="http://schemas.microsoft.com/office/drawing/2014/main" id="{836C6E10-D99D-BA4B-96D7-3B2B74B9EEE6}"/>
                  </a:ext>
                </a:extLst>
              </p:cNvPr>
              <p:cNvGrpSpPr/>
              <p:nvPr/>
            </p:nvGrpSpPr>
            <p:grpSpPr>
              <a:xfrm>
                <a:off x="2629676" y="3044190"/>
                <a:ext cx="1586167" cy="1635678"/>
                <a:chOff x="3047133" y="2912478"/>
                <a:chExt cx="1586167" cy="1635678"/>
              </a:xfrm>
            </p:grpSpPr>
            <p:sp>
              <p:nvSpPr>
                <p:cNvPr id="354" name="Ellipse 353">
                  <a:extLst>
                    <a:ext uri="{FF2B5EF4-FFF2-40B4-BE49-F238E27FC236}">
                      <a16:creationId xmlns:a16="http://schemas.microsoft.com/office/drawing/2014/main" id="{BE945E3F-D72B-7247-944D-892EEDC27FAB}"/>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5" name="Ellipse 354">
                  <a:extLst>
                    <a:ext uri="{FF2B5EF4-FFF2-40B4-BE49-F238E27FC236}">
                      <a16:creationId xmlns:a16="http://schemas.microsoft.com/office/drawing/2014/main" id="{54E0CAB9-651D-AD45-9D21-E820E4D9A89D}"/>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6" name="Ellipse 355">
                  <a:extLst>
                    <a:ext uri="{FF2B5EF4-FFF2-40B4-BE49-F238E27FC236}">
                      <a16:creationId xmlns:a16="http://schemas.microsoft.com/office/drawing/2014/main" id="{283925C3-724F-1847-97EB-AA394676704C}"/>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7" name="Ellipse 356">
                  <a:extLst>
                    <a:ext uri="{FF2B5EF4-FFF2-40B4-BE49-F238E27FC236}">
                      <a16:creationId xmlns:a16="http://schemas.microsoft.com/office/drawing/2014/main" id="{191A7911-14F5-984B-AAD6-1254EFEDF859}"/>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8" name="Ellipse 357">
                  <a:extLst>
                    <a:ext uri="{FF2B5EF4-FFF2-40B4-BE49-F238E27FC236}">
                      <a16:creationId xmlns:a16="http://schemas.microsoft.com/office/drawing/2014/main" id="{E307ECA6-F781-2D40-8DF6-5DD3940E8DBD}"/>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9" name="Ellipse 358">
                  <a:extLst>
                    <a:ext uri="{FF2B5EF4-FFF2-40B4-BE49-F238E27FC236}">
                      <a16:creationId xmlns:a16="http://schemas.microsoft.com/office/drawing/2014/main" id="{2A20242F-9443-8C4D-BFDC-821CB4F7898B}"/>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60" name="Ellipse 359">
                  <a:extLst>
                    <a:ext uri="{FF2B5EF4-FFF2-40B4-BE49-F238E27FC236}">
                      <a16:creationId xmlns:a16="http://schemas.microsoft.com/office/drawing/2014/main" id="{4DE18F8F-A633-FA47-96F4-99828A401076}"/>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61" name="Ellipse 360">
                  <a:extLst>
                    <a:ext uri="{FF2B5EF4-FFF2-40B4-BE49-F238E27FC236}">
                      <a16:creationId xmlns:a16="http://schemas.microsoft.com/office/drawing/2014/main" id="{4E373EDE-8DC3-6249-8351-9E3EAAE26883}"/>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sp>
          <p:nvSpPr>
            <p:cNvPr id="3" name="Flèche en arc 2">
              <a:extLst>
                <a:ext uri="{FF2B5EF4-FFF2-40B4-BE49-F238E27FC236}">
                  <a16:creationId xmlns:a16="http://schemas.microsoft.com/office/drawing/2014/main" id="{6BAE30FE-6AB0-9C4D-B356-24F5F02354BE}"/>
                </a:ext>
              </a:extLst>
            </p:cNvPr>
            <p:cNvSpPr/>
            <p:nvPr/>
          </p:nvSpPr>
          <p:spPr>
            <a:xfrm rot="6817109">
              <a:off x="5580335" y="1222699"/>
              <a:ext cx="383701" cy="267859"/>
            </a:xfrm>
            <a:prstGeom prst="circularArrow">
              <a:avLst>
                <a:gd name="adj1" fmla="val 9236"/>
                <a:gd name="adj2" fmla="val 1503513"/>
                <a:gd name="adj3" fmla="val 15965119"/>
                <a:gd name="adj4" fmla="val 12227493"/>
                <a:gd name="adj5" fmla="val 13233"/>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9" name="Flèche en arc 428">
              <a:extLst>
                <a:ext uri="{FF2B5EF4-FFF2-40B4-BE49-F238E27FC236}">
                  <a16:creationId xmlns:a16="http://schemas.microsoft.com/office/drawing/2014/main" id="{0C5195B1-8752-F54C-9A7B-F57812CA0CFF}"/>
                </a:ext>
              </a:extLst>
            </p:cNvPr>
            <p:cNvSpPr/>
            <p:nvPr/>
          </p:nvSpPr>
          <p:spPr>
            <a:xfrm rot="6817109">
              <a:off x="5580335" y="740003"/>
              <a:ext cx="383701" cy="267859"/>
            </a:xfrm>
            <a:prstGeom prst="circularArrow">
              <a:avLst>
                <a:gd name="adj1" fmla="val 9236"/>
                <a:gd name="adj2" fmla="val 1503513"/>
                <a:gd name="adj3" fmla="val 15965119"/>
                <a:gd name="adj4" fmla="val 12227493"/>
                <a:gd name="adj5" fmla="val 13233"/>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30" name="Flèche en arc 429">
              <a:extLst>
                <a:ext uri="{FF2B5EF4-FFF2-40B4-BE49-F238E27FC236}">
                  <a16:creationId xmlns:a16="http://schemas.microsoft.com/office/drawing/2014/main" id="{C8809643-8FC9-2742-BB90-34D86B12498D}"/>
                </a:ext>
              </a:extLst>
            </p:cNvPr>
            <p:cNvSpPr/>
            <p:nvPr/>
          </p:nvSpPr>
          <p:spPr>
            <a:xfrm rot="16200000">
              <a:off x="4994005" y="1507696"/>
              <a:ext cx="289020" cy="230281"/>
            </a:xfrm>
            <a:prstGeom prst="circularArrow">
              <a:avLst>
                <a:gd name="adj1" fmla="val 9236"/>
                <a:gd name="adj2" fmla="val 1503513"/>
                <a:gd name="adj3" fmla="val 15965119"/>
                <a:gd name="adj4" fmla="val 12227493"/>
                <a:gd name="adj5" fmla="val 12644"/>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31" name="Flèche en arc 430">
              <a:extLst>
                <a:ext uri="{FF2B5EF4-FFF2-40B4-BE49-F238E27FC236}">
                  <a16:creationId xmlns:a16="http://schemas.microsoft.com/office/drawing/2014/main" id="{3DA1193B-D426-054F-9839-D4CA4C7B6EF5}"/>
                </a:ext>
              </a:extLst>
            </p:cNvPr>
            <p:cNvSpPr/>
            <p:nvPr/>
          </p:nvSpPr>
          <p:spPr>
            <a:xfrm rot="16200000">
              <a:off x="5052679" y="1723306"/>
              <a:ext cx="224792" cy="192830"/>
            </a:xfrm>
            <a:prstGeom prst="circularArrow">
              <a:avLst>
                <a:gd name="adj1" fmla="val 9236"/>
                <a:gd name="adj2" fmla="val 1503513"/>
                <a:gd name="adj3" fmla="val 15965119"/>
                <a:gd name="adj4" fmla="val 12227493"/>
                <a:gd name="adj5" fmla="val 12644"/>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sp>
        <p:nvSpPr>
          <p:cNvPr id="318" name="ZoneTexte 641">
            <a:extLst>
              <a:ext uri="{FF2B5EF4-FFF2-40B4-BE49-F238E27FC236}">
                <a16:creationId xmlns:a16="http://schemas.microsoft.com/office/drawing/2014/main" id="{8984F097-A449-BE45-9330-A2A0ECD0DD20}"/>
              </a:ext>
            </a:extLst>
          </p:cNvPr>
          <p:cNvSpPr txBox="1"/>
          <p:nvPr/>
        </p:nvSpPr>
        <p:spPr>
          <a:xfrm>
            <a:off x="65609" y="15573"/>
            <a:ext cx="2185060" cy="584775"/>
          </a:xfrm>
          <a:prstGeom prst="rect">
            <a:avLst/>
          </a:prstGeom>
          <a:noFill/>
        </p:spPr>
        <p:txBody>
          <a:bodyPr wrap="square" rtlCol="0">
            <a:spAutoFit/>
          </a:bodyPr>
          <a:lstStyle/>
          <a:p>
            <a:pPr algn="ctr"/>
            <a:r>
              <a:rPr lang="en-US" sz="1600" b="1" i="1" noProof="1"/>
              <a:t>Individual data</a:t>
            </a:r>
          </a:p>
          <a:p>
            <a:pPr algn="ctr"/>
            <a:r>
              <a:rPr lang="en-US" sz="1600" b="1" i="1" noProof="1"/>
              <a:t>&amp; model</a:t>
            </a:r>
          </a:p>
        </p:txBody>
      </p:sp>
      <p:sp>
        <p:nvSpPr>
          <p:cNvPr id="319" name="ZoneTexte 650">
            <a:extLst>
              <a:ext uri="{FF2B5EF4-FFF2-40B4-BE49-F238E27FC236}">
                <a16:creationId xmlns:a16="http://schemas.microsoft.com/office/drawing/2014/main" id="{A0C0810A-6E0B-F348-BBE7-5A6DBCD06A36}"/>
              </a:ext>
            </a:extLst>
          </p:cNvPr>
          <p:cNvSpPr txBox="1"/>
          <p:nvPr/>
        </p:nvSpPr>
        <p:spPr>
          <a:xfrm>
            <a:off x="2457694" y="133757"/>
            <a:ext cx="2185060" cy="338554"/>
          </a:xfrm>
          <a:prstGeom prst="rect">
            <a:avLst/>
          </a:prstGeom>
          <a:noFill/>
        </p:spPr>
        <p:txBody>
          <a:bodyPr wrap="square" rtlCol="0">
            <a:spAutoFit/>
          </a:bodyPr>
          <a:lstStyle/>
          <a:p>
            <a:pPr algn="ctr"/>
            <a:r>
              <a:rPr lang="en-US" sz="1600" b="1" i="1" noProof="1"/>
              <a:t>Time-shift</a:t>
            </a:r>
          </a:p>
        </p:txBody>
      </p:sp>
      <p:sp>
        <p:nvSpPr>
          <p:cNvPr id="320" name="ZoneTexte 652">
            <a:extLst>
              <a:ext uri="{FF2B5EF4-FFF2-40B4-BE49-F238E27FC236}">
                <a16:creationId xmlns:a16="http://schemas.microsoft.com/office/drawing/2014/main" id="{A54E166D-051B-104E-AFA3-A031409A6F9A}"/>
              </a:ext>
            </a:extLst>
          </p:cNvPr>
          <p:cNvSpPr txBox="1"/>
          <p:nvPr/>
        </p:nvSpPr>
        <p:spPr>
          <a:xfrm>
            <a:off x="6994413" y="129845"/>
            <a:ext cx="2185060" cy="338554"/>
          </a:xfrm>
          <a:prstGeom prst="rect">
            <a:avLst/>
          </a:prstGeom>
          <a:noFill/>
        </p:spPr>
        <p:txBody>
          <a:bodyPr wrap="square" rtlCol="0">
            <a:spAutoFit/>
          </a:bodyPr>
          <a:lstStyle/>
          <a:p>
            <a:pPr algn="ctr"/>
            <a:r>
              <a:rPr lang="en-US" sz="1600" b="1" i="1" noProof="1"/>
              <a:t>Inter-marker spacings</a:t>
            </a:r>
          </a:p>
        </p:txBody>
      </p:sp>
      <p:sp>
        <p:nvSpPr>
          <p:cNvPr id="321" name="Triangle 320">
            <a:extLst>
              <a:ext uri="{FF2B5EF4-FFF2-40B4-BE49-F238E27FC236}">
                <a16:creationId xmlns:a16="http://schemas.microsoft.com/office/drawing/2014/main" id="{1CECA27E-CF73-9747-9F1C-6196054BA3CB}"/>
              </a:ext>
            </a:extLst>
          </p:cNvPr>
          <p:cNvSpPr/>
          <p:nvPr/>
        </p:nvSpPr>
        <p:spPr>
          <a:xfrm rot="5400000">
            <a:off x="2275106" y="243431"/>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322" name="ZoneTexte 665">
            <a:extLst>
              <a:ext uri="{FF2B5EF4-FFF2-40B4-BE49-F238E27FC236}">
                <a16:creationId xmlns:a16="http://schemas.microsoft.com/office/drawing/2014/main" id="{1195C0DB-DE02-D741-968D-3654D87356E0}"/>
              </a:ext>
            </a:extLst>
          </p:cNvPr>
          <p:cNvSpPr txBox="1"/>
          <p:nvPr/>
        </p:nvSpPr>
        <p:spPr>
          <a:xfrm>
            <a:off x="4702691" y="132728"/>
            <a:ext cx="2185060" cy="338554"/>
          </a:xfrm>
          <a:prstGeom prst="rect">
            <a:avLst/>
          </a:prstGeom>
          <a:noFill/>
        </p:spPr>
        <p:txBody>
          <a:bodyPr wrap="square" rtlCol="0">
            <a:spAutoFit/>
          </a:bodyPr>
          <a:lstStyle/>
          <a:p>
            <a:pPr algn="ctr"/>
            <a:r>
              <a:rPr lang="en-US" sz="1600" b="1" i="1" noProof="1"/>
              <a:t>Acceleration factor</a:t>
            </a:r>
          </a:p>
        </p:txBody>
      </p:sp>
      <p:sp>
        <p:nvSpPr>
          <p:cNvPr id="323" name="Triangle 322">
            <a:extLst>
              <a:ext uri="{FF2B5EF4-FFF2-40B4-BE49-F238E27FC236}">
                <a16:creationId xmlns:a16="http://schemas.microsoft.com/office/drawing/2014/main" id="{A71CD654-5543-7A4E-9FAE-D81460C6F6D6}"/>
              </a:ext>
            </a:extLst>
          </p:cNvPr>
          <p:cNvSpPr/>
          <p:nvPr/>
        </p:nvSpPr>
        <p:spPr>
          <a:xfrm rot="5400000">
            <a:off x="4543335" y="248357"/>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324" name="Triangle 323">
            <a:extLst>
              <a:ext uri="{FF2B5EF4-FFF2-40B4-BE49-F238E27FC236}">
                <a16:creationId xmlns:a16="http://schemas.microsoft.com/office/drawing/2014/main" id="{F3F19277-C7D0-264F-A8B7-580F27523B2E}"/>
              </a:ext>
            </a:extLst>
          </p:cNvPr>
          <p:cNvSpPr/>
          <p:nvPr/>
        </p:nvSpPr>
        <p:spPr>
          <a:xfrm rot="5400000">
            <a:off x="6874738" y="243431"/>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 name="Espace réservé du numéro de diapositive 3">
            <a:extLst>
              <a:ext uri="{FF2B5EF4-FFF2-40B4-BE49-F238E27FC236}">
                <a16:creationId xmlns:a16="http://schemas.microsoft.com/office/drawing/2014/main" id="{866404D1-D447-B92E-351A-D4A0DDFB0637}"/>
              </a:ext>
            </a:extLst>
          </p:cNvPr>
          <p:cNvSpPr>
            <a:spLocks noGrp="1"/>
          </p:cNvSpPr>
          <p:nvPr>
            <p:ph type="sldNum" sz="quarter" idx="12"/>
          </p:nvPr>
        </p:nvSpPr>
        <p:spPr>
          <a:xfrm>
            <a:off x="6537425" y="4501430"/>
            <a:ext cx="2133600" cy="273844"/>
          </a:xfrm>
        </p:spPr>
        <p:txBody>
          <a:bodyPr/>
          <a:lstStyle/>
          <a:p>
            <a:fld id="{B6E69D5D-3C54-E347-B3D4-70BDFA7C6521}" type="slidenum">
              <a:rPr lang="fr-FR" smtClean="0"/>
              <a:t>4</a:t>
            </a:fld>
            <a:endParaRPr lang="fr-FR"/>
          </a:p>
        </p:txBody>
      </p:sp>
      <p:pic>
        <p:nvPicPr>
          <p:cNvPr id="6" name="Image 40">
            <a:extLst>
              <a:ext uri="{FF2B5EF4-FFF2-40B4-BE49-F238E27FC236}">
                <a16:creationId xmlns:a16="http://schemas.microsoft.com/office/drawing/2014/main" id="{9628FAE9-C81A-D440-E117-56537756DC47}"/>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794664" y="2467297"/>
            <a:ext cx="4333369" cy="2623974"/>
          </a:xfrm>
          <a:prstGeom prst="rect">
            <a:avLst/>
          </a:prstGeom>
        </p:spPr>
      </p:pic>
      <p:grpSp>
        <p:nvGrpSpPr>
          <p:cNvPr id="8" name="Groupe 116">
            <a:extLst>
              <a:ext uri="{FF2B5EF4-FFF2-40B4-BE49-F238E27FC236}">
                <a16:creationId xmlns:a16="http://schemas.microsoft.com/office/drawing/2014/main" id="{3FDB816E-7361-85E3-B3F1-B912616C4C8D}"/>
              </a:ext>
            </a:extLst>
          </p:cNvPr>
          <p:cNvGrpSpPr/>
          <p:nvPr/>
        </p:nvGrpSpPr>
        <p:grpSpPr>
          <a:xfrm>
            <a:off x="505145" y="2476212"/>
            <a:ext cx="4333369" cy="2614133"/>
            <a:chOff x="2476953" y="5556184"/>
            <a:chExt cx="5525743" cy="3868020"/>
          </a:xfrm>
        </p:grpSpPr>
        <p:pic>
          <p:nvPicPr>
            <p:cNvPr id="9" name="Image 96">
              <a:extLst>
                <a:ext uri="{FF2B5EF4-FFF2-40B4-BE49-F238E27FC236}">
                  <a16:creationId xmlns:a16="http://schemas.microsoft.com/office/drawing/2014/main" id="{333F163B-05F9-BC7A-0238-113BFFEC5295}"/>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476953" y="5556184"/>
              <a:ext cx="5525743" cy="3868020"/>
            </a:xfrm>
            <a:prstGeom prst="rect">
              <a:avLst/>
            </a:prstGeom>
          </p:spPr>
        </p:pic>
        <p:sp>
          <p:nvSpPr>
            <p:cNvPr id="11" name="ZoneTexte 101">
              <a:extLst>
                <a:ext uri="{FF2B5EF4-FFF2-40B4-BE49-F238E27FC236}">
                  <a16:creationId xmlns:a16="http://schemas.microsoft.com/office/drawing/2014/main" id="{95A752D5-AE0C-596B-E318-F4D8585638D5}"/>
                </a:ext>
              </a:extLst>
            </p:cNvPr>
            <p:cNvSpPr txBox="1"/>
            <p:nvPr/>
          </p:nvSpPr>
          <p:spPr>
            <a:xfrm>
              <a:off x="3262556" y="7857508"/>
              <a:ext cx="1293177" cy="470375"/>
            </a:xfrm>
            <a:prstGeom prst="rect">
              <a:avLst/>
            </a:prstGeom>
            <a:noFill/>
          </p:spPr>
          <p:txBody>
            <a:bodyPr wrap="none" rtlCol="0">
              <a:spAutoFit/>
            </a:bodyPr>
            <a:lstStyle/>
            <a:p>
              <a:r>
                <a:rPr lang="en-US" i="1" dirty="0">
                  <a:solidFill>
                    <a:schemeClr val="bg2">
                      <a:lumMod val="50000"/>
                    </a:schemeClr>
                  </a:solidFill>
                  <a:latin typeface="Helvetica" pitchFamily="2" charset="0"/>
                </a:rPr>
                <a:t>Patient A</a:t>
              </a:r>
            </a:p>
          </p:txBody>
        </p:sp>
        <p:sp>
          <p:nvSpPr>
            <p:cNvPr id="12" name="ZoneTexte 103">
              <a:extLst>
                <a:ext uri="{FF2B5EF4-FFF2-40B4-BE49-F238E27FC236}">
                  <a16:creationId xmlns:a16="http://schemas.microsoft.com/office/drawing/2014/main" id="{7BC901AA-79F1-C65A-97C1-E9FD33F12261}"/>
                </a:ext>
              </a:extLst>
            </p:cNvPr>
            <p:cNvSpPr txBox="1"/>
            <p:nvPr/>
          </p:nvSpPr>
          <p:spPr>
            <a:xfrm>
              <a:off x="5573086" y="6211517"/>
              <a:ext cx="1307918" cy="470375"/>
            </a:xfrm>
            <a:prstGeom prst="rect">
              <a:avLst/>
            </a:prstGeom>
            <a:noFill/>
          </p:spPr>
          <p:txBody>
            <a:bodyPr wrap="none" rtlCol="0">
              <a:spAutoFit/>
            </a:bodyPr>
            <a:lstStyle/>
            <a:p>
              <a:r>
                <a:rPr lang="en-US" i="1" dirty="0">
                  <a:solidFill>
                    <a:schemeClr val="bg2">
                      <a:lumMod val="50000"/>
                    </a:schemeClr>
                  </a:solidFill>
                  <a:latin typeface="Helvetica" pitchFamily="2" charset="0"/>
                </a:rPr>
                <a:t>Patient B</a:t>
              </a:r>
            </a:p>
          </p:txBody>
        </p:sp>
        <p:sp>
          <p:nvSpPr>
            <p:cNvPr id="13" name="ZoneTexte 104">
              <a:extLst>
                <a:ext uri="{FF2B5EF4-FFF2-40B4-BE49-F238E27FC236}">
                  <a16:creationId xmlns:a16="http://schemas.microsoft.com/office/drawing/2014/main" id="{B38A0D3F-AB8D-0BEB-E8A1-B2B167A1639C}"/>
                </a:ext>
              </a:extLst>
            </p:cNvPr>
            <p:cNvSpPr txBox="1"/>
            <p:nvPr/>
          </p:nvSpPr>
          <p:spPr>
            <a:xfrm>
              <a:off x="6139484" y="7536554"/>
              <a:ext cx="1322882" cy="470375"/>
            </a:xfrm>
            <a:prstGeom prst="rect">
              <a:avLst/>
            </a:prstGeom>
            <a:noFill/>
          </p:spPr>
          <p:txBody>
            <a:bodyPr wrap="none" rtlCol="0">
              <a:spAutoFit/>
            </a:bodyPr>
            <a:lstStyle/>
            <a:p>
              <a:r>
                <a:rPr lang="en-US" i="1" dirty="0">
                  <a:solidFill>
                    <a:schemeClr val="bg2">
                      <a:lumMod val="50000"/>
                    </a:schemeClr>
                  </a:solidFill>
                  <a:latin typeface="Helvetica" pitchFamily="2" charset="0"/>
                </a:rPr>
                <a:t>Patient C</a:t>
              </a:r>
            </a:p>
          </p:txBody>
        </p:sp>
      </p:grpSp>
      <mc:AlternateContent xmlns:mc="http://schemas.openxmlformats.org/markup-compatibility/2006">
        <mc:Choice xmlns:a14="http://schemas.microsoft.com/office/drawing/2010/main" Requires="a14">
          <p:sp>
            <p:nvSpPr>
              <p:cNvPr id="14" name="Flèche vers la droite 2">
                <a:extLst>
                  <a:ext uri="{FF2B5EF4-FFF2-40B4-BE49-F238E27FC236}">
                    <a16:creationId xmlns:a16="http://schemas.microsoft.com/office/drawing/2014/main" id="{66488C2E-F96C-EA5D-13F7-590205017DEE}"/>
                  </a:ext>
                </a:extLst>
              </p:cNvPr>
              <p:cNvSpPr/>
              <p:nvPr/>
            </p:nvSpPr>
            <p:spPr>
              <a:xfrm flipH="1">
                <a:off x="6499902" y="3606543"/>
                <a:ext cx="1058653" cy="380787"/>
              </a:xfrm>
              <a:prstGeom prst="rightArrow">
                <a:avLst>
                  <a:gd name="adj1" fmla="val 56429"/>
                  <a:gd name="adj2" fmla="val 50000"/>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50400" rtlCol="0" anchor="ctr"/>
              <a:lstStyle/>
              <a:p>
                <a:pPr algn="ctr"/>
                <a14:m>
                  <m:oMathPara xmlns:m="http://schemas.openxmlformats.org/officeDocument/2006/math">
                    <m:oMathParaPr>
                      <m:jc m:val="left"/>
                    </m:oMathParaPr>
                    <m:oMath xmlns:m="http://schemas.openxmlformats.org/officeDocument/2006/math">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𝜶</m:t>
                          </m:r>
                        </m:e>
                        <m:sub>
                          <m:r>
                            <a:rPr lang="fr-FR" sz="1600" b="1" i="1" smtClean="0">
                              <a:solidFill>
                                <a:schemeClr val="tx1">
                                  <a:lumMod val="65000"/>
                                  <a:lumOff val="35000"/>
                                </a:schemeClr>
                              </a:solidFill>
                              <a:latin typeface="Cambria Math" panose="02040503050406030204" pitchFamily="18" charset="0"/>
                            </a:rPr>
                            <m:t>𝑨</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𝝉</m:t>
                          </m:r>
                        </m:e>
                        <m:sub>
                          <m:r>
                            <a:rPr lang="fr-FR" sz="1600" b="1" i="1" smtClean="0">
                              <a:solidFill>
                                <a:schemeClr val="tx1">
                                  <a:lumMod val="65000"/>
                                  <a:lumOff val="35000"/>
                                </a:schemeClr>
                              </a:solidFill>
                              <a:latin typeface="Cambria Math" panose="02040503050406030204" pitchFamily="18" charset="0"/>
                            </a:rPr>
                            <m:t>𝑨</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𝝎</m:t>
                          </m:r>
                        </m:e>
                        <m:sub>
                          <m:r>
                            <a:rPr lang="fr-FR" sz="1600" b="1" i="1" smtClean="0">
                              <a:solidFill>
                                <a:schemeClr val="tx1">
                                  <a:lumMod val="65000"/>
                                  <a:lumOff val="35000"/>
                                </a:schemeClr>
                              </a:solidFill>
                              <a:latin typeface="Cambria Math" panose="02040503050406030204" pitchFamily="18" charset="0"/>
                            </a:rPr>
                            <m:t>𝑨</m:t>
                          </m:r>
                        </m:sub>
                      </m:sSub>
                    </m:oMath>
                  </m:oMathPara>
                </a14:m>
                <a:endParaRPr lang="en-US" sz="1600" b="1" dirty="0">
                  <a:solidFill>
                    <a:schemeClr val="tx1">
                      <a:lumMod val="65000"/>
                      <a:lumOff val="35000"/>
                    </a:schemeClr>
                  </a:solidFill>
                </a:endParaRPr>
              </a:p>
            </p:txBody>
          </p:sp>
        </mc:Choice>
        <mc:Fallback>
          <p:sp>
            <p:nvSpPr>
              <p:cNvPr id="14" name="Flèche vers la droite 2">
                <a:extLst>
                  <a:ext uri="{FF2B5EF4-FFF2-40B4-BE49-F238E27FC236}">
                    <a16:creationId xmlns:a16="http://schemas.microsoft.com/office/drawing/2014/main" id="{66488C2E-F96C-EA5D-13F7-590205017DEE}"/>
                  </a:ext>
                </a:extLst>
              </p:cNvPr>
              <p:cNvSpPr>
                <a:spLocks noRot="1" noChangeAspect="1" noMove="1" noResize="1" noEditPoints="1" noAdjustHandles="1" noChangeArrowheads="1" noChangeShapeType="1" noTextEdit="1"/>
              </p:cNvSpPr>
              <p:nvPr/>
            </p:nvSpPr>
            <p:spPr>
              <a:xfrm flipH="1">
                <a:off x="6499902" y="3606543"/>
                <a:ext cx="1058653" cy="380787"/>
              </a:xfrm>
              <a:prstGeom prst="rightArrow">
                <a:avLst>
                  <a:gd name="adj1" fmla="val 56429"/>
                  <a:gd name="adj2" fmla="val 50000"/>
                </a:avLst>
              </a:prstGeom>
              <a:blipFill>
                <a:blip r:embed="rId13"/>
                <a:stretch>
                  <a:fillRect/>
                </a:stretch>
              </a:blipFill>
              <a:ln w="6350">
                <a:solidFill>
                  <a:schemeClr val="bg1">
                    <a:lumMod val="50000"/>
                  </a:schemeClr>
                </a:solidFill>
              </a:ln>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5" name="Flèche vers la droite 125">
                <a:extLst>
                  <a:ext uri="{FF2B5EF4-FFF2-40B4-BE49-F238E27FC236}">
                    <a16:creationId xmlns:a16="http://schemas.microsoft.com/office/drawing/2014/main" id="{E0059B1E-F1F1-3E7E-0BC4-09D1FAF2B717}"/>
                  </a:ext>
                </a:extLst>
              </p:cNvPr>
              <p:cNvSpPr/>
              <p:nvPr/>
            </p:nvSpPr>
            <p:spPr>
              <a:xfrm flipH="1">
                <a:off x="7253766" y="2845811"/>
                <a:ext cx="1058654" cy="368313"/>
              </a:xfrm>
              <a:prstGeom prst="rightArrow">
                <a:avLst>
                  <a:gd name="adj1" fmla="val 56429"/>
                  <a:gd name="adj2" fmla="val 50000"/>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50400" rtlCol="0" anchor="ctr"/>
              <a:lstStyle/>
              <a:p>
                <a:pPr algn="ctr"/>
                <a14:m>
                  <m:oMathPara xmlns:m="http://schemas.openxmlformats.org/officeDocument/2006/math">
                    <m:oMathParaPr>
                      <m:jc m:val="left"/>
                    </m:oMathParaPr>
                    <m:oMath xmlns:m="http://schemas.openxmlformats.org/officeDocument/2006/math">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𝜶</m:t>
                          </m:r>
                        </m:e>
                        <m:sub>
                          <m:r>
                            <a:rPr lang="fr-FR" sz="1600" b="1" i="1" smtClean="0">
                              <a:solidFill>
                                <a:schemeClr val="tx1">
                                  <a:lumMod val="65000"/>
                                  <a:lumOff val="35000"/>
                                </a:schemeClr>
                              </a:solidFill>
                              <a:latin typeface="Cambria Math" panose="02040503050406030204" pitchFamily="18" charset="0"/>
                            </a:rPr>
                            <m:t>𝑩</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𝝉</m:t>
                          </m:r>
                        </m:e>
                        <m:sub>
                          <m:r>
                            <a:rPr lang="fr-FR" sz="1600" b="1" i="1" smtClean="0">
                              <a:solidFill>
                                <a:schemeClr val="tx1">
                                  <a:lumMod val="65000"/>
                                  <a:lumOff val="35000"/>
                                </a:schemeClr>
                              </a:solidFill>
                              <a:latin typeface="Cambria Math" panose="02040503050406030204" pitchFamily="18" charset="0"/>
                            </a:rPr>
                            <m:t>𝑩</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𝝎</m:t>
                          </m:r>
                        </m:e>
                        <m:sub>
                          <m:r>
                            <a:rPr lang="fr-FR" sz="1600" b="1" i="1" smtClean="0">
                              <a:solidFill>
                                <a:schemeClr val="tx1">
                                  <a:lumMod val="65000"/>
                                  <a:lumOff val="35000"/>
                                </a:schemeClr>
                              </a:solidFill>
                              <a:latin typeface="Cambria Math" panose="02040503050406030204" pitchFamily="18" charset="0"/>
                            </a:rPr>
                            <m:t>𝑩</m:t>
                          </m:r>
                        </m:sub>
                      </m:sSub>
                    </m:oMath>
                  </m:oMathPara>
                </a14:m>
                <a:endParaRPr lang="en-US" sz="1600" b="1" dirty="0">
                  <a:solidFill>
                    <a:schemeClr val="tx1">
                      <a:lumMod val="65000"/>
                      <a:lumOff val="35000"/>
                    </a:schemeClr>
                  </a:solidFill>
                </a:endParaRPr>
              </a:p>
            </p:txBody>
          </p:sp>
        </mc:Choice>
        <mc:Fallback>
          <p:sp>
            <p:nvSpPr>
              <p:cNvPr id="15" name="Flèche vers la droite 125">
                <a:extLst>
                  <a:ext uri="{FF2B5EF4-FFF2-40B4-BE49-F238E27FC236}">
                    <a16:creationId xmlns:a16="http://schemas.microsoft.com/office/drawing/2014/main" id="{E0059B1E-F1F1-3E7E-0BC4-09D1FAF2B717}"/>
                  </a:ext>
                </a:extLst>
              </p:cNvPr>
              <p:cNvSpPr>
                <a:spLocks noRot="1" noChangeAspect="1" noMove="1" noResize="1" noEditPoints="1" noAdjustHandles="1" noChangeArrowheads="1" noChangeShapeType="1" noTextEdit="1"/>
              </p:cNvSpPr>
              <p:nvPr/>
            </p:nvSpPr>
            <p:spPr>
              <a:xfrm flipH="1">
                <a:off x="7253766" y="2845811"/>
                <a:ext cx="1058654" cy="368313"/>
              </a:xfrm>
              <a:prstGeom prst="rightArrow">
                <a:avLst>
                  <a:gd name="adj1" fmla="val 56429"/>
                  <a:gd name="adj2" fmla="val 50000"/>
                </a:avLst>
              </a:prstGeom>
              <a:blipFill>
                <a:blip r:embed="rId14"/>
                <a:stretch>
                  <a:fillRect r="-1163"/>
                </a:stretch>
              </a:blipFill>
              <a:ln w="6350">
                <a:solidFill>
                  <a:schemeClr val="bg1">
                    <a:lumMod val="50000"/>
                  </a:schemeClr>
                </a:solidFill>
              </a:ln>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7" name="Flèche vers la gauche 126">
                <a:extLst>
                  <a:ext uri="{FF2B5EF4-FFF2-40B4-BE49-F238E27FC236}">
                    <a16:creationId xmlns:a16="http://schemas.microsoft.com/office/drawing/2014/main" id="{47976741-382E-A38E-8E33-593A0E616F34}"/>
                  </a:ext>
                </a:extLst>
              </p:cNvPr>
              <p:cNvSpPr/>
              <p:nvPr/>
            </p:nvSpPr>
            <p:spPr>
              <a:xfrm flipH="1">
                <a:off x="6891419" y="4234137"/>
                <a:ext cx="943908" cy="380787"/>
              </a:xfrm>
              <a:prstGeom prst="leftArrow">
                <a:avLst/>
              </a:prstGeom>
              <a:solidFill>
                <a:schemeClr val="bg1">
                  <a:lumMod val="8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36000" bIns="50400" rtlCol="0" anchor="ctr"/>
              <a:lstStyle/>
              <a:p>
                <a:pPr algn="ctr"/>
                <a14:m>
                  <m:oMathPara xmlns:m="http://schemas.openxmlformats.org/officeDocument/2006/math">
                    <m:oMathParaPr>
                      <m:jc m:val="left"/>
                    </m:oMathParaPr>
                    <m:oMath xmlns:m="http://schemas.openxmlformats.org/officeDocument/2006/math">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𝜶</m:t>
                          </m:r>
                        </m:e>
                        <m:sub>
                          <m:r>
                            <a:rPr lang="fr-FR" sz="1600" b="1" i="1" smtClean="0">
                              <a:solidFill>
                                <a:schemeClr val="tx1">
                                  <a:lumMod val="65000"/>
                                  <a:lumOff val="35000"/>
                                </a:schemeClr>
                              </a:solidFill>
                              <a:latin typeface="Cambria Math" panose="02040503050406030204" pitchFamily="18" charset="0"/>
                            </a:rPr>
                            <m:t>𝑪</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𝝉</m:t>
                          </m:r>
                        </m:e>
                        <m:sub>
                          <m:r>
                            <a:rPr lang="fr-FR" sz="1600" b="1" i="1" smtClean="0">
                              <a:solidFill>
                                <a:schemeClr val="tx1">
                                  <a:lumMod val="65000"/>
                                  <a:lumOff val="35000"/>
                                </a:schemeClr>
                              </a:solidFill>
                              <a:latin typeface="Cambria Math" panose="02040503050406030204" pitchFamily="18" charset="0"/>
                            </a:rPr>
                            <m:t>𝑪</m:t>
                          </m:r>
                        </m:sub>
                      </m:sSub>
                      <m:r>
                        <a:rPr lang="fr-FR" sz="1600" b="1" i="1" smtClean="0">
                          <a:solidFill>
                            <a:schemeClr val="tx1">
                              <a:lumMod val="65000"/>
                              <a:lumOff val="35000"/>
                            </a:schemeClr>
                          </a:solidFill>
                          <a:latin typeface="Cambria Math" panose="02040503050406030204" pitchFamily="18" charset="0"/>
                        </a:rPr>
                        <m:t>, </m:t>
                      </m:r>
                      <m:sSub>
                        <m:sSubPr>
                          <m:ctrlPr>
                            <a:rPr lang="fr-FR" sz="1600" b="1" i="1" smtClean="0">
                              <a:solidFill>
                                <a:schemeClr val="tx1">
                                  <a:lumMod val="65000"/>
                                  <a:lumOff val="35000"/>
                                </a:schemeClr>
                              </a:solidFill>
                              <a:latin typeface="Cambria Math" panose="02040503050406030204" pitchFamily="18" charset="0"/>
                            </a:rPr>
                          </m:ctrlPr>
                        </m:sSubPr>
                        <m:e>
                          <m:r>
                            <a:rPr lang="fr-FR" sz="1600" b="1" i="1" smtClean="0">
                              <a:solidFill>
                                <a:schemeClr val="tx1">
                                  <a:lumMod val="65000"/>
                                  <a:lumOff val="35000"/>
                                </a:schemeClr>
                              </a:solidFill>
                              <a:latin typeface="Cambria Math" panose="02040503050406030204" pitchFamily="18" charset="0"/>
                            </a:rPr>
                            <m:t>𝝎</m:t>
                          </m:r>
                        </m:e>
                        <m:sub>
                          <m:r>
                            <a:rPr lang="fr-FR" sz="1600" b="1" i="1" smtClean="0">
                              <a:solidFill>
                                <a:schemeClr val="tx1">
                                  <a:lumMod val="65000"/>
                                  <a:lumOff val="35000"/>
                                </a:schemeClr>
                              </a:solidFill>
                              <a:latin typeface="Cambria Math" panose="02040503050406030204" pitchFamily="18" charset="0"/>
                            </a:rPr>
                            <m:t>𝑪</m:t>
                          </m:r>
                        </m:sub>
                      </m:sSub>
                    </m:oMath>
                  </m:oMathPara>
                </a14:m>
                <a:endParaRPr lang="en-US" sz="1600" b="1" dirty="0">
                  <a:solidFill>
                    <a:schemeClr val="tx1">
                      <a:lumMod val="65000"/>
                      <a:lumOff val="35000"/>
                    </a:schemeClr>
                  </a:solidFill>
                </a:endParaRPr>
              </a:p>
            </p:txBody>
          </p:sp>
        </mc:Choice>
        <mc:Fallback>
          <p:sp>
            <p:nvSpPr>
              <p:cNvPr id="17" name="Flèche vers la gauche 126">
                <a:extLst>
                  <a:ext uri="{FF2B5EF4-FFF2-40B4-BE49-F238E27FC236}">
                    <a16:creationId xmlns:a16="http://schemas.microsoft.com/office/drawing/2014/main" id="{47976741-382E-A38E-8E33-593A0E616F34}"/>
                  </a:ext>
                </a:extLst>
              </p:cNvPr>
              <p:cNvSpPr>
                <a:spLocks noRot="1" noChangeAspect="1" noMove="1" noResize="1" noEditPoints="1" noAdjustHandles="1" noChangeArrowheads="1" noChangeShapeType="1" noTextEdit="1"/>
              </p:cNvSpPr>
              <p:nvPr/>
            </p:nvSpPr>
            <p:spPr>
              <a:xfrm flipH="1">
                <a:off x="6891419" y="4234137"/>
                <a:ext cx="943908" cy="380787"/>
              </a:xfrm>
              <a:prstGeom prst="leftArrow">
                <a:avLst/>
              </a:prstGeom>
              <a:blipFill>
                <a:blip r:embed="rId15"/>
                <a:stretch>
                  <a:fillRect l="-5263"/>
                </a:stretch>
              </a:blipFill>
              <a:ln w="6350">
                <a:solidFill>
                  <a:schemeClr val="bg1">
                    <a:lumMod val="50000"/>
                  </a:schemeClr>
                </a:solidFill>
              </a:ln>
            </p:spPr>
            <p:txBody>
              <a:bodyPr/>
              <a:lstStyle/>
              <a:p>
                <a:r>
                  <a:rPr lang="fr-FR">
                    <a:noFill/>
                  </a:rPr>
                  <a:t> </a:t>
                </a:r>
              </a:p>
            </p:txBody>
          </p:sp>
        </mc:Fallback>
      </mc:AlternateContent>
      <p:sp>
        <p:nvSpPr>
          <p:cNvPr id="18" name="Espace réservé du numéro de diapositive 3">
            <a:extLst>
              <a:ext uri="{FF2B5EF4-FFF2-40B4-BE49-F238E27FC236}">
                <a16:creationId xmlns:a16="http://schemas.microsoft.com/office/drawing/2014/main" id="{C1B65A71-1B70-B211-33E2-B5CA979E135D}"/>
              </a:ext>
            </a:extLst>
          </p:cNvPr>
          <p:cNvSpPr txBox="1">
            <a:spLocks/>
          </p:cNvSpPr>
          <p:nvPr/>
        </p:nvSpPr>
        <p:spPr>
          <a:xfrm>
            <a:off x="6689825" y="4653830"/>
            <a:ext cx="2133600" cy="273844"/>
          </a:xfrm>
          <a:prstGeom prst="rect">
            <a:avLst/>
          </a:prstGeom>
        </p:spPr>
        <p:txBody>
          <a:bodyPr vert="horz" lIns="91440" tIns="45720" rIns="91440" bIns="4572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mtClean="0"/>
              <a:pPr/>
              <a:t>4</a:t>
            </a:fld>
            <a:endParaRPr lang="fr-FR"/>
          </a:p>
        </p:txBody>
      </p:sp>
    </p:spTree>
    <p:extLst>
      <p:ext uri="{BB962C8B-B14F-4D97-AF65-F5344CB8AC3E}">
        <p14:creationId xmlns:p14="http://schemas.microsoft.com/office/powerpoint/2010/main" val="218559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 grpId="0"/>
      <p:bldP spid="644" grpId="0"/>
      <p:bldP spid="318" grpId="0"/>
      <p:bldP spid="319" grpId="0"/>
      <p:bldP spid="320" grpId="0"/>
      <p:bldP spid="321" grpId="0" animBg="1"/>
      <p:bldP spid="322" grpId="0"/>
      <p:bldP spid="323" grpId="0" animBg="1"/>
      <p:bldP spid="324" grpId="0" animBg="1"/>
      <p:bldP spid="4" grpId="0"/>
      <p:bldP spid="14" grpId="0" animBg="1"/>
      <p:bldP spid="15" grpId="0" animBg="1"/>
      <p:bldP spid="17"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ZoneTexte 642">
            <a:extLst>
              <a:ext uri="{FF2B5EF4-FFF2-40B4-BE49-F238E27FC236}">
                <a16:creationId xmlns:a16="http://schemas.microsoft.com/office/drawing/2014/main" id="{D26595E4-5AB8-954F-A701-7162C8E2BFE4}"/>
              </a:ext>
            </a:extLst>
          </p:cNvPr>
          <p:cNvSpPr txBox="1"/>
          <p:nvPr/>
        </p:nvSpPr>
        <p:spPr>
          <a:xfrm>
            <a:off x="358364" y="2158408"/>
            <a:ext cx="1793728" cy="338554"/>
          </a:xfrm>
          <a:prstGeom prst="rect">
            <a:avLst/>
          </a:prstGeom>
          <a:noFill/>
        </p:spPr>
        <p:txBody>
          <a:bodyPr wrap="square" rtlCol="0">
            <a:spAutoFit/>
          </a:bodyPr>
          <a:lstStyle/>
          <a:p>
            <a:pPr algn="ctr"/>
            <a:r>
              <a:rPr lang="en-US" sz="1600" noProof="1"/>
              <a:t>Age (années)</a:t>
            </a:r>
          </a:p>
        </p:txBody>
      </p:sp>
      <p:sp>
        <p:nvSpPr>
          <p:cNvPr id="644" name="ZoneTexte 643">
            <a:extLst>
              <a:ext uri="{FF2B5EF4-FFF2-40B4-BE49-F238E27FC236}">
                <a16:creationId xmlns:a16="http://schemas.microsoft.com/office/drawing/2014/main" id="{BCEDF289-E9AF-3E47-89F7-35FD1A16A982}"/>
              </a:ext>
            </a:extLst>
          </p:cNvPr>
          <p:cNvSpPr txBox="1"/>
          <p:nvPr/>
        </p:nvSpPr>
        <p:spPr>
          <a:xfrm rot="16200000">
            <a:off x="-909154" y="1175137"/>
            <a:ext cx="2044149" cy="338554"/>
          </a:xfrm>
          <a:prstGeom prst="rect">
            <a:avLst/>
          </a:prstGeom>
          <a:noFill/>
        </p:spPr>
        <p:txBody>
          <a:bodyPr wrap="none" rtlCol="0">
            <a:spAutoFit/>
          </a:bodyPr>
          <a:lstStyle/>
          <a:p>
            <a:r>
              <a:rPr lang="en-US" sz="1600" noProof="1"/>
              <a:t>Normalized biomarker</a:t>
            </a:r>
          </a:p>
        </p:txBody>
      </p:sp>
      <p:grpSp>
        <p:nvGrpSpPr>
          <p:cNvPr id="2" name="Group 1">
            <a:extLst>
              <a:ext uri="{FF2B5EF4-FFF2-40B4-BE49-F238E27FC236}">
                <a16:creationId xmlns:a16="http://schemas.microsoft.com/office/drawing/2014/main" id="{252F543D-5EA5-CD45-BDE3-2842F1CCD864}"/>
              </a:ext>
            </a:extLst>
          </p:cNvPr>
          <p:cNvGrpSpPr>
            <a:grpSpLocks noChangeAspect="1"/>
          </p:cNvGrpSpPr>
          <p:nvPr/>
        </p:nvGrpSpPr>
        <p:grpSpPr>
          <a:xfrm>
            <a:off x="169714" y="343783"/>
            <a:ext cx="2367222" cy="1830263"/>
            <a:chOff x="222723" y="423297"/>
            <a:chExt cx="2113591" cy="1634164"/>
          </a:xfrm>
        </p:grpSpPr>
        <p:pic>
          <p:nvPicPr>
            <p:cNvPr id="10" name="Image 9">
              <a:extLst>
                <a:ext uri="{FF2B5EF4-FFF2-40B4-BE49-F238E27FC236}">
                  <a16:creationId xmlns:a16="http://schemas.microsoft.com/office/drawing/2014/main" id="{9E54E899-94CF-C448-B414-0F57BE38D75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560" b="7114"/>
            <a:stretch/>
          </p:blipFill>
          <p:spPr>
            <a:xfrm>
              <a:off x="222723" y="423297"/>
              <a:ext cx="2113591" cy="1634164"/>
            </a:xfrm>
            <a:prstGeom prst="rect">
              <a:avLst/>
            </a:prstGeom>
          </p:spPr>
        </p:pic>
        <p:grpSp>
          <p:nvGrpSpPr>
            <p:cNvPr id="327" name="Groupe 326">
              <a:extLst>
                <a:ext uri="{FF2B5EF4-FFF2-40B4-BE49-F238E27FC236}">
                  <a16:creationId xmlns:a16="http://schemas.microsoft.com/office/drawing/2014/main" id="{E591EADE-4431-CF4E-A4E5-50425456863E}"/>
                </a:ext>
              </a:extLst>
            </p:cNvPr>
            <p:cNvGrpSpPr/>
            <p:nvPr/>
          </p:nvGrpSpPr>
          <p:grpSpPr>
            <a:xfrm>
              <a:off x="682942" y="634382"/>
              <a:ext cx="397714" cy="1325940"/>
              <a:chOff x="2629676" y="557784"/>
              <a:chExt cx="1586167" cy="5288124"/>
            </a:xfrm>
          </p:grpSpPr>
          <p:grpSp>
            <p:nvGrpSpPr>
              <p:cNvPr id="328" name="Groupe 327">
                <a:extLst>
                  <a:ext uri="{FF2B5EF4-FFF2-40B4-BE49-F238E27FC236}">
                    <a16:creationId xmlns:a16="http://schemas.microsoft.com/office/drawing/2014/main" id="{24947280-A75B-054B-885D-037A1A255B0A}"/>
                  </a:ext>
                </a:extLst>
              </p:cNvPr>
              <p:cNvGrpSpPr/>
              <p:nvPr/>
            </p:nvGrpSpPr>
            <p:grpSpPr>
              <a:xfrm>
                <a:off x="2751513" y="557784"/>
                <a:ext cx="1339995" cy="5288124"/>
                <a:chOff x="3197977" y="533012"/>
                <a:chExt cx="1339995" cy="5312896"/>
              </a:xfrm>
            </p:grpSpPr>
            <p:cxnSp>
              <p:nvCxnSpPr>
                <p:cNvPr id="347" name="Connecteur droit 346">
                  <a:extLst>
                    <a:ext uri="{FF2B5EF4-FFF2-40B4-BE49-F238E27FC236}">
                      <a16:creationId xmlns:a16="http://schemas.microsoft.com/office/drawing/2014/main" id="{4C4667DE-BD0A-A445-817F-269D5C7371D0}"/>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8" name="Connecteur droit 347">
                  <a:extLst>
                    <a:ext uri="{FF2B5EF4-FFF2-40B4-BE49-F238E27FC236}">
                      <a16:creationId xmlns:a16="http://schemas.microsoft.com/office/drawing/2014/main" id="{72033BFD-B79B-AE4C-9935-A534723148AF}"/>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9" name="Connecteur droit 348">
                  <a:extLst>
                    <a:ext uri="{FF2B5EF4-FFF2-40B4-BE49-F238E27FC236}">
                      <a16:creationId xmlns:a16="http://schemas.microsoft.com/office/drawing/2014/main" id="{D2F6E23E-7120-C541-A921-CD1A0D940566}"/>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0" name="Connecteur droit 349">
                  <a:extLst>
                    <a:ext uri="{FF2B5EF4-FFF2-40B4-BE49-F238E27FC236}">
                      <a16:creationId xmlns:a16="http://schemas.microsoft.com/office/drawing/2014/main" id="{EF6872A7-55BC-B943-88C8-7FBF54F791D7}"/>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29" name="Groupe 328">
                <a:extLst>
                  <a:ext uri="{FF2B5EF4-FFF2-40B4-BE49-F238E27FC236}">
                    <a16:creationId xmlns:a16="http://schemas.microsoft.com/office/drawing/2014/main" id="{6F0C9D8F-2CE5-9949-897F-B6C1DDEE4D0E}"/>
                  </a:ext>
                </a:extLst>
              </p:cNvPr>
              <p:cNvGrpSpPr/>
              <p:nvPr/>
            </p:nvGrpSpPr>
            <p:grpSpPr>
              <a:xfrm>
                <a:off x="2629676" y="3044190"/>
                <a:ext cx="1586167" cy="1635678"/>
                <a:chOff x="3047133" y="2912478"/>
                <a:chExt cx="1586167" cy="1635678"/>
              </a:xfrm>
            </p:grpSpPr>
            <p:sp>
              <p:nvSpPr>
                <p:cNvPr id="339" name="Ellipse 338">
                  <a:extLst>
                    <a:ext uri="{FF2B5EF4-FFF2-40B4-BE49-F238E27FC236}">
                      <a16:creationId xmlns:a16="http://schemas.microsoft.com/office/drawing/2014/main" id="{53C86625-7476-7A40-A38C-9F7CE8F287CA}"/>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0" name="Ellipse 339">
                  <a:extLst>
                    <a:ext uri="{FF2B5EF4-FFF2-40B4-BE49-F238E27FC236}">
                      <a16:creationId xmlns:a16="http://schemas.microsoft.com/office/drawing/2014/main" id="{F0D02D77-59A3-8C40-8722-633D5BE1657C}"/>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1" name="Ellipse 340">
                  <a:extLst>
                    <a:ext uri="{FF2B5EF4-FFF2-40B4-BE49-F238E27FC236}">
                      <a16:creationId xmlns:a16="http://schemas.microsoft.com/office/drawing/2014/main" id="{6B5D886A-49FC-8A48-A892-46E5D4812DBF}"/>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2" name="Ellipse 341">
                  <a:extLst>
                    <a:ext uri="{FF2B5EF4-FFF2-40B4-BE49-F238E27FC236}">
                      <a16:creationId xmlns:a16="http://schemas.microsoft.com/office/drawing/2014/main" id="{3641C703-4ADD-934E-ADDD-28D1BB7E5AF0}"/>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3" name="Ellipse 342">
                  <a:extLst>
                    <a:ext uri="{FF2B5EF4-FFF2-40B4-BE49-F238E27FC236}">
                      <a16:creationId xmlns:a16="http://schemas.microsoft.com/office/drawing/2014/main" id="{F1E4B734-7AA1-A54E-AF96-7472951F4D71}"/>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4" name="Ellipse 343">
                  <a:extLst>
                    <a:ext uri="{FF2B5EF4-FFF2-40B4-BE49-F238E27FC236}">
                      <a16:creationId xmlns:a16="http://schemas.microsoft.com/office/drawing/2014/main" id="{074E0019-46BD-0C4B-BCE4-91F914C1331E}"/>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5" name="Ellipse 344">
                  <a:extLst>
                    <a:ext uri="{FF2B5EF4-FFF2-40B4-BE49-F238E27FC236}">
                      <a16:creationId xmlns:a16="http://schemas.microsoft.com/office/drawing/2014/main" id="{DD886354-5AC1-CD45-A39E-1171A5D67B6E}"/>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46" name="Ellipse 345">
                  <a:extLst>
                    <a:ext uri="{FF2B5EF4-FFF2-40B4-BE49-F238E27FC236}">
                      <a16:creationId xmlns:a16="http://schemas.microsoft.com/office/drawing/2014/main" id="{A003DED0-EBF8-9347-82E6-D50719C7B917}"/>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657" name="Groupe 656">
              <a:extLst>
                <a:ext uri="{FF2B5EF4-FFF2-40B4-BE49-F238E27FC236}">
                  <a16:creationId xmlns:a16="http://schemas.microsoft.com/office/drawing/2014/main" id="{87D478D4-A16F-9F4C-8847-EFB58C20CD6E}"/>
                </a:ext>
              </a:extLst>
            </p:cNvPr>
            <p:cNvGrpSpPr/>
            <p:nvPr/>
          </p:nvGrpSpPr>
          <p:grpSpPr>
            <a:xfrm>
              <a:off x="695925" y="1812833"/>
              <a:ext cx="368009" cy="167181"/>
              <a:chOff x="15527127" y="4564157"/>
              <a:chExt cx="1467698" cy="666751"/>
            </a:xfrm>
          </p:grpSpPr>
          <p:sp>
            <p:nvSpPr>
              <p:cNvPr id="658" name="Losange 657">
                <a:extLst>
                  <a:ext uri="{FF2B5EF4-FFF2-40B4-BE49-F238E27FC236}">
                    <a16:creationId xmlns:a16="http://schemas.microsoft.com/office/drawing/2014/main" id="{007DF053-087F-DB4E-9B6F-7FA72BF1DF1C}"/>
                  </a:ext>
                </a:extLst>
              </p:cNvPr>
              <p:cNvSpPr/>
              <p:nvPr/>
            </p:nvSpPr>
            <p:spPr>
              <a:xfrm>
                <a:off x="15531121" y="4914640"/>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59" name="Losange 658">
                <a:extLst>
                  <a:ext uri="{FF2B5EF4-FFF2-40B4-BE49-F238E27FC236}">
                    <a16:creationId xmlns:a16="http://schemas.microsoft.com/office/drawing/2014/main" id="{86A7A508-1642-6748-B43F-84FC3772EB24}"/>
                  </a:ext>
                </a:extLst>
              </p:cNvPr>
              <p:cNvSpPr/>
              <p:nvPr/>
            </p:nvSpPr>
            <p:spPr>
              <a:xfrm>
                <a:off x="15920380" y="4876298"/>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0" name="Losange 659">
                <a:extLst>
                  <a:ext uri="{FF2B5EF4-FFF2-40B4-BE49-F238E27FC236}">
                    <a16:creationId xmlns:a16="http://schemas.microsoft.com/office/drawing/2014/main" id="{A4A788FD-85B6-7F40-A6AC-9FCF22004342}"/>
                  </a:ext>
                </a:extLst>
              </p:cNvPr>
              <p:cNvSpPr/>
              <p:nvPr/>
            </p:nvSpPr>
            <p:spPr>
              <a:xfrm>
                <a:off x="16441760" y="4770936"/>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1" name="Losange 660">
                <a:extLst>
                  <a:ext uri="{FF2B5EF4-FFF2-40B4-BE49-F238E27FC236}">
                    <a16:creationId xmlns:a16="http://schemas.microsoft.com/office/drawing/2014/main" id="{FBA47563-8BCE-774E-9A01-FC92984ADE8F}"/>
                  </a:ext>
                </a:extLst>
              </p:cNvPr>
              <p:cNvSpPr/>
              <p:nvPr/>
            </p:nvSpPr>
            <p:spPr>
              <a:xfrm>
                <a:off x="16865397" y="4564157"/>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2" name="Losange 661">
                <a:extLst>
                  <a:ext uri="{FF2B5EF4-FFF2-40B4-BE49-F238E27FC236}">
                    <a16:creationId xmlns:a16="http://schemas.microsoft.com/office/drawing/2014/main" id="{BBB36F2E-ED98-F845-B786-F32A5EAD4813}"/>
                  </a:ext>
                </a:extLst>
              </p:cNvPr>
              <p:cNvSpPr/>
              <p:nvPr/>
            </p:nvSpPr>
            <p:spPr>
              <a:xfrm>
                <a:off x="16865225" y="483163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3" name="Losange 662">
                <a:extLst>
                  <a:ext uri="{FF2B5EF4-FFF2-40B4-BE49-F238E27FC236}">
                    <a16:creationId xmlns:a16="http://schemas.microsoft.com/office/drawing/2014/main" id="{AFACA5A3-25EB-664B-8AA1-1BA0B20CE8C7}"/>
                  </a:ext>
                </a:extLst>
              </p:cNvPr>
              <p:cNvSpPr/>
              <p:nvPr/>
            </p:nvSpPr>
            <p:spPr>
              <a:xfrm>
                <a:off x="16441662" y="4906053"/>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4" name="Losange 663">
                <a:extLst>
                  <a:ext uri="{FF2B5EF4-FFF2-40B4-BE49-F238E27FC236}">
                    <a16:creationId xmlns:a16="http://schemas.microsoft.com/office/drawing/2014/main" id="{D3F6F086-F3FB-894D-932A-D7609D0B4739}"/>
                  </a:ext>
                </a:extLst>
              </p:cNvPr>
              <p:cNvSpPr/>
              <p:nvPr/>
            </p:nvSpPr>
            <p:spPr>
              <a:xfrm>
                <a:off x="15914825" y="495556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65" name="Losange 664">
                <a:extLst>
                  <a:ext uri="{FF2B5EF4-FFF2-40B4-BE49-F238E27FC236}">
                    <a16:creationId xmlns:a16="http://schemas.microsoft.com/office/drawing/2014/main" id="{6D459A17-1A33-B94C-9313-522F505C7108}"/>
                  </a:ext>
                </a:extLst>
              </p:cNvPr>
              <p:cNvSpPr/>
              <p:nvPr/>
            </p:nvSpPr>
            <p:spPr>
              <a:xfrm>
                <a:off x="15527127" y="4982508"/>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16" name="Group 15">
            <a:extLst>
              <a:ext uri="{FF2B5EF4-FFF2-40B4-BE49-F238E27FC236}">
                <a16:creationId xmlns:a16="http://schemas.microsoft.com/office/drawing/2014/main" id="{5D00BCF7-E473-6041-9B6C-F34B132F51B4}"/>
              </a:ext>
            </a:extLst>
          </p:cNvPr>
          <p:cNvGrpSpPr>
            <a:grpSpLocks noChangeAspect="1"/>
          </p:cNvGrpSpPr>
          <p:nvPr/>
        </p:nvGrpSpPr>
        <p:grpSpPr>
          <a:xfrm>
            <a:off x="7000472" y="370765"/>
            <a:ext cx="2373947" cy="1848823"/>
            <a:chOff x="7123322" y="424766"/>
            <a:chExt cx="2119595" cy="1650735"/>
          </a:xfrm>
        </p:grpSpPr>
        <p:pic>
          <p:nvPicPr>
            <p:cNvPr id="40" name="Image 39">
              <a:extLst>
                <a:ext uri="{FF2B5EF4-FFF2-40B4-BE49-F238E27FC236}">
                  <a16:creationId xmlns:a16="http://schemas.microsoft.com/office/drawing/2014/main" id="{ED5E3570-3FCD-994D-A200-9F122455557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357" b="6234"/>
            <a:stretch/>
          </p:blipFill>
          <p:spPr>
            <a:xfrm>
              <a:off x="7123322" y="424766"/>
              <a:ext cx="2119595" cy="1650735"/>
            </a:xfrm>
            <a:prstGeom prst="rect">
              <a:avLst/>
            </a:prstGeom>
          </p:spPr>
        </p:pic>
        <p:grpSp>
          <p:nvGrpSpPr>
            <p:cNvPr id="450" name="Groupe 449">
              <a:extLst>
                <a:ext uri="{FF2B5EF4-FFF2-40B4-BE49-F238E27FC236}">
                  <a16:creationId xmlns:a16="http://schemas.microsoft.com/office/drawing/2014/main" id="{41EA58CB-478C-E04C-A19F-B9663FDB2925}"/>
                </a:ext>
              </a:extLst>
            </p:cNvPr>
            <p:cNvGrpSpPr/>
            <p:nvPr/>
          </p:nvGrpSpPr>
          <p:grpSpPr>
            <a:xfrm>
              <a:off x="7593090" y="1095500"/>
              <a:ext cx="370160" cy="674108"/>
              <a:chOff x="15518550" y="2383663"/>
              <a:chExt cx="1476275" cy="2688484"/>
            </a:xfrm>
          </p:grpSpPr>
          <p:sp>
            <p:nvSpPr>
              <p:cNvPr id="451" name="Losange 450">
                <a:extLst>
                  <a:ext uri="{FF2B5EF4-FFF2-40B4-BE49-F238E27FC236}">
                    <a16:creationId xmlns:a16="http://schemas.microsoft.com/office/drawing/2014/main" id="{9712F3E5-609A-2244-9F86-D71C3611A285}"/>
                  </a:ext>
                </a:extLst>
              </p:cNvPr>
              <p:cNvSpPr/>
              <p:nvPr/>
            </p:nvSpPr>
            <p:spPr>
              <a:xfrm>
                <a:off x="15532682" y="337743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2" name="Losange 451">
                <a:extLst>
                  <a:ext uri="{FF2B5EF4-FFF2-40B4-BE49-F238E27FC236}">
                    <a16:creationId xmlns:a16="http://schemas.microsoft.com/office/drawing/2014/main" id="{2A0FDCDD-AE8E-D344-B2A6-A9455849D298}"/>
                  </a:ext>
                </a:extLst>
              </p:cNvPr>
              <p:cNvSpPr/>
              <p:nvPr/>
            </p:nvSpPr>
            <p:spPr>
              <a:xfrm>
                <a:off x="15928957" y="313222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3" name="Losange 452">
                <a:extLst>
                  <a:ext uri="{FF2B5EF4-FFF2-40B4-BE49-F238E27FC236}">
                    <a16:creationId xmlns:a16="http://schemas.microsoft.com/office/drawing/2014/main" id="{135BE1ED-2831-0844-9079-730A456D9876}"/>
                  </a:ext>
                </a:extLst>
              </p:cNvPr>
              <p:cNvSpPr/>
              <p:nvPr/>
            </p:nvSpPr>
            <p:spPr>
              <a:xfrm>
                <a:off x="16441760" y="2706365"/>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4" name="Losange 453">
                <a:extLst>
                  <a:ext uri="{FF2B5EF4-FFF2-40B4-BE49-F238E27FC236}">
                    <a16:creationId xmlns:a16="http://schemas.microsoft.com/office/drawing/2014/main" id="{4AC20D73-F736-E149-90F2-C872A9234E93}"/>
                  </a:ext>
                </a:extLst>
              </p:cNvPr>
              <p:cNvSpPr/>
              <p:nvPr/>
            </p:nvSpPr>
            <p:spPr>
              <a:xfrm>
                <a:off x="16865397" y="2383663"/>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5" name="Losange 454">
                <a:extLst>
                  <a:ext uri="{FF2B5EF4-FFF2-40B4-BE49-F238E27FC236}">
                    <a16:creationId xmlns:a16="http://schemas.microsoft.com/office/drawing/2014/main" id="{62C5C5F7-4075-4343-A23E-AC9D0009BA68}"/>
                  </a:ext>
                </a:extLst>
              </p:cNvPr>
              <p:cNvSpPr/>
              <p:nvPr/>
            </p:nvSpPr>
            <p:spPr>
              <a:xfrm>
                <a:off x="16865225"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6" name="Losange 455">
                <a:extLst>
                  <a:ext uri="{FF2B5EF4-FFF2-40B4-BE49-F238E27FC236}">
                    <a16:creationId xmlns:a16="http://schemas.microsoft.com/office/drawing/2014/main" id="{D57CFD03-7018-664A-9395-78C92E1FB2E7}"/>
                  </a:ext>
                </a:extLst>
              </p:cNvPr>
              <p:cNvSpPr/>
              <p:nvPr/>
            </p:nvSpPr>
            <p:spPr>
              <a:xfrm>
                <a:off x="16427628" y="44693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7" name="Losange 456">
                <a:extLst>
                  <a:ext uri="{FF2B5EF4-FFF2-40B4-BE49-F238E27FC236}">
                    <a16:creationId xmlns:a16="http://schemas.microsoft.com/office/drawing/2014/main" id="{A00F3688-5397-9341-A50B-9804CE956C8A}"/>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58" name="Losange 457">
                <a:extLst>
                  <a:ext uri="{FF2B5EF4-FFF2-40B4-BE49-F238E27FC236}">
                    <a16:creationId xmlns:a16="http://schemas.microsoft.com/office/drawing/2014/main" id="{4A7C6D8B-CB99-DB45-BCD1-EC580F00A886}"/>
                  </a:ext>
                </a:extLst>
              </p:cNvPr>
              <p:cNvSpPr/>
              <p:nvPr/>
            </p:nvSpPr>
            <p:spPr>
              <a:xfrm>
                <a:off x="15518550" y="482374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66" name="Groupe 365">
              <a:extLst>
                <a:ext uri="{FF2B5EF4-FFF2-40B4-BE49-F238E27FC236}">
                  <a16:creationId xmlns:a16="http://schemas.microsoft.com/office/drawing/2014/main" id="{3B648F1F-6515-5A47-B184-B848CC186AAF}"/>
                </a:ext>
              </a:extLst>
            </p:cNvPr>
            <p:cNvGrpSpPr/>
            <p:nvPr/>
          </p:nvGrpSpPr>
          <p:grpSpPr>
            <a:xfrm>
              <a:off x="7583337" y="634382"/>
              <a:ext cx="397714" cy="1325940"/>
              <a:chOff x="2629676" y="557784"/>
              <a:chExt cx="1586167" cy="5288124"/>
            </a:xfrm>
          </p:grpSpPr>
          <p:grpSp>
            <p:nvGrpSpPr>
              <p:cNvPr id="367" name="Groupe 366">
                <a:extLst>
                  <a:ext uri="{FF2B5EF4-FFF2-40B4-BE49-F238E27FC236}">
                    <a16:creationId xmlns:a16="http://schemas.microsoft.com/office/drawing/2014/main" id="{956B7F6C-1AB6-E24E-B4E6-F8B0952E6FDF}"/>
                  </a:ext>
                </a:extLst>
              </p:cNvPr>
              <p:cNvGrpSpPr/>
              <p:nvPr/>
            </p:nvGrpSpPr>
            <p:grpSpPr>
              <a:xfrm>
                <a:off x="2751513" y="557784"/>
                <a:ext cx="1339995" cy="5288124"/>
                <a:chOff x="3197977" y="533012"/>
                <a:chExt cx="1339995" cy="5312896"/>
              </a:xfrm>
            </p:grpSpPr>
            <p:cxnSp>
              <p:nvCxnSpPr>
                <p:cNvPr id="416" name="Connecteur droit 415">
                  <a:extLst>
                    <a:ext uri="{FF2B5EF4-FFF2-40B4-BE49-F238E27FC236}">
                      <a16:creationId xmlns:a16="http://schemas.microsoft.com/office/drawing/2014/main" id="{C469CFE5-A77D-9542-B8BC-9E48DCDDE700}"/>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9" name="Connecteur droit 458">
                  <a:extLst>
                    <a:ext uri="{FF2B5EF4-FFF2-40B4-BE49-F238E27FC236}">
                      <a16:creationId xmlns:a16="http://schemas.microsoft.com/office/drawing/2014/main" id="{4F92CBB4-A054-2549-B63C-8723E0CE60E3}"/>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6" name="Connecteur droit 475">
                  <a:extLst>
                    <a:ext uri="{FF2B5EF4-FFF2-40B4-BE49-F238E27FC236}">
                      <a16:creationId xmlns:a16="http://schemas.microsoft.com/office/drawing/2014/main" id="{8D57B250-ACBC-874C-982E-7D4B8DF6E444}"/>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7" name="Connecteur droit 476">
                  <a:extLst>
                    <a:ext uri="{FF2B5EF4-FFF2-40B4-BE49-F238E27FC236}">
                      <a16:creationId xmlns:a16="http://schemas.microsoft.com/office/drawing/2014/main" id="{77CA5EBE-3E60-0D4F-944E-0CB3E951F331}"/>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68" name="Groupe 367">
                <a:extLst>
                  <a:ext uri="{FF2B5EF4-FFF2-40B4-BE49-F238E27FC236}">
                    <a16:creationId xmlns:a16="http://schemas.microsoft.com/office/drawing/2014/main" id="{F2FD8CCC-1706-A340-8394-6F4A127967EB}"/>
                  </a:ext>
                </a:extLst>
              </p:cNvPr>
              <p:cNvGrpSpPr/>
              <p:nvPr/>
            </p:nvGrpSpPr>
            <p:grpSpPr>
              <a:xfrm>
                <a:off x="2629676" y="3044190"/>
                <a:ext cx="1586167" cy="1635678"/>
                <a:chOff x="3047133" y="2912478"/>
                <a:chExt cx="1586167" cy="1635678"/>
              </a:xfrm>
            </p:grpSpPr>
            <p:sp>
              <p:nvSpPr>
                <p:cNvPr id="408" name="Ellipse 407">
                  <a:extLst>
                    <a:ext uri="{FF2B5EF4-FFF2-40B4-BE49-F238E27FC236}">
                      <a16:creationId xmlns:a16="http://schemas.microsoft.com/office/drawing/2014/main" id="{FB138DB1-5E9F-7845-B824-133E018A1036}"/>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09" name="Ellipse 408">
                  <a:extLst>
                    <a:ext uri="{FF2B5EF4-FFF2-40B4-BE49-F238E27FC236}">
                      <a16:creationId xmlns:a16="http://schemas.microsoft.com/office/drawing/2014/main" id="{1EB9D68C-A821-A843-BEA3-8CC9DA29C8C0}"/>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0" name="Ellipse 409">
                  <a:extLst>
                    <a:ext uri="{FF2B5EF4-FFF2-40B4-BE49-F238E27FC236}">
                      <a16:creationId xmlns:a16="http://schemas.microsoft.com/office/drawing/2014/main" id="{F0F5D4B1-2685-3246-9852-A01C798D6379}"/>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1" name="Ellipse 410">
                  <a:extLst>
                    <a:ext uri="{FF2B5EF4-FFF2-40B4-BE49-F238E27FC236}">
                      <a16:creationId xmlns:a16="http://schemas.microsoft.com/office/drawing/2014/main" id="{F62CB94B-5288-BA4D-91F4-C6E68BB11AB3}"/>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2" name="Ellipse 411">
                  <a:extLst>
                    <a:ext uri="{FF2B5EF4-FFF2-40B4-BE49-F238E27FC236}">
                      <a16:creationId xmlns:a16="http://schemas.microsoft.com/office/drawing/2014/main" id="{CD0283F4-A3A6-1548-9D14-0B6B9126A9E6}"/>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3" name="Ellipse 412">
                  <a:extLst>
                    <a:ext uri="{FF2B5EF4-FFF2-40B4-BE49-F238E27FC236}">
                      <a16:creationId xmlns:a16="http://schemas.microsoft.com/office/drawing/2014/main" id="{49F77D7A-83DB-7149-AAE1-8DE2321AF24A}"/>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4" name="Ellipse 413">
                  <a:extLst>
                    <a:ext uri="{FF2B5EF4-FFF2-40B4-BE49-F238E27FC236}">
                      <a16:creationId xmlns:a16="http://schemas.microsoft.com/office/drawing/2014/main" id="{806D37B5-ECF0-4B43-A0B0-2FCEA87F04C5}"/>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15" name="Ellipse 414">
                  <a:extLst>
                    <a:ext uri="{FF2B5EF4-FFF2-40B4-BE49-F238E27FC236}">
                      <a16:creationId xmlns:a16="http://schemas.microsoft.com/office/drawing/2014/main" id="{AB1B2AE0-C035-CA49-81D9-F04D79E207F4}"/>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mc:AlternateContent xmlns:mc="http://schemas.openxmlformats.org/markup-compatibility/2006" xmlns:a14="http://schemas.microsoft.com/office/drawing/2010/main">
          <mc:Choice Requires="a14">
            <p:sp>
              <p:nvSpPr>
                <p:cNvPr id="609" name="ZoneTexte 608">
                  <a:extLst>
                    <a:ext uri="{FF2B5EF4-FFF2-40B4-BE49-F238E27FC236}">
                      <a16:creationId xmlns:a16="http://schemas.microsoft.com/office/drawing/2014/main" id="{B075F65B-063E-384D-BEC1-14F179502871}"/>
                    </a:ext>
                  </a:extLst>
                </p:cNvPr>
                <p:cNvSpPr txBox="1"/>
                <p:nvPr/>
              </p:nvSpPr>
              <p:spPr>
                <a:xfrm>
                  <a:off x="7985243" y="754529"/>
                  <a:ext cx="474874" cy="233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914" b="1" i="1" noProof="1" dirty="0">
                            <a:latin typeface="Cambria Math" panose="02040503050406030204" pitchFamily="18" charset="0"/>
                            <a:ea typeface="Cambria Math" panose="02040503050406030204" pitchFamily="18" charset="0"/>
                          </a:rPr>
                          <m:t>+</m:t>
                        </m:r>
                        <m:r>
                          <a:rPr lang="fr-FR" sz="914" b="1" i="1" noProof="1" dirty="0">
                            <a:latin typeface="Cambria Math" panose="02040503050406030204" pitchFamily="18" charset="0"/>
                          </a:rPr>
                          <m:t> </m:t>
                        </m:r>
                        <m:sSub>
                          <m:sSubPr>
                            <m:ctrlPr>
                              <a:rPr lang="fr-FR" sz="914" b="1" i="1" noProof="1" dirty="0">
                                <a:latin typeface="Cambria Math" panose="02040503050406030204" pitchFamily="18" charset="0"/>
                              </a:rPr>
                            </m:ctrlPr>
                          </m:sSubPr>
                          <m:e>
                            <m:r>
                              <a:rPr lang="fr-FR" sz="914" b="1" i="1" noProof="1" dirty="0">
                                <a:latin typeface="Cambria Math" panose="02040503050406030204" pitchFamily="18" charset="0"/>
                              </a:rPr>
                              <m:t>𝒘</m:t>
                            </m:r>
                          </m:e>
                          <m:sub>
                            <m:r>
                              <a:rPr lang="fr-FR" sz="914" b="1" i="1" noProof="1" dirty="0">
                                <a:latin typeface="Cambria Math" panose="02040503050406030204" pitchFamily="18" charset="0"/>
                              </a:rPr>
                              <m:t>𝟎</m:t>
                            </m:r>
                          </m:sub>
                        </m:sSub>
                      </m:oMath>
                    </m:oMathPara>
                  </a14:m>
                  <a:endParaRPr lang="en-US" sz="914" b="1" noProof="1"/>
                </a:p>
              </p:txBody>
            </p:sp>
          </mc:Choice>
          <mc:Fallback xmlns="">
            <p:sp>
              <p:nvSpPr>
                <p:cNvPr id="609" name="ZoneTexte 608">
                  <a:extLst>
                    <a:ext uri="{FF2B5EF4-FFF2-40B4-BE49-F238E27FC236}">
                      <a16:creationId xmlns:a16="http://schemas.microsoft.com/office/drawing/2014/main" id="{B075F65B-063E-384D-BEC1-14F179502871}"/>
                    </a:ext>
                  </a:extLst>
                </p:cNvPr>
                <p:cNvSpPr txBox="1">
                  <a:spLocks noRot="1" noChangeAspect="1" noMove="1" noResize="1" noEditPoints="1" noAdjustHandles="1" noChangeArrowheads="1" noChangeShapeType="1" noTextEdit="1"/>
                </p:cNvSpPr>
                <p:nvPr/>
              </p:nvSpPr>
              <p:spPr>
                <a:xfrm>
                  <a:off x="7985243" y="754529"/>
                  <a:ext cx="474874" cy="233013"/>
                </a:xfrm>
                <a:prstGeom prst="rect">
                  <a:avLst/>
                </a:prstGeom>
                <a:blipFill>
                  <a:blip r:embed="rId5"/>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627" name="ZoneTexte 626">
                  <a:extLst>
                    <a:ext uri="{FF2B5EF4-FFF2-40B4-BE49-F238E27FC236}">
                      <a16:creationId xmlns:a16="http://schemas.microsoft.com/office/drawing/2014/main" id="{95FF9D6A-27B5-9340-BA5B-DBB8C39964F6}"/>
                    </a:ext>
                  </a:extLst>
                </p:cNvPr>
                <p:cNvSpPr txBox="1"/>
                <p:nvPr/>
              </p:nvSpPr>
              <p:spPr>
                <a:xfrm>
                  <a:off x="8218831" y="1136573"/>
                  <a:ext cx="474874" cy="233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914" b="1" i="1" noProof="1" dirty="0">
                            <a:latin typeface="Cambria Math" panose="02040503050406030204" pitchFamily="18" charset="0"/>
                            <a:ea typeface="Cambria Math" panose="02040503050406030204" pitchFamily="18" charset="0"/>
                          </a:rPr>
                          <m:t>+</m:t>
                        </m:r>
                        <m:r>
                          <a:rPr lang="fr-FR" sz="914" b="1" i="1" noProof="1" dirty="0">
                            <a:latin typeface="Cambria Math" panose="02040503050406030204" pitchFamily="18" charset="0"/>
                          </a:rPr>
                          <m:t> </m:t>
                        </m:r>
                        <m:sSub>
                          <m:sSubPr>
                            <m:ctrlPr>
                              <a:rPr lang="fr-FR" sz="914" b="1" i="1" noProof="1" dirty="0">
                                <a:latin typeface="Cambria Math" panose="02040503050406030204" pitchFamily="18" charset="0"/>
                              </a:rPr>
                            </m:ctrlPr>
                          </m:sSubPr>
                          <m:e>
                            <m:r>
                              <a:rPr lang="fr-FR" sz="914" b="1" i="1" noProof="1" dirty="0">
                                <a:latin typeface="Cambria Math" panose="02040503050406030204" pitchFamily="18" charset="0"/>
                              </a:rPr>
                              <m:t>𝒘</m:t>
                            </m:r>
                          </m:e>
                          <m:sub>
                            <m:r>
                              <a:rPr lang="fr-FR" sz="914" b="1" i="1" noProof="1" dirty="0">
                                <a:latin typeface="Cambria Math" panose="02040503050406030204" pitchFamily="18" charset="0"/>
                              </a:rPr>
                              <m:t>𝟏</m:t>
                            </m:r>
                          </m:sub>
                        </m:sSub>
                      </m:oMath>
                    </m:oMathPara>
                  </a14:m>
                  <a:endParaRPr lang="en-US" sz="914" b="1" noProof="1"/>
                </a:p>
              </p:txBody>
            </p:sp>
          </mc:Choice>
          <mc:Fallback xmlns="">
            <p:sp>
              <p:nvSpPr>
                <p:cNvPr id="627" name="ZoneTexte 626">
                  <a:extLst>
                    <a:ext uri="{FF2B5EF4-FFF2-40B4-BE49-F238E27FC236}">
                      <a16:creationId xmlns:a16="http://schemas.microsoft.com/office/drawing/2014/main" id="{95FF9D6A-27B5-9340-BA5B-DBB8C39964F6}"/>
                    </a:ext>
                  </a:extLst>
                </p:cNvPr>
                <p:cNvSpPr txBox="1">
                  <a:spLocks noRot="1" noChangeAspect="1" noMove="1" noResize="1" noEditPoints="1" noAdjustHandles="1" noChangeArrowheads="1" noChangeShapeType="1" noTextEdit="1"/>
                </p:cNvSpPr>
                <p:nvPr/>
              </p:nvSpPr>
              <p:spPr>
                <a:xfrm>
                  <a:off x="8218831" y="1136573"/>
                  <a:ext cx="474874" cy="233013"/>
                </a:xfrm>
                <a:prstGeom prst="rect">
                  <a:avLst/>
                </a:prstGeom>
                <a:blipFill>
                  <a:blip r:embed="rId6"/>
                  <a:stretch>
                    <a:fillRect/>
                  </a:stretch>
                </a:blipFill>
              </p:spPr>
              <p:txBody>
                <a:bodyPr/>
                <a:lstStyle/>
                <a:p>
                  <a:r>
                    <a:rPr lang="en-FR">
                      <a:noFill/>
                    </a:rPr>
                    <a:t> </a:t>
                  </a:r>
                </a:p>
              </p:txBody>
            </p:sp>
          </mc:Fallback>
        </mc:AlternateContent>
        <p:sp>
          <p:nvSpPr>
            <p:cNvPr id="721" name="Flèche vers la gauche 720">
              <a:extLst>
                <a:ext uri="{FF2B5EF4-FFF2-40B4-BE49-F238E27FC236}">
                  <a16:creationId xmlns:a16="http://schemas.microsoft.com/office/drawing/2014/main" id="{D5ED44EB-2EC0-EC4A-B650-C69D6FA4F7A6}"/>
                </a:ext>
              </a:extLst>
            </p:cNvPr>
            <p:cNvSpPr/>
            <p:nvPr/>
          </p:nvSpPr>
          <p:spPr>
            <a:xfrm rot="10800000">
              <a:off x="8039370" y="1076747"/>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3" name="Flèche vers la gauche 722">
              <a:extLst>
                <a:ext uri="{FF2B5EF4-FFF2-40B4-BE49-F238E27FC236}">
                  <a16:creationId xmlns:a16="http://schemas.microsoft.com/office/drawing/2014/main" id="{21171078-EA5C-1D47-9122-0C7FEC71A89A}"/>
                </a:ext>
              </a:extLst>
            </p:cNvPr>
            <p:cNvSpPr/>
            <p:nvPr/>
          </p:nvSpPr>
          <p:spPr>
            <a:xfrm>
              <a:off x="7437624" y="1690518"/>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4" name="Flèche vers la gauche 723">
              <a:extLst>
                <a:ext uri="{FF2B5EF4-FFF2-40B4-BE49-F238E27FC236}">
                  <a16:creationId xmlns:a16="http://schemas.microsoft.com/office/drawing/2014/main" id="{E42FF99D-7E18-B046-BA49-0C9AA5A6EB1E}"/>
                </a:ext>
              </a:extLst>
            </p:cNvPr>
            <p:cNvSpPr/>
            <p:nvPr/>
          </p:nvSpPr>
          <p:spPr>
            <a:xfrm>
              <a:off x="8249463" y="1300743"/>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5" name="Flèche vers la gauche 724">
              <a:extLst>
                <a:ext uri="{FF2B5EF4-FFF2-40B4-BE49-F238E27FC236}">
                  <a16:creationId xmlns:a16="http://schemas.microsoft.com/office/drawing/2014/main" id="{4C054FDA-6CA6-5946-8A6F-993DC1379D86}"/>
                </a:ext>
              </a:extLst>
            </p:cNvPr>
            <p:cNvSpPr/>
            <p:nvPr/>
          </p:nvSpPr>
          <p:spPr>
            <a:xfrm rot="10800000">
              <a:off x="8267578" y="927280"/>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6" name="Flèche vers la gauche 725">
              <a:extLst>
                <a:ext uri="{FF2B5EF4-FFF2-40B4-BE49-F238E27FC236}">
                  <a16:creationId xmlns:a16="http://schemas.microsoft.com/office/drawing/2014/main" id="{83351B85-958B-084A-816E-F06142FE8666}"/>
                </a:ext>
              </a:extLst>
            </p:cNvPr>
            <p:cNvSpPr/>
            <p:nvPr/>
          </p:nvSpPr>
          <p:spPr>
            <a:xfrm>
              <a:off x="8033609" y="1433505"/>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727" name="Flèche vers la gauche 726">
              <a:extLst>
                <a:ext uri="{FF2B5EF4-FFF2-40B4-BE49-F238E27FC236}">
                  <a16:creationId xmlns:a16="http://schemas.microsoft.com/office/drawing/2014/main" id="{45C733BD-DF94-3942-BF29-35B58D24A300}"/>
                </a:ext>
              </a:extLst>
            </p:cNvPr>
            <p:cNvSpPr/>
            <p:nvPr/>
          </p:nvSpPr>
          <p:spPr>
            <a:xfrm rot="10800000">
              <a:off x="7309932" y="1618452"/>
              <a:ext cx="124000"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grpSp>
        <p:nvGrpSpPr>
          <p:cNvPr id="5" name="Group 4">
            <a:extLst>
              <a:ext uri="{FF2B5EF4-FFF2-40B4-BE49-F238E27FC236}">
                <a16:creationId xmlns:a16="http://schemas.microsoft.com/office/drawing/2014/main" id="{5291252E-4FAC-CC45-987C-0AEDD468EDF0}"/>
              </a:ext>
            </a:extLst>
          </p:cNvPr>
          <p:cNvGrpSpPr>
            <a:grpSpLocks noChangeAspect="1"/>
          </p:cNvGrpSpPr>
          <p:nvPr/>
        </p:nvGrpSpPr>
        <p:grpSpPr>
          <a:xfrm>
            <a:off x="2436672" y="329472"/>
            <a:ext cx="2386081" cy="1839686"/>
            <a:chOff x="2463177" y="422237"/>
            <a:chExt cx="2130430" cy="1642576"/>
          </a:xfrm>
        </p:grpSpPr>
        <p:pic>
          <p:nvPicPr>
            <p:cNvPr id="714" name="Image 713">
              <a:extLst>
                <a:ext uri="{FF2B5EF4-FFF2-40B4-BE49-F238E27FC236}">
                  <a16:creationId xmlns:a16="http://schemas.microsoft.com/office/drawing/2014/main" id="{8F1617AF-0979-E744-903A-5B2CB26D70F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5955" b="6774"/>
            <a:stretch/>
          </p:blipFill>
          <p:spPr>
            <a:xfrm>
              <a:off x="2463177" y="422237"/>
              <a:ext cx="2130430" cy="1642576"/>
            </a:xfrm>
            <a:prstGeom prst="rect">
              <a:avLst/>
            </a:prstGeom>
          </p:spPr>
        </p:pic>
        <p:grpSp>
          <p:nvGrpSpPr>
            <p:cNvPr id="369" name="Groupe 368">
              <a:extLst>
                <a:ext uri="{FF2B5EF4-FFF2-40B4-BE49-F238E27FC236}">
                  <a16:creationId xmlns:a16="http://schemas.microsoft.com/office/drawing/2014/main" id="{1BD6512A-2FBF-1B44-8DCD-8F1B4342A89F}"/>
                </a:ext>
              </a:extLst>
            </p:cNvPr>
            <p:cNvGrpSpPr/>
            <p:nvPr/>
          </p:nvGrpSpPr>
          <p:grpSpPr>
            <a:xfrm>
              <a:off x="2933502" y="634382"/>
              <a:ext cx="397714" cy="1325940"/>
              <a:chOff x="2629676" y="557784"/>
              <a:chExt cx="1586167" cy="5288124"/>
            </a:xfrm>
          </p:grpSpPr>
          <p:grpSp>
            <p:nvGrpSpPr>
              <p:cNvPr id="370" name="Groupe 369">
                <a:extLst>
                  <a:ext uri="{FF2B5EF4-FFF2-40B4-BE49-F238E27FC236}">
                    <a16:creationId xmlns:a16="http://schemas.microsoft.com/office/drawing/2014/main" id="{3E58947A-5639-9B41-919A-E52E1FC477D1}"/>
                  </a:ext>
                </a:extLst>
              </p:cNvPr>
              <p:cNvGrpSpPr/>
              <p:nvPr/>
            </p:nvGrpSpPr>
            <p:grpSpPr>
              <a:xfrm>
                <a:off x="2751513" y="557784"/>
                <a:ext cx="1339995" cy="5288124"/>
                <a:chOff x="3197977" y="533012"/>
                <a:chExt cx="1339995" cy="5312896"/>
              </a:xfrm>
            </p:grpSpPr>
            <p:cxnSp>
              <p:nvCxnSpPr>
                <p:cNvPr id="380" name="Connecteur droit 379">
                  <a:extLst>
                    <a:ext uri="{FF2B5EF4-FFF2-40B4-BE49-F238E27FC236}">
                      <a16:creationId xmlns:a16="http://schemas.microsoft.com/office/drawing/2014/main" id="{483C0739-C5F2-CB41-9DC8-F179A06E5E5F}"/>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1" name="Connecteur droit 380">
                  <a:extLst>
                    <a:ext uri="{FF2B5EF4-FFF2-40B4-BE49-F238E27FC236}">
                      <a16:creationId xmlns:a16="http://schemas.microsoft.com/office/drawing/2014/main" id="{091456C4-FF43-7744-A2BF-AE34026F1C0D}"/>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2" name="Connecteur droit 381">
                  <a:extLst>
                    <a:ext uri="{FF2B5EF4-FFF2-40B4-BE49-F238E27FC236}">
                      <a16:creationId xmlns:a16="http://schemas.microsoft.com/office/drawing/2014/main" id="{E3D4FCB5-DB1D-A641-AC91-359B558A5366}"/>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3" name="Connecteur droit 382">
                  <a:extLst>
                    <a:ext uri="{FF2B5EF4-FFF2-40B4-BE49-F238E27FC236}">
                      <a16:creationId xmlns:a16="http://schemas.microsoft.com/office/drawing/2014/main" id="{6DB60957-8B8C-1A45-829B-45BB0DB6866B}"/>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71" name="Groupe 370">
                <a:extLst>
                  <a:ext uri="{FF2B5EF4-FFF2-40B4-BE49-F238E27FC236}">
                    <a16:creationId xmlns:a16="http://schemas.microsoft.com/office/drawing/2014/main" id="{6A82DE10-23D7-BE48-9345-5D82893FC21C}"/>
                  </a:ext>
                </a:extLst>
              </p:cNvPr>
              <p:cNvGrpSpPr/>
              <p:nvPr/>
            </p:nvGrpSpPr>
            <p:grpSpPr>
              <a:xfrm>
                <a:off x="2629676" y="3044190"/>
                <a:ext cx="1586167" cy="1635678"/>
                <a:chOff x="3047133" y="2912478"/>
                <a:chExt cx="1586167" cy="1635678"/>
              </a:xfrm>
            </p:grpSpPr>
            <p:sp>
              <p:nvSpPr>
                <p:cNvPr id="372" name="Ellipse 371">
                  <a:extLst>
                    <a:ext uri="{FF2B5EF4-FFF2-40B4-BE49-F238E27FC236}">
                      <a16:creationId xmlns:a16="http://schemas.microsoft.com/office/drawing/2014/main" id="{AB34E364-036C-7349-A79F-C06B4BE4E0FD}"/>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3" name="Ellipse 372">
                  <a:extLst>
                    <a:ext uri="{FF2B5EF4-FFF2-40B4-BE49-F238E27FC236}">
                      <a16:creationId xmlns:a16="http://schemas.microsoft.com/office/drawing/2014/main" id="{EF1472F6-9555-7D46-9D68-3EDD3F954CE8}"/>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4" name="Ellipse 373">
                  <a:extLst>
                    <a:ext uri="{FF2B5EF4-FFF2-40B4-BE49-F238E27FC236}">
                      <a16:creationId xmlns:a16="http://schemas.microsoft.com/office/drawing/2014/main" id="{FF0562A7-5AF7-BF4C-A88B-0923D70425CE}"/>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5" name="Ellipse 374">
                  <a:extLst>
                    <a:ext uri="{FF2B5EF4-FFF2-40B4-BE49-F238E27FC236}">
                      <a16:creationId xmlns:a16="http://schemas.microsoft.com/office/drawing/2014/main" id="{47EC82A6-9863-A846-B31A-CE7341EB0BA7}"/>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6" name="Ellipse 375">
                  <a:extLst>
                    <a:ext uri="{FF2B5EF4-FFF2-40B4-BE49-F238E27FC236}">
                      <a16:creationId xmlns:a16="http://schemas.microsoft.com/office/drawing/2014/main" id="{4CC09C4D-80C9-FE44-8C3A-9DDDFB946643}"/>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7" name="Ellipse 376">
                  <a:extLst>
                    <a:ext uri="{FF2B5EF4-FFF2-40B4-BE49-F238E27FC236}">
                      <a16:creationId xmlns:a16="http://schemas.microsoft.com/office/drawing/2014/main" id="{ADB09898-1DE5-BF43-93A6-68BDA6369CC0}"/>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8" name="Ellipse 377">
                  <a:extLst>
                    <a:ext uri="{FF2B5EF4-FFF2-40B4-BE49-F238E27FC236}">
                      <a16:creationId xmlns:a16="http://schemas.microsoft.com/office/drawing/2014/main" id="{ACF56DF5-206D-BF45-B0BC-37BFEA7026CF}"/>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79" name="Ellipse 378">
                  <a:extLst>
                    <a:ext uri="{FF2B5EF4-FFF2-40B4-BE49-F238E27FC236}">
                      <a16:creationId xmlns:a16="http://schemas.microsoft.com/office/drawing/2014/main" id="{8AF9C47B-0004-6840-A593-0F5E8AC378B5}"/>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330" name="Groupe 329">
              <a:extLst>
                <a:ext uri="{FF2B5EF4-FFF2-40B4-BE49-F238E27FC236}">
                  <a16:creationId xmlns:a16="http://schemas.microsoft.com/office/drawing/2014/main" id="{4CA0EB1D-0D2F-2245-9888-B6D1AD96D4D4}"/>
                </a:ext>
              </a:extLst>
            </p:cNvPr>
            <p:cNvGrpSpPr/>
            <p:nvPr/>
          </p:nvGrpSpPr>
          <p:grpSpPr>
            <a:xfrm>
              <a:off x="2945074" y="949515"/>
              <a:ext cx="370160" cy="862051"/>
              <a:chOff x="15518550" y="1801444"/>
              <a:chExt cx="1476275" cy="3438041"/>
            </a:xfrm>
          </p:grpSpPr>
          <p:sp>
            <p:nvSpPr>
              <p:cNvPr id="331" name="Losange 330">
                <a:extLst>
                  <a:ext uri="{FF2B5EF4-FFF2-40B4-BE49-F238E27FC236}">
                    <a16:creationId xmlns:a16="http://schemas.microsoft.com/office/drawing/2014/main" id="{9AB87E58-702C-384D-BE8E-DD1A15A39F9B}"/>
                  </a:ext>
                </a:extLst>
              </p:cNvPr>
              <p:cNvSpPr/>
              <p:nvPr/>
            </p:nvSpPr>
            <p:spPr>
              <a:xfrm>
                <a:off x="15532682" y="377869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2" name="Losange 331">
                <a:extLst>
                  <a:ext uri="{FF2B5EF4-FFF2-40B4-BE49-F238E27FC236}">
                    <a16:creationId xmlns:a16="http://schemas.microsoft.com/office/drawing/2014/main" id="{0595F4E8-04D8-DD47-9574-A45BE390B742}"/>
                  </a:ext>
                </a:extLst>
              </p:cNvPr>
              <p:cNvSpPr/>
              <p:nvPr/>
            </p:nvSpPr>
            <p:spPr>
              <a:xfrm>
                <a:off x="15928957" y="317421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3" name="Losange 332">
                <a:extLst>
                  <a:ext uri="{FF2B5EF4-FFF2-40B4-BE49-F238E27FC236}">
                    <a16:creationId xmlns:a16="http://schemas.microsoft.com/office/drawing/2014/main" id="{E368D498-84FD-8749-81F9-D6F75C436372}"/>
                  </a:ext>
                </a:extLst>
              </p:cNvPr>
              <p:cNvSpPr/>
              <p:nvPr/>
            </p:nvSpPr>
            <p:spPr>
              <a:xfrm>
                <a:off x="16441760" y="2351202"/>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4" name="Losange 333">
                <a:extLst>
                  <a:ext uri="{FF2B5EF4-FFF2-40B4-BE49-F238E27FC236}">
                    <a16:creationId xmlns:a16="http://schemas.microsoft.com/office/drawing/2014/main" id="{9935F132-22BB-9C4B-B353-581C79F1FAA2}"/>
                  </a:ext>
                </a:extLst>
              </p:cNvPr>
              <p:cNvSpPr/>
              <p:nvPr/>
            </p:nvSpPr>
            <p:spPr>
              <a:xfrm>
                <a:off x="16865397" y="180144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5" name="Losange 334">
                <a:extLst>
                  <a:ext uri="{FF2B5EF4-FFF2-40B4-BE49-F238E27FC236}">
                    <a16:creationId xmlns:a16="http://schemas.microsoft.com/office/drawing/2014/main" id="{B8212E7D-A4B6-2A4D-A68D-5866E4111322}"/>
                  </a:ext>
                </a:extLst>
              </p:cNvPr>
              <p:cNvSpPr/>
              <p:nvPr/>
            </p:nvSpPr>
            <p:spPr>
              <a:xfrm>
                <a:off x="16865225" y="3805961"/>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6" name="Losange 335">
                <a:extLst>
                  <a:ext uri="{FF2B5EF4-FFF2-40B4-BE49-F238E27FC236}">
                    <a16:creationId xmlns:a16="http://schemas.microsoft.com/office/drawing/2014/main" id="{81B07BA8-CD27-D54B-B039-AF6C1262513C}"/>
                  </a:ext>
                </a:extLst>
              </p:cNvPr>
              <p:cNvSpPr/>
              <p:nvPr/>
            </p:nvSpPr>
            <p:spPr>
              <a:xfrm>
                <a:off x="16427628"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7" name="Losange 336">
                <a:extLst>
                  <a:ext uri="{FF2B5EF4-FFF2-40B4-BE49-F238E27FC236}">
                    <a16:creationId xmlns:a16="http://schemas.microsoft.com/office/drawing/2014/main" id="{E419FF99-F731-C842-B0F9-B823403CFD99}"/>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38" name="Losange 337">
                <a:extLst>
                  <a:ext uri="{FF2B5EF4-FFF2-40B4-BE49-F238E27FC236}">
                    <a16:creationId xmlns:a16="http://schemas.microsoft.com/office/drawing/2014/main" id="{C471D8FB-205D-EA4D-8878-FDC47BB85942}"/>
                  </a:ext>
                </a:extLst>
              </p:cNvPr>
              <p:cNvSpPr/>
              <p:nvPr/>
            </p:nvSpPr>
            <p:spPr>
              <a:xfrm>
                <a:off x="15518550" y="499108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mc:AlternateContent xmlns:mc="http://schemas.openxmlformats.org/markup-compatibility/2006" xmlns:a14="http://schemas.microsoft.com/office/drawing/2010/main">
          <mc:Choice Requires="a14">
            <p:sp>
              <p:nvSpPr>
                <p:cNvPr id="607" name="ZoneTexte 606">
                  <a:extLst>
                    <a:ext uri="{FF2B5EF4-FFF2-40B4-BE49-F238E27FC236}">
                      <a16:creationId xmlns:a16="http://schemas.microsoft.com/office/drawing/2014/main" id="{FE19A1EF-E1EF-1247-BA28-75C584DFAAC7}"/>
                    </a:ext>
                  </a:extLst>
                </p:cNvPr>
                <p:cNvSpPr txBox="1"/>
                <p:nvPr/>
              </p:nvSpPr>
              <p:spPr>
                <a:xfrm>
                  <a:off x="3744660" y="649726"/>
                  <a:ext cx="484428" cy="3034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372" b="1" i="1" noProof="1" dirty="0">
                            <a:latin typeface="Cambria Math" panose="02040503050406030204" pitchFamily="18" charset="0"/>
                          </a:rPr>
                          <m:t>+ </m:t>
                        </m:r>
                        <m:r>
                          <a:rPr lang="fr-FR" sz="1372" b="1" i="1" noProof="1" dirty="0">
                            <a:latin typeface="Cambria Math" panose="02040503050406030204" pitchFamily="18" charset="0"/>
                          </a:rPr>
                          <m:t>𝝉</m:t>
                        </m:r>
                      </m:oMath>
                    </m:oMathPara>
                  </a14:m>
                  <a:endParaRPr lang="en-US" sz="1372" b="1" noProof="1"/>
                </a:p>
              </p:txBody>
            </p:sp>
          </mc:Choice>
          <mc:Fallback xmlns="">
            <p:sp>
              <p:nvSpPr>
                <p:cNvPr id="607" name="ZoneTexte 606">
                  <a:extLst>
                    <a:ext uri="{FF2B5EF4-FFF2-40B4-BE49-F238E27FC236}">
                      <a16:creationId xmlns:a16="http://schemas.microsoft.com/office/drawing/2014/main" id="{FE19A1EF-E1EF-1247-BA28-75C584DFAAC7}"/>
                    </a:ext>
                  </a:extLst>
                </p:cNvPr>
                <p:cNvSpPr txBox="1">
                  <a:spLocks noRot="1" noChangeAspect="1" noMove="1" noResize="1" noEditPoints="1" noAdjustHandles="1" noChangeArrowheads="1" noChangeShapeType="1" noTextEdit="1"/>
                </p:cNvSpPr>
                <p:nvPr/>
              </p:nvSpPr>
              <p:spPr>
                <a:xfrm>
                  <a:off x="3744660" y="649726"/>
                  <a:ext cx="484428" cy="303481"/>
                </a:xfrm>
                <a:prstGeom prst="rect">
                  <a:avLst/>
                </a:prstGeom>
                <a:blipFill>
                  <a:blip r:embed="rId8"/>
                  <a:stretch>
                    <a:fillRect/>
                  </a:stretch>
                </a:blipFill>
              </p:spPr>
              <p:txBody>
                <a:bodyPr/>
                <a:lstStyle/>
                <a:p>
                  <a:r>
                    <a:rPr lang="en-FR">
                      <a:noFill/>
                    </a:rPr>
                    <a:t> </a:t>
                  </a:r>
                </a:p>
              </p:txBody>
            </p:sp>
          </mc:Fallback>
        </mc:AlternateContent>
        <p:sp>
          <p:nvSpPr>
            <p:cNvPr id="421" name="Flèche vers la gauche 420">
              <a:extLst>
                <a:ext uri="{FF2B5EF4-FFF2-40B4-BE49-F238E27FC236}">
                  <a16:creationId xmlns:a16="http://schemas.microsoft.com/office/drawing/2014/main" id="{2AB07C3D-8722-2146-B26A-668D983D4C77}"/>
                </a:ext>
              </a:extLst>
            </p:cNvPr>
            <p:cNvSpPr/>
            <p:nvPr/>
          </p:nvSpPr>
          <p:spPr>
            <a:xfrm>
              <a:off x="3669922" y="1092765"/>
              <a:ext cx="203409"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2" name="Flèche vers la gauche 421">
              <a:extLst>
                <a:ext uri="{FF2B5EF4-FFF2-40B4-BE49-F238E27FC236}">
                  <a16:creationId xmlns:a16="http://schemas.microsoft.com/office/drawing/2014/main" id="{B684BA86-5BF2-354D-A52B-FCFB9890F1D4}"/>
                </a:ext>
              </a:extLst>
            </p:cNvPr>
            <p:cNvSpPr/>
            <p:nvPr/>
          </p:nvSpPr>
          <p:spPr>
            <a:xfrm>
              <a:off x="3513301" y="1329441"/>
              <a:ext cx="203409" cy="57159"/>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3" name="Flèche vers la gauche 422">
              <a:extLst>
                <a:ext uri="{FF2B5EF4-FFF2-40B4-BE49-F238E27FC236}">
                  <a16:creationId xmlns:a16="http://schemas.microsoft.com/office/drawing/2014/main" id="{B24DFE10-A4AC-404F-A559-F2F7198FF0FF}"/>
                </a:ext>
              </a:extLst>
            </p:cNvPr>
            <p:cNvSpPr/>
            <p:nvPr/>
          </p:nvSpPr>
          <p:spPr>
            <a:xfrm flipV="1">
              <a:off x="3316593" y="1607003"/>
              <a:ext cx="203409" cy="57159"/>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4" name="Flèche vers la gauche 423">
              <a:extLst>
                <a:ext uri="{FF2B5EF4-FFF2-40B4-BE49-F238E27FC236}">
                  <a16:creationId xmlns:a16="http://schemas.microsoft.com/office/drawing/2014/main" id="{CEFACFDE-ACA2-204E-80BC-0287A9E230FD}"/>
                </a:ext>
              </a:extLst>
            </p:cNvPr>
            <p:cNvSpPr/>
            <p:nvPr/>
          </p:nvSpPr>
          <p:spPr>
            <a:xfrm>
              <a:off x="3848777" y="876245"/>
              <a:ext cx="203409" cy="62284"/>
            </a:xfrm>
            <a:prstGeom prst="leftArrow">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grpSp>
        <p:nvGrpSpPr>
          <p:cNvPr id="7" name="Group 6">
            <a:extLst>
              <a:ext uri="{FF2B5EF4-FFF2-40B4-BE49-F238E27FC236}">
                <a16:creationId xmlns:a16="http://schemas.microsoft.com/office/drawing/2014/main" id="{849F17E7-5AE8-CC4A-A215-FE2C913002A7}"/>
              </a:ext>
            </a:extLst>
          </p:cNvPr>
          <p:cNvGrpSpPr>
            <a:grpSpLocks noChangeAspect="1"/>
          </p:cNvGrpSpPr>
          <p:nvPr/>
        </p:nvGrpSpPr>
        <p:grpSpPr>
          <a:xfrm>
            <a:off x="4749130" y="355910"/>
            <a:ext cx="2374321" cy="1839686"/>
            <a:chOff x="4818424" y="422237"/>
            <a:chExt cx="2119930" cy="1642576"/>
          </a:xfrm>
        </p:grpSpPr>
        <p:pic>
          <p:nvPicPr>
            <p:cNvPr id="715" name="Image 714">
              <a:extLst>
                <a:ext uri="{FF2B5EF4-FFF2-40B4-BE49-F238E27FC236}">
                  <a16:creationId xmlns:a16="http://schemas.microsoft.com/office/drawing/2014/main" id="{F996FC11-E397-1E49-9A24-19E54DB6839A}"/>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l="6418" b="6774"/>
            <a:stretch/>
          </p:blipFill>
          <p:spPr>
            <a:xfrm>
              <a:off x="4818424" y="422237"/>
              <a:ext cx="2119930" cy="1642576"/>
            </a:xfrm>
            <a:prstGeom prst="rect">
              <a:avLst/>
            </a:prstGeom>
          </p:spPr>
        </p:pic>
        <p:grpSp>
          <p:nvGrpSpPr>
            <p:cNvPr id="432" name="Groupe 431">
              <a:extLst>
                <a:ext uri="{FF2B5EF4-FFF2-40B4-BE49-F238E27FC236}">
                  <a16:creationId xmlns:a16="http://schemas.microsoft.com/office/drawing/2014/main" id="{17FDAFE3-CC01-234B-9606-02F0D8015116}"/>
                </a:ext>
              </a:extLst>
            </p:cNvPr>
            <p:cNvGrpSpPr/>
            <p:nvPr/>
          </p:nvGrpSpPr>
          <p:grpSpPr>
            <a:xfrm>
              <a:off x="5292955" y="949515"/>
              <a:ext cx="370160" cy="862051"/>
              <a:chOff x="15518550" y="1801444"/>
              <a:chExt cx="1476275" cy="3438041"/>
            </a:xfrm>
          </p:grpSpPr>
          <p:sp>
            <p:nvSpPr>
              <p:cNvPr id="433" name="Losange 432">
                <a:extLst>
                  <a:ext uri="{FF2B5EF4-FFF2-40B4-BE49-F238E27FC236}">
                    <a16:creationId xmlns:a16="http://schemas.microsoft.com/office/drawing/2014/main" id="{A42B218B-CB59-E844-BC18-4B99AEC04712}"/>
                  </a:ext>
                </a:extLst>
              </p:cNvPr>
              <p:cNvSpPr/>
              <p:nvPr/>
            </p:nvSpPr>
            <p:spPr>
              <a:xfrm>
                <a:off x="15532682" y="377869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4" name="Losange 433">
                <a:extLst>
                  <a:ext uri="{FF2B5EF4-FFF2-40B4-BE49-F238E27FC236}">
                    <a16:creationId xmlns:a16="http://schemas.microsoft.com/office/drawing/2014/main" id="{7032B349-9FF7-2A4D-8743-5C09634AFE72}"/>
                  </a:ext>
                </a:extLst>
              </p:cNvPr>
              <p:cNvSpPr/>
              <p:nvPr/>
            </p:nvSpPr>
            <p:spPr>
              <a:xfrm>
                <a:off x="15928957" y="317421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5" name="Losange 434">
                <a:extLst>
                  <a:ext uri="{FF2B5EF4-FFF2-40B4-BE49-F238E27FC236}">
                    <a16:creationId xmlns:a16="http://schemas.microsoft.com/office/drawing/2014/main" id="{7840DEB3-8770-404F-BC7A-BBF7A9D40297}"/>
                  </a:ext>
                </a:extLst>
              </p:cNvPr>
              <p:cNvSpPr/>
              <p:nvPr/>
            </p:nvSpPr>
            <p:spPr>
              <a:xfrm>
                <a:off x="16441760" y="2351202"/>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6" name="Losange 435">
                <a:extLst>
                  <a:ext uri="{FF2B5EF4-FFF2-40B4-BE49-F238E27FC236}">
                    <a16:creationId xmlns:a16="http://schemas.microsoft.com/office/drawing/2014/main" id="{FCED9859-E4A9-2844-9D5A-F6B9F5A7AD16}"/>
                  </a:ext>
                </a:extLst>
              </p:cNvPr>
              <p:cNvSpPr/>
              <p:nvPr/>
            </p:nvSpPr>
            <p:spPr>
              <a:xfrm>
                <a:off x="16865397" y="1801444"/>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7" name="Losange 436">
                <a:extLst>
                  <a:ext uri="{FF2B5EF4-FFF2-40B4-BE49-F238E27FC236}">
                    <a16:creationId xmlns:a16="http://schemas.microsoft.com/office/drawing/2014/main" id="{311F3E26-E782-F949-B68D-66E74173A274}"/>
                  </a:ext>
                </a:extLst>
              </p:cNvPr>
              <p:cNvSpPr/>
              <p:nvPr/>
            </p:nvSpPr>
            <p:spPr>
              <a:xfrm>
                <a:off x="16865225" y="3805961"/>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8" name="Losange 437">
                <a:extLst>
                  <a:ext uri="{FF2B5EF4-FFF2-40B4-BE49-F238E27FC236}">
                    <a16:creationId xmlns:a16="http://schemas.microsoft.com/office/drawing/2014/main" id="{66602F5A-8500-8247-9149-CF4D0B02B3FF}"/>
                  </a:ext>
                </a:extLst>
              </p:cNvPr>
              <p:cNvSpPr/>
              <p:nvPr/>
            </p:nvSpPr>
            <p:spPr>
              <a:xfrm>
                <a:off x="16427628"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39" name="Losange 438">
                <a:extLst>
                  <a:ext uri="{FF2B5EF4-FFF2-40B4-BE49-F238E27FC236}">
                    <a16:creationId xmlns:a16="http://schemas.microsoft.com/office/drawing/2014/main" id="{21F5E50E-7161-CC43-918B-5369459F7996}"/>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0" name="Losange 439">
                <a:extLst>
                  <a:ext uri="{FF2B5EF4-FFF2-40B4-BE49-F238E27FC236}">
                    <a16:creationId xmlns:a16="http://schemas.microsoft.com/office/drawing/2014/main" id="{0D9CF371-66CE-0647-BA51-708A233DA45E}"/>
                  </a:ext>
                </a:extLst>
              </p:cNvPr>
              <p:cNvSpPr/>
              <p:nvPr/>
            </p:nvSpPr>
            <p:spPr>
              <a:xfrm>
                <a:off x="15518550" y="4991085"/>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441" name="Groupe 440">
              <a:extLst>
                <a:ext uri="{FF2B5EF4-FFF2-40B4-BE49-F238E27FC236}">
                  <a16:creationId xmlns:a16="http://schemas.microsoft.com/office/drawing/2014/main" id="{A2CB6CEE-964B-D043-B94C-EAFCC775F285}"/>
                </a:ext>
              </a:extLst>
            </p:cNvPr>
            <p:cNvGrpSpPr/>
            <p:nvPr/>
          </p:nvGrpSpPr>
          <p:grpSpPr>
            <a:xfrm>
              <a:off x="5292955" y="1095500"/>
              <a:ext cx="370160" cy="674108"/>
              <a:chOff x="15518550" y="2383663"/>
              <a:chExt cx="1476275" cy="2688484"/>
            </a:xfrm>
          </p:grpSpPr>
          <p:sp>
            <p:nvSpPr>
              <p:cNvPr id="442" name="Losange 441">
                <a:extLst>
                  <a:ext uri="{FF2B5EF4-FFF2-40B4-BE49-F238E27FC236}">
                    <a16:creationId xmlns:a16="http://schemas.microsoft.com/office/drawing/2014/main" id="{0D0BFB44-1730-B344-ABE9-E0C11C2961C0}"/>
                  </a:ext>
                </a:extLst>
              </p:cNvPr>
              <p:cNvSpPr/>
              <p:nvPr/>
            </p:nvSpPr>
            <p:spPr>
              <a:xfrm>
                <a:off x="15532682" y="337743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3" name="Losange 442">
                <a:extLst>
                  <a:ext uri="{FF2B5EF4-FFF2-40B4-BE49-F238E27FC236}">
                    <a16:creationId xmlns:a16="http://schemas.microsoft.com/office/drawing/2014/main" id="{5EA882AA-F7AF-D944-B25C-F551EF27C10A}"/>
                  </a:ext>
                </a:extLst>
              </p:cNvPr>
              <p:cNvSpPr/>
              <p:nvPr/>
            </p:nvSpPr>
            <p:spPr>
              <a:xfrm>
                <a:off x="15928957" y="3132221"/>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4" name="Losange 443">
                <a:extLst>
                  <a:ext uri="{FF2B5EF4-FFF2-40B4-BE49-F238E27FC236}">
                    <a16:creationId xmlns:a16="http://schemas.microsoft.com/office/drawing/2014/main" id="{13B483AE-644B-4542-9DA4-37FBA8232DFA}"/>
                  </a:ext>
                </a:extLst>
              </p:cNvPr>
              <p:cNvSpPr/>
              <p:nvPr/>
            </p:nvSpPr>
            <p:spPr>
              <a:xfrm>
                <a:off x="16441760" y="2706365"/>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5" name="Losange 444">
                <a:extLst>
                  <a:ext uri="{FF2B5EF4-FFF2-40B4-BE49-F238E27FC236}">
                    <a16:creationId xmlns:a16="http://schemas.microsoft.com/office/drawing/2014/main" id="{C6A30CBA-0E6D-D94F-8065-8D7E428BB164}"/>
                  </a:ext>
                </a:extLst>
              </p:cNvPr>
              <p:cNvSpPr/>
              <p:nvPr/>
            </p:nvSpPr>
            <p:spPr>
              <a:xfrm>
                <a:off x="16865397" y="2383663"/>
                <a:ext cx="125133" cy="246363"/>
              </a:xfrm>
              <a:prstGeom prst="diamond">
                <a:avLst/>
              </a:prstGeom>
              <a:solidFill>
                <a:srgbClr val="94BBDA"/>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6" name="Losange 445">
                <a:extLst>
                  <a:ext uri="{FF2B5EF4-FFF2-40B4-BE49-F238E27FC236}">
                    <a16:creationId xmlns:a16="http://schemas.microsoft.com/office/drawing/2014/main" id="{1D6FA239-E77B-3341-A925-2A142D1F16F4}"/>
                  </a:ext>
                </a:extLst>
              </p:cNvPr>
              <p:cNvSpPr/>
              <p:nvPr/>
            </p:nvSpPr>
            <p:spPr>
              <a:xfrm>
                <a:off x="16865225" y="42829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7" name="Losange 446">
                <a:extLst>
                  <a:ext uri="{FF2B5EF4-FFF2-40B4-BE49-F238E27FC236}">
                    <a16:creationId xmlns:a16="http://schemas.microsoft.com/office/drawing/2014/main" id="{5164F2F8-2258-2E41-A7A5-826542E5361C}"/>
                  </a:ext>
                </a:extLst>
              </p:cNvPr>
              <p:cNvSpPr/>
              <p:nvPr/>
            </p:nvSpPr>
            <p:spPr>
              <a:xfrm>
                <a:off x="16427628" y="44693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8" name="Losange 447">
                <a:extLst>
                  <a:ext uri="{FF2B5EF4-FFF2-40B4-BE49-F238E27FC236}">
                    <a16:creationId xmlns:a16="http://schemas.microsoft.com/office/drawing/2014/main" id="{AF0BCB4D-E800-F645-8CFB-DAA7D2298E85}"/>
                  </a:ext>
                </a:extLst>
              </p:cNvPr>
              <p:cNvSpPr/>
              <p:nvPr/>
            </p:nvSpPr>
            <p:spPr>
              <a:xfrm>
                <a:off x="15914825" y="4717704"/>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449" name="Losange 448">
                <a:extLst>
                  <a:ext uri="{FF2B5EF4-FFF2-40B4-BE49-F238E27FC236}">
                    <a16:creationId xmlns:a16="http://schemas.microsoft.com/office/drawing/2014/main" id="{2F0667B3-272F-5E43-B5BC-5745C9FBBF8F}"/>
                  </a:ext>
                </a:extLst>
              </p:cNvPr>
              <p:cNvSpPr/>
              <p:nvPr/>
            </p:nvSpPr>
            <p:spPr>
              <a:xfrm>
                <a:off x="15518550" y="4823747"/>
                <a:ext cx="129600" cy="248400"/>
              </a:xfrm>
              <a:prstGeom prst="diamond">
                <a:avLst/>
              </a:prstGeom>
              <a:solidFill>
                <a:srgbClr val="FFBF94"/>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mc:AlternateContent xmlns:mc="http://schemas.openxmlformats.org/markup-compatibility/2006" xmlns:a14="http://schemas.microsoft.com/office/drawing/2010/main">
          <mc:Choice Requires="a14">
            <p:sp>
              <p:nvSpPr>
                <p:cNvPr id="246" name="ZoneTexte 245">
                  <a:extLst>
                    <a:ext uri="{FF2B5EF4-FFF2-40B4-BE49-F238E27FC236}">
                      <a16:creationId xmlns:a16="http://schemas.microsoft.com/office/drawing/2014/main" id="{992D4D35-B978-764A-8ED1-C725E57CAAA3}"/>
                    </a:ext>
                  </a:extLst>
                </p:cNvPr>
                <p:cNvSpPr txBox="1"/>
                <p:nvPr/>
              </p:nvSpPr>
              <p:spPr>
                <a:xfrm>
                  <a:off x="5899340" y="729273"/>
                  <a:ext cx="470000" cy="2799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219" b="1" i="1" noProof="1" dirty="0">
                            <a:latin typeface="Cambria Math" panose="02040503050406030204" pitchFamily="18" charset="0"/>
                            <a:ea typeface="Cambria Math" panose="02040503050406030204" pitchFamily="18" charset="0"/>
                          </a:rPr>
                          <m:t>×</m:t>
                        </m:r>
                        <m:r>
                          <a:rPr lang="fr-FR" sz="1219" b="1" i="1" noProof="1" dirty="0">
                            <a:latin typeface="Cambria Math" panose="02040503050406030204" pitchFamily="18" charset="0"/>
                          </a:rPr>
                          <m:t> </m:t>
                        </m:r>
                        <m:r>
                          <a:rPr lang="fr-FR" sz="1219" b="1" i="1" noProof="1" dirty="0">
                            <a:latin typeface="Cambria Math" panose="02040503050406030204" pitchFamily="18" charset="0"/>
                          </a:rPr>
                          <m:t>𝜶</m:t>
                        </m:r>
                      </m:oMath>
                    </m:oMathPara>
                  </a14:m>
                  <a:endParaRPr lang="en-US" sz="1219" b="1" noProof="1"/>
                </a:p>
              </p:txBody>
            </p:sp>
          </mc:Choice>
          <mc:Fallback xmlns="">
            <p:sp>
              <p:nvSpPr>
                <p:cNvPr id="246" name="ZoneTexte 245">
                  <a:extLst>
                    <a:ext uri="{FF2B5EF4-FFF2-40B4-BE49-F238E27FC236}">
                      <a16:creationId xmlns:a16="http://schemas.microsoft.com/office/drawing/2014/main" id="{992D4D35-B978-764A-8ED1-C725E57CAAA3}"/>
                    </a:ext>
                  </a:extLst>
                </p:cNvPr>
                <p:cNvSpPr txBox="1">
                  <a:spLocks noRot="1" noChangeAspect="1" noMove="1" noResize="1" noEditPoints="1" noAdjustHandles="1" noChangeArrowheads="1" noChangeShapeType="1" noTextEdit="1"/>
                </p:cNvSpPr>
                <p:nvPr/>
              </p:nvSpPr>
              <p:spPr>
                <a:xfrm>
                  <a:off x="5899340" y="729273"/>
                  <a:ext cx="470000" cy="279948"/>
                </a:xfrm>
                <a:prstGeom prst="rect">
                  <a:avLst/>
                </a:prstGeom>
                <a:blipFill>
                  <a:blip r:embed="rId10"/>
                  <a:stretch>
                    <a:fillRect/>
                  </a:stretch>
                </a:blipFill>
              </p:spPr>
              <p:txBody>
                <a:bodyPr/>
                <a:lstStyle/>
                <a:p>
                  <a:r>
                    <a:rPr lang="en-FR">
                      <a:noFill/>
                    </a:rPr>
                    <a:t> </a:t>
                  </a:r>
                </a:p>
              </p:txBody>
            </p:sp>
          </mc:Fallback>
        </mc:AlternateContent>
        <p:grpSp>
          <p:nvGrpSpPr>
            <p:cNvPr id="351" name="Groupe 350">
              <a:extLst>
                <a:ext uri="{FF2B5EF4-FFF2-40B4-BE49-F238E27FC236}">
                  <a16:creationId xmlns:a16="http://schemas.microsoft.com/office/drawing/2014/main" id="{BA6AE3FA-40CA-4C4A-800F-CAAD064AE409}"/>
                </a:ext>
              </a:extLst>
            </p:cNvPr>
            <p:cNvGrpSpPr/>
            <p:nvPr/>
          </p:nvGrpSpPr>
          <p:grpSpPr>
            <a:xfrm>
              <a:off x="5281643" y="634382"/>
              <a:ext cx="397714" cy="1325940"/>
              <a:chOff x="2629676" y="557784"/>
              <a:chExt cx="1586167" cy="5288124"/>
            </a:xfrm>
          </p:grpSpPr>
          <p:grpSp>
            <p:nvGrpSpPr>
              <p:cNvPr id="352" name="Groupe 351">
                <a:extLst>
                  <a:ext uri="{FF2B5EF4-FFF2-40B4-BE49-F238E27FC236}">
                    <a16:creationId xmlns:a16="http://schemas.microsoft.com/office/drawing/2014/main" id="{F9EB8C55-6E8B-554B-8CDA-B3293867732F}"/>
                  </a:ext>
                </a:extLst>
              </p:cNvPr>
              <p:cNvGrpSpPr/>
              <p:nvPr/>
            </p:nvGrpSpPr>
            <p:grpSpPr>
              <a:xfrm>
                <a:off x="2751513" y="557784"/>
                <a:ext cx="1339995" cy="5288124"/>
                <a:chOff x="3197977" y="533012"/>
                <a:chExt cx="1339995" cy="5312896"/>
              </a:xfrm>
            </p:grpSpPr>
            <p:cxnSp>
              <p:nvCxnSpPr>
                <p:cNvPr id="362" name="Connecteur droit 361">
                  <a:extLst>
                    <a:ext uri="{FF2B5EF4-FFF2-40B4-BE49-F238E27FC236}">
                      <a16:creationId xmlns:a16="http://schemas.microsoft.com/office/drawing/2014/main" id="{E9D1DFC0-0DD8-9442-9737-2B2C35D3F744}"/>
                    </a:ext>
                  </a:extLst>
                </p:cNvPr>
                <p:cNvCxnSpPr>
                  <a:cxnSpLocks/>
                </p:cNvCxnSpPr>
                <p:nvPr/>
              </p:nvCxnSpPr>
              <p:spPr>
                <a:xfrm flipV="1">
                  <a:off x="319797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3" name="Connecteur droit 362">
                  <a:extLst>
                    <a:ext uri="{FF2B5EF4-FFF2-40B4-BE49-F238E27FC236}">
                      <a16:creationId xmlns:a16="http://schemas.microsoft.com/office/drawing/2014/main" id="{8FE62FD7-640E-0B43-939D-79C017252077}"/>
                    </a:ext>
                  </a:extLst>
                </p:cNvPr>
                <p:cNvCxnSpPr>
                  <a:cxnSpLocks/>
                </p:cNvCxnSpPr>
                <p:nvPr/>
              </p:nvCxnSpPr>
              <p:spPr>
                <a:xfrm flipV="1">
                  <a:off x="3592535"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4" name="Connecteur droit 363">
                  <a:extLst>
                    <a:ext uri="{FF2B5EF4-FFF2-40B4-BE49-F238E27FC236}">
                      <a16:creationId xmlns:a16="http://schemas.microsoft.com/office/drawing/2014/main" id="{CEF7DBC0-19E2-834B-9A89-97B6355918D7}"/>
                    </a:ext>
                  </a:extLst>
                </p:cNvPr>
                <p:cNvCxnSpPr>
                  <a:cxnSpLocks/>
                </p:cNvCxnSpPr>
                <p:nvPr/>
              </p:nvCxnSpPr>
              <p:spPr>
                <a:xfrm flipV="1">
                  <a:off x="4105497"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5" name="Connecteur droit 364">
                  <a:extLst>
                    <a:ext uri="{FF2B5EF4-FFF2-40B4-BE49-F238E27FC236}">
                      <a16:creationId xmlns:a16="http://schemas.microsoft.com/office/drawing/2014/main" id="{6D3FA04F-963D-824A-89FF-BDD003F9F878}"/>
                    </a:ext>
                  </a:extLst>
                </p:cNvPr>
                <p:cNvCxnSpPr>
                  <a:cxnSpLocks/>
                </p:cNvCxnSpPr>
                <p:nvPr/>
              </p:nvCxnSpPr>
              <p:spPr>
                <a:xfrm flipV="1">
                  <a:off x="4537972" y="533012"/>
                  <a:ext cx="0" cy="53128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53" name="Groupe 352">
                <a:extLst>
                  <a:ext uri="{FF2B5EF4-FFF2-40B4-BE49-F238E27FC236}">
                    <a16:creationId xmlns:a16="http://schemas.microsoft.com/office/drawing/2014/main" id="{836C6E10-D99D-BA4B-96D7-3B2B74B9EEE6}"/>
                  </a:ext>
                </a:extLst>
              </p:cNvPr>
              <p:cNvGrpSpPr/>
              <p:nvPr/>
            </p:nvGrpSpPr>
            <p:grpSpPr>
              <a:xfrm>
                <a:off x="2629676" y="3044190"/>
                <a:ext cx="1586167" cy="1635678"/>
                <a:chOff x="3047133" y="2912478"/>
                <a:chExt cx="1586167" cy="1635678"/>
              </a:xfrm>
            </p:grpSpPr>
            <p:sp>
              <p:nvSpPr>
                <p:cNvPr id="354" name="Ellipse 353">
                  <a:extLst>
                    <a:ext uri="{FF2B5EF4-FFF2-40B4-BE49-F238E27FC236}">
                      <a16:creationId xmlns:a16="http://schemas.microsoft.com/office/drawing/2014/main" id="{BE945E3F-D72B-7247-944D-892EEDC27FAB}"/>
                    </a:ext>
                  </a:extLst>
                </p:cNvPr>
                <p:cNvSpPr/>
                <p:nvPr/>
              </p:nvSpPr>
              <p:spPr>
                <a:xfrm>
                  <a:off x="4385111" y="291247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5" name="Ellipse 354">
                  <a:extLst>
                    <a:ext uri="{FF2B5EF4-FFF2-40B4-BE49-F238E27FC236}">
                      <a16:creationId xmlns:a16="http://schemas.microsoft.com/office/drawing/2014/main" id="{54E0CAB9-651D-AD45-9D21-E820E4D9A89D}"/>
                    </a:ext>
                  </a:extLst>
                </p:cNvPr>
                <p:cNvSpPr/>
                <p:nvPr/>
              </p:nvSpPr>
              <p:spPr>
                <a:xfrm>
                  <a:off x="4386937" y="340541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6" name="Ellipse 355">
                  <a:extLst>
                    <a:ext uri="{FF2B5EF4-FFF2-40B4-BE49-F238E27FC236}">
                      <a16:creationId xmlns:a16="http://schemas.microsoft.com/office/drawing/2014/main" id="{283925C3-724F-1847-97EB-AA394676704C}"/>
                    </a:ext>
                  </a:extLst>
                </p:cNvPr>
                <p:cNvSpPr/>
                <p:nvPr/>
              </p:nvSpPr>
              <p:spPr>
                <a:xfrm>
                  <a:off x="3959768" y="3342648"/>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7" name="Ellipse 356">
                  <a:extLst>
                    <a:ext uri="{FF2B5EF4-FFF2-40B4-BE49-F238E27FC236}">
                      <a16:creationId xmlns:a16="http://schemas.microsoft.com/office/drawing/2014/main" id="{191A7911-14F5-984B-AAD6-1254EFEDF859}"/>
                    </a:ext>
                  </a:extLst>
                </p:cNvPr>
                <p:cNvSpPr/>
                <p:nvPr/>
              </p:nvSpPr>
              <p:spPr>
                <a:xfrm>
                  <a:off x="3960379" y="3693575"/>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8" name="Ellipse 357">
                  <a:extLst>
                    <a:ext uri="{FF2B5EF4-FFF2-40B4-BE49-F238E27FC236}">
                      <a16:creationId xmlns:a16="http://schemas.microsoft.com/office/drawing/2014/main" id="{E307ECA6-F781-2D40-8DF6-5DD3940E8DBD}"/>
                    </a:ext>
                  </a:extLst>
                </p:cNvPr>
                <p:cNvSpPr/>
                <p:nvPr/>
              </p:nvSpPr>
              <p:spPr>
                <a:xfrm>
                  <a:off x="3452459" y="4112148"/>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59" name="Ellipse 358">
                  <a:extLst>
                    <a:ext uri="{FF2B5EF4-FFF2-40B4-BE49-F238E27FC236}">
                      <a16:creationId xmlns:a16="http://schemas.microsoft.com/office/drawing/2014/main" id="{2A20242F-9443-8C4D-BFDC-821CB4F7898B}"/>
                    </a:ext>
                  </a:extLst>
                </p:cNvPr>
                <p:cNvSpPr/>
                <p:nvPr/>
              </p:nvSpPr>
              <p:spPr>
                <a:xfrm>
                  <a:off x="3047133" y="4301793"/>
                  <a:ext cx="246363" cy="246363"/>
                </a:xfrm>
                <a:prstGeom prst="ellipse">
                  <a:avLst/>
                </a:prstGeom>
                <a:solidFill>
                  <a:srgbClr val="FF7E1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60" name="Ellipse 359">
                  <a:extLst>
                    <a:ext uri="{FF2B5EF4-FFF2-40B4-BE49-F238E27FC236}">
                      <a16:creationId xmlns:a16="http://schemas.microsoft.com/office/drawing/2014/main" id="{4DE18F8F-A633-FA47-96F4-99828A401076}"/>
                    </a:ext>
                  </a:extLst>
                </p:cNvPr>
                <p:cNvSpPr/>
                <p:nvPr/>
              </p:nvSpPr>
              <p:spPr>
                <a:xfrm>
                  <a:off x="3052127" y="400349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61" name="Ellipse 360">
                  <a:extLst>
                    <a:ext uri="{FF2B5EF4-FFF2-40B4-BE49-F238E27FC236}">
                      <a16:creationId xmlns:a16="http://schemas.microsoft.com/office/drawing/2014/main" id="{4E373EDE-8DC3-6249-8351-9E3EAAE26883}"/>
                    </a:ext>
                  </a:extLst>
                </p:cNvPr>
                <p:cNvSpPr/>
                <p:nvPr/>
              </p:nvSpPr>
              <p:spPr>
                <a:xfrm>
                  <a:off x="3457591" y="3586625"/>
                  <a:ext cx="246363" cy="246363"/>
                </a:xfrm>
                <a:prstGeom prst="ellipse">
                  <a:avLst/>
                </a:prstGeom>
                <a:solidFill>
                  <a:srgbClr val="1E77B4"/>
                </a:solidFill>
                <a:ln w="254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sp>
          <p:nvSpPr>
            <p:cNvPr id="3" name="Flèche en arc 2">
              <a:extLst>
                <a:ext uri="{FF2B5EF4-FFF2-40B4-BE49-F238E27FC236}">
                  <a16:creationId xmlns:a16="http://schemas.microsoft.com/office/drawing/2014/main" id="{6BAE30FE-6AB0-9C4D-B356-24F5F02354BE}"/>
                </a:ext>
              </a:extLst>
            </p:cNvPr>
            <p:cNvSpPr/>
            <p:nvPr/>
          </p:nvSpPr>
          <p:spPr>
            <a:xfrm rot="6817109">
              <a:off x="5580335" y="1222699"/>
              <a:ext cx="383701" cy="267859"/>
            </a:xfrm>
            <a:prstGeom prst="circularArrow">
              <a:avLst>
                <a:gd name="adj1" fmla="val 9236"/>
                <a:gd name="adj2" fmla="val 1503513"/>
                <a:gd name="adj3" fmla="val 15965119"/>
                <a:gd name="adj4" fmla="val 12227493"/>
                <a:gd name="adj5" fmla="val 13233"/>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9" name="Flèche en arc 428">
              <a:extLst>
                <a:ext uri="{FF2B5EF4-FFF2-40B4-BE49-F238E27FC236}">
                  <a16:creationId xmlns:a16="http://schemas.microsoft.com/office/drawing/2014/main" id="{0C5195B1-8752-F54C-9A7B-F57812CA0CFF}"/>
                </a:ext>
              </a:extLst>
            </p:cNvPr>
            <p:cNvSpPr/>
            <p:nvPr/>
          </p:nvSpPr>
          <p:spPr>
            <a:xfrm rot="6817109">
              <a:off x="5580335" y="740003"/>
              <a:ext cx="383701" cy="267859"/>
            </a:xfrm>
            <a:prstGeom prst="circularArrow">
              <a:avLst>
                <a:gd name="adj1" fmla="val 9236"/>
                <a:gd name="adj2" fmla="val 1503513"/>
                <a:gd name="adj3" fmla="val 15965119"/>
                <a:gd name="adj4" fmla="val 12227493"/>
                <a:gd name="adj5" fmla="val 13233"/>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30" name="Flèche en arc 429">
              <a:extLst>
                <a:ext uri="{FF2B5EF4-FFF2-40B4-BE49-F238E27FC236}">
                  <a16:creationId xmlns:a16="http://schemas.microsoft.com/office/drawing/2014/main" id="{C8809643-8FC9-2742-BB90-34D86B12498D}"/>
                </a:ext>
              </a:extLst>
            </p:cNvPr>
            <p:cNvSpPr/>
            <p:nvPr/>
          </p:nvSpPr>
          <p:spPr>
            <a:xfrm rot="16200000">
              <a:off x="4994005" y="1507696"/>
              <a:ext cx="289020" cy="230281"/>
            </a:xfrm>
            <a:prstGeom prst="circularArrow">
              <a:avLst>
                <a:gd name="adj1" fmla="val 9236"/>
                <a:gd name="adj2" fmla="val 1503513"/>
                <a:gd name="adj3" fmla="val 15965119"/>
                <a:gd name="adj4" fmla="val 12227493"/>
                <a:gd name="adj5" fmla="val 12644"/>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31" name="Flèche en arc 430">
              <a:extLst>
                <a:ext uri="{FF2B5EF4-FFF2-40B4-BE49-F238E27FC236}">
                  <a16:creationId xmlns:a16="http://schemas.microsoft.com/office/drawing/2014/main" id="{3DA1193B-D426-054F-9839-D4CA4C7B6EF5}"/>
                </a:ext>
              </a:extLst>
            </p:cNvPr>
            <p:cNvSpPr/>
            <p:nvPr/>
          </p:nvSpPr>
          <p:spPr>
            <a:xfrm rot="16200000">
              <a:off x="5052679" y="1723306"/>
              <a:ext cx="224792" cy="192830"/>
            </a:xfrm>
            <a:prstGeom prst="circularArrow">
              <a:avLst>
                <a:gd name="adj1" fmla="val 9236"/>
                <a:gd name="adj2" fmla="val 1503513"/>
                <a:gd name="adj3" fmla="val 15965119"/>
                <a:gd name="adj4" fmla="val 12227493"/>
                <a:gd name="adj5" fmla="val 12644"/>
              </a:avLst>
            </a:prstGeom>
            <a:solidFill>
              <a:schemeClr val="bg1">
                <a:lumMod val="7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grpSp>
      <p:grpSp>
        <p:nvGrpSpPr>
          <p:cNvPr id="19" name="Group 18">
            <a:extLst>
              <a:ext uri="{FF2B5EF4-FFF2-40B4-BE49-F238E27FC236}">
                <a16:creationId xmlns:a16="http://schemas.microsoft.com/office/drawing/2014/main" id="{27586F9F-F959-BE4E-B95F-D2B16C2D6788}"/>
              </a:ext>
            </a:extLst>
          </p:cNvPr>
          <p:cNvGrpSpPr>
            <a:grpSpLocks noChangeAspect="1"/>
          </p:cNvGrpSpPr>
          <p:nvPr/>
        </p:nvGrpSpPr>
        <p:grpSpPr>
          <a:xfrm>
            <a:off x="171631" y="2435526"/>
            <a:ext cx="2346880" cy="2296749"/>
            <a:chOff x="211392" y="2541546"/>
            <a:chExt cx="2153101" cy="2107109"/>
          </a:xfrm>
        </p:grpSpPr>
        <p:pic>
          <p:nvPicPr>
            <p:cNvPr id="12" name="Image 11">
              <a:extLst>
                <a:ext uri="{FF2B5EF4-FFF2-40B4-BE49-F238E27FC236}">
                  <a16:creationId xmlns:a16="http://schemas.microsoft.com/office/drawing/2014/main" id="{76DDB0F8-30C2-8D47-A90B-7C253554EE43}"/>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l="4691" b="6726"/>
            <a:stretch/>
          </p:blipFill>
          <p:spPr>
            <a:xfrm>
              <a:off x="211392" y="2541546"/>
              <a:ext cx="2153101" cy="2107109"/>
            </a:xfrm>
            <a:prstGeom prst="rect">
              <a:avLst/>
            </a:prstGeom>
          </p:spPr>
        </p:pic>
        <p:grpSp>
          <p:nvGrpSpPr>
            <p:cNvPr id="18" name="Groupe 17">
              <a:extLst>
                <a:ext uri="{FF2B5EF4-FFF2-40B4-BE49-F238E27FC236}">
                  <a16:creationId xmlns:a16="http://schemas.microsoft.com/office/drawing/2014/main" id="{B4233D9C-9F34-2F4B-BBE1-F8F45DF9A791}"/>
                </a:ext>
              </a:extLst>
            </p:cNvPr>
            <p:cNvGrpSpPr/>
            <p:nvPr/>
          </p:nvGrpSpPr>
          <p:grpSpPr>
            <a:xfrm>
              <a:off x="415816" y="4291757"/>
              <a:ext cx="1034781" cy="219911"/>
              <a:chOff x="1507799" y="12645833"/>
              <a:chExt cx="4073911" cy="865786"/>
            </a:xfrm>
          </p:grpSpPr>
          <p:cxnSp>
            <p:nvCxnSpPr>
              <p:cNvPr id="9" name="Connecteur droit 8">
                <a:extLst>
                  <a:ext uri="{FF2B5EF4-FFF2-40B4-BE49-F238E27FC236}">
                    <a16:creationId xmlns:a16="http://schemas.microsoft.com/office/drawing/2014/main" id="{C331F17F-D6B3-2E44-A8E7-8D734720E127}"/>
                  </a:ext>
                </a:extLst>
              </p:cNvPr>
              <p:cNvCxnSpPr>
                <a:cxnSpLocks/>
              </p:cNvCxnSpPr>
              <p:nvPr/>
            </p:nvCxnSpPr>
            <p:spPr>
              <a:xfrm flipV="1">
                <a:off x="1507799" y="13416938"/>
                <a:ext cx="4073911" cy="946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Connecteur droit 312">
                <a:extLst>
                  <a:ext uri="{FF2B5EF4-FFF2-40B4-BE49-F238E27FC236}">
                    <a16:creationId xmlns:a16="http://schemas.microsoft.com/office/drawing/2014/main" id="{CDB9FD4A-E2B5-8D4B-8AB7-F92E266BE22D}"/>
                  </a:ext>
                </a:extLst>
              </p:cNvPr>
              <p:cNvCxnSpPr>
                <a:cxnSpLocks/>
                <a:stCxn id="622" idx="3"/>
                <a:endCxn id="570" idx="1"/>
              </p:cNvCxnSpPr>
              <p:nvPr/>
            </p:nvCxnSpPr>
            <p:spPr>
              <a:xfrm flipV="1">
                <a:off x="1638082" y="13198971"/>
                <a:ext cx="2645370" cy="233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Connecteur droit 313">
                <a:extLst>
                  <a:ext uri="{FF2B5EF4-FFF2-40B4-BE49-F238E27FC236}">
                    <a16:creationId xmlns:a16="http://schemas.microsoft.com/office/drawing/2014/main" id="{8ED6149F-14DD-C54D-90B4-BA9F9B5B4112}"/>
                  </a:ext>
                </a:extLst>
              </p:cNvPr>
              <p:cNvCxnSpPr>
                <a:cxnSpLocks/>
              </p:cNvCxnSpPr>
              <p:nvPr/>
            </p:nvCxnSpPr>
            <p:spPr>
              <a:xfrm flipV="1">
                <a:off x="1886952" y="12820014"/>
                <a:ext cx="3642580" cy="5473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Connecteur droit 314">
                <a:extLst>
                  <a:ext uri="{FF2B5EF4-FFF2-40B4-BE49-F238E27FC236}">
                    <a16:creationId xmlns:a16="http://schemas.microsoft.com/office/drawing/2014/main" id="{9FE16711-47C9-3B41-9F4F-DD77D8FB1AF2}"/>
                  </a:ext>
                </a:extLst>
              </p:cNvPr>
              <p:cNvCxnSpPr>
                <a:cxnSpLocks/>
              </p:cNvCxnSpPr>
              <p:nvPr/>
            </p:nvCxnSpPr>
            <p:spPr>
              <a:xfrm flipV="1">
                <a:off x="2167097" y="12645833"/>
                <a:ext cx="2363863" cy="6062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3" name="ZoneTexte 522">
              <a:extLst>
                <a:ext uri="{FF2B5EF4-FFF2-40B4-BE49-F238E27FC236}">
                  <a16:creationId xmlns:a16="http://schemas.microsoft.com/office/drawing/2014/main" id="{B0882996-7195-D34B-B48B-9ECC4FDAC518}"/>
                </a:ext>
              </a:extLst>
            </p:cNvPr>
            <p:cNvSpPr txBox="1"/>
            <p:nvPr/>
          </p:nvSpPr>
          <p:spPr>
            <a:xfrm>
              <a:off x="1145884" y="4157704"/>
              <a:ext cx="316112" cy="248658"/>
            </a:xfrm>
            <a:prstGeom prst="rect">
              <a:avLst/>
            </a:prstGeom>
            <a:noFill/>
          </p:spPr>
          <p:txBody>
            <a:bodyPr wrap="none" rtlCol="0">
              <a:spAutoFit/>
            </a:bodyPr>
            <a:lstStyle/>
            <a:p>
              <a:r>
                <a:rPr lang="en-US" sz="1016" noProof="1"/>
                <a:t>72</a:t>
              </a:r>
            </a:p>
          </p:txBody>
        </p:sp>
        <p:sp>
          <p:nvSpPr>
            <p:cNvPr id="525" name="ZoneTexte 524">
              <a:extLst>
                <a:ext uri="{FF2B5EF4-FFF2-40B4-BE49-F238E27FC236}">
                  <a16:creationId xmlns:a16="http://schemas.microsoft.com/office/drawing/2014/main" id="{1D98C349-B63C-944A-A7E1-83BD99BDF3AE}"/>
                </a:ext>
              </a:extLst>
            </p:cNvPr>
            <p:cNvSpPr txBox="1"/>
            <p:nvPr/>
          </p:nvSpPr>
          <p:spPr>
            <a:xfrm>
              <a:off x="1394199" y="4345294"/>
              <a:ext cx="316112" cy="248658"/>
            </a:xfrm>
            <a:prstGeom prst="rect">
              <a:avLst/>
            </a:prstGeom>
            <a:noFill/>
          </p:spPr>
          <p:txBody>
            <a:bodyPr wrap="none" rtlCol="0">
              <a:spAutoFit/>
            </a:bodyPr>
            <a:lstStyle/>
            <a:p>
              <a:r>
                <a:rPr lang="en-US" sz="1016" noProof="1"/>
                <a:t>66</a:t>
              </a:r>
            </a:p>
          </p:txBody>
        </p:sp>
        <p:sp>
          <p:nvSpPr>
            <p:cNvPr id="570" name="ZoneTexte 569">
              <a:extLst>
                <a:ext uri="{FF2B5EF4-FFF2-40B4-BE49-F238E27FC236}">
                  <a16:creationId xmlns:a16="http://schemas.microsoft.com/office/drawing/2014/main" id="{D7FB1732-8B3B-404C-93CB-14378E1FDB58}"/>
                </a:ext>
              </a:extLst>
            </p:cNvPr>
            <p:cNvSpPr txBox="1"/>
            <p:nvPr/>
          </p:nvSpPr>
          <p:spPr>
            <a:xfrm>
              <a:off x="1120837" y="4307926"/>
              <a:ext cx="316112" cy="248658"/>
            </a:xfrm>
            <a:prstGeom prst="rect">
              <a:avLst/>
            </a:prstGeom>
            <a:noFill/>
          </p:spPr>
          <p:txBody>
            <a:bodyPr wrap="none" rtlCol="0">
              <a:spAutoFit/>
            </a:bodyPr>
            <a:lstStyle/>
            <a:p>
              <a:r>
                <a:rPr lang="en-US" sz="1016" noProof="1"/>
                <a:t>68</a:t>
              </a:r>
            </a:p>
          </p:txBody>
        </p:sp>
        <p:sp>
          <p:nvSpPr>
            <p:cNvPr id="571" name="ZoneTexte 570">
              <a:extLst>
                <a:ext uri="{FF2B5EF4-FFF2-40B4-BE49-F238E27FC236}">
                  <a16:creationId xmlns:a16="http://schemas.microsoft.com/office/drawing/2014/main" id="{C46CB9C1-7AFB-9941-A09E-8896D87A3095}"/>
                </a:ext>
              </a:extLst>
            </p:cNvPr>
            <p:cNvSpPr txBox="1"/>
            <p:nvPr/>
          </p:nvSpPr>
          <p:spPr>
            <a:xfrm>
              <a:off x="1394199" y="4194291"/>
              <a:ext cx="316112" cy="248658"/>
            </a:xfrm>
            <a:prstGeom prst="rect">
              <a:avLst/>
            </a:prstGeom>
            <a:noFill/>
          </p:spPr>
          <p:txBody>
            <a:bodyPr wrap="none" rtlCol="0">
              <a:spAutoFit/>
            </a:bodyPr>
            <a:lstStyle/>
            <a:p>
              <a:r>
                <a:rPr lang="en-US" sz="1016" noProof="1"/>
                <a:t>70</a:t>
              </a:r>
            </a:p>
          </p:txBody>
        </p:sp>
        <p:sp>
          <p:nvSpPr>
            <p:cNvPr id="592" name="ZoneTexte 591">
              <a:extLst>
                <a:ext uri="{FF2B5EF4-FFF2-40B4-BE49-F238E27FC236}">
                  <a16:creationId xmlns:a16="http://schemas.microsoft.com/office/drawing/2014/main" id="{489C98B9-73C6-CD4B-85C8-24FBF769CE21}"/>
                </a:ext>
              </a:extLst>
            </p:cNvPr>
            <p:cNvSpPr txBox="1"/>
            <p:nvPr/>
          </p:nvSpPr>
          <p:spPr>
            <a:xfrm>
              <a:off x="616197" y="4041156"/>
              <a:ext cx="316112" cy="248658"/>
            </a:xfrm>
            <a:prstGeom prst="rect">
              <a:avLst/>
            </a:prstGeom>
            <a:noFill/>
          </p:spPr>
          <p:txBody>
            <a:bodyPr wrap="none" rtlCol="0">
              <a:spAutoFit/>
            </a:bodyPr>
            <a:lstStyle/>
            <a:p>
              <a:r>
                <a:rPr lang="en-US" sz="1016" noProof="1"/>
                <a:t>66</a:t>
              </a:r>
            </a:p>
          </p:txBody>
        </p:sp>
        <p:sp>
          <p:nvSpPr>
            <p:cNvPr id="593" name="ZoneTexte 592">
              <a:extLst>
                <a:ext uri="{FF2B5EF4-FFF2-40B4-BE49-F238E27FC236}">
                  <a16:creationId xmlns:a16="http://schemas.microsoft.com/office/drawing/2014/main" id="{D61016E9-E7FF-794D-905B-F5CD01731DD2}"/>
                </a:ext>
              </a:extLst>
            </p:cNvPr>
            <p:cNvSpPr txBox="1"/>
            <p:nvPr/>
          </p:nvSpPr>
          <p:spPr>
            <a:xfrm>
              <a:off x="768915" y="3834902"/>
              <a:ext cx="316112" cy="248658"/>
            </a:xfrm>
            <a:prstGeom prst="rect">
              <a:avLst/>
            </a:prstGeom>
            <a:noFill/>
          </p:spPr>
          <p:txBody>
            <a:bodyPr wrap="none" rtlCol="0">
              <a:spAutoFit/>
            </a:bodyPr>
            <a:lstStyle/>
            <a:p>
              <a:r>
                <a:rPr lang="en-US" sz="1016" noProof="1"/>
                <a:t>68</a:t>
              </a:r>
            </a:p>
          </p:txBody>
        </p:sp>
        <p:sp>
          <p:nvSpPr>
            <p:cNvPr id="594" name="ZoneTexte 593">
              <a:extLst>
                <a:ext uri="{FF2B5EF4-FFF2-40B4-BE49-F238E27FC236}">
                  <a16:creationId xmlns:a16="http://schemas.microsoft.com/office/drawing/2014/main" id="{AD97D358-A733-4043-9A0A-DA77445CFBA4}"/>
                </a:ext>
              </a:extLst>
            </p:cNvPr>
            <p:cNvSpPr txBox="1"/>
            <p:nvPr/>
          </p:nvSpPr>
          <p:spPr>
            <a:xfrm>
              <a:off x="965201" y="3691167"/>
              <a:ext cx="316112" cy="248658"/>
            </a:xfrm>
            <a:prstGeom prst="rect">
              <a:avLst/>
            </a:prstGeom>
            <a:noFill/>
          </p:spPr>
          <p:txBody>
            <a:bodyPr wrap="none" rtlCol="0">
              <a:spAutoFit/>
            </a:bodyPr>
            <a:lstStyle/>
            <a:p>
              <a:r>
                <a:rPr lang="en-US" sz="1016" noProof="1"/>
                <a:t>70</a:t>
              </a:r>
            </a:p>
          </p:txBody>
        </p:sp>
        <p:sp>
          <p:nvSpPr>
            <p:cNvPr id="595" name="ZoneTexte 594">
              <a:extLst>
                <a:ext uri="{FF2B5EF4-FFF2-40B4-BE49-F238E27FC236}">
                  <a16:creationId xmlns:a16="http://schemas.microsoft.com/office/drawing/2014/main" id="{95D1546A-DCBD-C94A-BA96-0B608FF0FC58}"/>
                </a:ext>
              </a:extLst>
            </p:cNvPr>
            <p:cNvSpPr txBox="1"/>
            <p:nvPr/>
          </p:nvSpPr>
          <p:spPr>
            <a:xfrm>
              <a:off x="1206362" y="3603336"/>
              <a:ext cx="316112" cy="248658"/>
            </a:xfrm>
            <a:prstGeom prst="rect">
              <a:avLst/>
            </a:prstGeom>
            <a:noFill/>
          </p:spPr>
          <p:txBody>
            <a:bodyPr wrap="none" rtlCol="0">
              <a:spAutoFit/>
            </a:bodyPr>
            <a:lstStyle/>
            <a:p>
              <a:r>
                <a:rPr lang="en-US" sz="1016" noProof="1"/>
                <a:t>72</a:t>
              </a:r>
            </a:p>
          </p:txBody>
        </p:sp>
        <p:grpSp>
          <p:nvGrpSpPr>
            <p:cNvPr id="615" name="Groupe 614">
              <a:extLst>
                <a:ext uri="{FF2B5EF4-FFF2-40B4-BE49-F238E27FC236}">
                  <a16:creationId xmlns:a16="http://schemas.microsoft.com/office/drawing/2014/main" id="{4E1D86D8-6D20-D448-97F4-DA8A76B87BA6}"/>
                </a:ext>
              </a:extLst>
            </p:cNvPr>
            <p:cNvGrpSpPr/>
            <p:nvPr/>
          </p:nvGrpSpPr>
          <p:grpSpPr>
            <a:xfrm>
              <a:off x="557170" y="4391070"/>
              <a:ext cx="50957" cy="102785"/>
              <a:chOff x="9519853" y="8465257"/>
              <a:chExt cx="129635" cy="261484"/>
            </a:xfrm>
          </p:grpSpPr>
          <p:sp>
            <p:nvSpPr>
              <p:cNvPr id="625" name="Triangle 624">
                <a:extLst>
                  <a:ext uri="{FF2B5EF4-FFF2-40B4-BE49-F238E27FC236}">
                    <a16:creationId xmlns:a16="http://schemas.microsoft.com/office/drawing/2014/main" id="{64EDF625-0252-8241-BE49-97C422ADFF46}"/>
                  </a:ext>
                </a:extLst>
              </p:cNvPr>
              <p:cNvSpPr/>
              <p:nvPr/>
            </p:nvSpPr>
            <p:spPr>
              <a:xfrm rot="10800000">
                <a:off x="9519889" y="8604073"/>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26" name="Triangle 625">
                <a:extLst>
                  <a:ext uri="{FF2B5EF4-FFF2-40B4-BE49-F238E27FC236}">
                    <a16:creationId xmlns:a16="http://schemas.microsoft.com/office/drawing/2014/main" id="{1994D5DC-995D-1F4B-9B69-79E45E3F90F8}"/>
                  </a:ext>
                </a:extLst>
              </p:cNvPr>
              <p:cNvSpPr/>
              <p:nvPr/>
            </p:nvSpPr>
            <p:spPr>
              <a:xfrm>
                <a:off x="9519853" y="846525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616" name="Groupe 615">
              <a:extLst>
                <a:ext uri="{FF2B5EF4-FFF2-40B4-BE49-F238E27FC236}">
                  <a16:creationId xmlns:a16="http://schemas.microsoft.com/office/drawing/2014/main" id="{5C15E886-933D-2340-9131-0CA4AF71DE4E}"/>
                </a:ext>
              </a:extLst>
            </p:cNvPr>
            <p:cNvGrpSpPr/>
            <p:nvPr/>
          </p:nvGrpSpPr>
          <p:grpSpPr>
            <a:xfrm>
              <a:off x="392869" y="4452057"/>
              <a:ext cx="50949" cy="102781"/>
              <a:chOff x="9540263" y="8347725"/>
              <a:chExt cx="129614" cy="261472"/>
            </a:xfrm>
          </p:grpSpPr>
          <p:sp>
            <p:nvSpPr>
              <p:cNvPr id="623" name="Triangle 622">
                <a:extLst>
                  <a:ext uri="{FF2B5EF4-FFF2-40B4-BE49-F238E27FC236}">
                    <a16:creationId xmlns:a16="http://schemas.microsoft.com/office/drawing/2014/main" id="{DEE612AB-C4AF-624E-A835-C4E9C2DBB15D}"/>
                  </a:ext>
                </a:extLst>
              </p:cNvPr>
              <p:cNvSpPr/>
              <p:nvPr/>
            </p:nvSpPr>
            <p:spPr>
              <a:xfrm rot="10800000">
                <a:off x="9540263" y="8486529"/>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24" name="Triangle 623">
                <a:extLst>
                  <a:ext uri="{FF2B5EF4-FFF2-40B4-BE49-F238E27FC236}">
                    <a16:creationId xmlns:a16="http://schemas.microsoft.com/office/drawing/2014/main" id="{D1583BA0-5760-E641-9687-3DCFCB00F061}"/>
                  </a:ext>
                </a:extLst>
              </p:cNvPr>
              <p:cNvSpPr/>
              <p:nvPr/>
            </p:nvSpPr>
            <p:spPr>
              <a:xfrm>
                <a:off x="9540278" y="8347725"/>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617" name="Groupe 616">
              <a:extLst>
                <a:ext uri="{FF2B5EF4-FFF2-40B4-BE49-F238E27FC236}">
                  <a16:creationId xmlns:a16="http://schemas.microsoft.com/office/drawing/2014/main" id="{9F975368-4C7D-7C40-A46F-CD0B23B39751}"/>
                </a:ext>
              </a:extLst>
            </p:cNvPr>
            <p:cNvGrpSpPr/>
            <p:nvPr/>
          </p:nvGrpSpPr>
          <p:grpSpPr>
            <a:xfrm>
              <a:off x="423436" y="4443235"/>
              <a:ext cx="50944" cy="102783"/>
              <a:chOff x="9592439" y="8306938"/>
              <a:chExt cx="129600" cy="261478"/>
            </a:xfrm>
          </p:grpSpPr>
          <p:sp>
            <p:nvSpPr>
              <p:cNvPr id="621" name="Triangle 620">
                <a:extLst>
                  <a:ext uri="{FF2B5EF4-FFF2-40B4-BE49-F238E27FC236}">
                    <a16:creationId xmlns:a16="http://schemas.microsoft.com/office/drawing/2014/main" id="{DC5A114C-8176-5E43-B2AC-C9A0126FFCFC}"/>
                  </a:ext>
                </a:extLst>
              </p:cNvPr>
              <p:cNvSpPr/>
              <p:nvPr/>
            </p:nvSpPr>
            <p:spPr>
              <a:xfrm rot="10800000">
                <a:off x="9592439" y="8445748"/>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22" name="Triangle 621">
                <a:extLst>
                  <a:ext uri="{FF2B5EF4-FFF2-40B4-BE49-F238E27FC236}">
                    <a16:creationId xmlns:a16="http://schemas.microsoft.com/office/drawing/2014/main" id="{701730EA-82D0-E546-BD13-A998047F5444}"/>
                  </a:ext>
                </a:extLst>
              </p:cNvPr>
              <p:cNvSpPr/>
              <p:nvPr/>
            </p:nvSpPr>
            <p:spPr>
              <a:xfrm>
                <a:off x="9592440" y="8306938"/>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618" name="Groupe 617">
              <a:extLst>
                <a:ext uri="{FF2B5EF4-FFF2-40B4-BE49-F238E27FC236}">
                  <a16:creationId xmlns:a16="http://schemas.microsoft.com/office/drawing/2014/main" id="{8DF2BB05-5382-9846-A66F-D078C4447CAE}"/>
                </a:ext>
              </a:extLst>
            </p:cNvPr>
            <p:cNvGrpSpPr/>
            <p:nvPr/>
          </p:nvGrpSpPr>
          <p:grpSpPr>
            <a:xfrm>
              <a:off x="488262" y="4419191"/>
              <a:ext cx="50945" cy="102783"/>
              <a:chOff x="9702636" y="8248504"/>
              <a:chExt cx="129604" cy="261478"/>
            </a:xfrm>
          </p:grpSpPr>
          <p:sp>
            <p:nvSpPr>
              <p:cNvPr id="619" name="Triangle 618">
                <a:extLst>
                  <a:ext uri="{FF2B5EF4-FFF2-40B4-BE49-F238E27FC236}">
                    <a16:creationId xmlns:a16="http://schemas.microsoft.com/office/drawing/2014/main" id="{3E56922E-2A1F-7943-BB4D-A5F1ED2A08C6}"/>
                  </a:ext>
                </a:extLst>
              </p:cNvPr>
              <p:cNvSpPr/>
              <p:nvPr/>
            </p:nvSpPr>
            <p:spPr>
              <a:xfrm rot="10800000">
                <a:off x="9702636" y="8387314"/>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620" name="Triangle 619">
                <a:extLst>
                  <a:ext uri="{FF2B5EF4-FFF2-40B4-BE49-F238E27FC236}">
                    <a16:creationId xmlns:a16="http://schemas.microsoft.com/office/drawing/2014/main" id="{332B3DF3-A93C-394E-ADA1-978BDEB3E605}"/>
                  </a:ext>
                </a:extLst>
              </p:cNvPr>
              <p:cNvSpPr/>
              <p:nvPr/>
            </p:nvSpPr>
            <p:spPr>
              <a:xfrm>
                <a:off x="9702641" y="8248504"/>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8" name="Groupe 7">
              <a:extLst>
                <a:ext uri="{FF2B5EF4-FFF2-40B4-BE49-F238E27FC236}">
                  <a16:creationId xmlns:a16="http://schemas.microsoft.com/office/drawing/2014/main" id="{5E81658A-016F-844C-A1B3-CDD76F022B9B}"/>
                </a:ext>
              </a:extLst>
            </p:cNvPr>
            <p:cNvGrpSpPr/>
            <p:nvPr/>
          </p:nvGrpSpPr>
          <p:grpSpPr>
            <a:xfrm>
              <a:off x="843271" y="3844018"/>
              <a:ext cx="461657" cy="344706"/>
              <a:chOff x="3228071" y="11330526"/>
              <a:chExt cx="1841183" cy="1374758"/>
            </a:xfrm>
          </p:grpSpPr>
          <p:grpSp>
            <p:nvGrpSpPr>
              <p:cNvPr id="466" name="Groupe 465">
                <a:extLst>
                  <a:ext uri="{FF2B5EF4-FFF2-40B4-BE49-F238E27FC236}">
                    <a16:creationId xmlns:a16="http://schemas.microsoft.com/office/drawing/2014/main" id="{B26BC448-BE95-DD4C-B438-260215DEF4E0}"/>
                  </a:ext>
                </a:extLst>
              </p:cNvPr>
              <p:cNvGrpSpPr/>
              <p:nvPr/>
            </p:nvGrpSpPr>
            <p:grpSpPr>
              <a:xfrm>
                <a:off x="4727458" y="11330526"/>
                <a:ext cx="341796" cy="341796"/>
                <a:chOff x="16819723" y="8652783"/>
                <a:chExt cx="341796" cy="341796"/>
              </a:xfrm>
            </p:grpSpPr>
            <p:sp>
              <p:nvSpPr>
                <p:cNvPr id="464" name="Corde 463">
                  <a:extLst>
                    <a:ext uri="{FF2B5EF4-FFF2-40B4-BE49-F238E27FC236}">
                      <a16:creationId xmlns:a16="http://schemas.microsoft.com/office/drawing/2014/main" id="{D899CCEB-4D6B-894C-A4C4-45B9CD71CF07}"/>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65" name="Corde 464">
                  <a:extLst>
                    <a:ext uri="{FF2B5EF4-FFF2-40B4-BE49-F238E27FC236}">
                      <a16:creationId xmlns:a16="http://schemas.microsoft.com/office/drawing/2014/main" id="{200CCF3C-85B6-7640-B554-47F1B0021F96}"/>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467" name="Groupe 466">
                <a:extLst>
                  <a:ext uri="{FF2B5EF4-FFF2-40B4-BE49-F238E27FC236}">
                    <a16:creationId xmlns:a16="http://schemas.microsoft.com/office/drawing/2014/main" id="{6EB533A2-1A78-EC46-921C-00E2EA6920E7}"/>
                  </a:ext>
                </a:extLst>
              </p:cNvPr>
              <p:cNvGrpSpPr/>
              <p:nvPr/>
            </p:nvGrpSpPr>
            <p:grpSpPr>
              <a:xfrm>
                <a:off x="4073932" y="11653503"/>
                <a:ext cx="341796" cy="341796"/>
                <a:chOff x="16819723" y="8652783"/>
                <a:chExt cx="341796" cy="341796"/>
              </a:xfrm>
            </p:grpSpPr>
            <p:sp>
              <p:nvSpPr>
                <p:cNvPr id="468" name="Corde 467">
                  <a:extLst>
                    <a:ext uri="{FF2B5EF4-FFF2-40B4-BE49-F238E27FC236}">
                      <a16:creationId xmlns:a16="http://schemas.microsoft.com/office/drawing/2014/main" id="{902F695A-137C-3948-AC68-ADF8C1823BD7}"/>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69" name="Corde 468">
                  <a:extLst>
                    <a:ext uri="{FF2B5EF4-FFF2-40B4-BE49-F238E27FC236}">
                      <a16:creationId xmlns:a16="http://schemas.microsoft.com/office/drawing/2014/main" id="{8723EECE-13D0-EB4D-9D32-2AB2709F790E}"/>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473" name="Groupe 472">
                <a:extLst>
                  <a:ext uri="{FF2B5EF4-FFF2-40B4-BE49-F238E27FC236}">
                    <a16:creationId xmlns:a16="http://schemas.microsoft.com/office/drawing/2014/main" id="{53F329D3-5A7A-E544-89F7-F727053E4575}"/>
                  </a:ext>
                </a:extLst>
              </p:cNvPr>
              <p:cNvGrpSpPr/>
              <p:nvPr/>
            </p:nvGrpSpPr>
            <p:grpSpPr>
              <a:xfrm>
                <a:off x="3228071" y="12363488"/>
                <a:ext cx="341796" cy="341796"/>
                <a:chOff x="16819723" y="8652783"/>
                <a:chExt cx="341796" cy="341796"/>
              </a:xfrm>
            </p:grpSpPr>
            <p:sp>
              <p:nvSpPr>
                <p:cNvPr id="474" name="Corde 473">
                  <a:extLst>
                    <a:ext uri="{FF2B5EF4-FFF2-40B4-BE49-F238E27FC236}">
                      <a16:creationId xmlns:a16="http://schemas.microsoft.com/office/drawing/2014/main" id="{919CDACF-874B-F34F-9439-2E823A735FDA}"/>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75" name="Corde 474">
                  <a:extLst>
                    <a:ext uri="{FF2B5EF4-FFF2-40B4-BE49-F238E27FC236}">
                      <a16:creationId xmlns:a16="http://schemas.microsoft.com/office/drawing/2014/main" id="{C1210EC7-F0CC-B94F-8DD4-EEE36D03DB4A}"/>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478" name="Groupe 477">
                <a:extLst>
                  <a:ext uri="{FF2B5EF4-FFF2-40B4-BE49-F238E27FC236}">
                    <a16:creationId xmlns:a16="http://schemas.microsoft.com/office/drawing/2014/main" id="{058519DA-47BB-2041-BC11-B712CCDF53C8}"/>
                  </a:ext>
                </a:extLst>
              </p:cNvPr>
              <p:cNvGrpSpPr/>
              <p:nvPr/>
            </p:nvGrpSpPr>
            <p:grpSpPr>
              <a:xfrm>
                <a:off x="3785144" y="12064115"/>
                <a:ext cx="341796" cy="341796"/>
                <a:chOff x="16819723" y="8652783"/>
                <a:chExt cx="341796" cy="341796"/>
              </a:xfrm>
            </p:grpSpPr>
            <p:sp>
              <p:nvSpPr>
                <p:cNvPr id="519" name="Corde 518">
                  <a:extLst>
                    <a:ext uri="{FF2B5EF4-FFF2-40B4-BE49-F238E27FC236}">
                      <a16:creationId xmlns:a16="http://schemas.microsoft.com/office/drawing/2014/main" id="{F9CDD038-7CDF-8A40-A036-603A3E4416E5}"/>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20" name="Corde 519">
                  <a:extLst>
                    <a:ext uri="{FF2B5EF4-FFF2-40B4-BE49-F238E27FC236}">
                      <a16:creationId xmlns:a16="http://schemas.microsoft.com/office/drawing/2014/main" id="{88FBE338-1895-FC42-8F1F-9B241045E75D}"/>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grpSp>
      <p:grpSp>
        <p:nvGrpSpPr>
          <p:cNvPr id="20" name="Group 19">
            <a:extLst>
              <a:ext uri="{FF2B5EF4-FFF2-40B4-BE49-F238E27FC236}">
                <a16:creationId xmlns:a16="http://schemas.microsoft.com/office/drawing/2014/main" id="{6608C070-210B-744F-AE4D-0867ACBCCD4D}"/>
              </a:ext>
            </a:extLst>
          </p:cNvPr>
          <p:cNvGrpSpPr>
            <a:grpSpLocks noChangeAspect="1"/>
          </p:cNvGrpSpPr>
          <p:nvPr/>
        </p:nvGrpSpPr>
        <p:grpSpPr>
          <a:xfrm>
            <a:off x="2524749" y="2473624"/>
            <a:ext cx="2346880" cy="2296749"/>
            <a:chOff x="2484973" y="2541546"/>
            <a:chExt cx="2153101" cy="2107109"/>
          </a:xfrm>
        </p:grpSpPr>
        <p:pic>
          <p:nvPicPr>
            <p:cNvPr id="316" name="Image 315">
              <a:extLst>
                <a:ext uri="{FF2B5EF4-FFF2-40B4-BE49-F238E27FC236}">
                  <a16:creationId xmlns:a16="http://schemas.microsoft.com/office/drawing/2014/main" id="{A0EA8610-D67E-624F-AC70-A6F4EBDF117A}"/>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l="4691" b="6726"/>
            <a:stretch/>
          </p:blipFill>
          <p:spPr>
            <a:xfrm>
              <a:off x="2484973" y="2541546"/>
              <a:ext cx="2153101" cy="2107109"/>
            </a:xfrm>
            <a:prstGeom prst="rect">
              <a:avLst/>
            </a:prstGeom>
          </p:spPr>
        </p:pic>
        <p:sp>
          <p:nvSpPr>
            <p:cNvPr id="610" name="ZoneTexte 609">
              <a:extLst>
                <a:ext uri="{FF2B5EF4-FFF2-40B4-BE49-F238E27FC236}">
                  <a16:creationId xmlns:a16="http://schemas.microsoft.com/office/drawing/2014/main" id="{22DF5441-D074-F64E-9D5F-F7737143CCC7}"/>
                </a:ext>
              </a:extLst>
            </p:cNvPr>
            <p:cNvSpPr txBox="1"/>
            <p:nvPr/>
          </p:nvSpPr>
          <p:spPr>
            <a:xfrm>
              <a:off x="3962223" y="3881391"/>
              <a:ext cx="316112" cy="248658"/>
            </a:xfrm>
            <a:prstGeom prst="rect">
              <a:avLst/>
            </a:prstGeom>
            <a:noFill/>
          </p:spPr>
          <p:txBody>
            <a:bodyPr wrap="none" rtlCol="0">
              <a:spAutoFit/>
            </a:bodyPr>
            <a:lstStyle/>
            <a:p>
              <a:r>
                <a:rPr lang="en-US" sz="1016" noProof="1"/>
                <a:t>72</a:t>
              </a:r>
            </a:p>
          </p:txBody>
        </p:sp>
        <p:sp>
          <p:nvSpPr>
            <p:cNvPr id="611" name="ZoneTexte 610">
              <a:extLst>
                <a:ext uri="{FF2B5EF4-FFF2-40B4-BE49-F238E27FC236}">
                  <a16:creationId xmlns:a16="http://schemas.microsoft.com/office/drawing/2014/main" id="{F3676B69-5375-3249-86E1-7FCA43912AA9}"/>
                </a:ext>
              </a:extLst>
            </p:cNvPr>
            <p:cNvSpPr txBox="1"/>
            <p:nvPr/>
          </p:nvSpPr>
          <p:spPr>
            <a:xfrm>
              <a:off x="3218267" y="4330343"/>
              <a:ext cx="316112" cy="248658"/>
            </a:xfrm>
            <a:prstGeom prst="rect">
              <a:avLst/>
            </a:prstGeom>
            <a:noFill/>
          </p:spPr>
          <p:txBody>
            <a:bodyPr wrap="none" rtlCol="0">
              <a:spAutoFit/>
            </a:bodyPr>
            <a:lstStyle/>
            <a:p>
              <a:r>
                <a:rPr lang="en-US" sz="1016" noProof="1"/>
                <a:t>66</a:t>
              </a:r>
            </a:p>
          </p:txBody>
        </p:sp>
        <p:sp>
          <p:nvSpPr>
            <p:cNvPr id="612" name="ZoneTexte 611">
              <a:extLst>
                <a:ext uri="{FF2B5EF4-FFF2-40B4-BE49-F238E27FC236}">
                  <a16:creationId xmlns:a16="http://schemas.microsoft.com/office/drawing/2014/main" id="{29985183-9D8B-CB42-BB03-B05D28934EF4}"/>
                </a:ext>
              </a:extLst>
            </p:cNvPr>
            <p:cNvSpPr txBox="1"/>
            <p:nvPr/>
          </p:nvSpPr>
          <p:spPr>
            <a:xfrm>
              <a:off x="3542598" y="4176958"/>
              <a:ext cx="316112" cy="248658"/>
            </a:xfrm>
            <a:prstGeom prst="rect">
              <a:avLst/>
            </a:prstGeom>
            <a:noFill/>
          </p:spPr>
          <p:txBody>
            <a:bodyPr wrap="none" rtlCol="0">
              <a:spAutoFit/>
            </a:bodyPr>
            <a:lstStyle/>
            <a:p>
              <a:r>
                <a:rPr lang="en-US" sz="1016" noProof="1"/>
                <a:t>68</a:t>
              </a:r>
            </a:p>
          </p:txBody>
        </p:sp>
        <p:sp>
          <p:nvSpPr>
            <p:cNvPr id="613" name="ZoneTexte 612">
              <a:extLst>
                <a:ext uri="{FF2B5EF4-FFF2-40B4-BE49-F238E27FC236}">
                  <a16:creationId xmlns:a16="http://schemas.microsoft.com/office/drawing/2014/main" id="{72944E8B-2C14-914A-83A5-2E7A26CE3C05}"/>
                </a:ext>
              </a:extLst>
            </p:cNvPr>
            <p:cNvSpPr txBox="1"/>
            <p:nvPr/>
          </p:nvSpPr>
          <p:spPr>
            <a:xfrm>
              <a:off x="3761934" y="4062040"/>
              <a:ext cx="316112" cy="248658"/>
            </a:xfrm>
            <a:prstGeom prst="rect">
              <a:avLst/>
            </a:prstGeom>
            <a:noFill/>
          </p:spPr>
          <p:txBody>
            <a:bodyPr wrap="none" rtlCol="0">
              <a:spAutoFit/>
            </a:bodyPr>
            <a:lstStyle/>
            <a:p>
              <a:r>
                <a:rPr lang="en-US" sz="1016" noProof="1"/>
                <a:t>70</a:t>
              </a:r>
            </a:p>
          </p:txBody>
        </p:sp>
        <p:grpSp>
          <p:nvGrpSpPr>
            <p:cNvPr id="300" name="Groupe 299">
              <a:extLst>
                <a:ext uri="{FF2B5EF4-FFF2-40B4-BE49-F238E27FC236}">
                  <a16:creationId xmlns:a16="http://schemas.microsoft.com/office/drawing/2014/main" id="{9543DC5F-02BF-2841-8CA9-3B742EAEC62D}"/>
                </a:ext>
              </a:extLst>
            </p:cNvPr>
            <p:cNvGrpSpPr/>
            <p:nvPr/>
          </p:nvGrpSpPr>
          <p:grpSpPr>
            <a:xfrm>
              <a:off x="3228855" y="3839779"/>
              <a:ext cx="749232" cy="514674"/>
              <a:chOff x="3842255" y="11223975"/>
              <a:chExt cx="2988093" cy="2052626"/>
            </a:xfrm>
          </p:grpSpPr>
          <p:grpSp>
            <p:nvGrpSpPr>
              <p:cNvPr id="301" name="Groupe 300">
                <a:extLst>
                  <a:ext uri="{FF2B5EF4-FFF2-40B4-BE49-F238E27FC236}">
                    <a16:creationId xmlns:a16="http://schemas.microsoft.com/office/drawing/2014/main" id="{8C8A5A00-B6E7-4E42-B259-C1CF9066D14B}"/>
                  </a:ext>
                </a:extLst>
              </p:cNvPr>
              <p:cNvGrpSpPr/>
              <p:nvPr/>
            </p:nvGrpSpPr>
            <p:grpSpPr>
              <a:xfrm>
                <a:off x="6627107" y="11223975"/>
                <a:ext cx="203241" cy="409925"/>
                <a:chOff x="9607186" y="8333774"/>
                <a:chExt cx="129643" cy="261482"/>
              </a:xfrm>
            </p:grpSpPr>
            <p:sp>
              <p:nvSpPr>
                <p:cNvPr id="311" name="Triangle 310">
                  <a:extLst>
                    <a:ext uri="{FF2B5EF4-FFF2-40B4-BE49-F238E27FC236}">
                      <a16:creationId xmlns:a16="http://schemas.microsoft.com/office/drawing/2014/main" id="{D7C64E5B-8323-4040-9819-8996C9B5C9B9}"/>
                    </a:ext>
                  </a:extLst>
                </p:cNvPr>
                <p:cNvSpPr/>
                <p:nvPr/>
              </p:nvSpPr>
              <p:spPr>
                <a:xfrm rot="10800000">
                  <a:off x="9607230" y="8472588"/>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12" name="Triangle 311">
                  <a:extLst>
                    <a:ext uri="{FF2B5EF4-FFF2-40B4-BE49-F238E27FC236}">
                      <a16:creationId xmlns:a16="http://schemas.microsoft.com/office/drawing/2014/main" id="{7207DA24-50CC-ED4A-859F-FCCDE1F7C6EA}"/>
                    </a:ext>
                  </a:extLst>
                </p:cNvPr>
                <p:cNvSpPr/>
                <p:nvPr/>
              </p:nvSpPr>
              <p:spPr>
                <a:xfrm>
                  <a:off x="9607186" y="8333774"/>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02" name="Groupe 301">
                <a:extLst>
                  <a:ext uri="{FF2B5EF4-FFF2-40B4-BE49-F238E27FC236}">
                    <a16:creationId xmlns:a16="http://schemas.microsoft.com/office/drawing/2014/main" id="{C2065587-132F-7145-BF5D-1361FE8CB244}"/>
                  </a:ext>
                </a:extLst>
              </p:cNvPr>
              <p:cNvGrpSpPr/>
              <p:nvPr/>
            </p:nvGrpSpPr>
            <p:grpSpPr>
              <a:xfrm>
                <a:off x="5798355" y="11921884"/>
                <a:ext cx="203172" cy="409925"/>
                <a:chOff x="9550046" y="8356647"/>
                <a:chExt cx="129599" cy="261482"/>
              </a:xfrm>
            </p:grpSpPr>
            <p:sp>
              <p:nvSpPr>
                <p:cNvPr id="309" name="Triangle 308">
                  <a:extLst>
                    <a:ext uri="{FF2B5EF4-FFF2-40B4-BE49-F238E27FC236}">
                      <a16:creationId xmlns:a16="http://schemas.microsoft.com/office/drawing/2014/main" id="{778ED317-6BB2-864C-B858-B3731B4D52F0}"/>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10" name="Triangle 309">
                  <a:extLst>
                    <a:ext uri="{FF2B5EF4-FFF2-40B4-BE49-F238E27FC236}">
                      <a16:creationId xmlns:a16="http://schemas.microsoft.com/office/drawing/2014/main" id="{64DDABB8-085B-BD42-AB73-FE3887DCAE99}"/>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03" name="Groupe 302">
                <a:extLst>
                  <a:ext uri="{FF2B5EF4-FFF2-40B4-BE49-F238E27FC236}">
                    <a16:creationId xmlns:a16="http://schemas.microsoft.com/office/drawing/2014/main" id="{5ABC0E0F-D69D-3446-8000-57D3F8CD8485}"/>
                  </a:ext>
                </a:extLst>
              </p:cNvPr>
              <p:cNvGrpSpPr/>
              <p:nvPr/>
            </p:nvGrpSpPr>
            <p:grpSpPr>
              <a:xfrm>
                <a:off x="4913820" y="12422295"/>
                <a:ext cx="203172" cy="409925"/>
                <a:chOff x="9550046" y="8356647"/>
                <a:chExt cx="129599" cy="261482"/>
              </a:xfrm>
            </p:grpSpPr>
            <p:sp>
              <p:nvSpPr>
                <p:cNvPr id="307" name="Triangle 306">
                  <a:extLst>
                    <a:ext uri="{FF2B5EF4-FFF2-40B4-BE49-F238E27FC236}">
                      <a16:creationId xmlns:a16="http://schemas.microsoft.com/office/drawing/2014/main" id="{BCB9458A-B7B6-394A-9EAE-7DD22C3A3CEE}"/>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08" name="Triangle 307">
                  <a:extLst>
                    <a:ext uri="{FF2B5EF4-FFF2-40B4-BE49-F238E27FC236}">
                      <a16:creationId xmlns:a16="http://schemas.microsoft.com/office/drawing/2014/main" id="{BBBDBF98-0809-3A4F-8FAF-160F394CC9D3}"/>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04" name="Groupe 303">
                <a:extLst>
                  <a:ext uri="{FF2B5EF4-FFF2-40B4-BE49-F238E27FC236}">
                    <a16:creationId xmlns:a16="http://schemas.microsoft.com/office/drawing/2014/main" id="{1D22CF33-C0C5-B04F-810E-542909CF8CC0}"/>
                  </a:ext>
                </a:extLst>
              </p:cNvPr>
              <p:cNvGrpSpPr/>
              <p:nvPr/>
            </p:nvGrpSpPr>
            <p:grpSpPr>
              <a:xfrm>
                <a:off x="3842255" y="12866676"/>
                <a:ext cx="203172" cy="409925"/>
                <a:chOff x="9550046" y="8356647"/>
                <a:chExt cx="129599" cy="261482"/>
              </a:xfrm>
            </p:grpSpPr>
            <p:sp>
              <p:nvSpPr>
                <p:cNvPr id="305" name="Triangle 304">
                  <a:extLst>
                    <a:ext uri="{FF2B5EF4-FFF2-40B4-BE49-F238E27FC236}">
                      <a16:creationId xmlns:a16="http://schemas.microsoft.com/office/drawing/2014/main" id="{7DB6D598-8973-C045-B78F-ECF3A3A0515E}"/>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06" name="Triangle 305">
                  <a:extLst>
                    <a:ext uri="{FF2B5EF4-FFF2-40B4-BE49-F238E27FC236}">
                      <a16:creationId xmlns:a16="http://schemas.microsoft.com/office/drawing/2014/main" id="{B989745E-A8CB-4E46-BAF3-7748253BEFF5}"/>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nvGrpSpPr>
            <p:cNvPr id="526" name="Groupe 525">
              <a:extLst>
                <a:ext uri="{FF2B5EF4-FFF2-40B4-BE49-F238E27FC236}">
                  <a16:creationId xmlns:a16="http://schemas.microsoft.com/office/drawing/2014/main" id="{09C14567-9C0F-EF42-BE91-BC6E9226FC7F}"/>
                </a:ext>
              </a:extLst>
            </p:cNvPr>
            <p:cNvGrpSpPr/>
            <p:nvPr/>
          </p:nvGrpSpPr>
          <p:grpSpPr>
            <a:xfrm>
              <a:off x="3099550" y="3866495"/>
              <a:ext cx="461657" cy="344706"/>
              <a:chOff x="3228071" y="11330526"/>
              <a:chExt cx="1841183" cy="1374758"/>
            </a:xfrm>
          </p:grpSpPr>
          <p:grpSp>
            <p:nvGrpSpPr>
              <p:cNvPr id="527" name="Groupe 526">
                <a:extLst>
                  <a:ext uri="{FF2B5EF4-FFF2-40B4-BE49-F238E27FC236}">
                    <a16:creationId xmlns:a16="http://schemas.microsoft.com/office/drawing/2014/main" id="{71EBE3CF-650D-2849-9EF0-E1957AC2DD58}"/>
                  </a:ext>
                </a:extLst>
              </p:cNvPr>
              <p:cNvGrpSpPr/>
              <p:nvPr/>
            </p:nvGrpSpPr>
            <p:grpSpPr>
              <a:xfrm>
                <a:off x="4727458" y="11330526"/>
                <a:ext cx="341796" cy="341796"/>
                <a:chOff x="16819723" y="8652783"/>
                <a:chExt cx="341796" cy="341796"/>
              </a:xfrm>
            </p:grpSpPr>
            <p:sp>
              <p:nvSpPr>
                <p:cNvPr id="537" name="Corde 536">
                  <a:extLst>
                    <a:ext uri="{FF2B5EF4-FFF2-40B4-BE49-F238E27FC236}">
                      <a16:creationId xmlns:a16="http://schemas.microsoft.com/office/drawing/2014/main" id="{DC7118EE-DFF4-054D-B07C-04D6E25B3B19}"/>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38" name="Corde 537">
                  <a:extLst>
                    <a:ext uri="{FF2B5EF4-FFF2-40B4-BE49-F238E27FC236}">
                      <a16:creationId xmlns:a16="http://schemas.microsoft.com/office/drawing/2014/main" id="{974E80F6-590A-A741-9BE1-67608B826E87}"/>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28" name="Groupe 527">
                <a:extLst>
                  <a:ext uri="{FF2B5EF4-FFF2-40B4-BE49-F238E27FC236}">
                    <a16:creationId xmlns:a16="http://schemas.microsoft.com/office/drawing/2014/main" id="{2ACCC410-5620-1E4C-89C4-35F0CFA296F9}"/>
                  </a:ext>
                </a:extLst>
              </p:cNvPr>
              <p:cNvGrpSpPr/>
              <p:nvPr/>
            </p:nvGrpSpPr>
            <p:grpSpPr>
              <a:xfrm>
                <a:off x="4073932" y="11653503"/>
                <a:ext cx="341796" cy="341796"/>
                <a:chOff x="16819723" y="8652783"/>
                <a:chExt cx="341796" cy="341796"/>
              </a:xfrm>
            </p:grpSpPr>
            <p:sp>
              <p:nvSpPr>
                <p:cNvPr id="535" name="Corde 534">
                  <a:extLst>
                    <a:ext uri="{FF2B5EF4-FFF2-40B4-BE49-F238E27FC236}">
                      <a16:creationId xmlns:a16="http://schemas.microsoft.com/office/drawing/2014/main" id="{83EE22DE-1790-5040-9934-476C7D16EDB1}"/>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36" name="Corde 535">
                  <a:extLst>
                    <a:ext uri="{FF2B5EF4-FFF2-40B4-BE49-F238E27FC236}">
                      <a16:creationId xmlns:a16="http://schemas.microsoft.com/office/drawing/2014/main" id="{A99BCC7E-930E-EF4C-AC51-7E730B499105}"/>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29" name="Groupe 528">
                <a:extLst>
                  <a:ext uri="{FF2B5EF4-FFF2-40B4-BE49-F238E27FC236}">
                    <a16:creationId xmlns:a16="http://schemas.microsoft.com/office/drawing/2014/main" id="{60067173-17B1-3840-862E-7BFB77656A1F}"/>
                  </a:ext>
                </a:extLst>
              </p:cNvPr>
              <p:cNvGrpSpPr/>
              <p:nvPr/>
            </p:nvGrpSpPr>
            <p:grpSpPr>
              <a:xfrm>
                <a:off x="3228071" y="12363488"/>
                <a:ext cx="341796" cy="341796"/>
                <a:chOff x="16819723" y="8652783"/>
                <a:chExt cx="341796" cy="341796"/>
              </a:xfrm>
            </p:grpSpPr>
            <p:sp>
              <p:nvSpPr>
                <p:cNvPr id="533" name="Corde 532">
                  <a:extLst>
                    <a:ext uri="{FF2B5EF4-FFF2-40B4-BE49-F238E27FC236}">
                      <a16:creationId xmlns:a16="http://schemas.microsoft.com/office/drawing/2014/main" id="{3A72A23B-8AF2-A542-B89A-EA0D0422E415}"/>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34" name="Corde 533">
                  <a:extLst>
                    <a:ext uri="{FF2B5EF4-FFF2-40B4-BE49-F238E27FC236}">
                      <a16:creationId xmlns:a16="http://schemas.microsoft.com/office/drawing/2014/main" id="{F97ECCD1-FBB6-6D43-B5D0-AE2F2E5E53E5}"/>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30" name="Groupe 529">
                <a:extLst>
                  <a:ext uri="{FF2B5EF4-FFF2-40B4-BE49-F238E27FC236}">
                    <a16:creationId xmlns:a16="http://schemas.microsoft.com/office/drawing/2014/main" id="{84D6E7F4-C48F-B741-93C6-302333D9A718}"/>
                  </a:ext>
                </a:extLst>
              </p:cNvPr>
              <p:cNvGrpSpPr/>
              <p:nvPr/>
            </p:nvGrpSpPr>
            <p:grpSpPr>
              <a:xfrm>
                <a:off x="3785144" y="12064115"/>
                <a:ext cx="341796" cy="341796"/>
                <a:chOff x="16819723" y="8652783"/>
                <a:chExt cx="341796" cy="341796"/>
              </a:xfrm>
            </p:grpSpPr>
            <p:sp>
              <p:nvSpPr>
                <p:cNvPr id="531" name="Corde 530">
                  <a:extLst>
                    <a:ext uri="{FF2B5EF4-FFF2-40B4-BE49-F238E27FC236}">
                      <a16:creationId xmlns:a16="http://schemas.microsoft.com/office/drawing/2014/main" id="{1CD12765-7357-384C-9670-D61D0EBDDFBA}"/>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32" name="Corde 531">
                  <a:extLst>
                    <a:ext uri="{FF2B5EF4-FFF2-40B4-BE49-F238E27FC236}">
                      <a16:creationId xmlns:a16="http://schemas.microsoft.com/office/drawing/2014/main" id="{F7F95DFB-1DAF-5949-AFEF-E586DD9B65CB}"/>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grpSp>
      <p:grpSp>
        <p:nvGrpSpPr>
          <p:cNvPr id="21" name="Group 20">
            <a:extLst>
              <a:ext uri="{FF2B5EF4-FFF2-40B4-BE49-F238E27FC236}">
                <a16:creationId xmlns:a16="http://schemas.microsoft.com/office/drawing/2014/main" id="{6DA07C6E-CE9E-AC4D-885E-A4228C371B0D}"/>
              </a:ext>
            </a:extLst>
          </p:cNvPr>
          <p:cNvGrpSpPr>
            <a:grpSpLocks noChangeAspect="1"/>
          </p:cNvGrpSpPr>
          <p:nvPr/>
        </p:nvGrpSpPr>
        <p:grpSpPr>
          <a:xfrm>
            <a:off x="4815836" y="2505064"/>
            <a:ext cx="2346880" cy="2296749"/>
            <a:chOff x="4868686" y="2541546"/>
            <a:chExt cx="2153101" cy="2107109"/>
          </a:xfrm>
        </p:grpSpPr>
        <p:pic>
          <p:nvPicPr>
            <p:cNvPr id="317" name="Image 316">
              <a:extLst>
                <a:ext uri="{FF2B5EF4-FFF2-40B4-BE49-F238E27FC236}">
                  <a16:creationId xmlns:a16="http://schemas.microsoft.com/office/drawing/2014/main" id="{EBA67E68-D2E4-5842-8AA9-F873DBAA79A5}"/>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l="4691" b="6726"/>
            <a:stretch/>
          </p:blipFill>
          <p:spPr>
            <a:xfrm>
              <a:off x="4868686" y="2541546"/>
              <a:ext cx="2153101" cy="2107109"/>
            </a:xfrm>
            <a:prstGeom prst="rect">
              <a:avLst/>
            </a:prstGeom>
          </p:spPr>
        </p:pic>
        <p:sp>
          <p:nvSpPr>
            <p:cNvPr id="292" name="ZoneTexte 291">
              <a:extLst>
                <a:ext uri="{FF2B5EF4-FFF2-40B4-BE49-F238E27FC236}">
                  <a16:creationId xmlns:a16="http://schemas.microsoft.com/office/drawing/2014/main" id="{EE4749EE-1DC5-4441-B8A9-F621B6112CBD}"/>
                </a:ext>
              </a:extLst>
            </p:cNvPr>
            <p:cNvSpPr txBox="1"/>
            <p:nvPr/>
          </p:nvSpPr>
          <p:spPr>
            <a:xfrm>
              <a:off x="5516347" y="4352560"/>
              <a:ext cx="316112" cy="248658"/>
            </a:xfrm>
            <a:prstGeom prst="rect">
              <a:avLst/>
            </a:prstGeom>
            <a:noFill/>
          </p:spPr>
          <p:txBody>
            <a:bodyPr wrap="none" rtlCol="0">
              <a:spAutoFit/>
            </a:bodyPr>
            <a:lstStyle/>
            <a:p>
              <a:r>
                <a:rPr lang="en-US" sz="1016" noProof="1"/>
                <a:t>66</a:t>
              </a:r>
            </a:p>
          </p:txBody>
        </p:sp>
        <p:sp>
          <p:nvSpPr>
            <p:cNvPr id="293" name="ZoneTexte 292">
              <a:extLst>
                <a:ext uri="{FF2B5EF4-FFF2-40B4-BE49-F238E27FC236}">
                  <a16:creationId xmlns:a16="http://schemas.microsoft.com/office/drawing/2014/main" id="{C1CEA479-DA66-BD45-A39C-C22931D8EBB4}"/>
                </a:ext>
              </a:extLst>
            </p:cNvPr>
            <p:cNvSpPr txBox="1"/>
            <p:nvPr/>
          </p:nvSpPr>
          <p:spPr>
            <a:xfrm>
              <a:off x="5759083" y="4296960"/>
              <a:ext cx="316112" cy="248658"/>
            </a:xfrm>
            <a:prstGeom prst="rect">
              <a:avLst/>
            </a:prstGeom>
            <a:noFill/>
          </p:spPr>
          <p:txBody>
            <a:bodyPr wrap="none" rtlCol="0">
              <a:spAutoFit/>
            </a:bodyPr>
            <a:lstStyle/>
            <a:p>
              <a:r>
                <a:rPr lang="en-US" sz="1016" noProof="1"/>
                <a:t>68</a:t>
              </a:r>
            </a:p>
          </p:txBody>
        </p:sp>
        <p:sp>
          <p:nvSpPr>
            <p:cNvPr id="298" name="ZoneTexte 297">
              <a:extLst>
                <a:ext uri="{FF2B5EF4-FFF2-40B4-BE49-F238E27FC236}">
                  <a16:creationId xmlns:a16="http://schemas.microsoft.com/office/drawing/2014/main" id="{EDA470F8-9FAC-F942-9DD1-CA4DBD7C505F}"/>
                </a:ext>
              </a:extLst>
            </p:cNvPr>
            <p:cNvSpPr txBox="1"/>
            <p:nvPr/>
          </p:nvSpPr>
          <p:spPr>
            <a:xfrm>
              <a:off x="5967564" y="4194291"/>
              <a:ext cx="316112" cy="248658"/>
            </a:xfrm>
            <a:prstGeom prst="rect">
              <a:avLst/>
            </a:prstGeom>
            <a:noFill/>
          </p:spPr>
          <p:txBody>
            <a:bodyPr wrap="none" rtlCol="0">
              <a:spAutoFit/>
            </a:bodyPr>
            <a:lstStyle/>
            <a:p>
              <a:r>
                <a:rPr lang="en-US" sz="1016" noProof="1"/>
                <a:t>70</a:t>
              </a:r>
            </a:p>
          </p:txBody>
        </p:sp>
        <p:sp>
          <p:nvSpPr>
            <p:cNvPr id="299" name="ZoneTexte 298">
              <a:extLst>
                <a:ext uri="{FF2B5EF4-FFF2-40B4-BE49-F238E27FC236}">
                  <a16:creationId xmlns:a16="http://schemas.microsoft.com/office/drawing/2014/main" id="{21FA674C-68BC-5F4E-80DD-1F6F021AAB3F}"/>
                </a:ext>
              </a:extLst>
            </p:cNvPr>
            <p:cNvSpPr txBox="1"/>
            <p:nvPr/>
          </p:nvSpPr>
          <p:spPr>
            <a:xfrm>
              <a:off x="6140401" y="4044944"/>
              <a:ext cx="316112" cy="248658"/>
            </a:xfrm>
            <a:prstGeom prst="rect">
              <a:avLst/>
            </a:prstGeom>
            <a:noFill/>
          </p:spPr>
          <p:txBody>
            <a:bodyPr wrap="none" rtlCol="0">
              <a:spAutoFit/>
            </a:bodyPr>
            <a:lstStyle/>
            <a:p>
              <a:r>
                <a:rPr lang="en-US" sz="1016" noProof="1"/>
                <a:t>72</a:t>
              </a:r>
            </a:p>
          </p:txBody>
        </p:sp>
        <p:grpSp>
          <p:nvGrpSpPr>
            <p:cNvPr id="539" name="Groupe 538">
              <a:extLst>
                <a:ext uri="{FF2B5EF4-FFF2-40B4-BE49-F238E27FC236}">
                  <a16:creationId xmlns:a16="http://schemas.microsoft.com/office/drawing/2014/main" id="{A60F0D7D-B3C0-4343-99D6-8A072D4749DA}"/>
                </a:ext>
              </a:extLst>
            </p:cNvPr>
            <p:cNvGrpSpPr/>
            <p:nvPr/>
          </p:nvGrpSpPr>
          <p:grpSpPr>
            <a:xfrm>
              <a:off x="5442063" y="3866495"/>
              <a:ext cx="461657" cy="344706"/>
              <a:chOff x="3228071" y="11330526"/>
              <a:chExt cx="1841183" cy="1374758"/>
            </a:xfrm>
          </p:grpSpPr>
          <p:grpSp>
            <p:nvGrpSpPr>
              <p:cNvPr id="540" name="Groupe 539">
                <a:extLst>
                  <a:ext uri="{FF2B5EF4-FFF2-40B4-BE49-F238E27FC236}">
                    <a16:creationId xmlns:a16="http://schemas.microsoft.com/office/drawing/2014/main" id="{CC47CCF0-8C4A-414A-BC87-4AFB7E9E73B7}"/>
                  </a:ext>
                </a:extLst>
              </p:cNvPr>
              <p:cNvGrpSpPr/>
              <p:nvPr/>
            </p:nvGrpSpPr>
            <p:grpSpPr>
              <a:xfrm>
                <a:off x="4727458" y="11330526"/>
                <a:ext cx="341796" cy="341796"/>
                <a:chOff x="16819723" y="8652783"/>
                <a:chExt cx="341796" cy="341796"/>
              </a:xfrm>
            </p:grpSpPr>
            <p:sp>
              <p:nvSpPr>
                <p:cNvPr id="550" name="Corde 549">
                  <a:extLst>
                    <a:ext uri="{FF2B5EF4-FFF2-40B4-BE49-F238E27FC236}">
                      <a16:creationId xmlns:a16="http://schemas.microsoft.com/office/drawing/2014/main" id="{55FED727-F33B-DD4C-8065-DCC1123458C9}"/>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51" name="Corde 550">
                  <a:extLst>
                    <a:ext uri="{FF2B5EF4-FFF2-40B4-BE49-F238E27FC236}">
                      <a16:creationId xmlns:a16="http://schemas.microsoft.com/office/drawing/2014/main" id="{F2546469-01F1-4C4B-AA3E-7C00C3EA5909}"/>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41" name="Groupe 540">
                <a:extLst>
                  <a:ext uri="{FF2B5EF4-FFF2-40B4-BE49-F238E27FC236}">
                    <a16:creationId xmlns:a16="http://schemas.microsoft.com/office/drawing/2014/main" id="{6642E824-1084-FD42-AB4B-84920C093760}"/>
                  </a:ext>
                </a:extLst>
              </p:cNvPr>
              <p:cNvGrpSpPr/>
              <p:nvPr/>
            </p:nvGrpSpPr>
            <p:grpSpPr>
              <a:xfrm>
                <a:off x="4073932" y="11653503"/>
                <a:ext cx="341796" cy="341796"/>
                <a:chOff x="16819723" y="8652783"/>
                <a:chExt cx="341796" cy="341796"/>
              </a:xfrm>
            </p:grpSpPr>
            <p:sp>
              <p:nvSpPr>
                <p:cNvPr id="548" name="Corde 547">
                  <a:extLst>
                    <a:ext uri="{FF2B5EF4-FFF2-40B4-BE49-F238E27FC236}">
                      <a16:creationId xmlns:a16="http://schemas.microsoft.com/office/drawing/2014/main" id="{76B59044-5A8A-1B4F-AEFF-C50A21D469C9}"/>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49" name="Corde 548">
                  <a:extLst>
                    <a:ext uri="{FF2B5EF4-FFF2-40B4-BE49-F238E27FC236}">
                      <a16:creationId xmlns:a16="http://schemas.microsoft.com/office/drawing/2014/main" id="{423F7C84-0EC3-2144-A675-2D0943765B61}"/>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42" name="Groupe 541">
                <a:extLst>
                  <a:ext uri="{FF2B5EF4-FFF2-40B4-BE49-F238E27FC236}">
                    <a16:creationId xmlns:a16="http://schemas.microsoft.com/office/drawing/2014/main" id="{D20CE17B-1254-8848-887B-DD2710114311}"/>
                  </a:ext>
                </a:extLst>
              </p:cNvPr>
              <p:cNvGrpSpPr/>
              <p:nvPr/>
            </p:nvGrpSpPr>
            <p:grpSpPr>
              <a:xfrm>
                <a:off x="3228071" y="12363488"/>
                <a:ext cx="341796" cy="341796"/>
                <a:chOff x="16819723" y="8652783"/>
                <a:chExt cx="341796" cy="341796"/>
              </a:xfrm>
            </p:grpSpPr>
            <p:sp>
              <p:nvSpPr>
                <p:cNvPr id="546" name="Corde 545">
                  <a:extLst>
                    <a:ext uri="{FF2B5EF4-FFF2-40B4-BE49-F238E27FC236}">
                      <a16:creationId xmlns:a16="http://schemas.microsoft.com/office/drawing/2014/main" id="{CC810072-F1D2-204D-9832-D35C531155A8}"/>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47" name="Corde 546">
                  <a:extLst>
                    <a:ext uri="{FF2B5EF4-FFF2-40B4-BE49-F238E27FC236}">
                      <a16:creationId xmlns:a16="http://schemas.microsoft.com/office/drawing/2014/main" id="{339CBA06-D194-1347-8CBD-9E76E3DACE13}"/>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543" name="Groupe 542">
                <a:extLst>
                  <a:ext uri="{FF2B5EF4-FFF2-40B4-BE49-F238E27FC236}">
                    <a16:creationId xmlns:a16="http://schemas.microsoft.com/office/drawing/2014/main" id="{559F76DA-B777-2040-B0BE-5BF108C5ACC9}"/>
                  </a:ext>
                </a:extLst>
              </p:cNvPr>
              <p:cNvGrpSpPr/>
              <p:nvPr/>
            </p:nvGrpSpPr>
            <p:grpSpPr>
              <a:xfrm>
                <a:off x="3785144" y="12064115"/>
                <a:ext cx="341796" cy="341796"/>
                <a:chOff x="16819723" y="8652783"/>
                <a:chExt cx="341796" cy="341796"/>
              </a:xfrm>
            </p:grpSpPr>
            <p:sp>
              <p:nvSpPr>
                <p:cNvPr id="544" name="Corde 543">
                  <a:extLst>
                    <a:ext uri="{FF2B5EF4-FFF2-40B4-BE49-F238E27FC236}">
                      <a16:creationId xmlns:a16="http://schemas.microsoft.com/office/drawing/2014/main" id="{A7AE1D2A-1D53-9645-AE20-4A214CFF8E83}"/>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545" name="Corde 544">
                  <a:extLst>
                    <a:ext uri="{FF2B5EF4-FFF2-40B4-BE49-F238E27FC236}">
                      <a16:creationId xmlns:a16="http://schemas.microsoft.com/office/drawing/2014/main" id="{05AC56E1-79A6-B14D-939B-FA3D9702E5E9}"/>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grpSp>
          <p:nvGrpSpPr>
            <p:cNvPr id="582" name="Groupe 581">
              <a:extLst>
                <a:ext uri="{FF2B5EF4-FFF2-40B4-BE49-F238E27FC236}">
                  <a16:creationId xmlns:a16="http://schemas.microsoft.com/office/drawing/2014/main" id="{FE5FA49D-FAA9-4C49-969C-5484438B7FFE}"/>
                </a:ext>
              </a:extLst>
            </p:cNvPr>
            <p:cNvGrpSpPr/>
            <p:nvPr/>
          </p:nvGrpSpPr>
          <p:grpSpPr>
            <a:xfrm>
              <a:off x="5645944" y="4044944"/>
              <a:ext cx="439863" cy="298035"/>
              <a:chOff x="22497253" y="12097818"/>
              <a:chExt cx="1754267" cy="1188626"/>
            </a:xfrm>
          </p:grpSpPr>
          <p:grpSp>
            <p:nvGrpSpPr>
              <p:cNvPr id="583" name="Groupe 582">
                <a:extLst>
                  <a:ext uri="{FF2B5EF4-FFF2-40B4-BE49-F238E27FC236}">
                    <a16:creationId xmlns:a16="http://schemas.microsoft.com/office/drawing/2014/main" id="{ADE2E751-D9CD-BC49-B0E4-2285CEA27AC1}"/>
                  </a:ext>
                </a:extLst>
              </p:cNvPr>
              <p:cNvGrpSpPr/>
              <p:nvPr/>
            </p:nvGrpSpPr>
            <p:grpSpPr>
              <a:xfrm>
                <a:off x="23582924" y="12357821"/>
                <a:ext cx="203172" cy="409925"/>
                <a:chOff x="9550046" y="8356647"/>
                <a:chExt cx="129599" cy="261482"/>
              </a:xfrm>
            </p:grpSpPr>
            <p:sp>
              <p:nvSpPr>
                <p:cNvPr id="597" name="Triangle 596">
                  <a:extLst>
                    <a:ext uri="{FF2B5EF4-FFF2-40B4-BE49-F238E27FC236}">
                      <a16:creationId xmlns:a16="http://schemas.microsoft.com/office/drawing/2014/main" id="{06E97255-BB72-8547-B624-781C028E8D08}"/>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598" name="Triangle 597">
                  <a:extLst>
                    <a:ext uri="{FF2B5EF4-FFF2-40B4-BE49-F238E27FC236}">
                      <a16:creationId xmlns:a16="http://schemas.microsoft.com/office/drawing/2014/main" id="{1479D899-E719-924C-8FA1-65D3EFB5AE51}"/>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584" name="Groupe 583">
                <a:extLst>
                  <a:ext uri="{FF2B5EF4-FFF2-40B4-BE49-F238E27FC236}">
                    <a16:creationId xmlns:a16="http://schemas.microsoft.com/office/drawing/2014/main" id="{041FB273-9ECC-504E-A481-E59E131EFE2B}"/>
                  </a:ext>
                </a:extLst>
              </p:cNvPr>
              <p:cNvGrpSpPr/>
              <p:nvPr/>
            </p:nvGrpSpPr>
            <p:grpSpPr>
              <a:xfrm>
                <a:off x="24048348" y="12097818"/>
                <a:ext cx="203172" cy="409925"/>
                <a:chOff x="9550046" y="8356647"/>
                <a:chExt cx="129599" cy="261482"/>
              </a:xfrm>
            </p:grpSpPr>
            <p:sp>
              <p:nvSpPr>
                <p:cNvPr id="591" name="Triangle 590">
                  <a:extLst>
                    <a:ext uri="{FF2B5EF4-FFF2-40B4-BE49-F238E27FC236}">
                      <a16:creationId xmlns:a16="http://schemas.microsoft.com/office/drawing/2014/main" id="{F462EC45-E4A3-4542-8288-BDBE5BA9E53D}"/>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596" name="Triangle 595">
                  <a:extLst>
                    <a:ext uri="{FF2B5EF4-FFF2-40B4-BE49-F238E27FC236}">
                      <a16:creationId xmlns:a16="http://schemas.microsoft.com/office/drawing/2014/main" id="{D2EEBCFA-E0DF-2B42-A73D-8FB5DC92DF8A}"/>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585" name="Groupe 584">
                <a:extLst>
                  <a:ext uri="{FF2B5EF4-FFF2-40B4-BE49-F238E27FC236}">
                    <a16:creationId xmlns:a16="http://schemas.microsoft.com/office/drawing/2014/main" id="{D3EFF87B-0700-6E48-BCFD-0B5F4C3692A5}"/>
                  </a:ext>
                </a:extLst>
              </p:cNvPr>
              <p:cNvGrpSpPr/>
              <p:nvPr/>
            </p:nvGrpSpPr>
            <p:grpSpPr>
              <a:xfrm>
                <a:off x="23069938" y="12612854"/>
                <a:ext cx="203172" cy="409925"/>
                <a:chOff x="9550046" y="8356647"/>
                <a:chExt cx="129599" cy="261482"/>
              </a:xfrm>
            </p:grpSpPr>
            <p:sp>
              <p:nvSpPr>
                <p:cNvPr id="589" name="Triangle 588">
                  <a:extLst>
                    <a:ext uri="{FF2B5EF4-FFF2-40B4-BE49-F238E27FC236}">
                      <a16:creationId xmlns:a16="http://schemas.microsoft.com/office/drawing/2014/main" id="{E01BEFF4-F700-AA43-A238-68D78BD55219}"/>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590" name="Triangle 589">
                  <a:extLst>
                    <a:ext uri="{FF2B5EF4-FFF2-40B4-BE49-F238E27FC236}">
                      <a16:creationId xmlns:a16="http://schemas.microsoft.com/office/drawing/2014/main" id="{8ED9A201-7969-C54B-B3F6-869C02AB58B5}"/>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586" name="Groupe 585">
                <a:extLst>
                  <a:ext uri="{FF2B5EF4-FFF2-40B4-BE49-F238E27FC236}">
                    <a16:creationId xmlns:a16="http://schemas.microsoft.com/office/drawing/2014/main" id="{55E130AB-E1CD-A843-BF80-34B287FD1529}"/>
                  </a:ext>
                </a:extLst>
              </p:cNvPr>
              <p:cNvGrpSpPr/>
              <p:nvPr/>
            </p:nvGrpSpPr>
            <p:grpSpPr>
              <a:xfrm>
                <a:off x="22497253" y="12876519"/>
                <a:ext cx="203172" cy="409925"/>
                <a:chOff x="9550046" y="8356647"/>
                <a:chExt cx="129599" cy="261482"/>
              </a:xfrm>
            </p:grpSpPr>
            <p:sp>
              <p:nvSpPr>
                <p:cNvPr id="587" name="Triangle 586">
                  <a:extLst>
                    <a:ext uri="{FF2B5EF4-FFF2-40B4-BE49-F238E27FC236}">
                      <a16:creationId xmlns:a16="http://schemas.microsoft.com/office/drawing/2014/main" id="{C5490949-5F47-4742-92CC-355315C47768}"/>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588" name="Triangle 587">
                  <a:extLst>
                    <a:ext uri="{FF2B5EF4-FFF2-40B4-BE49-F238E27FC236}">
                      <a16:creationId xmlns:a16="http://schemas.microsoft.com/office/drawing/2014/main" id="{A8A9819F-4CDB-0E4A-812A-B1D0195232FB}"/>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grpSp>
        <p:nvGrpSpPr>
          <p:cNvPr id="22" name="Group 21">
            <a:extLst>
              <a:ext uri="{FF2B5EF4-FFF2-40B4-BE49-F238E27FC236}">
                <a16:creationId xmlns:a16="http://schemas.microsoft.com/office/drawing/2014/main" id="{A542EAC5-C7EA-AC40-8574-2196D782CFFD}"/>
              </a:ext>
            </a:extLst>
          </p:cNvPr>
          <p:cNvGrpSpPr>
            <a:grpSpLocks noChangeAspect="1"/>
          </p:cNvGrpSpPr>
          <p:nvPr/>
        </p:nvGrpSpPr>
        <p:grpSpPr>
          <a:xfrm>
            <a:off x="7001500" y="2515153"/>
            <a:ext cx="2345385" cy="2278944"/>
            <a:chOff x="7123039" y="2542048"/>
            <a:chExt cx="2151729" cy="2090775"/>
          </a:xfrm>
        </p:grpSpPr>
        <p:pic>
          <p:nvPicPr>
            <p:cNvPr id="524" name="Image 523">
              <a:extLst>
                <a:ext uri="{FF2B5EF4-FFF2-40B4-BE49-F238E27FC236}">
                  <a16:creationId xmlns:a16="http://schemas.microsoft.com/office/drawing/2014/main" id="{54BBB701-5332-0445-9B6E-A83C10092432}"/>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l="4633" b="7335"/>
            <a:stretch/>
          </p:blipFill>
          <p:spPr>
            <a:xfrm>
              <a:off x="7123039" y="2542048"/>
              <a:ext cx="2151729" cy="2090775"/>
            </a:xfrm>
            <a:prstGeom prst="rect">
              <a:avLst/>
            </a:prstGeom>
          </p:spPr>
        </p:pic>
        <p:grpSp>
          <p:nvGrpSpPr>
            <p:cNvPr id="6" name="Groupe 5">
              <a:extLst>
                <a:ext uri="{FF2B5EF4-FFF2-40B4-BE49-F238E27FC236}">
                  <a16:creationId xmlns:a16="http://schemas.microsoft.com/office/drawing/2014/main" id="{99454227-503D-E344-9E1F-226A00F6AFBB}"/>
                </a:ext>
              </a:extLst>
            </p:cNvPr>
            <p:cNvGrpSpPr/>
            <p:nvPr/>
          </p:nvGrpSpPr>
          <p:grpSpPr>
            <a:xfrm>
              <a:off x="7510108" y="3601364"/>
              <a:ext cx="906278" cy="686477"/>
              <a:chOff x="29437881" y="10024022"/>
              <a:chExt cx="3567996" cy="2702647"/>
            </a:xfrm>
          </p:grpSpPr>
          <p:sp>
            <p:nvSpPr>
              <p:cNvPr id="287" name="ZoneTexte 286">
                <a:extLst>
                  <a:ext uri="{FF2B5EF4-FFF2-40B4-BE49-F238E27FC236}">
                    <a16:creationId xmlns:a16="http://schemas.microsoft.com/office/drawing/2014/main" id="{EF6D6249-5501-044D-9A46-0B00EA5EFB52}"/>
                  </a:ext>
                </a:extLst>
              </p:cNvPr>
              <p:cNvSpPr txBox="1"/>
              <p:nvPr/>
            </p:nvSpPr>
            <p:spPr>
              <a:xfrm>
                <a:off x="29437881" y="11747709"/>
                <a:ext cx="1244526" cy="978960"/>
              </a:xfrm>
              <a:prstGeom prst="rect">
                <a:avLst/>
              </a:prstGeom>
              <a:noFill/>
            </p:spPr>
            <p:txBody>
              <a:bodyPr wrap="none" rtlCol="0">
                <a:spAutoFit/>
              </a:bodyPr>
              <a:lstStyle/>
              <a:p>
                <a:r>
                  <a:rPr lang="en-US" sz="1016" noProof="1"/>
                  <a:t>66</a:t>
                </a:r>
              </a:p>
            </p:txBody>
          </p:sp>
          <p:sp>
            <p:nvSpPr>
              <p:cNvPr id="288" name="ZoneTexte 287">
                <a:extLst>
                  <a:ext uri="{FF2B5EF4-FFF2-40B4-BE49-F238E27FC236}">
                    <a16:creationId xmlns:a16="http://schemas.microsoft.com/office/drawing/2014/main" id="{3C37F2C5-372D-624B-986A-BF09DC7970E4}"/>
                  </a:ext>
                </a:extLst>
              </p:cNvPr>
              <p:cNvSpPr txBox="1"/>
              <p:nvPr/>
            </p:nvSpPr>
            <p:spPr>
              <a:xfrm>
                <a:off x="30039128" y="10935693"/>
                <a:ext cx="1244526" cy="978962"/>
              </a:xfrm>
              <a:prstGeom prst="rect">
                <a:avLst/>
              </a:prstGeom>
              <a:noFill/>
            </p:spPr>
            <p:txBody>
              <a:bodyPr wrap="none" rtlCol="0">
                <a:spAutoFit/>
              </a:bodyPr>
              <a:lstStyle/>
              <a:p>
                <a:r>
                  <a:rPr lang="en-US" sz="1016" noProof="1"/>
                  <a:t>68</a:t>
                </a:r>
              </a:p>
            </p:txBody>
          </p:sp>
          <p:sp>
            <p:nvSpPr>
              <p:cNvPr id="289" name="ZoneTexte 288">
                <a:extLst>
                  <a:ext uri="{FF2B5EF4-FFF2-40B4-BE49-F238E27FC236}">
                    <a16:creationId xmlns:a16="http://schemas.microsoft.com/office/drawing/2014/main" id="{AD8D1EDD-6853-FD4C-8C70-B50B2D2818C0}"/>
                  </a:ext>
                </a:extLst>
              </p:cNvPr>
              <p:cNvSpPr txBox="1"/>
              <p:nvPr/>
            </p:nvSpPr>
            <p:spPr>
              <a:xfrm>
                <a:off x="30811902" y="10369815"/>
                <a:ext cx="1244526" cy="978962"/>
              </a:xfrm>
              <a:prstGeom prst="rect">
                <a:avLst/>
              </a:prstGeom>
              <a:noFill/>
            </p:spPr>
            <p:txBody>
              <a:bodyPr wrap="none" rtlCol="0">
                <a:spAutoFit/>
              </a:bodyPr>
              <a:lstStyle/>
              <a:p>
                <a:r>
                  <a:rPr lang="en-US" sz="1016" noProof="1"/>
                  <a:t>70</a:t>
                </a:r>
              </a:p>
            </p:txBody>
          </p:sp>
          <p:sp>
            <p:nvSpPr>
              <p:cNvPr id="290" name="ZoneTexte 289">
                <a:extLst>
                  <a:ext uri="{FF2B5EF4-FFF2-40B4-BE49-F238E27FC236}">
                    <a16:creationId xmlns:a16="http://schemas.microsoft.com/office/drawing/2014/main" id="{89463BBA-B758-D040-8CDF-ECB958D9F371}"/>
                  </a:ext>
                </a:extLst>
              </p:cNvPr>
              <p:cNvSpPr txBox="1"/>
              <p:nvPr/>
            </p:nvSpPr>
            <p:spPr>
              <a:xfrm>
                <a:off x="31761351" y="10024022"/>
                <a:ext cx="1244526" cy="978962"/>
              </a:xfrm>
              <a:prstGeom prst="rect">
                <a:avLst/>
              </a:prstGeom>
              <a:noFill/>
            </p:spPr>
            <p:txBody>
              <a:bodyPr wrap="none" rtlCol="0">
                <a:spAutoFit/>
              </a:bodyPr>
              <a:lstStyle/>
              <a:p>
                <a:r>
                  <a:rPr lang="en-US" sz="1016" noProof="1"/>
                  <a:t>72</a:t>
                </a:r>
              </a:p>
            </p:txBody>
          </p:sp>
        </p:grpSp>
        <p:grpSp>
          <p:nvGrpSpPr>
            <p:cNvPr id="397" name="Groupe 396">
              <a:extLst>
                <a:ext uri="{FF2B5EF4-FFF2-40B4-BE49-F238E27FC236}">
                  <a16:creationId xmlns:a16="http://schemas.microsoft.com/office/drawing/2014/main" id="{E0C2E27F-2C3E-2C42-A2C5-5549849BEC9C}"/>
                </a:ext>
              </a:extLst>
            </p:cNvPr>
            <p:cNvGrpSpPr/>
            <p:nvPr/>
          </p:nvGrpSpPr>
          <p:grpSpPr>
            <a:xfrm>
              <a:off x="7758335" y="3827717"/>
              <a:ext cx="461657" cy="344706"/>
              <a:chOff x="3228071" y="11330526"/>
              <a:chExt cx="1841183" cy="1374758"/>
            </a:xfrm>
          </p:grpSpPr>
          <p:grpSp>
            <p:nvGrpSpPr>
              <p:cNvPr id="398" name="Groupe 397">
                <a:extLst>
                  <a:ext uri="{FF2B5EF4-FFF2-40B4-BE49-F238E27FC236}">
                    <a16:creationId xmlns:a16="http://schemas.microsoft.com/office/drawing/2014/main" id="{EC45900F-4F1F-434B-B513-D70297070253}"/>
                  </a:ext>
                </a:extLst>
              </p:cNvPr>
              <p:cNvGrpSpPr/>
              <p:nvPr/>
            </p:nvGrpSpPr>
            <p:grpSpPr>
              <a:xfrm>
                <a:off x="4727458" y="11330526"/>
                <a:ext cx="341796" cy="341796"/>
                <a:chOff x="16819723" y="8652783"/>
                <a:chExt cx="341796" cy="341796"/>
              </a:xfrm>
            </p:grpSpPr>
            <p:sp>
              <p:nvSpPr>
                <p:cNvPr id="417" name="Corde 416">
                  <a:extLst>
                    <a:ext uri="{FF2B5EF4-FFF2-40B4-BE49-F238E27FC236}">
                      <a16:creationId xmlns:a16="http://schemas.microsoft.com/office/drawing/2014/main" id="{F28EBA01-AAE1-6848-8D79-C8DBD19A4DBD}"/>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18" name="Corde 417">
                  <a:extLst>
                    <a:ext uri="{FF2B5EF4-FFF2-40B4-BE49-F238E27FC236}">
                      <a16:creationId xmlns:a16="http://schemas.microsoft.com/office/drawing/2014/main" id="{B7DDB184-4135-444B-ACF2-08AC757B861F}"/>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399" name="Groupe 398">
                <a:extLst>
                  <a:ext uri="{FF2B5EF4-FFF2-40B4-BE49-F238E27FC236}">
                    <a16:creationId xmlns:a16="http://schemas.microsoft.com/office/drawing/2014/main" id="{C78A1112-FCA7-A346-B97F-322FE4E5D6A1}"/>
                  </a:ext>
                </a:extLst>
              </p:cNvPr>
              <p:cNvGrpSpPr/>
              <p:nvPr/>
            </p:nvGrpSpPr>
            <p:grpSpPr>
              <a:xfrm>
                <a:off x="4073932" y="11653503"/>
                <a:ext cx="341796" cy="341796"/>
                <a:chOff x="16819723" y="8652783"/>
                <a:chExt cx="341796" cy="341796"/>
              </a:xfrm>
            </p:grpSpPr>
            <p:sp>
              <p:nvSpPr>
                <p:cNvPr id="406" name="Corde 405">
                  <a:extLst>
                    <a:ext uri="{FF2B5EF4-FFF2-40B4-BE49-F238E27FC236}">
                      <a16:creationId xmlns:a16="http://schemas.microsoft.com/office/drawing/2014/main" id="{02D8B5FF-75B2-FC48-ADC0-35F4113DA6C7}"/>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07" name="Corde 406">
                  <a:extLst>
                    <a:ext uri="{FF2B5EF4-FFF2-40B4-BE49-F238E27FC236}">
                      <a16:creationId xmlns:a16="http://schemas.microsoft.com/office/drawing/2014/main" id="{9B872C41-73B1-7E4D-8EDC-EFC54A2F406F}"/>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400" name="Groupe 399">
                <a:extLst>
                  <a:ext uri="{FF2B5EF4-FFF2-40B4-BE49-F238E27FC236}">
                    <a16:creationId xmlns:a16="http://schemas.microsoft.com/office/drawing/2014/main" id="{3B645340-37FD-DF43-A6CD-638AB6037376}"/>
                  </a:ext>
                </a:extLst>
              </p:cNvPr>
              <p:cNvGrpSpPr/>
              <p:nvPr/>
            </p:nvGrpSpPr>
            <p:grpSpPr>
              <a:xfrm>
                <a:off x="3228071" y="12363488"/>
                <a:ext cx="341796" cy="341796"/>
                <a:chOff x="16819723" y="8652783"/>
                <a:chExt cx="341796" cy="341796"/>
              </a:xfrm>
            </p:grpSpPr>
            <p:sp>
              <p:nvSpPr>
                <p:cNvPr id="404" name="Corde 403">
                  <a:extLst>
                    <a:ext uri="{FF2B5EF4-FFF2-40B4-BE49-F238E27FC236}">
                      <a16:creationId xmlns:a16="http://schemas.microsoft.com/office/drawing/2014/main" id="{F39753FB-505D-FE40-BB51-0121A8A1662A}"/>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05" name="Corde 404">
                  <a:extLst>
                    <a:ext uri="{FF2B5EF4-FFF2-40B4-BE49-F238E27FC236}">
                      <a16:creationId xmlns:a16="http://schemas.microsoft.com/office/drawing/2014/main" id="{E591220F-D47E-334D-BE74-C48A6F64C504}"/>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nvGrpSpPr>
              <p:cNvPr id="401" name="Groupe 400">
                <a:extLst>
                  <a:ext uri="{FF2B5EF4-FFF2-40B4-BE49-F238E27FC236}">
                    <a16:creationId xmlns:a16="http://schemas.microsoft.com/office/drawing/2014/main" id="{F574EC5D-1E8F-A147-AC54-60C8C8B97972}"/>
                  </a:ext>
                </a:extLst>
              </p:cNvPr>
              <p:cNvGrpSpPr/>
              <p:nvPr/>
            </p:nvGrpSpPr>
            <p:grpSpPr>
              <a:xfrm>
                <a:off x="3785144" y="12064115"/>
                <a:ext cx="341796" cy="341796"/>
                <a:chOff x="16819723" y="8652783"/>
                <a:chExt cx="341796" cy="341796"/>
              </a:xfrm>
            </p:grpSpPr>
            <p:sp>
              <p:nvSpPr>
                <p:cNvPr id="402" name="Corde 401">
                  <a:extLst>
                    <a:ext uri="{FF2B5EF4-FFF2-40B4-BE49-F238E27FC236}">
                      <a16:creationId xmlns:a16="http://schemas.microsoft.com/office/drawing/2014/main" id="{EB706486-23EE-E542-A44C-DD81ADE261E9}"/>
                    </a:ext>
                  </a:extLst>
                </p:cNvPr>
                <p:cNvSpPr/>
                <p:nvPr/>
              </p:nvSpPr>
              <p:spPr>
                <a:xfrm rot="13502016">
                  <a:off x="16819723" y="8652783"/>
                  <a:ext cx="341796" cy="341796"/>
                </a:xfrm>
                <a:prstGeom prst="chord">
                  <a:avLst>
                    <a:gd name="adj1" fmla="val 5405413"/>
                    <a:gd name="adj2" fmla="val 16200000"/>
                  </a:avLst>
                </a:prstGeom>
                <a:solidFill>
                  <a:srgbClr val="1E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sp>
              <p:nvSpPr>
                <p:cNvPr id="403" name="Corde 402">
                  <a:extLst>
                    <a:ext uri="{FF2B5EF4-FFF2-40B4-BE49-F238E27FC236}">
                      <a16:creationId xmlns:a16="http://schemas.microsoft.com/office/drawing/2014/main" id="{CFCADFB1-9DF7-0D41-AB81-6393801BA44C}"/>
                    </a:ext>
                  </a:extLst>
                </p:cNvPr>
                <p:cNvSpPr/>
                <p:nvPr/>
              </p:nvSpPr>
              <p:spPr>
                <a:xfrm rot="2702016">
                  <a:off x="16819723" y="8652783"/>
                  <a:ext cx="341796" cy="341796"/>
                </a:xfrm>
                <a:prstGeom prst="chord">
                  <a:avLst>
                    <a:gd name="adj1" fmla="val 5405413"/>
                    <a:gd name="adj2" fmla="val 16200000"/>
                  </a:avLst>
                </a:prstGeom>
                <a:solidFill>
                  <a:srgbClr val="FF7E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 noProof="1"/>
                </a:p>
              </p:txBody>
            </p:sp>
          </p:grpSp>
        </p:grpSp>
        <p:sp>
          <p:nvSpPr>
            <p:cNvPr id="286" name="Arc 285">
              <a:extLst>
                <a:ext uri="{FF2B5EF4-FFF2-40B4-BE49-F238E27FC236}">
                  <a16:creationId xmlns:a16="http://schemas.microsoft.com/office/drawing/2014/main" id="{25C4AE7A-22C9-E44F-AB67-DFC5D75ED998}"/>
                </a:ext>
              </a:extLst>
            </p:cNvPr>
            <p:cNvSpPr/>
            <p:nvPr/>
          </p:nvSpPr>
          <p:spPr>
            <a:xfrm rot="19613142">
              <a:off x="8259863" y="3769237"/>
              <a:ext cx="255790" cy="482074"/>
            </a:xfrm>
            <a:prstGeom prst="arc">
              <a:avLst>
                <a:gd name="adj1" fmla="val 16734799"/>
                <a:gd name="adj2" fmla="val 563089"/>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291" name="Arc 290">
              <a:extLst>
                <a:ext uri="{FF2B5EF4-FFF2-40B4-BE49-F238E27FC236}">
                  <a16:creationId xmlns:a16="http://schemas.microsoft.com/office/drawing/2014/main" id="{E872E6E7-E612-1144-836B-5BAA1E3027A7}"/>
                </a:ext>
              </a:extLst>
            </p:cNvPr>
            <p:cNvSpPr/>
            <p:nvPr/>
          </p:nvSpPr>
          <p:spPr>
            <a:xfrm rot="19890504">
              <a:off x="8148106" y="3871186"/>
              <a:ext cx="226351" cy="397741"/>
            </a:xfrm>
            <a:prstGeom prst="arc">
              <a:avLst>
                <a:gd name="adj1" fmla="val 16867977"/>
                <a:gd name="adj2" fmla="val 137035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294" name="Arc 293">
              <a:extLst>
                <a:ext uri="{FF2B5EF4-FFF2-40B4-BE49-F238E27FC236}">
                  <a16:creationId xmlns:a16="http://schemas.microsoft.com/office/drawing/2014/main" id="{0632857D-9DFE-3C41-8EDB-525FC0558273}"/>
                </a:ext>
              </a:extLst>
            </p:cNvPr>
            <p:cNvSpPr/>
            <p:nvPr/>
          </p:nvSpPr>
          <p:spPr>
            <a:xfrm rot="19545181">
              <a:off x="8013107" y="3949313"/>
              <a:ext cx="226351" cy="397741"/>
            </a:xfrm>
            <a:prstGeom prst="arc">
              <a:avLst>
                <a:gd name="adj1" fmla="val 16867977"/>
                <a:gd name="adj2" fmla="val 137035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295" name="Arc 294">
              <a:extLst>
                <a:ext uri="{FF2B5EF4-FFF2-40B4-BE49-F238E27FC236}">
                  <a16:creationId xmlns:a16="http://schemas.microsoft.com/office/drawing/2014/main" id="{FCAD5069-1F5C-C041-A685-74E685E57D47}"/>
                </a:ext>
              </a:extLst>
            </p:cNvPr>
            <p:cNvSpPr/>
            <p:nvPr/>
          </p:nvSpPr>
          <p:spPr>
            <a:xfrm rot="19545181">
              <a:off x="7890866" y="4027605"/>
              <a:ext cx="226351" cy="397741"/>
            </a:xfrm>
            <a:prstGeom prst="arc">
              <a:avLst>
                <a:gd name="adj1" fmla="val 17343086"/>
                <a:gd name="adj2" fmla="val 137035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296" name="Arc 295">
              <a:extLst>
                <a:ext uri="{FF2B5EF4-FFF2-40B4-BE49-F238E27FC236}">
                  <a16:creationId xmlns:a16="http://schemas.microsoft.com/office/drawing/2014/main" id="{FA768AA6-D82D-5546-AE12-3E50A3919E3B}"/>
                </a:ext>
              </a:extLst>
            </p:cNvPr>
            <p:cNvSpPr/>
            <p:nvPr/>
          </p:nvSpPr>
          <p:spPr>
            <a:xfrm rot="19396733">
              <a:off x="7752512" y="4095754"/>
              <a:ext cx="226351" cy="397741"/>
            </a:xfrm>
            <a:prstGeom prst="arc">
              <a:avLst>
                <a:gd name="adj1" fmla="val 17582538"/>
                <a:gd name="adj2" fmla="val 137035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297" name="Arc 296">
              <a:extLst>
                <a:ext uri="{FF2B5EF4-FFF2-40B4-BE49-F238E27FC236}">
                  <a16:creationId xmlns:a16="http://schemas.microsoft.com/office/drawing/2014/main" id="{E3948C62-8648-3049-A876-173A90E5B9CD}"/>
                </a:ext>
              </a:extLst>
            </p:cNvPr>
            <p:cNvSpPr/>
            <p:nvPr/>
          </p:nvSpPr>
          <p:spPr>
            <a:xfrm rot="20774257">
              <a:off x="7454916" y="4261093"/>
              <a:ext cx="210041" cy="261904"/>
            </a:xfrm>
            <a:prstGeom prst="arc">
              <a:avLst>
                <a:gd name="adj1" fmla="val 17640409"/>
                <a:gd name="adj2" fmla="val 0"/>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326" name="Arc 325">
              <a:extLst>
                <a:ext uri="{FF2B5EF4-FFF2-40B4-BE49-F238E27FC236}">
                  <a16:creationId xmlns:a16="http://schemas.microsoft.com/office/drawing/2014/main" id="{05C952D4-2C65-CA4A-AAC4-9206F05898EA}"/>
                </a:ext>
              </a:extLst>
            </p:cNvPr>
            <p:cNvSpPr/>
            <p:nvPr/>
          </p:nvSpPr>
          <p:spPr>
            <a:xfrm rot="18932245">
              <a:off x="8394704" y="3685604"/>
              <a:ext cx="214886" cy="400566"/>
            </a:xfrm>
            <a:prstGeom prst="arc">
              <a:avLst>
                <a:gd name="adj1" fmla="val 16764352"/>
                <a:gd name="adj2" fmla="val 170148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419" name="Arc 418">
              <a:extLst>
                <a:ext uri="{FF2B5EF4-FFF2-40B4-BE49-F238E27FC236}">
                  <a16:creationId xmlns:a16="http://schemas.microsoft.com/office/drawing/2014/main" id="{4E24780B-79F1-F640-8807-3D08DA20466E}"/>
                </a:ext>
              </a:extLst>
            </p:cNvPr>
            <p:cNvSpPr/>
            <p:nvPr/>
          </p:nvSpPr>
          <p:spPr>
            <a:xfrm rot="19376435">
              <a:off x="7588011" y="4150568"/>
              <a:ext cx="226351" cy="397741"/>
            </a:xfrm>
            <a:prstGeom prst="arc">
              <a:avLst>
                <a:gd name="adj1" fmla="val 18384146"/>
                <a:gd name="adj2" fmla="val 137035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sp>
          <p:nvSpPr>
            <p:cNvPr id="420" name="Arc 419">
              <a:extLst>
                <a:ext uri="{FF2B5EF4-FFF2-40B4-BE49-F238E27FC236}">
                  <a16:creationId xmlns:a16="http://schemas.microsoft.com/office/drawing/2014/main" id="{6A5C2558-4416-0B4E-AA7D-A987EEE3AC2F}"/>
                </a:ext>
              </a:extLst>
            </p:cNvPr>
            <p:cNvSpPr/>
            <p:nvPr/>
          </p:nvSpPr>
          <p:spPr>
            <a:xfrm rot="18865584">
              <a:off x="8494695" y="3596709"/>
              <a:ext cx="214886" cy="375507"/>
            </a:xfrm>
            <a:prstGeom prst="arc">
              <a:avLst>
                <a:gd name="adj1" fmla="val 16764352"/>
                <a:gd name="adj2" fmla="val 1701481"/>
              </a:avLst>
            </a:prstGeom>
            <a:ln w="25400">
              <a:solidFill>
                <a:schemeClr val="bg1">
                  <a:lumMod val="50000"/>
                </a:schemeClr>
              </a:solidFill>
              <a:prstDash val="sysDash"/>
              <a:head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457" noProof="1"/>
            </a:p>
          </p:txBody>
        </p:sp>
        <p:grpSp>
          <p:nvGrpSpPr>
            <p:cNvPr id="4" name="Groupe 3">
              <a:extLst>
                <a:ext uri="{FF2B5EF4-FFF2-40B4-BE49-F238E27FC236}">
                  <a16:creationId xmlns:a16="http://schemas.microsoft.com/office/drawing/2014/main" id="{E0693279-3F6A-8347-A5F0-44AC91E529C0}"/>
                </a:ext>
              </a:extLst>
            </p:cNvPr>
            <p:cNvGrpSpPr/>
            <p:nvPr/>
          </p:nvGrpSpPr>
          <p:grpSpPr>
            <a:xfrm>
              <a:off x="7582499" y="3720957"/>
              <a:ext cx="1118416" cy="665137"/>
              <a:chOff x="29722882" y="10494855"/>
              <a:chExt cx="4403180" cy="2618630"/>
            </a:xfrm>
            <a:solidFill>
              <a:srgbClr val="00CB62">
                <a:alpha val="68000"/>
              </a:srgbClr>
            </a:solidFill>
          </p:grpSpPr>
          <p:sp>
            <p:nvSpPr>
              <p:cNvPr id="461" name="Forme en L 460">
                <a:extLst>
                  <a:ext uri="{FF2B5EF4-FFF2-40B4-BE49-F238E27FC236}">
                    <a16:creationId xmlns:a16="http://schemas.microsoft.com/office/drawing/2014/main" id="{76227F78-3F1D-9842-9BAB-677AD4A60CF1}"/>
                  </a:ext>
                </a:extLst>
              </p:cNvPr>
              <p:cNvSpPr>
                <a:spLocks noChangeAspect="1"/>
              </p:cNvSpPr>
              <p:nvPr/>
            </p:nvSpPr>
            <p:spPr>
              <a:xfrm rot="2485364">
                <a:off x="33866995" y="10494855"/>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72" name="Forme en L 471">
                <a:extLst>
                  <a:ext uri="{FF2B5EF4-FFF2-40B4-BE49-F238E27FC236}">
                    <a16:creationId xmlns:a16="http://schemas.microsoft.com/office/drawing/2014/main" id="{4C42C79F-88AF-AD49-BAC0-4AB755FA2BB8}"/>
                  </a:ext>
                </a:extLst>
              </p:cNvPr>
              <p:cNvSpPr>
                <a:spLocks noChangeAspect="1"/>
              </p:cNvSpPr>
              <p:nvPr/>
            </p:nvSpPr>
            <p:spPr>
              <a:xfrm rot="2917965">
                <a:off x="33485514" y="10900497"/>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79" name="Forme en L 478">
                <a:extLst>
                  <a:ext uri="{FF2B5EF4-FFF2-40B4-BE49-F238E27FC236}">
                    <a16:creationId xmlns:a16="http://schemas.microsoft.com/office/drawing/2014/main" id="{C4513102-5B66-7048-A665-A27670953B9F}"/>
                  </a:ext>
                </a:extLst>
              </p:cNvPr>
              <p:cNvSpPr>
                <a:spLocks noChangeAspect="1"/>
              </p:cNvSpPr>
              <p:nvPr/>
            </p:nvSpPr>
            <p:spPr>
              <a:xfrm rot="3347825">
                <a:off x="33028313" y="11280729"/>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0" name="Forme en L 479">
                <a:extLst>
                  <a:ext uri="{FF2B5EF4-FFF2-40B4-BE49-F238E27FC236}">
                    <a16:creationId xmlns:a16="http://schemas.microsoft.com/office/drawing/2014/main" id="{86BF92F9-4D0B-2A48-B7AD-2C5BD87D5E52}"/>
                  </a:ext>
                </a:extLst>
              </p:cNvPr>
              <p:cNvSpPr>
                <a:spLocks noChangeAspect="1"/>
              </p:cNvSpPr>
              <p:nvPr/>
            </p:nvSpPr>
            <p:spPr>
              <a:xfrm rot="3381653">
                <a:off x="32538453" y="11630591"/>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1" name="Forme en L 480">
                <a:extLst>
                  <a:ext uri="{FF2B5EF4-FFF2-40B4-BE49-F238E27FC236}">
                    <a16:creationId xmlns:a16="http://schemas.microsoft.com/office/drawing/2014/main" id="{66977A01-5198-ED42-AB66-DDF7FB0E5CFA}"/>
                  </a:ext>
                </a:extLst>
              </p:cNvPr>
              <p:cNvSpPr>
                <a:spLocks noChangeAspect="1"/>
              </p:cNvSpPr>
              <p:nvPr/>
            </p:nvSpPr>
            <p:spPr>
              <a:xfrm rot="3381653">
                <a:off x="32006522" y="11926082"/>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2" name="Forme en L 481">
                <a:extLst>
                  <a:ext uri="{FF2B5EF4-FFF2-40B4-BE49-F238E27FC236}">
                    <a16:creationId xmlns:a16="http://schemas.microsoft.com/office/drawing/2014/main" id="{F84864A3-7B3F-F042-BEE1-3EE7A2A06531}"/>
                  </a:ext>
                </a:extLst>
              </p:cNvPr>
              <p:cNvSpPr>
                <a:spLocks noChangeAspect="1"/>
              </p:cNvSpPr>
              <p:nvPr/>
            </p:nvSpPr>
            <p:spPr>
              <a:xfrm rot="3823698">
                <a:off x="31482534" y="12175937"/>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3" name="Forme en L 482">
                <a:extLst>
                  <a:ext uri="{FF2B5EF4-FFF2-40B4-BE49-F238E27FC236}">
                    <a16:creationId xmlns:a16="http://schemas.microsoft.com/office/drawing/2014/main" id="{7FD794AA-C6BA-5E46-B080-B441A62EDE93}"/>
                  </a:ext>
                </a:extLst>
              </p:cNvPr>
              <p:cNvSpPr>
                <a:spLocks noChangeAspect="1"/>
              </p:cNvSpPr>
              <p:nvPr/>
            </p:nvSpPr>
            <p:spPr>
              <a:xfrm rot="3768564">
                <a:off x="30929090" y="12438086"/>
                <a:ext cx="235515" cy="235515"/>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4" name="Forme en L 483">
                <a:extLst>
                  <a:ext uri="{FF2B5EF4-FFF2-40B4-BE49-F238E27FC236}">
                    <a16:creationId xmlns:a16="http://schemas.microsoft.com/office/drawing/2014/main" id="{D7261514-32F6-B14D-AC44-B2A76BBC974C}"/>
                  </a:ext>
                </a:extLst>
              </p:cNvPr>
              <p:cNvSpPr>
                <a:spLocks noChangeAspect="1"/>
              </p:cNvSpPr>
              <p:nvPr/>
            </p:nvSpPr>
            <p:spPr>
              <a:xfrm rot="4124381">
                <a:off x="29722882" y="12854418"/>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sp>
            <p:nvSpPr>
              <p:cNvPr id="485" name="Forme en L 484">
                <a:extLst>
                  <a:ext uri="{FF2B5EF4-FFF2-40B4-BE49-F238E27FC236}">
                    <a16:creationId xmlns:a16="http://schemas.microsoft.com/office/drawing/2014/main" id="{5303FE83-42DF-304F-BBA5-A9C2C87B5909}"/>
                  </a:ext>
                </a:extLst>
              </p:cNvPr>
              <p:cNvSpPr>
                <a:spLocks noChangeAspect="1"/>
              </p:cNvSpPr>
              <p:nvPr/>
            </p:nvSpPr>
            <p:spPr>
              <a:xfrm rot="3889738">
                <a:off x="30295499" y="12628925"/>
                <a:ext cx="259067" cy="259067"/>
              </a:xfrm>
              <a:prstGeom prst="corner">
                <a:avLst>
                  <a:gd name="adj1" fmla="val 34007"/>
                  <a:gd name="adj2" fmla="val 318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dirty="0"/>
              </a:p>
            </p:txBody>
          </p:sp>
        </p:grpSp>
        <p:grpSp>
          <p:nvGrpSpPr>
            <p:cNvPr id="384" name="Groupe 383">
              <a:extLst>
                <a:ext uri="{FF2B5EF4-FFF2-40B4-BE49-F238E27FC236}">
                  <a16:creationId xmlns:a16="http://schemas.microsoft.com/office/drawing/2014/main" id="{C40E7CCE-5AF0-C64F-9DD3-85A5932477AD}"/>
                </a:ext>
              </a:extLst>
            </p:cNvPr>
            <p:cNvGrpSpPr/>
            <p:nvPr/>
          </p:nvGrpSpPr>
          <p:grpSpPr>
            <a:xfrm>
              <a:off x="7963731" y="4020496"/>
              <a:ext cx="439863" cy="298035"/>
              <a:chOff x="22497253" y="12097818"/>
              <a:chExt cx="1754267" cy="1188626"/>
            </a:xfrm>
          </p:grpSpPr>
          <p:grpSp>
            <p:nvGrpSpPr>
              <p:cNvPr id="385" name="Groupe 384">
                <a:extLst>
                  <a:ext uri="{FF2B5EF4-FFF2-40B4-BE49-F238E27FC236}">
                    <a16:creationId xmlns:a16="http://schemas.microsoft.com/office/drawing/2014/main" id="{12F7DFA8-0A5A-9B47-A5B1-9C3EB0DE42F6}"/>
                  </a:ext>
                </a:extLst>
              </p:cNvPr>
              <p:cNvGrpSpPr/>
              <p:nvPr/>
            </p:nvGrpSpPr>
            <p:grpSpPr>
              <a:xfrm>
                <a:off x="23582924" y="12357821"/>
                <a:ext cx="203172" cy="409925"/>
                <a:chOff x="9550046" y="8356647"/>
                <a:chExt cx="129599" cy="261482"/>
              </a:xfrm>
            </p:grpSpPr>
            <p:sp>
              <p:nvSpPr>
                <p:cNvPr id="395" name="Triangle 394">
                  <a:extLst>
                    <a:ext uri="{FF2B5EF4-FFF2-40B4-BE49-F238E27FC236}">
                      <a16:creationId xmlns:a16="http://schemas.microsoft.com/office/drawing/2014/main" id="{DBB1A6FD-247B-1C4B-9F58-EB2038447A49}"/>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96" name="Triangle 395">
                  <a:extLst>
                    <a:ext uri="{FF2B5EF4-FFF2-40B4-BE49-F238E27FC236}">
                      <a16:creationId xmlns:a16="http://schemas.microsoft.com/office/drawing/2014/main" id="{2D0417A0-CAEE-AF4C-A385-9F0325DD1B06}"/>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86" name="Groupe 385">
                <a:extLst>
                  <a:ext uri="{FF2B5EF4-FFF2-40B4-BE49-F238E27FC236}">
                    <a16:creationId xmlns:a16="http://schemas.microsoft.com/office/drawing/2014/main" id="{1716D762-6A48-E34E-9799-B8FB3EF91FD6}"/>
                  </a:ext>
                </a:extLst>
              </p:cNvPr>
              <p:cNvGrpSpPr/>
              <p:nvPr/>
            </p:nvGrpSpPr>
            <p:grpSpPr>
              <a:xfrm>
                <a:off x="24048348" y="12097818"/>
                <a:ext cx="203172" cy="409925"/>
                <a:chOff x="9550046" y="8356647"/>
                <a:chExt cx="129599" cy="261482"/>
              </a:xfrm>
            </p:grpSpPr>
            <p:sp>
              <p:nvSpPr>
                <p:cNvPr id="393" name="Triangle 392">
                  <a:extLst>
                    <a:ext uri="{FF2B5EF4-FFF2-40B4-BE49-F238E27FC236}">
                      <a16:creationId xmlns:a16="http://schemas.microsoft.com/office/drawing/2014/main" id="{25B84C4A-E2AF-1943-B0CA-F2054A04BCEA}"/>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94" name="Triangle 393">
                  <a:extLst>
                    <a:ext uri="{FF2B5EF4-FFF2-40B4-BE49-F238E27FC236}">
                      <a16:creationId xmlns:a16="http://schemas.microsoft.com/office/drawing/2014/main" id="{40C9B07E-3774-D642-A79A-E693DBC12A56}"/>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87" name="Groupe 386">
                <a:extLst>
                  <a:ext uri="{FF2B5EF4-FFF2-40B4-BE49-F238E27FC236}">
                    <a16:creationId xmlns:a16="http://schemas.microsoft.com/office/drawing/2014/main" id="{1194DA80-024F-5E46-BB5A-CCD3B0B9ED18}"/>
                  </a:ext>
                </a:extLst>
              </p:cNvPr>
              <p:cNvGrpSpPr/>
              <p:nvPr/>
            </p:nvGrpSpPr>
            <p:grpSpPr>
              <a:xfrm>
                <a:off x="23069938" y="12612854"/>
                <a:ext cx="203172" cy="409925"/>
                <a:chOff x="9550046" y="8356647"/>
                <a:chExt cx="129599" cy="261482"/>
              </a:xfrm>
            </p:grpSpPr>
            <p:sp>
              <p:nvSpPr>
                <p:cNvPr id="391" name="Triangle 390">
                  <a:extLst>
                    <a:ext uri="{FF2B5EF4-FFF2-40B4-BE49-F238E27FC236}">
                      <a16:creationId xmlns:a16="http://schemas.microsoft.com/office/drawing/2014/main" id="{3D0897B8-FA81-964E-9837-73573A91F103}"/>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92" name="Triangle 391">
                  <a:extLst>
                    <a:ext uri="{FF2B5EF4-FFF2-40B4-BE49-F238E27FC236}">
                      <a16:creationId xmlns:a16="http://schemas.microsoft.com/office/drawing/2014/main" id="{4A50487E-2376-AE40-971E-8C3666E727C6}"/>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nvGrpSpPr>
              <p:cNvPr id="388" name="Groupe 387">
                <a:extLst>
                  <a:ext uri="{FF2B5EF4-FFF2-40B4-BE49-F238E27FC236}">
                    <a16:creationId xmlns:a16="http://schemas.microsoft.com/office/drawing/2014/main" id="{AC4DCAE4-605A-FC46-9C0D-34D1C753AB5C}"/>
                  </a:ext>
                </a:extLst>
              </p:cNvPr>
              <p:cNvGrpSpPr/>
              <p:nvPr/>
            </p:nvGrpSpPr>
            <p:grpSpPr>
              <a:xfrm>
                <a:off x="22497253" y="12876519"/>
                <a:ext cx="203172" cy="409925"/>
                <a:chOff x="9550046" y="8356647"/>
                <a:chExt cx="129599" cy="261482"/>
              </a:xfrm>
            </p:grpSpPr>
            <p:sp>
              <p:nvSpPr>
                <p:cNvPr id="389" name="Triangle 388">
                  <a:extLst>
                    <a:ext uri="{FF2B5EF4-FFF2-40B4-BE49-F238E27FC236}">
                      <a16:creationId xmlns:a16="http://schemas.microsoft.com/office/drawing/2014/main" id="{C4FEA95C-0A43-F34F-9EBD-056AAEA96122}"/>
                    </a:ext>
                  </a:extLst>
                </p:cNvPr>
                <p:cNvSpPr/>
                <p:nvPr/>
              </p:nvSpPr>
              <p:spPr>
                <a:xfrm rot="10800000">
                  <a:off x="9550046" y="8495461"/>
                  <a:ext cx="129599" cy="122668"/>
                </a:xfrm>
                <a:prstGeom prst="triangle">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sp>
              <p:nvSpPr>
                <p:cNvPr id="390" name="Triangle 389">
                  <a:extLst>
                    <a:ext uri="{FF2B5EF4-FFF2-40B4-BE49-F238E27FC236}">
                      <a16:creationId xmlns:a16="http://schemas.microsoft.com/office/drawing/2014/main" id="{98E49AC1-9F25-6C45-A899-027B4EEB2E24}"/>
                    </a:ext>
                  </a:extLst>
                </p:cNvPr>
                <p:cNvSpPr/>
                <p:nvPr/>
              </p:nvSpPr>
              <p:spPr>
                <a:xfrm>
                  <a:off x="9550046" y="8356647"/>
                  <a:ext cx="129599" cy="122668"/>
                </a:xfrm>
                <a:prstGeom prst="triangle">
                  <a:avLst/>
                </a:prstGeom>
                <a:solidFill>
                  <a:srgbClr val="FFBF94"/>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noProof="1"/>
                </a:p>
              </p:txBody>
            </p:sp>
          </p:grpSp>
        </p:grpSp>
      </p:grpSp>
      <p:sp>
        <p:nvSpPr>
          <p:cNvPr id="645" name="ZoneTexte 644">
            <a:extLst>
              <a:ext uri="{FF2B5EF4-FFF2-40B4-BE49-F238E27FC236}">
                <a16:creationId xmlns:a16="http://schemas.microsoft.com/office/drawing/2014/main" id="{D01F0FD2-36AA-B745-B8CF-03095E8AFD79}"/>
              </a:ext>
            </a:extLst>
          </p:cNvPr>
          <p:cNvSpPr txBox="1"/>
          <p:nvPr/>
        </p:nvSpPr>
        <p:spPr>
          <a:xfrm rot="16200000">
            <a:off x="-439785" y="3484911"/>
            <a:ext cx="1197572" cy="338554"/>
          </a:xfrm>
          <a:prstGeom prst="rect">
            <a:avLst/>
          </a:prstGeom>
          <a:solidFill>
            <a:schemeClr val="bg1"/>
          </a:solidFill>
        </p:spPr>
        <p:txBody>
          <a:bodyPr wrap="none" rtlCol="0">
            <a:spAutoFit/>
          </a:bodyPr>
          <a:lstStyle/>
          <a:p>
            <a:r>
              <a:rPr lang="en-US" sz="1600" noProof="1"/>
              <a:t>Biomarker 1</a:t>
            </a:r>
          </a:p>
        </p:txBody>
      </p:sp>
      <p:sp>
        <p:nvSpPr>
          <p:cNvPr id="646" name="ZoneTexte 645">
            <a:extLst>
              <a:ext uri="{FF2B5EF4-FFF2-40B4-BE49-F238E27FC236}">
                <a16:creationId xmlns:a16="http://schemas.microsoft.com/office/drawing/2014/main" id="{6A9F78DC-BA53-D244-B6B1-7F0F94018B6D}"/>
              </a:ext>
            </a:extLst>
          </p:cNvPr>
          <p:cNvSpPr txBox="1"/>
          <p:nvPr/>
        </p:nvSpPr>
        <p:spPr>
          <a:xfrm>
            <a:off x="579692" y="4706558"/>
            <a:ext cx="1197572" cy="338554"/>
          </a:xfrm>
          <a:prstGeom prst="rect">
            <a:avLst/>
          </a:prstGeom>
          <a:solidFill>
            <a:schemeClr val="bg1"/>
          </a:solidFill>
        </p:spPr>
        <p:txBody>
          <a:bodyPr wrap="none" rtlCol="0">
            <a:spAutoFit/>
          </a:bodyPr>
          <a:lstStyle/>
          <a:p>
            <a:r>
              <a:rPr lang="en-US" sz="1600" noProof="1"/>
              <a:t>Biomarker 2</a:t>
            </a:r>
          </a:p>
        </p:txBody>
      </p:sp>
      <p:sp>
        <p:nvSpPr>
          <p:cNvPr id="325" name="ZoneTexte 641">
            <a:extLst>
              <a:ext uri="{FF2B5EF4-FFF2-40B4-BE49-F238E27FC236}">
                <a16:creationId xmlns:a16="http://schemas.microsoft.com/office/drawing/2014/main" id="{B32D8816-0364-9241-BA0E-DC2A55B89ABC}"/>
              </a:ext>
            </a:extLst>
          </p:cNvPr>
          <p:cNvSpPr txBox="1"/>
          <p:nvPr/>
        </p:nvSpPr>
        <p:spPr>
          <a:xfrm>
            <a:off x="65609" y="15573"/>
            <a:ext cx="2185060" cy="584775"/>
          </a:xfrm>
          <a:prstGeom prst="rect">
            <a:avLst/>
          </a:prstGeom>
          <a:noFill/>
        </p:spPr>
        <p:txBody>
          <a:bodyPr wrap="square" rtlCol="0">
            <a:spAutoFit/>
          </a:bodyPr>
          <a:lstStyle/>
          <a:p>
            <a:pPr algn="ctr"/>
            <a:r>
              <a:rPr lang="en-US" sz="1600" b="1" i="1" noProof="1"/>
              <a:t>Individual data</a:t>
            </a:r>
          </a:p>
          <a:p>
            <a:pPr algn="ctr"/>
            <a:r>
              <a:rPr lang="en-US" sz="1600" b="1" i="1" noProof="1"/>
              <a:t>&amp; model</a:t>
            </a:r>
          </a:p>
        </p:txBody>
      </p:sp>
      <p:sp>
        <p:nvSpPr>
          <p:cNvPr id="425" name="ZoneTexte 650">
            <a:extLst>
              <a:ext uri="{FF2B5EF4-FFF2-40B4-BE49-F238E27FC236}">
                <a16:creationId xmlns:a16="http://schemas.microsoft.com/office/drawing/2014/main" id="{E72D74F9-10D4-7E44-8882-52DE6242C626}"/>
              </a:ext>
            </a:extLst>
          </p:cNvPr>
          <p:cNvSpPr txBox="1"/>
          <p:nvPr/>
        </p:nvSpPr>
        <p:spPr>
          <a:xfrm>
            <a:off x="2457694" y="133757"/>
            <a:ext cx="2185060" cy="338554"/>
          </a:xfrm>
          <a:prstGeom prst="rect">
            <a:avLst/>
          </a:prstGeom>
          <a:noFill/>
        </p:spPr>
        <p:txBody>
          <a:bodyPr wrap="square" rtlCol="0">
            <a:spAutoFit/>
          </a:bodyPr>
          <a:lstStyle/>
          <a:p>
            <a:pPr algn="ctr"/>
            <a:r>
              <a:rPr lang="en-US" sz="1600" b="1" i="1" noProof="1"/>
              <a:t>Time-shift</a:t>
            </a:r>
          </a:p>
        </p:txBody>
      </p:sp>
      <p:sp>
        <p:nvSpPr>
          <p:cNvPr id="426" name="ZoneTexte 652">
            <a:extLst>
              <a:ext uri="{FF2B5EF4-FFF2-40B4-BE49-F238E27FC236}">
                <a16:creationId xmlns:a16="http://schemas.microsoft.com/office/drawing/2014/main" id="{DFE07DC6-886F-1445-8CEA-D9590862B589}"/>
              </a:ext>
            </a:extLst>
          </p:cNvPr>
          <p:cNvSpPr txBox="1"/>
          <p:nvPr/>
        </p:nvSpPr>
        <p:spPr>
          <a:xfrm>
            <a:off x="6994413" y="129845"/>
            <a:ext cx="2185060" cy="338554"/>
          </a:xfrm>
          <a:prstGeom prst="rect">
            <a:avLst/>
          </a:prstGeom>
          <a:noFill/>
        </p:spPr>
        <p:txBody>
          <a:bodyPr wrap="square" rtlCol="0">
            <a:spAutoFit/>
          </a:bodyPr>
          <a:lstStyle/>
          <a:p>
            <a:pPr algn="ctr"/>
            <a:r>
              <a:rPr lang="en-US" sz="1600" b="1" i="1" noProof="1"/>
              <a:t>Inter-marker spacings</a:t>
            </a:r>
          </a:p>
        </p:txBody>
      </p:sp>
      <p:sp>
        <p:nvSpPr>
          <p:cNvPr id="427" name="Triangle 426">
            <a:extLst>
              <a:ext uri="{FF2B5EF4-FFF2-40B4-BE49-F238E27FC236}">
                <a16:creationId xmlns:a16="http://schemas.microsoft.com/office/drawing/2014/main" id="{F2FBC737-78A8-0B47-BDF9-BAF06B771A74}"/>
              </a:ext>
            </a:extLst>
          </p:cNvPr>
          <p:cNvSpPr/>
          <p:nvPr/>
        </p:nvSpPr>
        <p:spPr>
          <a:xfrm rot="5400000">
            <a:off x="2275106" y="243431"/>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28" name="ZoneTexte 665">
            <a:extLst>
              <a:ext uri="{FF2B5EF4-FFF2-40B4-BE49-F238E27FC236}">
                <a16:creationId xmlns:a16="http://schemas.microsoft.com/office/drawing/2014/main" id="{D090F18B-0CD4-FD4F-8729-3C1A5193A62E}"/>
              </a:ext>
            </a:extLst>
          </p:cNvPr>
          <p:cNvSpPr txBox="1"/>
          <p:nvPr/>
        </p:nvSpPr>
        <p:spPr>
          <a:xfrm>
            <a:off x="4702691" y="132728"/>
            <a:ext cx="2185060" cy="338554"/>
          </a:xfrm>
          <a:prstGeom prst="rect">
            <a:avLst/>
          </a:prstGeom>
          <a:noFill/>
        </p:spPr>
        <p:txBody>
          <a:bodyPr wrap="square" rtlCol="0">
            <a:spAutoFit/>
          </a:bodyPr>
          <a:lstStyle/>
          <a:p>
            <a:pPr algn="ctr"/>
            <a:r>
              <a:rPr lang="en-US" sz="1600" b="1" i="1" noProof="1"/>
              <a:t>Acceleration factor</a:t>
            </a:r>
          </a:p>
        </p:txBody>
      </p:sp>
      <p:sp>
        <p:nvSpPr>
          <p:cNvPr id="460" name="Triangle 459">
            <a:extLst>
              <a:ext uri="{FF2B5EF4-FFF2-40B4-BE49-F238E27FC236}">
                <a16:creationId xmlns:a16="http://schemas.microsoft.com/office/drawing/2014/main" id="{E59264DD-3331-1A4D-8879-2E959466623D}"/>
              </a:ext>
            </a:extLst>
          </p:cNvPr>
          <p:cNvSpPr/>
          <p:nvPr/>
        </p:nvSpPr>
        <p:spPr>
          <a:xfrm rot="5400000">
            <a:off x="4543335" y="248357"/>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462" name="Triangle 461">
            <a:extLst>
              <a:ext uri="{FF2B5EF4-FFF2-40B4-BE49-F238E27FC236}">
                <a16:creationId xmlns:a16="http://schemas.microsoft.com/office/drawing/2014/main" id="{8E9C9050-72E3-464C-9C6F-738FE3179C21}"/>
              </a:ext>
            </a:extLst>
          </p:cNvPr>
          <p:cNvSpPr/>
          <p:nvPr/>
        </p:nvSpPr>
        <p:spPr>
          <a:xfrm rot="5400000">
            <a:off x="6874738" y="243431"/>
            <a:ext cx="292431" cy="11920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7"/>
          </a:p>
        </p:txBody>
      </p:sp>
      <p:sp>
        <p:nvSpPr>
          <p:cNvPr id="11" name="Espace réservé du numéro de diapositive 10">
            <a:extLst>
              <a:ext uri="{FF2B5EF4-FFF2-40B4-BE49-F238E27FC236}">
                <a16:creationId xmlns:a16="http://schemas.microsoft.com/office/drawing/2014/main" id="{5D12962C-8BED-66A2-F5E3-A414D83DD1C9}"/>
              </a:ext>
            </a:extLst>
          </p:cNvPr>
          <p:cNvSpPr>
            <a:spLocks noGrp="1"/>
          </p:cNvSpPr>
          <p:nvPr>
            <p:ph type="sldNum" sz="quarter" idx="12"/>
          </p:nvPr>
        </p:nvSpPr>
        <p:spPr/>
        <p:txBody>
          <a:bodyPr/>
          <a:lstStyle/>
          <a:p>
            <a:fld id="{B6E69D5D-3C54-E347-B3D4-70BDFA7C6521}" type="slidenum">
              <a:rPr lang="fr-FR" smtClean="0"/>
              <a:t>5</a:t>
            </a:fld>
            <a:endParaRPr lang="fr-FR"/>
          </a:p>
        </p:txBody>
      </p:sp>
    </p:spTree>
    <p:extLst>
      <p:ext uri="{BB962C8B-B14F-4D97-AF65-F5344CB8AC3E}">
        <p14:creationId xmlns:p14="http://schemas.microsoft.com/office/powerpoint/2010/main" val="420465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 grpId="0" animBg="1"/>
      <p:bldP spid="64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Chart, diagram&#10;&#10;Description automatically generated">
            <a:extLst>
              <a:ext uri="{FF2B5EF4-FFF2-40B4-BE49-F238E27FC236}">
                <a16:creationId xmlns:a16="http://schemas.microsoft.com/office/drawing/2014/main" id="{7C5B2C61-540F-6C4B-9797-8D95821FBA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30244" r="28087"/>
          <a:stretch/>
        </p:blipFill>
        <p:spPr>
          <a:xfrm>
            <a:off x="2765502" y="221282"/>
            <a:ext cx="3810278" cy="3888135"/>
          </a:xfrm>
          <a:prstGeom prst="rect">
            <a:avLst/>
          </a:prstGeom>
        </p:spPr>
      </p:pic>
      <p:sp>
        <p:nvSpPr>
          <p:cNvPr id="14" name="TextBox 13">
            <a:extLst>
              <a:ext uri="{FF2B5EF4-FFF2-40B4-BE49-F238E27FC236}">
                <a16:creationId xmlns:a16="http://schemas.microsoft.com/office/drawing/2014/main" id="{A1EE76CB-2159-C84E-B30E-C2A5581068C1}"/>
              </a:ext>
            </a:extLst>
          </p:cNvPr>
          <p:cNvSpPr txBox="1"/>
          <p:nvPr/>
        </p:nvSpPr>
        <p:spPr>
          <a:xfrm>
            <a:off x="2686756" y="4368800"/>
            <a:ext cx="4018844" cy="646331"/>
          </a:xfrm>
          <a:prstGeom prst="rect">
            <a:avLst/>
          </a:prstGeom>
          <a:noFill/>
        </p:spPr>
        <p:txBody>
          <a:bodyPr wrap="square" rtlCol="0">
            <a:spAutoFit/>
          </a:bodyPr>
          <a:lstStyle/>
          <a:p>
            <a:pPr algn="ctr"/>
            <a:r>
              <a:rPr lang="en-FR" b="1" dirty="0"/>
              <a:t>Disease course map charts the range of likely trajectories</a:t>
            </a:r>
          </a:p>
        </p:txBody>
      </p:sp>
      <p:sp>
        <p:nvSpPr>
          <p:cNvPr id="325" name="TextBox 324">
            <a:extLst>
              <a:ext uri="{FF2B5EF4-FFF2-40B4-BE49-F238E27FC236}">
                <a16:creationId xmlns:a16="http://schemas.microsoft.com/office/drawing/2014/main" id="{C2FE1E22-4625-3249-BF68-6C0E030AABEC}"/>
              </a:ext>
            </a:extLst>
          </p:cNvPr>
          <p:cNvSpPr txBox="1"/>
          <p:nvPr/>
        </p:nvSpPr>
        <p:spPr>
          <a:xfrm>
            <a:off x="0" y="4368800"/>
            <a:ext cx="2415822" cy="369332"/>
          </a:xfrm>
          <a:prstGeom prst="rect">
            <a:avLst/>
          </a:prstGeom>
          <a:noFill/>
        </p:spPr>
        <p:txBody>
          <a:bodyPr wrap="square" rtlCol="0">
            <a:spAutoFit/>
          </a:bodyPr>
          <a:lstStyle/>
          <a:p>
            <a:pPr algn="ctr"/>
            <a:r>
              <a:rPr lang="en-FR" i="1" dirty="0"/>
              <a:t>likely</a:t>
            </a:r>
          </a:p>
        </p:txBody>
      </p:sp>
      <p:sp>
        <p:nvSpPr>
          <p:cNvPr id="425" name="TextBox 424">
            <a:extLst>
              <a:ext uri="{FF2B5EF4-FFF2-40B4-BE49-F238E27FC236}">
                <a16:creationId xmlns:a16="http://schemas.microsoft.com/office/drawing/2014/main" id="{6E05E1DD-A331-134E-9C7C-1AA74826C3F5}"/>
              </a:ext>
            </a:extLst>
          </p:cNvPr>
          <p:cNvSpPr txBox="1"/>
          <p:nvPr/>
        </p:nvSpPr>
        <p:spPr>
          <a:xfrm>
            <a:off x="6705600" y="4369062"/>
            <a:ext cx="2415822" cy="369332"/>
          </a:xfrm>
          <a:prstGeom prst="rect">
            <a:avLst/>
          </a:prstGeom>
          <a:noFill/>
        </p:spPr>
        <p:txBody>
          <a:bodyPr wrap="square" rtlCol="0">
            <a:spAutoFit/>
          </a:bodyPr>
          <a:lstStyle/>
          <a:p>
            <a:pPr algn="ctr"/>
            <a:r>
              <a:rPr lang="en-FR" i="1" dirty="0"/>
              <a:t>unlikely</a:t>
            </a:r>
          </a:p>
        </p:txBody>
      </p:sp>
      <p:sp>
        <p:nvSpPr>
          <p:cNvPr id="2" name="Espace réservé du numéro de diapositive 1">
            <a:extLst>
              <a:ext uri="{FF2B5EF4-FFF2-40B4-BE49-F238E27FC236}">
                <a16:creationId xmlns:a16="http://schemas.microsoft.com/office/drawing/2014/main" id="{72AFB977-F8B1-9654-E8B1-63A8BEA90730}"/>
              </a:ext>
            </a:extLst>
          </p:cNvPr>
          <p:cNvSpPr>
            <a:spLocks noGrp="1"/>
          </p:cNvSpPr>
          <p:nvPr>
            <p:ph type="sldNum" sz="quarter" idx="12"/>
          </p:nvPr>
        </p:nvSpPr>
        <p:spPr/>
        <p:txBody>
          <a:bodyPr/>
          <a:lstStyle/>
          <a:p>
            <a:fld id="{B6E69D5D-3C54-E347-B3D4-70BDFA7C6521}" type="slidenum">
              <a:rPr lang="fr-FR" smtClean="0"/>
              <a:t>6</a:t>
            </a:fld>
            <a:endParaRPr lang="fr-FR"/>
          </a:p>
        </p:txBody>
      </p:sp>
      <p:pic>
        <p:nvPicPr>
          <p:cNvPr id="3" name="Picture 12" descr="Chart, diagram&#10;&#10;Description automatically generated">
            <a:extLst>
              <a:ext uri="{FF2B5EF4-FFF2-40B4-BE49-F238E27FC236}">
                <a16:creationId xmlns:a16="http://schemas.microsoft.com/office/drawing/2014/main" id="{04D35047-D9FC-91A5-7C1C-2D57C0979A0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3580"/>
          <a:stretch/>
        </p:blipFill>
        <p:spPr>
          <a:xfrm>
            <a:off x="121081" y="405368"/>
            <a:ext cx="2415822" cy="3888135"/>
          </a:xfrm>
          <a:prstGeom prst="rect">
            <a:avLst/>
          </a:prstGeom>
        </p:spPr>
      </p:pic>
      <p:pic>
        <p:nvPicPr>
          <p:cNvPr id="4" name="Picture 12" descr="Chart, diagram&#10;&#10;Description automatically generated">
            <a:extLst>
              <a:ext uri="{FF2B5EF4-FFF2-40B4-BE49-F238E27FC236}">
                <a16:creationId xmlns:a16="http://schemas.microsoft.com/office/drawing/2014/main" id="{F43EB57B-894E-EC43-FFB0-91496FE1219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73580"/>
          <a:stretch/>
        </p:blipFill>
        <p:spPr>
          <a:xfrm>
            <a:off x="6575780" y="281433"/>
            <a:ext cx="2415822" cy="3888135"/>
          </a:xfrm>
          <a:prstGeom prst="rect">
            <a:avLst/>
          </a:prstGeom>
        </p:spPr>
      </p:pic>
    </p:spTree>
    <p:extLst>
      <p:ext uri="{BB962C8B-B14F-4D97-AF65-F5344CB8AC3E}">
        <p14:creationId xmlns:p14="http://schemas.microsoft.com/office/powerpoint/2010/main" val="411381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25" grpId="0"/>
      <p:bldP spid="4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58B4225-976D-ACD4-E3DA-827C612ADC5F}"/>
              </a:ext>
            </a:extLst>
          </p:cNvPr>
          <p:cNvSpPr>
            <a:spLocks noGrp="1"/>
          </p:cNvSpPr>
          <p:nvPr>
            <p:ph type="sldNum" sz="quarter" idx="12"/>
          </p:nvPr>
        </p:nvSpPr>
        <p:spPr/>
        <p:txBody>
          <a:bodyPr/>
          <a:lstStyle/>
          <a:p>
            <a:fld id="{B6E69D5D-3C54-E347-B3D4-70BDFA7C6521}" type="slidenum">
              <a:rPr lang="fr-FR" smtClean="0"/>
              <a:t>7</a:t>
            </a:fld>
            <a:endParaRPr lang="fr-FR"/>
          </a:p>
        </p:txBody>
      </p:sp>
      <p:sp>
        <p:nvSpPr>
          <p:cNvPr id="7" name="ZoneTexte 6">
            <a:extLst>
              <a:ext uri="{FF2B5EF4-FFF2-40B4-BE49-F238E27FC236}">
                <a16:creationId xmlns:a16="http://schemas.microsoft.com/office/drawing/2014/main" id="{F1A8B558-A639-6237-C932-5F22FCC2D1C7}"/>
              </a:ext>
            </a:extLst>
          </p:cNvPr>
          <p:cNvSpPr txBox="1"/>
          <p:nvPr/>
        </p:nvSpPr>
        <p:spPr>
          <a:xfrm>
            <a:off x="530754" y="688417"/>
            <a:ext cx="6364539" cy="872675"/>
          </a:xfrm>
          <a:prstGeom prst="rect">
            <a:avLst/>
          </a:prstGeom>
          <a:noFill/>
        </p:spPr>
        <p:txBody>
          <a:bodyPr wrap="square" rtlCol="0">
            <a:spAutoFit/>
          </a:bodyPr>
          <a:lstStyle/>
          <a:p>
            <a:pP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nSpc>
                <a:spcPct val="70000"/>
              </a:lnSpc>
            </a:pPr>
            <a:endParaRPr lang="fr-FR" sz="2700" b="1" dirty="0">
              <a:solidFill>
                <a:schemeClr val="bg1"/>
              </a:solidFill>
              <a:latin typeface="Arial"/>
              <a:cs typeface="Arial"/>
            </a:endParaRPr>
          </a:p>
          <a:p>
            <a:pP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p:txBody>
      </p:sp>
      <p:sp>
        <p:nvSpPr>
          <p:cNvPr id="4" name="ZoneTexte 3">
            <a:extLst>
              <a:ext uri="{FF2B5EF4-FFF2-40B4-BE49-F238E27FC236}">
                <a16:creationId xmlns:a16="http://schemas.microsoft.com/office/drawing/2014/main" id="{03DA2872-41DD-E6E0-CA0A-F9C3D61AE3AA}"/>
              </a:ext>
            </a:extLst>
          </p:cNvPr>
          <p:cNvSpPr txBox="1"/>
          <p:nvPr/>
        </p:nvSpPr>
        <p:spPr>
          <a:xfrm>
            <a:off x="599829" y="2135412"/>
            <a:ext cx="7817779" cy="872675"/>
          </a:xfrm>
          <a:prstGeom prst="rect">
            <a:avLst/>
          </a:prstGeom>
          <a:noFill/>
        </p:spPr>
        <p:txBody>
          <a:bodyPr wrap="square" rtlCol="0">
            <a:spAutoFit/>
          </a:bodyPr>
          <a:lstStyle/>
          <a:p>
            <a:pP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nSpc>
                <a:spcPct val="70000"/>
              </a:lnSpc>
            </a:pPr>
            <a:endParaRPr lang="fr-FR" sz="2700" b="1" dirty="0">
              <a:solidFill>
                <a:schemeClr val="bg1"/>
              </a:solidFill>
              <a:latin typeface="Arial"/>
              <a:cs typeface="Arial"/>
            </a:endParaRPr>
          </a:p>
          <a:p>
            <a:pP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p:txBody>
      </p:sp>
      <p:sp>
        <p:nvSpPr>
          <p:cNvPr id="6" name="ZoneTexte 5">
            <a:extLst>
              <a:ext uri="{FF2B5EF4-FFF2-40B4-BE49-F238E27FC236}">
                <a16:creationId xmlns:a16="http://schemas.microsoft.com/office/drawing/2014/main" id="{3FA21A09-EA29-1E8D-4739-1BDFB398EB0B}"/>
              </a:ext>
            </a:extLst>
          </p:cNvPr>
          <p:cNvSpPr txBox="1"/>
          <p:nvPr/>
        </p:nvSpPr>
        <p:spPr>
          <a:xfrm>
            <a:off x="675133" y="3582407"/>
            <a:ext cx="7023464" cy="872675"/>
          </a:xfrm>
          <a:prstGeom prst="rect">
            <a:avLst/>
          </a:prstGeom>
          <a:noFill/>
        </p:spPr>
        <p:txBody>
          <a:bodyPr wrap="square" rtlCol="0">
            <a:spAutoFit/>
          </a:bodyPr>
          <a:lstStyle/>
          <a:p>
            <a:pP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nSpc>
                <a:spcPct val="70000"/>
              </a:lnSpc>
            </a:pPr>
            <a:endParaRPr lang="fr-FR" sz="2700" b="1" dirty="0">
              <a:solidFill>
                <a:schemeClr val="bg1"/>
              </a:solidFill>
              <a:latin typeface="Arial"/>
              <a:cs typeface="Arial"/>
            </a:endParaRPr>
          </a:p>
          <a:p>
            <a:pP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p:txBody>
      </p:sp>
    </p:spTree>
    <p:extLst>
      <p:ext uri="{BB962C8B-B14F-4D97-AF65-F5344CB8AC3E}">
        <p14:creationId xmlns:p14="http://schemas.microsoft.com/office/powerpoint/2010/main" val="4223550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58B4225-976D-ACD4-E3DA-827C612ADC5F}"/>
              </a:ext>
            </a:extLst>
          </p:cNvPr>
          <p:cNvSpPr>
            <a:spLocks noGrp="1"/>
          </p:cNvSpPr>
          <p:nvPr>
            <p:ph type="sldNum" sz="quarter" idx="12"/>
          </p:nvPr>
        </p:nvSpPr>
        <p:spPr/>
        <p:txBody>
          <a:bodyPr/>
          <a:lstStyle/>
          <a:p>
            <a:fld id="{B6E69D5D-3C54-E347-B3D4-70BDFA7C6521}" type="slidenum">
              <a:rPr lang="fr-FR" smtClean="0"/>
              <a:t>8</a:t>
            </a:fld>
            <a:endParaRPr lang="fr-FR"/>
          </a:p>
        </p:txBody>
      </p:sp>
      <p:sp>
        <p:nvSpPr>
          <p:cNvPr id="7" name="ZoneTexte 6">
            <a:extLst>
              <a:ext uri="{FF2B5EF4-FFF2-40B4-BE49-F238E27FC236}">
                <a16:creationId xmlns:a16="http://schemas.microsoft.com/office/drawing/2014/main" id="{F1A8B558-A639-6237-C932-5F22FCC2D1C7}"/>
              </a:ext>
            </a:extLst>
          </p:cNvPr>
          <p:cNvSpPr txBox="1"/>
          <p:nvPr/>
        </p:nvSpPr>
        <p:spPr>
          <a:xfrm>
            <a:off x="2120272" y="2135412"/>
            <a:ext cx="6364539" cy="872675"/>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p:txBody>
      </p:sp>
    </p:spTree>
    <p:extLst>
      <p:ext uri="{BB962C8B-B14F-4D97-AF65-F5344CB8AC3E}">
        <p14:creationId xmlns:p14="http://schemas.microsoft.com/office/powerpoint/2010/main" val="17715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58B4225-976D-ACD4-E3DA-827C612ADC5F}"/>
              </a:ext>
            </a:extLst>
          </p:cNvPr>
          <p:cNvSpPr>
            <a:spLocks noGrp="1"/>
          </p:cNvSpPr>
          <p:nvPr>
            <p:ph type="sldNum" sz="quarter" idx="12"/>
          </p:nvPr>
        </p:nvSpPr>
        <p:spPr/>
        <p:txBody>
          <a:bodyPr/>
          <a:lstStyle/>
          <a:p>
            <a:fld id="{B6E69D5D-3C54-E347-B3D4-70BDFA7C6521}" type="slidenum">
              <a:rPr lang="fr-FR" smtClean="0"/>
              <a:t>9</a:t>
            </a:fld>
            <a:endParaRPr lang="fr-FR"/>
          </a:p>
        </p:txBody>
      </p:sp>
      <p:sp>
        <p:nvSpPr>
          <p:cNvPr id="3" name="ZoneTexte 2">
            <a:extLst>
              <a:ext uri="{FF2B5EF4-FFF2-40B4-BE49-F238E27FC236}">
                <a16:creationId xmlns:a16="http://schemas.microsoft.com/office/drawing/2014/main" id="{B40DB18E-BA51-823C-3E47-916D624CE0F5}"/>
              </a:ext>
            </a:extLst>
          </p:cNvPr>
          <p:cNvSpPr txBox="1"/>
          <p:nvPr/>
        </p:nvSpPr>
        <p:spPr>
          <a:xfrm>
            <a:off x="658939" y="2094590"/>
            <a:ext cx="3349039" cy="2229265"/>
          </a:xfrm>
          <a:prstGeom prst="rect">
            <a:avLst/>
          </a:prstGeom>
          <a:noFill/>
        </p:spPr>
        <p:txBody>
          <a:bodyPr wrap="square" rtlCol="0">
            <a:spAutoFit/>
          </a:bodyPr>
          <a:lstStyle/>
          <a:p>
            <a:pPr marL="457200" indent="-457200">
              <a:lnSpc>
                <a:spcPct val="70000"/>
              </a:lnSpc>
              <a:buAutoNum type="arabicPeriod"/>
            </a:pPr>
            <a:r>
              <a:rPr lang="fr-FR" i="1" dirty="0" err="1">
                <a:latin typeface="Arial"/>
                <a:cs typeface="Arial"/>
              </a:rPr>
              <a:t>Mathematical</a:t>
            </a:r>
            <a:r>
              <a:rPr lang="fr-FR" i="1" dirty="0">
                <a:latin typeface="Arial"/>
                <a:cs typeface="Arial"/>
              </a:rPr>
              <a:t> concepts</a:t>
            </a:r>
          </a:p>
          <a:p>
            <a:pPr marL="457200" indent="-457200">
              <a:lnSpc>
                <a:spcPct val="70000"/>
              </a:lnSpc>
              <a:buAutoNum type="arabicPeriod"/>
            </a:pPr>
            <a:endParaRPr lang="fr-FR" i="1" dirty="0">
              <a:latin typeface="Arial"/>
              <a:cs typeface="Arial"/>
            </a:endParaRPr>
          </a:p>
          <a:p>
            <a:pPr marL="457200" indent="-457200">
              <a:lnSpc>
                <a:spcPct val="70000"/>
              </a:lnSpc>
              <a:buAutoNum type="arabicPeriod"/>
            </a:pPr>
            <a:r>
              <a:rPr lang="fr-FR" i="1" dirty="0" err="1">
                <a:latin typeface="Arial"/>
                <a:cs typeface="Arial"/>
              </a:rPr>
              <a:t>Univariate</a:t>
            </a:r>
            <a:r>
              <a:rPr lang="fr-FR" i="1" dirty="0">
                <a:latin typeface="Arial"/>
                <a:cs typeface="Arial"/>
              </a:rPr>
              <a:t> case</a:t>
            </a:r>
          </a:p>
          <a:p>
            <a:pPr marL="457200" indent="-457200">
              <a:lnSpc>
                <a:spcPct val="70000"/>
              </a:lnSpc>
              <a:buAutoNum type="arabicPeriod"/>
            </a:pPr>
            <a:endParaRPr lang="fr-FR" i="1" dirty="0">
              <a:latin typeface="Arial"/>
              <a:cs typeface="Arial"/>
            </a:endParaRPr>
          </a:p>
          <a:p>
            <a:pPr marL="457200" indent="-457200">
              <a:lnSpc>
                <a:spcPct val="70000"/>
              </a:lnSpc>
              <a:buAutoNum type="arabicPeriod"/>
            </a:pPr>
            <a:r>
              <a:rPr lang="fr-FR" i="1" dirty="0" err="1">
                <a:latin typeface="Arial"/>
                <a:cs typeface="Arial"/>
              </a:rPr>
              <a:t>Multivariate</a:t>
            </a:r>
            <a:r>
              <a:rPr lang="fr-FR" i="1" dirty="0">
                <a:latin typeface="Arial"/>
                <a:cs typeface="Arial"/>
              </a:rPr>
              <a:t> case</a:t>
            </a:r>
          </a:p>
          <a:p>
            <a:pPr marL="457200" indent="-457200">
              <a:lnSpc>
                <a:spcPct val="70000"/>
              </a:lnSpc>
              <a:buAutoNum type="arabicPeriod"/>
            </a:pPr>
            <a:endParaRPr lang="fr-FR" i="1" dirty="0">
              <a:latin typeface="Arial"/>
              <a:cs typeface="Arial"/>
            </a:endParaRPr>
          </a:p>
          <a:p>
            <a:pPr marL="457200" indent="-457200">
              <a:lnSpc>
                <a:spcPct val="70000"/>
              </a:lnSpc>
              <a:buAutoNum type="arabicPeriod"/>
            </a:pPr>
            <a:r>
              <a:rPr lang="fr-FR" i="1" dirty="0">
                <a:latin typeface="Arial"/>
                <a:cs typeface="Arial"/>
              </a:rPr>
              <a:t>Shape data</a:t>
            </a:r>
          </a:p>
          <a:p>
            <a:pPr marL="457200" indent="-457200">
              <a:lnSpc>
                <a:spcPct val="70000"/>
              </a:lnSpc>
              <a:buAutoNum type="arabicPeriod"/>
            </a:pPr>
            <a:endParaRPr lang="fr-FR" i="1" dirty="0">
              <a:latin typeface="Arial"/>
              <a:cs typeface="Arial"/>
            </a:endParaRPr>
          </a:p>
          <a:p>
            <a:pPr marL="457200" indent="-457200">
              <a:lnSpc>
                <a:spcPct val="70000"/>
              </a:lnSpc>
              <a:buAutoNum type="arabicPeriod"/>
            </a:pPr>
            <a:r>
              <a:rPr lang="fr-FR" i="1" dirty="0">
                <a:latin typeface="Arial"/>
                <a:cs typeface="Arial"/>
              </a:rPr>
              <a:t>Learning the </a:t>
            </a:r>
            <a:r>
              <a:rPr lang="fr-FR" i="1" dirty="0" err="1">
                <a:latin typeface="Arial"/>
                <a:cs typeface="Arial"/>
              </a:rPr>
              <a:t>metric</a:t>
            </a:r>
            <a:endParaRPr lang="fr-FR" i="1" dirty="0">
              <a:latin typeface="Arial"/>
              <a:cs typeface="Arial"/>
            </a:endParaRPr>
          </a:p>
          <a:p>
            <a:pPr marL="457200" indent="-457200">
              <a:lnSpc>
                <a:spcPct val="70000"/>
              </a:lnSpc>
              <a:buAutoNum type="arabicPeriod"/>
            </a:pPr>
            <a:endParaRPr lang="fr-FR" i="1" dirty="0">
              <a:latin typeface="Arial"/>
              <a:cs typeface="Arial"/>
            </a:endParaRPr>
          </a:p>
          <a:p>
            <a:pPr marL="457200" indent="-457200">
              <a:lnSpc>
                <a:spcPct val="70000"/>
              </a:lnSpc>
              <a:buAutoNum type="arabicPeriod"/>
            </a:pPr>
            <a:r>
              <a:rPr lang="fr-FR" i="1" dirty="0" err="1">
                <a:latin typeface="Arial"/>
                <a:cs typeface="Arial"/>
              </a:rPr>
              <a:t>Going</a:t>
            </a:r>
            <a:r>
              <a:rPr lang="fr-FR" i="1" dirty="0">
                <a:latin typeface="Arial"/>
                <a:cs typeface="Arial"/>
              </a:rPr>
              <a:t> </a:t>
            </a:r>
            <a:r>
              <a:rPr lang="fr-FR" i="1" dirty="0" err="1">
                <a:latin typeface="Arial"/>
                <a:cs typeface="Arial"/>
              </a:rPr>
              <a:t>Further</a:t>
            </a:r>
            <a:endParaRPr lang="fr-FR" i="1" dirty="0">
              <a:latin typeface="Arial"/>
              <a:cs typeface="Arial"/>
            </a:endParaRPr>
          </a:p>
        </p:txBody>
      </p:sp>
      <p:sp>
        <p:nvSpPr>
          <p:cNvPr id="7" name="ZoneTexte 6">
            <a:extLst>
              <a:ext uri="{FF2B5EF4-FFF2-40B4-BE49-F238E27FC236}">
                <a16:creationId xmlns:a16="http://schemas.microsoft.com/office/drawing/2014/main" id="{F1A8B558-A639-6237-C932-5F22FCC2D1C7}"/>
              </a:ext>
            </a:extLst>
          </p:cNvPr>
          <p:cNvSpPr txBox="1"/>
          <p:nvPr/>
        </p:nvSpPr>
        <p:spPr>
          <a:xfrm>
            <a:off x="453841" y="724637"/>
            <a:ext cx="6364539" cy="872675"/>
          </a:xfrm>
          <a:prstGeom prst="rect">
            <a:avLst/>
          </a:prstGeom>
          <a:noFill/>
        </p:spPr>
        <p:txBody>
          <a:bodyPr wrap="square" rtlCol="0">
            <a:spAutoFit/>
          </a:bodyPr>
          <a:lstStyle/>
          <a:p>
            <a:pP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nSpc>
                <a:spcPct val="70000"/>
              </a:lnSpc>
            </a:pPr>
            <a:endParaRPr lang="fr-FR" sz="2700" b="1" dirty="0">
              <a:solidFill>
                <a:schemeClr val="bg1"/>
              </a:solidFill>
              <a:latin typeface="Arial"/>
              <a:cs typeface="Arial"/>
            </a:endParaRPr>
          </a:p>
          <a:p>
            <a:pP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p:txBody>
      </p:sp>
    </p:spTree>
    <p:extLst>
      <p:ext uri="{BB962C8B-B14F-4D97-AF65-F5344CB8AC3E}">
        <p14:creationId xmlns:p14="http://schemas.microsoft.com/office/powerpoint/2010/main" val="258702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p:cNvSpPr txBox="1"/>
          <p:nvPr/>
        </p:nvSpPr>
        <p:spPr>
          <a:xfrm>
            <a:off x="1906625" y="1564750"/>
            <a:ext cx="6364539" cy="1325106"/>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 1. </a:t>
            </a:r>
            <a:r>
              <a:rPr lang="fr-FR" sz="2100" i="1" dirty="0" err="1">
                <a:latin typeface="Arial"/>
                <a:cs typeface="Arial"/>
              </a:rPr>
              <a:t>Mathematical</a:t>
            </a:r>
            <a:r>
              <a:rPr lang="fr-FR" sz="2100" i="1" dirty="0">
                <a:latin typeface="Arial"/>
                <a:cs typeface="Arial"/>
              </a:rPr>
              <a:t> concepts</a:t>
            </a:r>
            <a:endParaRPr lang="fr-FR" sz="2100" dirty="0">
              <a:latin typeface="Arial"/>
              <a:cs typeface="Arial"/>
            </a:endParaRPr>
          </a:p>
        </p:txBody>
      </p:sp>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8FCFF97B-062A-F1C8-6021-9289640BECC9}"/>
              </a:ext>
            </a:extLst>
          </p:cNvPr>
          <p:cNvSpPr>
            <a:spLocks noGrp="1"/>
          </p:cNvSpPr>
          <p:nvPr>
            <p:ph type="sldNum" sz="quarter" idx="12"/>
          </p:nvPr>
        </p:nvSpPr>
        <p:spPr/>
        <p:txBody>
          <a:bodyPr/>
          <a:lstStyle/>
          <a:p>
            <a:fld id="{B6E69D5D-3C54-E347-B3D4-70BDFA7C6521}" type="slidenum">
              <a:rPr lang="fr-FR" smtClean="0"/>
              <a:t>10</a:t>
            </a:fld>
            <a:endParaRPr lang="fr-FR"/>
          </a:p>
        </p:txBody>
      </p:sp>
    </p:spTree>
    <p:extLst>
      <p:ext uri="{BB962C8B-B14F-4D97-AF65-F5344CB8AC3E}">
        <p14:creationId xmlns:p14="http://schemas.microsoft.com/office/powerpoint/2010/main" val="287806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3"/>
          </p:nvPr>
        </p:nvSpPr>
        <p:spPr>
          <a:xfrm>
            <a:off x="476250" y="615583"/>
            <a:ext cx="8201025" cy="390525"/>
          </a:xfrm>
        </p:spPr>
        <p:txBody>
          <a:bodyPr>
            <a:normAutofit fontScale="85000" lnSpcReduction="10000"/>
          </a:bodyPr>
          <a:lstStyle/>
          <a:p>
            <a:pPr algn="ctr"/>
            <a:r>
              <a:rPr lang="fr-FR" sz="1800" dirty="0"/>
              <a:t>Longitudinal Data </a:t>
            </a:r>
            <a:r>
              <a:rPr lang="fr-FR" sz="1800" dirty="0" err="1"/>
              <a:t>Analysis</a:t>
            </a:r>
            <a:endParaRPr lang="fr-FR" sz="1800" dirty="0"/>
          </a:p>
        </p:txBody>
      </p:sp>
      <p:sp>
        <p:nvSpPr>
          <p:cNvPr id="12" name="Content Placeholder 2"/>
          <p:cNvSpPr txBox="1">
            <a:spLocks/>
          </p:cNvSpPr>
          <p:nvPr/>
        </p:nvSpPr>
        <p:spPr>
          <a:xfrm>
            <a:off x="1485900" y="825501"/>
            <a:ext cx="6172200" cy="4031351"/>
          </a:xfrm>
          <a:prstGeom prst="rect">
            <a:avLst/>
          </a:prstGeom>
        </p:spPr>
        <p:txBody>
          <a:bodyPr vert="horz" lIns="68580" tIns="34290" rIns="68580" bIns="34290" rtlCol="0">
            <a:normAutofit/>
          </a:bodyPr>
          <a:lstStyle/>
          <a:p>
            <a:pPr marL="557213" lvl="1" indent="-214313" defTabSz="342900">
              <a:spcBef>
                <a:spcPct val="20000"/>
              </a:spcBef>
              <a:buFont typeface="Arial"/>
              <a:buChar char="–"/>
              <a:defRPr/>
            </a:pPr>
            <a:endParaRPr lang="en-US" sz="3300" dirty="0">
              <a:sym typeface="Wingdings"/>
            </a:endParaRPr>
          </a:p>
          <a:p>
            <a:pPr marL="557213" lvl="1" indent="-214313" defTabSz="342900">
              <a:spcBef>
                <a:spcPct val="20000"/>
              </a:spcBef>
              <a:buFont typeface="Arial"/>
              <a:buChar char="–"/>
              <a:defRPr/>
            </a:pPr>
            <a:endParaRPr lang="en-US" sz="2100" dirty="0">
              <a:sym typeface="Wingdings"/>
            </a:endParaRPr>
          </a:p>
          <a:p>
            <a:pPr marL="557213" lvl="1" indent="-214313" defTabSz="342900">
              <a:spcBef>
                <a:spcPct val="20000"/>
              </a:spcBef>
              <a:buFont typeface="Arial"/>
              <a:buChar char="–"/>
              <a:defRPr/>
            </a:pPr>
            <a:endParaRPr lang="en-US" sz="2100" dirty="0"/>
          </a:p>
        </p:txBody>
      </p:sp>
      <p:sp>
        <p:nvSpPr>
          <p:cNvPr id="13" name="TextBox 70"/>
          <p:cNvSpPr txBox="1"/>
          <p:nvPr/>
        </p:nvSpPr>
        <p:spPr>
          <a:xfrm>
            <a:off x="1153181" y="3026493"/>
            <a:ext cx="2583908" cy="600164"/>
          </a:xfrm>
          <a:prstGeom prst="rect">
            <a:avLst/>
          </a:prstGeom>
          <a:noFill/>
          <a:ln>
            <a:noFill/>
          </a:ln>
        </p:spPr>
        <p:txBody>
          <a:bodyPr wrap="square" rtlCol="0" anchor="ctr">
            <a:spAutoFit/>
          </a:bodyPr>
          <a:lstStyle/>
          <a:p>
            <a:pPr algn="ctr"/>
            <a:r>
              <a:rPr lang="en-US" sz="1200" b="1" dirty="0">
                <a:ea typeface="Nexa Light" charset="0"/>
                <a:cs typeface="Nexa Light" charset="0"/>
              </a:rPr>
              <a:t>Temporal marker</a:t>
            </a:r>
            <a:r>
              <a:rPr lang="en-US" sz="1200" dirty="0">
                <a:ea typeface="Nexa Light" charset="0"/>
                <a:cs typeface="Nexa Light" charset="0"/>
              </a:rPr>
              <a:t> of progression</a:t>
            </a:r>
          </a:p>
          <a:p>
            <a:pPr algn="ctr"/>
            <a:r>
              <a:rPr lang="en-US" sz="1050" i="1" dirty="0">
                <a:ea typeface="Nexa Light" charset="0"/>
                <a:cs typeface="Nexa Light" charset="0"/>
              </a:rPr>
              <a:t>(e.g. time since drug injection, seeding, birth, etc..)</a:t>
            </a:r>
            <a:endParaRPr lang="en-US" sz="1200" i="1" dirty="0">
              <a:ea typeface="Nexa Light" charset="0"/>
              <a:cs typeface="Nexa Light" charset="0"/>
            </a:endParaRPr>
          </a:p>
        </p:txBody>
      </p:sp>
      <p:cxnSp>
        <p:nvCxnSpPr>
          <p:cNvPr id="14" name="Straight Arrow Connector 35"/>
          <p:cNvCxnSpPr/>
          <p:nvPr/>
        </p:nvCxnSpPr>
        <p:spPr>
          <a:xfrm flipV="1">
            <a:off x="2669835" y="1250129"/>
            <a:ext cx="1815060" cy="1088987"/>
          </a:xfrm>
          <a:prstGeom prst="straightConnector1">
            <a:avLst/>
          </a:prstGeom>
          <a:ln w="41275">
            <a:headEnd type="none"/>
            <a:tailEnd type="stealth"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36"/>
          <p:cNvCxnSpPr/>
          <p:nvPr/>
        </p:nvCxnSpPr>
        <p:spPr>
          <a:xfrm flipV="1">
            <a:off x="3821958" y="1250129"/>
            <a:ext cx="2061260" cy="1154472"/>
          </a:xfrm>
          <a:prstGeom prst="straightConnector1">
            <a:avLst/>
          </a:prstGeom>
          <a:ln w="41275">
            <a:headEnd type="none"/>
            <a:tailEnd type="stealth"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37"/>
          <p:cNvCxnSpPr/>
          <p:nvPr/>
        </p:nvCxnSpPr>
        <p:spPr>
          <a:xfrm flipV="1">
            <a:off x="5114917" y="1250129"/>
            <a:ext cx="1824932" cy="1088987"/>
          </a:xfrm>
          <a:prstGeom prst="straightConnector1">
            <a:avLst/>
          </a:prstGeom>
          <a:ln w="41275">
            <a:headEnd type="none"/>
            <a:tailEnd type="stealth" w="lg" len="lg"/>
          </a:ln>
        </p:spPr>
        <p:style>
          <a:lnRef idx="2">
            <a:schemeClr val="accent1"/>
          </a:lnRef>
          <a:fillRef idx="0">
            <a:schemeClr val="accent1"/>
          </a:fillRef>
          <a:effectRef idx="1">
            <a:schemeClr val="accent1"/>
          </a:effectRef>
          <a:fontRef idx="minor">
            <a:schemeClr val="tx1"/>
          </a:fontRef>
        </p:style>
      </p:cxnSp>
      <p:pic>
        <p:nvPicPr>
          <p:cNvPr id="17" name="Picture 38" descr="Multimodal.png"/>
          <p:cNvPicPr>
            <a:picLocks noChangeAspect="1"/>
          </p:cNvPicPr>
          <p:nvPr/>
        </p:nvPicPr>
        <p:blipFill>
          <a:blip r:embed="rId2"/>
          <a:stretch>
            <a:fillRect/>
          </a:stretch>
        </p:blipFill>
        <p:spPr>
          <a:xfrm>
            <a:off x="3821956" y="2019778"/>
            <a:ext cx="506402" cy="319339"/>
          </a:xfrm>
          <a:prstGeom prst="rect">
            <a:avLst/>
          </a:prstGeom>
        </p:spPr>
      </p:pic>
      <p:pic>
        <p:nvPicPr>
          <p:cNvPr id="18" name="Picture 39" descr="Multimodal.png"/>
          <p:cNvPicPr>
            <a:picLocks noChangeAspect="1"/>
          </p:cNvPicPr>
          <p:nvPr/>
        </p:nvPicPr>
        <p:blipFill>
          <a:blip r:embed="rId2"/>
          <a:stretch>
            <a:fillRect/>
          </a:stretch>
        </p:blipFill>
        <p:spPr>
          <a:xfrm>
            <a:off x="4484895" y="1700440"/>
            <a:ext cx="506402" cy="319339"/>
          </a:xfrm>
          <a:prstGeom prst="rect">
            <a:avLst/>
          </a:prstGeom>
        </p:spPr>
      </p:pic>
      <p:pic>
        <p:nvPicPr>
          <p:cNvPr id="19" name="Picture 49" descr="Multimodal.png"/>
          <p:cNvPicPr>
            <a:picLocks noChangeAspect="1"/>
          </p:cNvPicPr>
          <p:nvPr/>
        </p:nvPicPr>
        <p:blipFill>
          <a:blip r:embed="rId2"/>
          <a:stretch>
            <a:fillRect/>
          </a:stretch>
        </p:blipFill>
        <p:spPr>
          <a:xfrm>
            <a:off x="5092828" y="1381101"/>
            <a:ext cx="506402" cy="319339"/>
          </a:xfrm>
          <a:prstGeom prst="rect">
            <a:avLst/>
          </a:prstGeom>
        </p:spPr>
      </p:pic>
      <p:pic>
        <p:nvPicPr>
          <p:cNvPr id="20" name="Picture 52" descr="Multimodal.png"/>
          <p:cNvPicPr>
            <a:picLocks noChangeAspect="1"/>
          </p:cNvPicPr>
          <p:nvPr/>
        </p:nvPicPr>
        <p:blipFill>
          <a:blip r:embed="rId2"/>
          <a:stretch>
            <a:fillRect/>
          </a:stretch>
        </p:blipFill>
        <p:spPr>
          <a:xfrm>
            <a:off x="2878551" y="1915419"/>
            <a:ext cx="506402" cy="319339"/>
          </a:xfrm>
          <a:prstGeom prst="rect">
            <a:avLst/>
          </a:prstGeom>
        </p:spPr>
      </p:pic>
      <p:pic>
        <p:nvPicPr>
          <p:cNvPr id="21" name="Picture 66" descr="Multimodal.png"/>
          <p:cNvPicPr>
            <a:picLocks noChangeAspect="1"/>
          </p:cNvPicPr>
          <p:nvPr/>
        </p:nvPicPr>
        <p:blipFill>
          <a:blip r:embed="rId2"/>
          <a:stretch>
            <a:fillRect/>
          </a:stretch>
        </p:blipFill>
        <p:spPr>
          <a:xfrm>
            <a:off x="3563407" y="1462501"/>
            <a:ext cx="506402" cy="319339"/>
          </a:xfrm>
          <a:prstGeom prst="rect">
            <a:avLst/>
          </a:prstGeom>
        </p:spPr>
      </p:pic>
      <p:pic>
        <p:nvPicPr>
          <p:cNvPr id="22" name="Picture 68" descr="Multimodal.png"/>
          <p:cNvPicPr>
            <a:picLocks noChangeAspect="1"/>
          </p:cNvPicPr>
          <p:nvPr/>
        </p:nvPicPr>
        <p:blipFill>
          <a:blip r:embed="rId2"/>
          <a:stretch>
            <a:fillRect/>
          </a:stretch>
        </p:blipFill>
        <p:spPr>
          <a:xfrm>
            <a:off x="5571106" y="1764367"/>
            <a:ext cx="506402" cy="319339"/>
          </a:xfrm>
          <a:prstGeom prst="rect">
            <a:avLst/>
          </a:prstGeom>
        </p:spPr>
      </p:pic>
      <p:pic>
        <p:nvPicPr>
          <p:cNvPr id="23" name="Picture 69" descr="Multimodal.png"/>
          <p:cNvPicPr>
            <a:picLocks noChangeAspect="1"/>
          </p:cNvPicPr>
          <p:nvPr/>
        </p:nvPicPr>
        <p:blipFill>
          <a:blip r:embed="rId2"/>
          <a:stretch>
            <a:fillRect/>
          </a:stretch>
        </p:blipFill>
        <p:spPr>
          <a:xfrm>
            <a:off x="6240949" y="1381101"/>
            <a:ext cx="506402" cy="319339"/>
          </a:xfrm>
          <a:prstGeom prst="rect">
            <a:avLst/>
          </a:prstGeom>
        </p:spPr>
      </p:pic>
      <p:cxnSp>
        <p:nvCxnSpPr>
          <p:cNvPr id="24" name="Straight Arrow Connector 73"/>
          <p:cNvCxnSpPr>
            <a:cxnSpLocks/>
            <a:stCxn id="23" idx="1"/>
            <a:endCxn id="19" idx="3"/>
          </p:cNvCxnSpPr>
          <p:nvPr/>
        </p:nvCxnSpPr>
        <p:spPr>
          <a:xfrm flipH="1">
            <a:off x="5599230" y="1540771"/>
            <a:ext cx="641719" cy="0"/>
          </a:xfrm>
          <a:prstGeom prst="straightConnector1">
            <a:avLst/>
          </a:prstGeom>
          <a:ln w="34925">
            <a:solidFill>
              <a:schemeClr val="accent2"/>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5" name="TextBox 18"/>
          <p:cNvSpPr txBox="1"/>
          <p:nvPr/>
        </p:nvSpPr>
        <p:spPr>
          <a:xfrm>
            <a:off x="2204146" y="2335091"/>
            <a:ext cx="1169340" cy="276999"/>
          </a:xfrm>
          <a:prstGeom prst="rect">
            <a:avLst/>
          </a:prstGeom>
          <a:noFill/>
        </p:spPr>
        <p:txBody>
          <a:bodyPr wrap="square" rtlCol="0">
            <a:spAutoFit/>
          </a:bodyPr>
          <a:lstStyle/>
          <a:p>
            <a:pPr algn="ctr"/>
            <a:r>
              <a:rPr lang="en-US" sz="1200" dirty="0"/>
              <a:t>subject #1</a:t>
            </a:r>
          </a:p>
        </p:txBody>
      </p:sp>
      <p:sp>
        <p:nvSpPr>
          <p:cNvPr id="26" name="TextBox 19"/>
          <p:cNvSpPr txBox="1"/>
          <p:nvPr/>
        </p:nvSpPr>
        <p:spPr>
          <a:xfrm>
            <a:off x="3328537" y="2335091"/>
            <a:ext cx="1169340" cy="276999"/>
          </a:xfrm>
          <a:prstGeom prst="rect">
            <a:avLst/>
          </a:prstGeom>
          <a:noFill/>
        </p:spPr>
        <p:txBody>
          <a:bodyPr wrap="square" rtlCol="0">
            <a:spAutoFit/>
          </a:bodyPr>
          <a:lstStyle/>
          <a:p>
            <a:pPr algn="ctr"/>
            <a:r>
              <a:rPr lang="en-US" sz="1200" dirty="0"/>
              <a:t>subject #2</a:t>
            </a:r>
          </a:p>
        </p:txBody>
      </p:sp>
      <p:sp>
        <p:nvSpPr>
          <p:cNvPr id="27" name="TextBox 20"/>
          <p:cNvSpPr txBox="1"/>
          <p:nvPr/>
        </p:nvSpPr>
        <p:spPr>
          <a:xfrm>
            <a:off x="4563041" y="2335091"/>
            <a:ext cx="1169340" cy="276999"/>
          </a:xfrm>
          <a:prstGeom prst="rect">
            <a:avLst/>
          </a:prstGeom>
          <a:noFill/>
        </p:spPr>
        <p:txBody>
          <a:bodyPr wrap="square" rtlCol="0">
            <a:spAutoFit/>
          </a:bodyPr>
          <a:lstStyle/>
          <a:p>
            <a:pPr algn="ctr"/>
            <a:r>
              <a:rPr lang="en-US" sz="1200" dirty="0"/>
              <a:t>subject #3</a:t>
            </a:r>
          </a:p>
        </p:txBody>
      </p:sp>
      <p:sp>
        <p:nvSpPr>
          <p:cNvPr id="28" name="TextBox 21"/>
          <p:cNvSpPr txBox="1"/>
          <p:nvPr/>
        </p:nvSpPr>
        <p:spPr>
          <a:xfrm rot="19585585">
            <a:off x="2445701" y="1428163"/>
            <a:ext cx="1169340" cy="276999"/>
          </a:xfrm>
          <a:prstGeom prst="rect">
            <a:avLst/>
          </a:prstGeom>
          <a:noFill/>
        </p:spPr>
        <p:txBody>
          <a:bodyPr wrap="square" rtlCol="0">
            <a:spAutoFit/>
          </a:bodyPr>
          <a:lstStyle/>
          <a:p>
            <a:pPr algn="ctr"/>
            <a:r>
              <a:rPr lang="en-US" sz="1200" dirty="0"/>
              <a:t>Time (age)</a:t>
            </a:r>
          </a:p>
        </p:txBody>
      </p:sp>
      <p:sp>
        <p:nvSpPr>
          <p:cNvPr id="29" name="TextBox 70"/>
          <p:cNvSpPr txBox="1"/>
          <p:nvPr/>
        </p:nvSpPr>
        <p:spPr>
          <a:xfrm>
            <a:off x="3782688" y="3026493"/>
            <a:ext cx="1910425" cy="600164"/>
          </a:xfrm>
          <a:prstGeom prst="rect">
            <a:avLst/>
          </a:prstGeom>
          <a:noFill/>
          <a:ln>
            <a:noFill/>
          </a:ln>
        </p:spPr>
        <p:txBody>
          <a:bodyPr wrap="square" rtlCol="0" anchor="ctr">
            <a:spAutoFit/>
          </a:bodyPr>
          <a:lstStyle/>
          <a:p>
            <a:pPr algn="ctr"/>
            <a:r>
              <a:rPr lang="en-US" sz="1200" b="1" dirty="0"/>
              <a:t>Regression</a:t>
            </a:r>
          </a:p>
          <a:p>
            <a:pPr algn="ctr"/>
            <a:r>
              <a:rPr lang="en-US" sz="1050" i="1" dirty="0"/>
              <a:t>(e.g. compare measurements at same time-point)</a:t>
            </a:r>
          </a:p>
        </p:txBody>
      </p:sp>
      <p:sp>
        <p:nvSpPr>
          <p:cNvPr id="30" name="TextBox 70"/>
          <p:cNvSpPr txBox="1"/>
          <p:nvPr/>
        </p:nvSpPr>
        <p:spPr>
          <a:xfrm>
            <a:off x="1153181" y="4261101"/>
            <a:ext cx="2583908" cy="600164"/>
          </a:xfrm>
          <a:prstGeom prst="rect">
            <a:avLst/>
          </a:prstGeom>
          <a:noFill/>
          <a:ln>
            <a:noFill/>
          </a:ln>
        </p:spPr>
        <p:txBody>
          <a:bodyPr wrap="square" rtlCol="0" anchor="ctr">
            <a:spAutoFit/>
          </a:bodyPr>
          <a:lstStyle/>
          <a:p>
            <a:pPr algn="ctr"/>
            <a:r>
              <a:rPr lang="en-US" sz="1200" b="1" dirty="0"/>
              <a:t>No temporal marker</a:t>
            </a:r>
            <a:r>
              <a:rPr lang="en-US" sz="1200" dirty="0"/>
              <a:t> of progression</a:t>
            </a:r>
          </a:p>
          <a:p>
            <a:pPr algn="ctr"/>
            <a:r>
              <a:rPr lang="en-US" sz="1050" i="1" dirty="0"/>
              <a:t>(e.g. in aging, neurodegenerative diseases, etc..)</a:t>
            </a:r>
          </a:p>
        </p:txBody>
      </p:sp>
      <p:sp>
        <p:nvSpPr>
          <p:cNvPr id="31" name="TextBox 70"/>
          <p:cNvSpPr txBox="1"/>
          <p:nvPr/>
        </p:nvSpPr>
        <p:spPr>
          <a:xfrm>
            <a:off x="1586597" y="2668813"/>
            <a:ext cx="6172200" cy="300082"/>
          </a:xfrm>
          <a:prstGeom prst="rect">
            <a:avLst/>
          </a:prstGeom>
          <a:noFill/>
          <a:ln>
            <a:noFill/>
          </a:ln>
        </p:spPr>
        <p:txBody>
          <a:bodyPr wrap="square" rtlCol="0">
            <a:spAutoFit/>
          </a:bodyPr>
          <a:lstStyle/>
          <a:p>
            <a:pPr algn="ctr"/>
            <a:r>
              <a:rPr lang="en-US" sz="1350" b="1" dirty="0">
                <a:solidFill>
                  <a:schemeClr val="accent2"/>
                </a:solidFill>
              </a:rPr>
              <a:t>How to learn typical trajectories of data changes from longitudinal data?</a:t>
            </a:r>
          </a:p>
        </p:txBody>
      </p:sp>
      <p:sp>
        <p:nvSpPr>
          <p:cNvPr id="32" name="TextBox 70"/>
          <p:cNvSpPr txBox="1"/>
          <p:nvPr/>
        </p:nvSpPr>
        <p:spPr>
          <a:xfrm>
            <a:off x="3737090" y="4068782"/>
            <a:ext cx="2146127" cy="946413"/>
          </a:xfrm>
          <a:prstGeom prst="rect">
            <a:avLst/>
          </a:prstGeom>
          <a:noFill/>
          <a:ln>
            <a:noFill/>
          </a:ln>
        </p:spPr>
        <p:txBody>
          <a:bodyPr wrap="square" rtlCol="0" anchor="ctr">
            <a:spAutoFit/>
          </a:bodyPr>
          <a:lstStyle/>
          <a:p>
            <a:pPr algn="ctr"/>
            <a:r>
              <a:rPr lang="en-US" sz="1200" dirty="0"/>
              <a:t>Learning </a:t>
            </a:r>
            <a:r>
              <a:rPr lang="en-US" sz="1200" b="1" dirty="0"/>
              <a:t>spatiotemporal distribution </a:t>
            </a:r>
            <a:r>
              <a:rPr lang="en-US" sz="1200" dirty="0"/>
              <a:t>of trajectories</a:t>
            </a:r>
          </a:p>
          <a:p>
            <a:pPr marL="214313" indent="-214313" algn="ctr">
              <a:buFontTx/>
              <a:buChar char="-"/>
            </a:pPr>
            <a:r>
              <a:rPr lang="en-US" sz="1050" i="1" dirty="0"/>
              <a:t>Find temporal correspondences</a:t>
            </a:r>
          </a:p>
          <a:p>
            <a:pPr marL="214313" indent="-214313" algn="ctr">
              <a:buFontTx/>
              <a:buChar char="-"/>
            </a:pPr>
            <a:r>
              <a:rPr lang="en-US" sz="1050" i="1" dirty="0"/>
              <a:t>Compare data at corresponding stages of progression</a:t>
            </a:r>
          </a:p>
        </p:txBody>
      </p:sp>
      <p:sp>
        <p:nvSpPr>
          <p:cNvPr id="33" name="TextBox 70"/>
          <p:cNvSpPr txBox="1"/>
          <p:nvPr/>
        </p:nvSpPr>
        <p:spPr>
          <a:xfrm>
            <a:off x="5693113" y="2998706"/>
            <a:ext cx="2307887" cy="600164"/>
          </a:xfrm>
          <a:prstGeom prst="rect">
            <a:avLst/>
          </a:prstGeom>
          <a:noFill/>
          <a:ln>
            <a:noFill/>
          </a:ln>
        </p:spPr>
        <p:txBody>
          <a:bodyPr wrap="square" rtlCol="0" anchor="ctr">
            <a:spAutoFit/>
          </a:bodyPr>
          <a:lstStyle/>
          <a:p>
            <a:pPr algn="ctr"/>
            <a:r>
              <a:rPr lang="en-US" sz="1200" dirty="0"/>
              <a:t>Linear mixed-effects models</a:t>
            </a:r>
          </a:p>
          <a:p>
            <a:pPr algn="ctr"/>
            <a:r>
              <a:rPr lang="en-US" sz="1050" i="1" dirty="0"/>
              <a:t>[Laird&amp;Ware’82, </a:t>
            </a:r>
            <a:r>
              <a:rPr lang="en-US" sz="1050" i="1" dirty="0" err="1"/>
              <a:t>Diggle</a:t>
            </a:r>
            <a:r>
              <a:rPr lang="en-US" sz="1050" i="1" dirty="0"/>
              <a:t> et al., Fitzmaurice et al.]</a:t>
            </a:r>
          </a:p>
        </p:txBody>
      </p:sp>
      <p:sp>
        <p:nvSpPr>
          <p:cNvPr id="34" name="TextBox 70"/>
          <p:cNvSpPr txBox="1"/>
          <p:nvPr/>
        </p:nvSpPr>
        <p:spPr>
          <a:xfrm>
            <a:off x="5883217" y="4053352"/>
            <a:ext cx="2117783" cy="1015663"/>
          </a:xfrm>
          <a:prstGeom prst="rect">
            <a:avLst/>
          </a:prstGeom>
          <a:noFill/>
          <a:ln>
            <a:noFill/>
          </a:ln>
        </p:spPr>
        <p:txBody>
          <a:bodyPr wrap="square" rtlCol="0" anchor="ctr">
            <a:spAutoFit/>
          </a:bodyPr>
          <a:lstStyle/>
          <a:p>
            <a:pPr algn="ctr"/>
            <a:r>
              <a:rPr lang="en-US" sz="1200" dirty="0"/>
              <a:t>Needs to disentangle differences in:</a:t>
            </a:r>
          </a:p>
          <a:p>
            <a:pPr marL="214313" indent="-214313" algn="ctr">
              <a:buFontTx/>
              <a:buChar char="-"/>
            </a:pPr>
            <a:r>
              <a:rPr lang="en-US" sz="1200" i="1" dirty="0"/>
              <a:t>Measurements </a:t>
            </a:r>
          </a:p>
          <a:p>
            <a:pPr marL="214313" indent="-214313" algn="ctr">
              <a:buFontTx/>
              <a:buChar char="-"/>
            </a:pPr>
            <a:r>
              <a:rPr lang="en-US" sz="1200" i="1" dirty="0"/>
              <a:t>Dynamics of measurement changes</a:t>
            </a:r>
            <a:endParaRPr lang="en-US" sz="1050" i="1" dirty="0"/>
          </a:p>
        </p:txBody>
      </p:sp>
      <p:sp>
        <p:nvSpPr>
          <p:cNvPr id="2" name="Espace réservé du numéro de diapositive 1">
            <a:extLst>
              <a:ext uri="{FF2B5EF4-FFF2-40B4-BE49-F238E27FC236}">
                <a16:creationId xmlns:a16="http://schemas.microsoft.com/office/drawing/2014/main" id="{3A8C6428-292E-4919-E60A-5F82B0E138B3}"/>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11</a:t>
            </a:fld>
            <a:endParaRPr lang="fr-FR"/>
          </a:p>
        </p:txBody>
      </p:sp>
    </p:spTree>
    <p:extLst>
      <p:ext uri="{BB962C8B-B14F-4D97-AF65-F5344CB8AC3E}">
        <p14:creationId xmlns:p14="http://schemas.microsoft.com/office/powerpoint/2010/main" val="135983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2.88295E-7 3.57788E-6 L -0.08215 0.05785 " pathEditMode="relative" rAng="0" ptsTypes="AA">
                                      <p:cBhvr>
                                        <p:cTn id="38" dur="2000" fill="hold"/>
                                        <p:tgtEl>
                                          <p:spTgt spid="24"/>
                                        </p:tgtEl>
                                        <p:attrNameLst>
                                          <p:attrName>ppt_x</p:attrName>
                                          <p:attrName>ppt_y</p:attrName>
                                        </p:attrNameLst>
                                      </p:cBhvr>
                                      <p:rCtr x="-4116" y="2893"/>
                                    </p:animMotion>
                                  </p:childTnLst>
                                </p:cTn>
                              </p:par>
                              <p:par>
                                <p:cTn id="39" presetID="0" presetClass="path" presetSubtype="0" accel="50000" decel="50000" fill="hold" nodeType="withEffect">
                                  <p:stCondLst>
                                    <p:cond delay="0"/>
                                  </p:stCondLst>
                                  <p:childTnLst>
                                    <p:animMotion origin="layout" path="M 1.66667E-6 -3.33333E-6 L -0.08351 0.05811 " pathEditMode="relative" rAng="0" ptsTypes="AA">
                                      <p:cBhvr>
                                        <p:cTn id="40" dur="2000" fill="hold"/>
                                        <p:tgtEl>
                                          <p:spTgt spid="23"/>
                                        </p:tgtEl>
                                        <p:attrNameLst>
                                          <p:attrName>ppt_x</p:attrName>
                                          <p:attrName>ppt_y</p:attrName>
                                        </p:attrNameLst>
                                      </p:cBhvr>
                                      <p:rCtr x="-4184" y="2894"/>
                                    </p:animMotion>
                                  </p:childTnLst>
                                </p:cTn>
                              </p:par>
                              <p:par>
                                <p:cTn id="41" presetID="0" presetClass="path" presetSubtype="0" accel="50000" decel="50000" fill="hold" nodeType="withEffect">
                                  <p:stCondLst>
                                    <p:cond delay="0"/>
                                  </p:stCondLst>
                                  <p:childTnLst>
                                    <p:animMotion origin="layout" path="M 0.00573 2.36288E-6 L -0.10941 0.07961 " pathEditMode="relative" rAng="0" ptsTypes="AA">
                                      <p:cBhvr>
                                        <p:cTn id="42" dur="2000" fill="hold"/>
                                        <p:tgtEl>
                                          <p:spTgt spid="22"/>
                                        </p:tgtEl>
                                        <p:attrNameLst>
                                          <p:attrName>ppt_x</p:attrName>
                                          <p:attrName>ppt_y</p:attrName>
                                        </p:attrNameLst>
                                      </p:cBhvr>
                                      <p:rCtr x="-5766" y="3981"/>
                                    </p:animMotion>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34"/>
                                        </p:tgtEl>
                                      </p:cBhvr>
                                    </p:animEffect>
                                    <p:set>
                                      <p:cBhvr>
                                        <p:cTn id="52"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9" grpId="0"/>
      <p:bldP spid="30" grpId="0"/>
      <p:bldP spid="31" grpId="0"/>
      <p:bldP spid="32" grpId="0"/>
      <p:bldP spid="33" grpId="0"/>
      <p:bldP spid="34" grpId="0"/>
      <p:bldP spid="3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376048" y="192705"/>
            <a:ext cx="6010275" cy="369743"/>
          </a:xfrm>
        </p:spPr>
        <p:txBody>
          <a:bodyPr>
            <a:normAutofit fontScale="92500" lnSpcReduction="20000"/>
          </a:bodyPr>
          <a:lstStyle/>
          <a:p>
            <a:r>
              <a:rPr lang="en-US" sz="1600" dirty="0"/>
              <a:t>Hierarchical model</a:t>
            </a:r>
          </a:p>
        </p:txBody>
      </p:sp>
      <p:pic>
        <p:nvPicPr>
          <p:cNvPr id="6" name="Image 1"/>
          <p:cNvPicPr>
            <a:picLocks noChangeAspect="1"/>
          </p:cNvPicPr>
          <p:nvPr/>
        </p:nvPicPr>
        <p:blipFill rotWithShape="1">
          <a:blip r:embed="rId2"/>
          <a:srcRect b="59895"/>
          <a:stretch/>
        </p:blipFill>
        <p:spPr>
          <a:xfrm>
            <a:off x="562050" y="682904"/>
            <a:ext cx="5362143" cy="1756191"/>
          </a:xfrm>
          <a:prstGeom prst="rect">
            <a:avLst/>
          </a:prstGeom>
        </p:spPr>
      </p:pic>
      <mc:AlternateContent xmlns:mc="http://schemas.openxmlformats.org/markup-compatibility/2006" xmlns:a14="http://schemas.microsoft.com/office/drawing/2010/main">
        <mc:Choice Requires="a14">
          <p:sp>
            <p:nvSpPr>
              <p:cNvPr id="10" name="ZoneTexte 5"/>
              <p:cNvSpPr txBox="1"/>
              <p:nvPr/>
            </p:nvSpPr>
            <p:spPr>
              <a:xfrm>
                <a:off x="6110200" y="797484"/>
                <a:ext cx="2315285" cy="584775"/>
              </a:xfrm>
              <a:prstGeom prst="rect">
                <a:avLst/>
              </a:prstGeom>
              <a:noFill/>
            </p:spPr>
            <p:txBody>
              <a:bodyPr wrap="square" rtlCol="0">
                <a:spAutoFit/>
              </a:bodyPr>
              <a:lstStyle/>
              <a:p>
                <a14:m>
                  <m:oMath xmlns:m="http://schemas.openxmlformats.org/officeDocument/2006/math">
                    <m:r>
                      <a:rPr lang="fr-FR" sz="1600" i="1">
                        <a:solidFill>
                          <a:srgbClr val="702082"/>
                        </a:solidFill>
                        <a:latin typeface="Cambria Math" panose="02040503050406030204" pitchFamily="18" charset="0"/>
                      </a:rPr>
                      <m:t>→</m:t>
                    </m:r>
                  </m:oMath>
                </a14:m>
                <a:r>
                  <a:rPr lang="fr-FR" sz="1600" dirty="0">
                    <a:solidFill>
                      <a:srgbClr val="702082"/>
                    </a:solidFill>
                    <a:latin typeface="Lucida Sans" panose="020B0602030504020204" pitchFamily="34" charset="0"/>
                  </a:rPr>
                  <a:t> </a:t>
                </a:r>
                <a:r>
                  <a:rPr lang="fr-FR" sz="1600" dirty="0" err="1">
                    <a:solidFill>
                      <a:srgbClr val="702082"/>
                    </a:solidFill>
                  </a:rPr>
                  <a:t>Geodesic</a:t>
                </a:r>
                <a:r>
                  <a:rPr lang="fr-FR" sz="1600" dirty="0">
                    <a:solidFill>
                      <a:srgbClr val="702082"/>
                    </a:solidFill>
                  </a:rPr>
                  <a:t> on a </a:t>
                </a:r>
                <a:r>
                  <a:rPr lang="fr-FR" sz="1600" dirty="0" err="1">
                    <a:solidFill>
                      <a:srgbClr val="702082"/>
                    </a:solidFill>
                  </a:rPr>
                  <a:t>Riemannian</a:t>
                </a:r>
                <a:r>
                  <a:rPr lang="fr-FR" sz="1600" dirty="0">
                    <a:solidFill>
                      <a:srgbClr val="702082"/>
                    </a:solidFill>
                  </a:rPr>
                  <a:t> manifold </a:t>
                </a:r>
                <a14:m>
                  <m:oMath xmlns:m="http://schemas.openxmlformats.org/officeDocument/2006/math">
                    <m:r>
                      <a:rPr lang="fr-FR" sz="1600" i="1">
                        <a:solidFill>
                          <a:srgbClr val="702082"/>
                        </a:solidFill>
                        <a:latin typeface="Cambria Math" charset="0"/>
                      </a:rPr>
                      <m:t>𝕄</m:t>
                    </m:r>
                  </m:oMath>
                </a14:m>
                <a:endParaRPr lang="fr-FR" sz="1600" dirty="0">
                  <a:solidFill>
                    <a:srgbClr val="702082"/>
                  </a:solidFill>
                </a:endParaRPr>
              </a:p>
            </p:txBody>
          </p:sp>
        </mc:Choice>
        <mc:Fallback xmlns="">
          <p:sp>
            <p:nvSpPr>
              <p:cNvPr id="10" name="ZoneTexte 5"/>
              <p:cNvSpPr txBox="1">
                <a:spLocks noRot="1" noChangeAspect="1" noMove="1" noResize="1" noEditPoints="1" noAdjustHandles="1" noChangeArrowheads="1" noChangeShapeType="1" noTextEdit="1"/>
              </p:cNvSpPr>
              <p:nvPr/>
            </p:nvSpPr>
            <p:spPr>
              <a:xfrm>
                <a:off x="6110200" y="797484"/>
                <a:ext cx="2315285" cy="584775"/>
              </a:xfrm>
              <a:prstGeom prst="rect">
                <a:avLst/>
              </a:prstGeom>
              <a:blipFill>
                <a:blip r:embed="rId3"/>
                <a:stretch>
                  <a:fillRect l="-1087" t="-2128" b="-12766"/>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11" name="ZoneTexte 6"/>
              <p:cNvSpPr txBox="1"/>
              <p:nvPr/>
            </p:nvSpPr>
            <p:spPr>
              <a:xfrm>
                <a:off x="6110200" y="2626139"/>
                <a:ext cx="2315285" cy="584775"/>
              </a:xfrm>
              <a:prstGeom prst="rect">
                <a:avLst/>
              </a:prstGeom>
              <a:noFill/>
            </p:spPr>
            <p:txBody>
              <a:bodyPr wrap="square" rtlCol="0">
                <a:spAutoFit/>
              </a:bodyPr>
              <a:lstStyle/>
              <a:p>
                <a14:m>
                  <m:oMath xmlns:m="http://schemas.openxmlformats.org/officeDocument/2006/math">
                    <m:r>
                      <a:rPr lang="fr-FR" sz="1600" i="1">
                        <a:solidFill>
                          <a:srgbClr val="702082"/>
                        </a:solidFill>
                        <a:latin typeface="Cambria Math" panose="02040503050406030204" pitchFamily="18" charset="0"/>
                      </a:rPr>
                      <m:t>→</m:t>
                    </m:r>
                  </m:oMath>
                </a14:m>
                <a:r>
                  <a:rPr lang="fr-FR" sz="1600" dirty="0">
                    <a:solidFill>
                      <a:srgbClr val="702082"/>
                    </a:solidFill>
                    <a:latin typeface="Lucida Sans" panose="020B0602030504020204" pitchFamily="34" charset="0"/>
                  </a:rPr>
                  <a:t> </a:t>
                </a:r>
                <a:r>
                  <a:rPr lang="fr-FR" sz="1600" dirty="0" err="1">
                    <a:solidFill>
                      <a:srgbClr val="702082"/>
                    </a:solidFill>
                  </a:rPr>
                  <a:t>Spatiotemporal</a:t>
                </a:r>
                <a:r>
                  <a:rPr lang="fr-FR" sz="1600" dirty="0">
                    <a:solidFill>
                      <a:srgbClr val="702082"/>
                    </a:solidFill>
                  </a:rPr>
                  <a:t> </a:t>
                </a:r>
                <a:r>
                  <a:rPr lang="fr-FR" sz="1600" dirty="0" err="1">
                    <a:solidFill>
                      <a:srgbClr val="702082"/>
                    </a:solidFill>
                  </a:rPr>
                  <a:t>transform</a:t>
                </a:r>
                <a:r>
                  <a:rPr lang="fr-FR" sz="1600" dirty="0">
                    <a:solidFill>
                      <a:srgbClr val="702082"/>
                    </a:solidFill>
                  </a:rPr>
                  <a:t> of </a:t>
                </a:r>
                <a:r>
                  <a:rPr lang="fr-FR" sz="1600" dirty="0" err="1">
                    <a:solidFill>
                      <a:srgbClr val="702082"/>
                    </a:solidFill>
                  </a:rPr>
                  <a:t>trajectory</a:t>
                </a:r>
                <a:endParaRPr lang="fr-FR" sz="1600" dirty="0">
                  <a:solidFill>
                    <a:srgbClr val="702082"/>
                  </a:solidFill>
                </a:endParaRPr>
              </a:p>
            </p:txBody>
          </p:sp>
        </mc:Choice>
        <mc:Fallback xmlns="">
          <p:sp>
            <p:nvSpPr>
              <p:cNvPr id="11" name="ZoneTexte 6"/>
              <p:cNvSpPr txBox="1">
                <a:spLocks noRot="1" noChangeAspect="1" noMove="1" noResize="1" noEditPoints="1" noAdjustHandles="1" noChangeArrowheads="1" noChangeShapeType="1" noTextEdit="1"/>
              </p:cNvSpPr>
              <p:nvPr/>
            </p:nvSpPr>
            <p:spPr>
              <a:xfrm>
                <a:off x="6110200" y="2626139"/>
                <a:ext cx="2315285" cy="584775"/>
              </a:xfrm>
              <a:prstGeom prst="rect">
                <a:avLst/>
              </a:prstGeom>
              <a:blipFill>
                <a:blip r:embed="rId4"/>
                <a:stretch>
                  <a:fillRect l="-1087" t="-2128" b="-12766"/>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12" name="ZoneTexte 6"/>
              <p:cNvSpPr txBox="1"/>
              <p:nvPr/>
            </p:nvSpPr>
            <p:spPr>
              <a:xfrm>
                <a:off x="6110199" y="4468592"/>
                <a:ext cx="2315286" cy="584775"/>
              </a:xfrm>
              <a:prstGeom prst="rect">
                <a:avLst/>
              </a:prstGeom>
              <a:noFill/>
            </p:spPr>
            <p:txBody>
              <a:bodyPr wrap="square" rtlCol="0">
                <a:spAutoFit/>
              </a:bodyPr>
              <a:lstStyle/>
              <a:p>
                <a14:m>
                  <m:oMath xmlns:m="http://schemas.openxmlformats.org/officeDocument/2006/math">
                    <m:r>
                      <a:rPr lang="fr-FR" sz="1600" i="1">
                        <a:solidFill>
                          <a:srgbClr val="702082"/>
                        </a:solidFill>
                        <a:latin typeface="Cambria Math" panose="02040503050406030204" pitchFamily="18" charset="0"/>
                      </a:rPr>
                      <m:t>→</m:t>
                    </m:r>
                  </m:oMath>
                </a14:m>
                <a:r>
                  <a:rPr lang="fr-FR" sz="1600" dirty="0">
                    <a:solidFill>
                      <a:srgbClr val="702082"/>
                    </a:solidFill>
                    <a:latin typeface="Lucida Sans" panose="020B0602030504020204" pitchFamily="34" charset="0"/>
                  </a:rPr>
                  <a:t> </a:t>
                </a:r>
                <a:r>
                  <a:rPr lang="fr-FR" sz="1600" dirty="0">
                    <a:solidFill>
                      <a:srgbClr val="702082"/>
                    </a:solidFill>
                  </a:rPr>
                  <a:t>data point </a:t>
                </a:r>
                <a:r>
                  <a:rPr lang="fr-FR" sz="1600" dirty="0" err="1">
                    <a:solidFill>
                      <a:srgbClr val="702082"/>
                    </a:solidFill>
                  </a:rPr>
                  <a:t>lying</a:t>
                </a:r>
                <a:r>
                  <a:rPr lang="fr-FR" sz="1600" dirty="0">
                    <a:solidFill>
                      <a:srgbClr val="702082"/>
                    </a:solidFill>
                  </a:rPr>
                  <a:t> on a </a:t>
                </a:r>
                <a:r>
                  <a:rPr lang="fr-FR" sz="1600" dirty="0" err="1">
                    <a:solidFill>
                      <a:srgbClr val="702082"/>
                    </a:solidFill>
                  </a:rPr>
                  <a:t>sub-Riemannian</a:t>
                </a:r>
                <a:r>
                  <a:rPr lang="fr-FR" sz="1600" dirty="0">
                    <a:solidFill>
                      <a:srgbClr val="702082"/>
                    </a:solidFill>
                  </a:rPr>
                  <a:t> manifold</a:t>
                </a:r>
              </a:p>
            </p:txBody>
          </p:sp>
        </mc:Choice>
        <mc:Fallback xmlns="">
          <p:sp>
            <p:nvSpPr>
              <p:cNvPr id="12" name="ZoneTexte 6"/>
              <p:cNvSpPr txBox="1">
                <a:spLocks noRot="1" noChangeAspect="1" noMove="1" noResize="1" noEditPoints="1" noAdjustHandles="1" noChangeArrowheads="1" noChangeShapeType="1" noTextEdit="1"/>
              </p:cNvSpPr>
              <p:nvPr/>
            </p:nvSpPr>
            <p:spPr>
              <a:xfrm>
                <a:off x="6110199" y="4468592"/>
                <a:ext cx="2315286" cy="584775"/>
              </a:xfrm>
              <a:prstGeom prst="rect">
                <a:avLst/>
              </a:prstGeom>
              <a:blipFill>
                <a:blip r:embed="rId5"/>
                <a:stretch>
                  <a:fillRect l="-1087" t="-2128" r="-543" b="-12766"/>
                </a:stretch>
              </a:blipFill>
            </p:spPr>
            <p:txBody>
              <a:bodyPr/>
              <a:lstStyle/>
              <a:p>
                <a:r>
                  <a:rPr lang="en-FR">
                    <a:noFill/>
                  </a:rPr>
                  <a:t> </a:t>
                </a:r>
              </a:p>
            </p:txBody>
          </p:sp>
        </mc:Fallback>
      </mc:AlternateContent>
      <p:sp>
        <p:nvSpPr>
          <p:cNvPr id="2" name="Espace réservé du numéro de diapositive 1">
            <a:extLst>
              <a:ext uri="{FF2B5EF4-FFF2-40B4-BE49-F238E27FC236}">
                <a16:creationId xmlns:a16="http://schemas.microsoft.com/office/drawing/2014/main" id="{6A4A2B5E-69F5-E77C-2244-6A16C6376F4F}"/>
              </a:ext>
            </a:extLst>
          </p:cNvPr>
          <p:cNvSpPr>
            <a:spLocks noGrp="1"/>
          </p:cNvSpPr>
          <p:nvPr>
            <p:ph type="sldNum" sz="quarter" idx="12"/>
          </p:nvPr>
        </p:nvSpPr>
        <p:spPr>
          <a:xfrm>
            <a:off x="6553200" y="4774948"/>
            <a:ext cx="2133600" cy="273844"/>
          </a:xfrm>
        </p:spPr>
        <p:txBody>
          <a:bodyPr/>
          <a:lstStyle/>
          <a:p>
            <a:fld id="{B6E69D5D-3C54-E347-B3D4-70BDFA7C6521}" type="slidenum">
              <a:rPr lang="fr-FR" smtClean="0"/>
              <a:t>12</a:t>
            </a:fld>
            <a:endParaRPr lang="fr-FR"/>
          </a:p>
        </p:txBody>
      </p:sp>
      <p:pic>
        <p:nvPicPr>
          <p:cNvPr id="3" name="Image 1">
            <a:extLst>
              <a:ext uri="{FF2B5EF4-FFF2-40B4-BE49-F238E27FC236}">
                <a16:creationId xmlns:a16="http://schemas.microsoft.com/office/drawing/2014/main" id="{F81596CF-DDC2-23A0-64FD-DE1326C2D50B}"/>
              </a:ext>
            </a:extLst>
          </p:cNvPr>
          <p:cNvPicPr>
            <a:picLocks noChangeAspect="1"/>
          </p:cNvPicPr>
          <p:nvPr/>
        </p:nvPicPr>
        <p:blipFill rotWithShape="1">
          <a:blip r:embed="rId2"/>
          <a:srcRect t="41092" b="16834"/>
          <a:stretch/>
        </p:blipFill>
        <p:spPr>
          <a:xfrm>
            <a:off x="562052" y="2430524"/>
            <a:ext cx="5362143" cy="1842453"/>
          </a:xfrm>
          <a:prstGeom prst="rect">
            <a:avLst/>
          </a:prstGeom>
        </p:spPr>
      </p:pic>
      <p:pic>
        <p:nvPicPr>
          <p:cNvPr id="4" name="Image 1">
            <a:extLst>
              <a:ext uri="{FF2B5EF4-FFF2-40B4-BE49-F238E27FC236}">
                <a16:creationId xmlns:a16="http://schemas.microsoft.com/office/drawing/2014/main" id="{A23115C8-D56B-CD75-D3EC-84252AB15178}"/>
              </a:ext>
            </a:extLst>
          </p:cNvPr>
          <p:cNvPicPr>
            <a:picLocks noChangeAspect="1"/>
          </p:cNvPicPr>
          <p:nvPr/>
        </p:nvPicPr>
        <p:blipFill rotWithShape="1">
          <a:blip r:embed="rId2"/>
          <a:srcRect t="84153"/>
          <a:stretch/>
        </p:blipFill>
        <p:spPr>
          <a:xfrm>
            <a:off x="562051" y="4203856"/>
            <a:ext cx="5362143" cy="693959"/>
          </a:xfrm>
          <a:prstGeom prst="rect">
            <a:avLst/>
          </a:prstGeom>
        </p:spPr>
      </p:pic>
    </p:spTree>
    <p:extLst>
      <p:ext uri="{BB962C8B-B14F-4D97-AF65-F5344CB8AC3E}">
        <p14:creationId xmlns:p14="http://schemas.microsoft.com/office/powerpoint/2010/main" val="194982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ientists can now simulate curved space-time in a lab - ExtremeTech">
            <a:extLst>
              <a:ext uri="{FF2B5EF4-FFF2-40B4-BE49-F238E27FC236}">
                <a16:creationId xmlns:a16="http://schemas.microsoft.com/office/drawing/2014/main" id="{9254A275-9B59-AD4F-8DEF-0204DDC06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83" y="381000"/>
            <a:ext cx="3635952" cy="20111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E336025-0619-BE4A-8705-07047C126CE1}"/>
              </a:ext>
            </a:extLst>
          </p:cNvPr>
          <p:cNvSpPr txBox="1"/>
          <p:nvPr/>
        </p:nvSpPr>
        <p:spPr>
          <a:xfrm>
            <a:off x="338183" y="2377440"/>
            <a:ext cx="1484509" cy="276999"/>
          </a:xfrm>
          <a:prstGeom prst="rect">
            <a:avLst/>
          </a:prstGeom>
          <a:noFill/>
        </p:spPr>
        <p:txBody>
          <a:bodyPr wrap="none" rtlCol="0">
            <a:spAutoFit/>
          </a:bodyPr>
          <a:lstStyle/>
          <a:p>
            <a:r>
              <a:rPr lang="en-FR" sz="1200" dirty="0"/>
              <a:t>source: extermeTech</a:t>
            </a:r>
          </a:p>
        </p:txBody>
      </p:sp>
      <p:pic>
        <p:nvPicPr>
          <p:cNvPr id="7" name="Picture 6">
            <a:extLst>
              <a:ext uri="{FF2B5EF4-FFF2-40B4-BE49-F238E27FC236}">
                <a16:creationId xmlns:a16="http://schemas.microsoft.com/office/drawing/2014/main" id="{040786F8-4FCB-324E-ADDB-378D745B979E}"/>
              </a:ext>
            </a:extLst>
          </p:cNvPr>
          <p:cNvPicPr>
            <a:picLocks noChangeAspect="1"/>
          </p:cNvPicPr>
          <p:nvPr/>
        </p:nvPicPr>
        <p:blipFill>
          <a:blip r:embed="rId4"/>
          <a:stretch>
            <a:fillRect/>
          </a:stretch>
        </p:blipFill>
        <p:spPr>
          <a:xfrm>
            <a:off x="4441372" y="521063"/>
            <a:ext cx="914400" cy="469900"/>
          </a:xfrm>
          <a:prstGeom prst="rect">
            <a:avLst/>
          </a:prstGeom>
        </p:spPr>
      </p:pic>
      <p:sp>
        <p:nvSpPr>
          <p:cNvPr id="8" name="TextBox 7">
            <a:extLst>
              <a:ext uri="{FF2B5EF4-FFF2-40B4-BE49-F238E27FC236}">
                <a16:creationId xmlns:a16="http://schemas.microsoft.com/office/drawing/2014/main" id="{88793F35-6798-B740-AACE-A385FE1E1CC3}"/>
              </a:ext>
            </a:extLst>
          </p:cNvPr>
          <p:cNvSpPr txBox="1"/>
          <p:nvPr/>
        </p:nvSpPr>
        <p:spPr>
          <a:xfrm>
            <a:off x="5695406" y="381000"/>
            <a:ext cx="3110411" cy="646331"/>
          </a:xfrm>
          <a:prstGeom prst="rect">
            <a:avLst/>
          </a:prstGeom>
          <a:noFill/>
        </p:spPr>
        <p:txBody>
          <a:bodyPr wrap="square" rtlCol="0">
            <a:spAutoFit/>
          </a:bodyPr>
          <a:lstStyle/>
          <a:p>
            <a:r>
              <a:rPr lang="en-FR" dirty="0"/>
              <a:t>The metric: a positive-definite matrix at each point x</a:t>
            </a:r>
          </a:p>
        </p:txBody>
      </p:sp>
      <p:pic>
        <p:nvPicPr>
          <p:cNvPr id="9" name="Picture 8">
            <a:extLst>
              <a:ext uri="{FF2B5EF4-FFF2-40B4-BE49-F238E27FC236}">
                <a16:creationId xmlns:a16="http://schemas.microsoft.com/office/drawing/2014/main" id="{9FDFA0C6-5AEC-554C-A8DE-ED94B34B1343}"/>
              </a:ext>
            </a:extLst>
          </p:cNvPr>
          <p:cNvPicPr>
            <a:picLocks noChangeAspect="1"/>
          </p:cNvPicPr>
          <p:nvPr/>
        </p:nvPicPr>
        <p:blipFill>
          <a:blip r:embed="rId5"/>
          <a:stretch>
            <a:fillRect/>
          </a:stretch>
        </p:blipFill>
        <p:spPr>
          <a:xfrm>
            <a:off x="4441372" y="1606006"/>
            <a:ext cx="1943100" cy="520700"/>
          </a:xfrm>
          <a:prstGeom prst="rect">
            <a:avLst/>
          </a:prstGeom>
        </p:spPr>
      </p:pic>
      <p:sp>
        <p:nvSpPr>
          <p:cNvPr id="11" name="TextBox 10">
            <a:extLst>
              <a:ext uri="{FF2B5EF4-FFF2-40B4-BE49-F238E27FC236}">
                <a16:creationId xmlns:a16="http://schemas.microsoft.com/office/drawing/2014/main" id="{98509DCE-472C-2246-AFF3-ED79D9DB4373}"/>
              </a:ext>
            </a:extLst>
          </p:cNvPr>
          <p:cNvSpPr txBox="1"/>
          <p:nvPr/>
        </p:nvSpPr>
        <p:spPr>
          <a:xfrm>
            <a:off x="6650084" y="1371421"/>
            <a:ext cx="2434046" cy="1200329"/>
          </a:xfrm>
          <a:prstGeom prst="rect">
            <a:avLst/>
          </a:prstGeom>
          <a:noFill/>
        </p:spPr>
        <p:txBody>
          <a:bodyPr wrap="square" rtlCol="0">
            <a:spAutoFit/>
          </a:bodyPr>
          <a:lstStyle/>
          <a:p>
            <a:r>
              <a:rPr lang="en-FR" dirty="0"/>
              <a:t>T</a:t>
            </a:r>
            <a:r>
              <a:rPr lang="en-GB" dirty="0"/>
              <a:t>h</a:t>
            </a:r>
            <a:r>
              <a:rPr lang="en-FR" dirty="0"/>
              <a:t>e inner-product between two vectors P and Q on the tangent plane at point x</a:t>
            </a:r>
          </a:p>
        </p:txBody>
      </p:sp>
      <p:sp>
        <p:nvSpPr>
          <p:cNvPr id="13" name="TextBox 12">
            <a:extLst>
              <a:ext uri="{FF2B5EF4-FFF2-40B4-BE49-F238E27FC236}">
                <a16:creationId xmlns:a16="http://schemas.microsoft.com/office/drawing/2014/main" id="{DB85019B-B5D9-AB4D-AAE0-80CE9FD2F769}"/>
              </a:ext>
            </a:extLst>
          </p:cNvPr>
          <p:cNvSpPr txBox="1"/>
          <p:nvPr/>
        </p:nvSpPr>
        <p:spPr>
          <a:xfrm>
            <a:off x="4138749" y="2988502"/>
            <a:ext cx="4667068" cy="646331"/>
          </a:xfrm>
          <a:prstGeom prst="rect">
            <a:avLst/>
          </a:prstGeom>
          <a:noFill/>
        </p:spPr>
        <p:txBody>
          <a:bodyPr wrap="square" rtlCol="0">
            <a:spAutoFit/>
          </a:bodyPr>
          <a:lstStyle/>
          <a:p>
            <a:r>
              <a:rPr lang="fr-FR" dirty="0" err="1"/>
              <a:t>Kinetic</a:t>
            </a:r>
            <a:r>
              <a:rPr lang="fr-FR" dirty="0"/>
              <a:t> </a:t>
            </a:r>
            <a:r>
              <a:rPr lang="fr-FR" dirty="0" err="1"/>
              <a:t>energy</a:t>
            </a:r>
            <a:r>
              <a:rPr lang="fr-FR" dirty="0"/>
              <a:t> (</a:t>
            </a:r>
            <a:r>
              <a:rPr lang="fr-FR" dirty="0" err="1"/>
              <a:t>Hamiltonian</a:t>
            </a:r>
            <a:r>
              <a:rPr lang="fr-FR" dirty="0"/>
              <a:t>) of a particule at position x </a:t>
            </a:r>
            <a:r>
              <a:rPr lang="fr-FR" dirty="0" err="1"/>
              <a:t>with</a:t>
            </a:r>
            <a:r>
              <a:rPr lang="fr-FR" dirty="0"/>
              <a:t> </a:t>
            </a:r>
            <a:r>
              <a:rPr lang="fr-FR" dirty="0" err="1"/>
              <a:t>momentum</a:t>
            </a:r>
            <a:r>
              <a:rPr lang="fr-FR" dirty="0"/>
              <a:t> q</a:t>
            </a:r>
            <a:endParaRPr lang="en-FR" dirty="0"/>
          </a:p>
        </p:txBody>
      </p:sp>
      <p:sp>
        <p:nvSpPr>
          <p:cNvPr id="17" name="TextBox 16">
            <a:extLst>
              <a:ext uri="{FF2B5EF4-FFF2-40B4-BE49-F238E27FC236}">
                <a16:creationId xmlns:a16="http://schemas.microsoft.com/office/drawing/2014/main" id="{1FF0120F-E488-9B49-983E-ED090ECCCFB4}"/>
              </a:ext>
            </a:extLst>
          </p:cNvPr>
          <p:cNvSpPr txBox="1"/>
          <p:nvPr/>
        </p:nvSpPr>
        <p:spPr>
          <a:xfrm>
            <a:off x="4138749" y="4172700"/>
            <a:ext cx="4667068" cy="923330"/>
          </a:xfrm>
          <a:prstGeom prst="rect">
            <a:avLst/>
          </a:prstGeom>
          <a:noFill/>
        </p:spPr>
        <p:txBody>
          <a:bodyPr wrap="square" rtlCol="0">
            <a:spAutoFit/>
          </a:bodyPr>
          <a:lstStyle/>
          <a:p>
            <a:r>
              <a:rPr lang="fr-FR" dirty="0"/>
              <a:t>Equations of motion (</a:t>
            </a:r>
            <a:r>
              <a:rPr lang="fr-FR" dirty="0" err="1"/>
              <a:t>geodesics</a:t>
            </a:r>
            <a:r>
              <a:rPr lang="fr-FR" dirty="0"/>
              <a:t>) for a </a:t>
            </a:r>
            <a:r>
              <a:rPr lang="fr-FR" dirty="0" err="1"/>
              <a:t>particle</a:t>
            </a:r>
            <a:r>
              <a:rPr lang="fr-FR" dirty="0"/>
              <a:t> </a:t>
            </a:r>
            <a:r>
              <a:rPr lang="fr-FR" dirty="0" err="1"/>
              <a:t>starting</a:t>
            </a:r>
            <a:r>
              <a:rPr lang="fr-FR" dirty="0"/>
              <a:t> at </a:t>
            </a:r>
            <a:r>
              <a:rPr lang="fr-FR" dirty="0" err="1"/>
              <a:t>some</a:t>
            </a:r>
            <a:r>
              <a:rPr lang="fr-FR" dirty="0"/>
              <a:t> initial position x</a:t>
            </a:r>
            <a:r>
              <a:rPr lang="fr-FR" baseline="-25000" dirty="0"/>
              <a:t>0</a:t>
            </a:r>
            <a:r>
              <a:rPr lang="fr-FR" dirty="0"/>
              <a:t> </a:t>
            </a:r>
            <a:r>
              <a:rPr lang="fr-FR" dirty="0" err="1"/>
              <a:t>with</a:t>
            </a:r>
            <a:r>
              <a:rPr lang="fr-FR" dirty="0"/>
              <a:t> initial </a:t>
            </a:r>
            <a:r>
              <a:rPr lang="fr-FR" dirty="0" err="1"/>
              <a:t>momentum</a:t>
            </a:r>
            <a:r>
              <a:rPr lang="fr-FR" dirty="0"/>
              <a:t> q</a:t>
            </a:r>
            <a:r>
              <a:rPr lang="fr-FR" baseline="-25000" dirty="0"/>
              <a:t>0</a:t>
            </a:r>
            <a:endParaRPr lang="en-FR" baseline="-25000" dirty="0"/>
          </a:p>
        </p:txBody>
      </p:sp>
      <p:pic>
        <p:nvPicPr>
          <p:cNvPr id="16" name="Picture 15">
            <a:extLst>
              <a:ext uri="{FF2B5EF4-FFF2-40B4-BE49-F238E27FC236}">
                <a16:creationId xmlns:a16="http://schemas.microsoft.com/office/drawing/2014/main" id="{25DCA927-AA48-754E-971F-0F54F9000A65}"/>
              </a:ext>
            </a:extLst>
          </p:cNvPr>
          <p:cNvPicPr>
            <a:picLocks noChangeAspect="1"/>
          </p:cNvPicPr>
          <p:nvPr/>
        </p:nvPicPr>
        <p:blipFill>
          <a:blip r:embed="rId6"/>
          <a:stretch>
            <a:fillRect/>
          </a:stretch>
        </p:blipFill>
        <p:spPr>
          <a:xfrm>
            <a:off x="2285062" y="4227581"/>
            <a:ext cx="1270000" cy="698500"/>
          </a:xfrm>
          <a:prstGeom prst="rect">
            <a:avLst/>
          </a:prstGeom>
        </p:spPr>
      </p:pic>
      <p:pic>
        <p:nvPicPr>
          <p:cNvPr id="24" name="Picture 23">
            <a:extLst>
              <a:ext uri="{FF2B5EF4-FFF2-40B4-BE49-F238E27FC236}">
                <a16:creationId xmlns:a16="http://schemas.microsoft.com/office/drawing/2014/main" id="{E5AE7960-CBA9-8E4B-A318-6941C124727B}"/>
              </a:ext>
            </a:extLst>
          </p:cNvPr>
          <p:cNvPicPr>
            <a:picLocks noChangeAspect="1"/>
          </p:cNvPicPr>
          <p:nvPr/>
        </p:nvPicPr>
        <p:blipFill>
          <a:blip r:embed="rId7"/>
          <a:stretch>
            <a:fillRect/>
          </a:stretch>
        </p:blipFill>
        <p:spPr>
          <a:xfrm>
            <a:off x="540687" y="4227581"/>
            <a:ext cx="1079500" cy="698500"/>
          </a:xfrm>
          <a:prstGeom prst="rect">
            <a:avLst/>
          </a:prstGeom>
        </p:spPr>
      </p:pic>
      <p:pic>
        <p:nvPicPr>
          <p:cNvPr id="25" name="Picture 24">
            <a:extLst>
              <a:ext uri="{FF2B5EF4-FFF2-40B4-BE49-F238E27FC236}">
                <a16:creationId xmlns:a16="http://schemas.microsoft.com/office/drawing/2014/main" id="{148DA118-E1E0-E440-BFCC-BB73E8F2AFDE}"/>
              </a:ext>
            </a:extLst>
          </p:cNvPr>
          <p:cNvPicPr>
            <a:picLocks noChangeAspect="1"/>
          </p:cNvPicPr>
          <p:nvPr/>
        </p:nvPicPr>
        <p:blipFill>
          <a:blip r:embed="rId8"/>
          <a:stretch>
            <a:fillRect/>
          </a:stretch>
        </p:blipFill>
        <p:spPr>
          <a:xfrm>
            <a:off x="462113" y="3007155"/>
            <a:ext cx="3216879" cy="663089"/>
          </a:xfrm>
          <a:prstGeom prst="rect">
            <a:avLst/>
          </a:prstGeom>
        </p:spPr>
      </p:pic>
      <p:sp>
        <p:nvSpPr>
          <p:cNvPr id="2" name="Espace réservé du numéro de diapositive 1">
            <a:extLst>
              <a:ext uri="{FF2B5EF4-FFF2-40B4-BE49-F238E27FC236}">
                <a16:creationId xmlns:a16="http://schemas.microsoft.com/office/drawing/2014/main" id="{04157CAC-6FAA-0B5B-CBEF-3289968ABF96}"/>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13</a:t>
            </a:fld>
            <a:endParaRPr lang="fr-FR"/>
          </a:p>
        </p:txBody>
      </p:sp>
    </p:spTree>
    <p:extLst>
      <p:ext uri="{BB962C8B-B14F-4D97-AF65-F5344CB8AC3E}">
        <p14:creationId xmlns:p14="http://schemas.microsoft.com/office/powerpoint/2010/main" val="533252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09340AD-A512-424A-AEC7-F3E89306E34A}"/>
              </a:ext>
            </a:extLst>
          </p:cNvPr>
          <p:cNvGrpSpPr>
            <a:grpSpLocks noChangeAspect="1"/>
          </p:cNvGrpSpPr>
          <p:nvPr/>
        </p:nvGrpSpPr>
        <p:grpSpPr>
          <a:xfrm>
            <a:off x="753585" y="1272454"/>
            <a:ext cx="3768439" cy="2598592"/>
            <a:chOff x="8157519" y="2085256"/>
            <a:chExt cx="3968852" cy="2736790"/>
          </a:xfrm>
        </p:grpSpPr>
        <p:sp>
          <p:nvSpPr>
            <p:cNvPr id="7" name="TextBox 6">
              <a:extLst>
                <a:ext uri="{FF2B5EF4-FFF2-40B4-BE49-F238E27FC236}">
                  <a16:creationId xmlns:a16="http://schemas.microsoft.com/office/drawing/2014/main" id="{28BE8139-C218-BB4C-A256-2FA4B24C17A2}"/>
                </a:ext>
              </a:extLst>
            </p:cNvPr>
            <p:cNvSpPr txBox="1"/>
            <p:nvPr/>
          </p:nvSpPr>
          <p:spPr>
            <a:xfrm>
              <a:off x="8184653" y="2085256"/>
              <a:ext cx="3636662" cy="356559"/>
            </a:xfrm>
            <a:prstGeom prst="rect">
              <a:avLst/>
            </a:prstGeom>
            <a:noFill/>
          </p:spPr>
          <p:txBody>
            <a:bodyPr wrap="square" rtlCol="0">
              <a:spAutoFit/>
            </a:bodyPr>
            <a:lstStyle/>
            <a:p>
              <a:pPr marL="214313" indent="-214313">
                <a:buFontTx/>
                <a:buChar char="-"/>
              </a:pPr>
              <a:r>
                <a:rPr lang="en-US" sz="1600" dirty="0"/>
                <a:t>           canonical metric</a:t>
              </a:r>
            </a:p>
          </p:txBody>
        </p:sp>
        <p:pic>
          <p:nvPicPr>
            <p:cNvPr id="8" name="Picture 7">
              <a:extLst>
                <a:ext uri="{FF2B5EF4-FFF2-40B4-BE49-F238E27FC236}">
                  <a16:creationId xmlns:a16="http://schemas.microsoft.com/office/drawing/2014/main" id="{0FCF99C4-B82A-564B-9425-8CF4122B3F91}"/>
                </a:ext>
              </a:extLst>
            </p:cNvPr>
            <p:cNvPicPr>
              <a:picLocks noChangeAspect="1"/>
            </p:cNvPicPr>
            <p:nvPr/>
          </p:nvPicPr>
          <p:blipFill>
            <a:blip r:embed="rId2"/>
            <a:stretch>
              <a:fillRect/>
            </a:stretch>
          </p:blipFill>
          <p:spPr>
            <a:xfrm>
              <a:off x="8157519" y="2192800"/>
              <a:ext cx="685800" cy="165100"/>
            </a:xfrm>
            <a:prstGeom prst="rect">
              <a:avLst/>
            </a:prstGeom>
          </p:spPr>
        </p:pic>
        <p:pic>
          <p:nvPicPr>
            <p:cNvPr id="9" name="Picture 8">
              <a:extLst>
                <a:ext uri="{FF2B5EF4-FFF2-40B4-BE49-F238E27FC236}">
                  <a16:creationId xmlns:a16="http://schemas.microsoft.com/office/drawing/2014/main" id="{F74E8121-71C4-9F49-ACD5-6355DD2F73DF}"/>
                </a:ext>
              </a:extLst>
            </p:cNvPr>
            <p:cNvPicPr>
              <a:picLocks noChangeAspect="1"/>
            </p:cNvPicPr>
            <p:nvPr/>
          </p:nvPicPr>
          <p:blipFill>
            <a:blip r:embed="rId3"/>
            <a:stretch>
              <a:fillRect/>
            </a:stretch>
          </p:blipFill>
          <p:spPr>
            <a:xfrm>
              <a:off x="8157519" y="3436411"/>
              <a:ext cx="3187700" cy="482600"/>
            </a:xfrm>
            <a:prstGeom prst="rect">
              <a:avLst/>
            </a:prstGeom>
          </p:spPr>
        </p:pic>
        <p:pic>
          <p:nvPicPr>
            <p:cNvPr id="10" name="Picture 9">
              <a:extLst>
                <a:ext uri="{FF2B5EF4-FFF2-40B4-BE49-F238E27FC236}">
                  <a16:creationId xmlns:a16="http://schemas.microsoft.com/office/drawing/2014/main" id="{513795B1-A288-C84E-B7DF-8C8FF9F1E598}"/>
                </a:ext>
              </a:extLst>
            </p:cNvPr>
            <p:cNvPicPr>
              <a:picLocks noChangeAspect="1"/>
            </p:cNvPicPr>
            <p:nvPr/>
          </p:nvPicPr>
          <p:blipFill>
            <a:blip r:embed="rId4"/>
            <a:stretch>
              <a:fillRect/>
            </a:stretch>
          </p:blipFill>
          <p:spPr>
            <a:xfrm>
              <a:off x="8354471" y="2755022"/>
              <a:ext cx="2197100" cy="241300"/>
            </a:xfrm>
            <a:prstGeom prst="rect">
              <a:avLst/>
            </a:prstGeom>
          </p:spPr>
        </p:pic>
        <p:pic>
          <p:nvPicPr>
            <p:cNvPr id="11" name="Picture 10">
              <a:extLst>
                <a:ext uri="{FF2B5EF4-FFF2-40B4-BE49-F238E27FC236}">
                  <a16:creationId xmlns:a16="http://schemas.microsoft.com/office/drawing/2014/main" id="{832C14DA-3FB0-DA48-9BF0-2B8E6C190B66}"/>
                </a:ext>
              </a:extLst>
            </p:cNvPr>
            <p:cNvPicPr>
              <a:picLocks noChangeAspect="1"/>
            </p:cNvPicPr>
            <p:nvPr/>
          </p:nvPicPr>
          <p:blipFill>
            <a:blip r:embed="rId5"/>
            <a:stretch>
              <a:fillRect/>
            </a:stretch>
          </p:blipFill>
          <p:spPr>
            <a:xfrm>
              <a:off x="8354471" y="4110846"/>
              <a:ext cx="3771900" cy="711200"/>
            </a:xfrm>
            <a:prstGeom prst="rect">
              <a:avLst/>
            </a:prstGeom>
          </p:spPr>
        </p:pic>
      </p:grpSp>
      <p:grpSp>
        <p:nvGrpSpPr>
          <p:cNvPr id="15" name="Group 14">
            <a:extLst>
              <a:ext uri="{FF2B5EF4-FFF2-40B4-BE49-F238E27FC236}">
                <a16:creationId xmlns:a16="http://schemas.microsoft.com/office/drawing/2014/main" id="{C726C4CC-99BB-9042-885D-85BC9F4AB336}"/>
              </a:ext>
            </a:extLst>
          </p:cNvPr>
          <p:cNvGrpSpPr>
            <a:grpSpLocks noChangeAspect="1"/>
          </p:cNvGrpSpPr>
          <p:nvPr/>
        </p:nvGrpSpPr>
        <p:grpSpPr>
          <a:xfrm>
            <a:off x="5029199" y="1876038"/>
            <a:ext cx="3944339" cy="250150"/>
            <a:chOff x="5117544" y="1808643"/>
            <a:chExt cx="2999731" cy="190243"/>
          </a:xfrm>
        </p:grpSpPr>
        <p:pic>
          <p:nvPicPr>
            <p:cNvPr id="12" name="Picture 11">
              <a:extLst>
                <a:ext uri="{FF2B5EF4-FFF2-40B4-BE49-F238E27FC236}">
                  <a16:creationId xmlns:a16="http://schemas.microsoft.com/office/drawing/2014/main" id="{EE741315-6FBC-C94B-A610-4BFD0772410F}"/>
                </a:ext>
              </a:extLst>
            </p:cNvPr>
            <p:cNvPicPr>
              <a:picLocks noChangeAspect="1"/>
            </p:cNvPicPr>
            <p:nvPr/>
          </p:nvPicPr>
          <p:blipFill>
            <a:blip r:embed="rId6"/>
            <a:stretch>
              <a:fillRect/>
            </a:stretch>
          </p:blipFill>
          <p:spPr>
            <a:xfrm>
              <a:off x="5117544" y="1808643"/>
              <a:ext cx="695325" cy="161925"/>
            </a:xfrm>
            <a:prstGeom prst="rect">
              <a:avLst/>
            </a:prstGeom>
          </p:spPr>
        </p:pic>
        <p:pic>
          <p:nvPicPr>
            <p:cNvPr id="13" name="Picture 12">
              <a:extLst>
                <a:ext uri="{FF2B5EF4-FFF2-40B4-BE49-F238E27FC236}">
                  <a16:creationId xmlns:a16="http://schemas.microsoft.com/office/drawing/2014/main" id="{135EC3D1-072A-3C43-931D-A08716148788}"/>
                </a:ext>
              </a:extLst>
            </p:cNvPr>
            <p:cNvPicPr>
              <a:picLocks noChangeAspect="1"/>
            </p:cNvPicPr>
            <p:nvPr/>
          </p:nvPicPr>
          <p:blipFill>
            <a:blip r:embed="rId7"/>
            <a:stretch>
              <a:fillRect/>
            </a:stretch>
          </p:blipFill>
          <p:spPr>
            <a:xfrm>
              <a:off x="6259900" y="1817911"/>
              <a:ext cx="1857375" cy="180975"/>
            </a:xfrm>
            <a:prstGeom prst="rect">
              <a:avLst/>
            </a:prstGeom>
          </p:spPr>
        </p:pic>
      </p:grpSp>
      <p:sp>
        <p:nvSpPr>
          <p:cNvPr id="14" name="Rectangle 13">
            <a:extLst>
              <a:ext uri="{FF2B5EF4-FFF2-40B4-BE49-F238E27FC236}">
                <a16:creationId xmlns:a16="http://schemas.microsoft.com/office/drawing/2014/main" id="{56DDBF43-025F-FA44-BA57-EE9425AB06DC}"/>
              </a:ext>
            </a:extLst>
          </p:cNvPr>
          <p:cNvSpPr/>
          <p:nvPr/>
        </p:nvSpPr>
        <p:spPr>
          <a:xfrm>
            <a:off x="4911630" y="1272454"/>
            <a:ext cx="3651128" cy="338554"/>
          </a:xfrm>
          <a:prstGeom prst="rect">
            <a:avLst/>
          </a:prstGeom>
        </p:spPr>
        <p:txBody>
          <a:bodyPr wrap="none">
            <a:spAutoFit/>
          </a:bodyPr>
          <a:lstStyle/>
          <a:p>
            <a:r>
              <a:rPr lang="en-US" sz="1600" dirty="0"/>
              <a:t>Product manifold with the product metric</a:t>
            </a:r>
            <a:endParaRPr lang="en-FR" sz="1600" dirty="0"/>
          </a:p>
        </p:txBody>
      </p:sp>
      <p:sp>
        <p:nvSpPr>
          <p:cNvPr id="2" name="Espace réservé du numéro de diapositive 1">
            <a:extLst>
              <a:ext uri="{FF2B5EF4-FFF2-40B4-BE49-F238E27FC236}">
                <a16:creationId xmlns:a16="http://schemas.microsoft.com/office/drawing/2014/main" id="{B5FB04D9-CCD6-385B-81A0-C6AC0E71F29E}"/>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14</a:t>
            </a:fld>
            <a:endParaRPr lang="fr-FR"/>
          </a:p>
        </p:txBody>
      </p:sp>
    </p:spTree>
    <p:extLst>
      <p:ext uri="{BB962C8B-B14F-4D97-AF65-F5344CB8AC3E}">
        <p14:creationId xmlns:p14="http://schemas.microsoft.com/office/powerpoint/2010/main" val="1491119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586618" y="452946"/>
            <a:ext cx="6010275" cy="369743"/>
          </a:xfrm>
        </p:spPr>
        <p:txBody>
          <a:bodyPr>
            <a:normAutofit fontScale="92500" lnSpcReduction="10000"/>
          </a:bodyPr>
          <a:lstStyle/>
          <a:p>
            <a:r>
              <a:rPr lang="en-US" sz="1500" dirty="0" err="1"/>
              <a:t>Exp</a:t>
            </a:r>
            <a:r>
              <a:rPr lang="en-US" sz="1500" dirty="0"/>
              <a:t>-parallelization on manifold</a:t>
            </a:r>
          </a:p>
        </p:txBody>
      </p:sp>
      <mc:AlternateContent xmlns:mc="http://schemas.openxmlformats.org/markup-compatibility/2006" xmlns:a14="http://schemas.microsoft.com/office/drawing/2010/main">
        <mc:Choice Requires="a14">
          <p:sp>
            <p:nvSpPr>
              <p:cNvPr id="13" name="Forme libre 102"/>
              <p:cNvSpPr/>
              <p:nvPr/>
            </p:nvSpPr>
            <p:spPr>
              <a:xfrm>
                <a:off x="339510" y="961310"/>
                <a:ext cx="5034083" cy="3775466"/>
              </a:xfrm>
              <a:custGeom>
                <a:avLst/>
                <a:gdLst>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73106 w 5704102"/>
                  <a:gd name="connsiteY33" fmla="*/ 2161842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69179 w 5704102"/>
                  <a:gd name="connsiteY37" fmla="*/ 2799151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73106 w 5704102"/>
                  <a:gd name="connsiteY33" fmla="*/ 2161842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01179 w 5704102"/>
                  <a:gd name="connsiteY31" fmla="*/ 1986352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14061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62997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62997 w 5704102"/>
                  <a:gd name="connsiteY16" fmla="*/ 314570 h 3246098"/>
                  <a:gd name="connsiteX17" fmla="*/ 5047725 w 5704102"/>
                  <a:gd name="connsiteY17" fmla="*/ 443878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81469 w 5704102"/>
                  <a:gd name="connsiteY16" fmla="*/ 277625 h 3246098"/>
                  <a:gd name="connsiteX17" fmla="*/ 5047725 w 5704102"/>
                  <a:gd name="connsiteY17" fmla="*/ 443878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10273 w 5709705"/>
                  <a:gd name="connsiteY0" fmla="*/ 1875515 h 3246098"/>
                  <a:gd name="connsiteX1" fmla="*/ 74927 w 5709705"/>
                  <a:gd name="connsiteY1" fmla="*/ 1681551 h 3246098"/>
                  <a:gd name="connsiteX2" fmla="*/ 222709 w 5709705"/>
                  <a:gd name="connsiteY2" fmla="*/ 1561479 h 3246098"/>
                  <a:gd name="connsiteX3" fmla="*/ 416673 w 5709705"/>
                  <a:gd name="connsiteY3" fmla="*/ 1302860 h 3246098"/>
                  <a:gd name="connsiteX4" fmla="*/ 703000 w 5709705"/>
                  <a:gd name="connsiteY4" fmla="*/ 1035006 h 3246098"/>
                  <a:gd name="connsiteX5" fmla="*/ 980091 w 5709705"/>
                  <a:gd name="connsiteY5" fmla="*/ 831806 h 3246098"/>
                  <a:gd name="connsiteX6" fmla="*/ 1340309 w 5709705"/>
                  <a:gd name="connsiteY6" fmla="*/ 610133 h 3246098"/>
                  <a:gd name="connsiteX7" fmla="*/ 1700528 w 5709705"/>
                  <a:gd name="connsiteY7" fmla="*/ 425406 h 3246098"/>
                  <a:gd name="connsiteX8" fmla="*/ 2143873 w 5709705"/>
                  <a:gd name="connsiteY8" fmla="*/ 240679 h 3246098"/>
                  <a:gd name="connsiteX9" fmla="*/ 2577983 w 5709705"/>
                  <a:gd name="connsiteY9" fmla="*/ 111369 h 3246098"/>
                  <a:gd name="connsiteX10" fmla="*/ 3002855 w 5709705"/>
                  <a:gd name="connsiteY10" fmla="*/ 37479 h 3246098"/>
                  <a:gd name="connsiteX11" fmla="*/ 3409255 w 5709705"/>
                  <a:gd name="connsiteY11" fmla="*/ 533 h 3246098"/>
                  <a:gd name="connsiteX12" fmla="*/ 3806418 w 5709705"/>
                  <a:gd name="connsiteY12" fmla="*/ 19006 h 3246098"/>
                  <a:gd name="connsiteX13" fmla="*/ 4203582 w 5709705"/>
                  <a:gd name="connsiteY13" fmla="*/ 65188 h 3246098"/>
                  <a:gd name="connsiteX14" fmla="*/ 4563800 w 5709705"/>
                  <a:gd name="connsiteY14" fmla="*/ 120606 h 3246098"/>
                  <a:gd name="connsiteX15" fmla="*/ 4628455 w 5709705"/>
                  <a:gd name="connsiteY15" fmla="*/ 129842 h 3246098"/>
                  <a:gd name="connsiteX16" fmla="*/ 4887072 w 5709705"/>
                  <a:gd name="connsiteY16" fmla="*/ 277625 h 3246098"/>
                  <a:gd name="connsiteX17" fmla="*/ 5053328 w 5709705"/>
                  <a:gd name="connsiteY17" fmla="*/ 443878 h 3246098"/>
                  <a:gd name="connsiteX18" fmla="*/ 5256528 w 5709705"/>
                  <a:gd name="connsiteY18" fmla="*/ 711733 h 3246098"/>
                  <a:gd name="connsiteX19" fmla="*/ 5422782 w 5709705"/>
                  <a:gd name="connsiteY19" fmla="*/ 970351 h 3246098"/>
                  <a:gd name="connsiteX20" fmla="*/ 5589037 w 5709705"/>
                  <a:gd name="connsiteY20" fmla="*/ 1312097 h 3246098"/>
                  <a:gd name="connsiteX21" fmla="*/ 5690637 w 5709705"/>
                  <a:gd name="connsiteY21" fmla="*/ 1644606 h 3246098"/>
                  <a:gd name="connsiteX22" fmla="*/ 5709109 w 5709705"/>
                  <a:gd name="connsiteY22" fmla="*/ 1921697 h 3246098"/>
                  <a:gd name="connsiteX23" fmla="*/ 5681400 w 5709705"/>
                  <a:gd name="connsiteY23" fmla="*/ 2115660 h 3246098"/>
                  <a:gd name="connsiteX24" fmla="*/ 5625982 w 5709705"/>
                  <a:gd name="connsiteY24" fmla="*/ 2198788 h 3246098"/>
                  <a:gd name="connsiteX25" fmla="*/ 5616746 w 5709705"/>
                  <a:gd name="connsiteY25" fmla="*/ 2171079 h 3246098"/>
                  <a:gd name="connsiteX26" fmla="*/ 5542855 w 5709705"/>
                  <a:gd name="connsiteY26" fmla="*/ 2078715 h 3246098"/>
                  <a:gd name="connsiteX27" fmla="*/ 5395073 w 5709705"/>
                  <a:gd name="connsiteY27" fmla="*/ 2041770 h 3246098"/>
                  <a:gd name="connsiteX28" fmla="*/ 5228818 w 5709705"/>
                  <a:gd name="connsiteY28" fmla="*/ 1995588 h 3246098"/>
                  <a:gd name="connsiteX29" fmla="*/ 4951728 w 5709705"/>
                  <a:gd name="connsiteY29" fmla="*/ 1967879 h 3246098"/>
                  <a:gd name="connsiteX30" fmla="*/ 4730055 w 5709705"/>
                  <a:gd name="connsiteY30" fmla="*/ 1967879 h 3246098"/>
                  <a:gd name="connsiteX31" fmla="*/ 4397545 w 5709705"/>
                  <a:gd name="connsiteY31" fmla="*/ 1986352 h 3246098"/>
                  <a:gd name="connsiteX32" fmla="*/ 4092746 w 5709705"/>
                  <a:gd name="connsiteY32" fmla="*/ 2051006 h 3246098"/>
                  <a:gd name="connsiteX33" fmla="*/ 3760236 w 5709705"/>
                  <a:gd name="connsiteY33" fmla="*/ 2134133 h 3246098"/>
                  <a:gd name="connsiteX34" fmla="*/ 3492382 w 5709705"/>
                  <a:gd name="connsiteY34" fmla="*/ 2235733 h 3246098"/>
                  <a:gd name="connsiteX35" fmla="*/ 3150637 w 5709705"/>
                  <a:gd name="connsiteY35" fmla="*/ 2374279 h 3246098"/>
                  <a:gd name="connsiteX36" fmla="*/ 2735000 w 5709705"/>
                  <a:gd name="connsiteY36" fmla="*/ 2549770 h 3246098"/>
                  <a:gd name="connsiteX37" fmla="*/ 2347073 w 5709705"/>
                  <a:gd name="connsiteY37" fmla="*/ 2771442 h 3246098"/>
                  <a:gd name="connsiteX38" fmla="*/ 2014564 w 5709705"/>
                  <a:gd name="connsiteY38" fmla="*/ 3002351 h 3246098"/>
                  <a:gd name="connsiteX39" fmla="*/ 1746709 w 5709705"/>
                  <a:gd name="connsiteY39" fmla="*/ 3242497 h 3246098"/>
                  <a:gd name="connsiteX40" fmla="*/ 1728237 w 5709705"/>
                  <a:gd name="connsiteY40" fmla="*/ 3131660 h 3246098"/>
                  <a:gd name="connsiteX41" fmla="*/ 1635873 w 5709705"/>
                  <a:gd name="connsiteY41" fmla="*/ 2928460 h 3246098"/>
                  <a:gd name="connsiteX42" fmla="*/ 1552746 w 5709705"/>
                  <a:gd name="connsiteY42" fmla="*/ 2743733 h 3246098"/>
                  <a:gd name="connsiteX43" fmla="*/ 1358782 w 5709705"/>
                  <a:gd name="connsiteY43" fmla="*/ 2512824 h 3246098"/>
                  <a:gd name="connsiteX44" fmla="*/ 1192528 w 5709705"/>
                  <a:gd name="connsiteY44" fmla="*/ 2365042 h 3246098"/>
                  <a:gd name="connsiteX45" fmla="*/ 933909 w 5709705"/>
                  <a:gd name="connsiteY45" fmla="*/ 2208024 h 3246098"/>
                  <a:gd name="connsiteX46" fmla="*/ 564455 w 5709705"/>
                  <a:gd name="connsiteY46" fmla="*/ 2023297 h 3246098"/>
                  <a:gd name="connsiteX47" fmla="*/ 287364 w 5709705"/>
                  <a:gd name="connsiteY47" fmla="*/ 1930933 h 3246098"/>
                  <a:gd name="connsiteX48" fmla="*/ 10273 w 5709705"/>
                  <a:gd name="connsiteY48" fmla="*/ 1875515 h 3246098"/>
                  <a:gd name="connsiteX0" fmla="*/ 9833 w 5709265"/>
                  <a:gd name="connsiteY0" fmla="*/ 1875515 h 3246098"/>
                  <a:gd name="connsiteX1" fmla="*/ 74487 w 5709265"/>
                  <a:gd name="connsiteY1" fmla="*/ 1681551 h 3246098"/>
                  <a:gd name="connsiteX2" fmla="*/ 194560 w 5709265"/>
                  <a:gd name="connsiteY2" fmla="*/ 1533770 h 3246098"/>
                  <a:gd name="connsiteX3" fmla="*/ 416233 w 5709265"/>
                  <a:gd name="connsiteY3" fmla="*/ 1302860 h 3246098"/>
                  <a:gd name="connsiteX4" fmla="*/ 702560 w 5709265"/>
                  <a:gd name="connsiteY4" fmla="*/ 1035006 h 3246098"/>
                  <a:gd name="connsiteX5" fmla="*/ 979651 w 5709265"/>
                  <a:gd name="connsiteY5" fmla="*/ 831806 h 3246098"/>
                  <a:gd name="connsiteX6" fmla="*/ 1339869 w 5709265"/>
                  <a:gd name="connsiteY6" fmla="*/ 610133 h 3246098"/>
                  <a:gd name="connsiteX7" fmla="*/ 1700088 w 5709265"/>
                  <a:gd name="connsiteY7" fmla="*/ 425406 h 3246098"/>
                  <a:gd name="connsiteX8" fmla="*/ 2143433 w 5709265"/>
                  <a:gd name="connsiteY8" fmla="*/ 240679 h 3246098"/>
                  <a:gd name="connsiteX9" fmla="*/ 2577543 w 5709265"/>
                  <a:gd name="connsiteY9" fmla="*/ 111369 h 3246098"/>
                  <a:gd name="connsiteX10" fmla="*/ 3002415 w 5709265"/>
                  <a:gd name="connsiteY10" fmla="*/ 37479 h 3246098"/>
                  <a:gd name="connsiteX11" fmla="*/ 3408815 w 5709265"/>
                  <a:gd name="connsiteY11" fmla="*/ 533 h 3246098"/>
                  <a:gd name="connsiteX12" fmla="*/ 3805978 w 5709265"/>
                  <a:gd name="connsiteY12" fmla="*/ 19006 h 3246098"/>
                  <a:gd name="connsiteX13" fmla="*/ 4203142 w 5709265"/>
                  <a:gd name="connsiteY13" fmla="*/ 65188 h 3246098"/>
                  <a:gd name="connsiteX14" fmla="*/ 4563360 w 5709265"/>
                  <a:gd name="connsiteY14" fmla="*/ 120606 h 3246098"/>
                  <a:gd name="connsiteX15" fmla="*/ 4628015 w 5709265"/>
                  <a:gd name="connsiteY15" fmla="*/ 129842 h 3246098"/>
                  <a:gd name="connsiteX16" fmla="*/ 4886632 w 5709265"/>
                  <a:gd name="connsiteY16" fmla="*/ 277625 h 3246098"/>
                  <a:gd name="connsiteX17" fmla="*/ 5052888 w 5709265"/>
                  <a:gd name="connsiteY17" fmla="*/ 443878 h 3246098"/>
                  <a:gd name="connsiteX18" fmla="*/ 5256088 w 5709265"/>
                  <a:gd name="connsiteY18" fmla="*/ 711733 h 3246098"/>
                  <a:gd name="connsiteX19" fmla="*/ 5422342 w 5709265"/>
                  <a:gd name="connsiteY19" fmla="*/ 970351 h 3246098"/>
                  <a:gd name="connsiteX20" fmla="*/ 5588597 w 5709265"/>
                  <a:gd name="connsiteY20" fmla="*/ 1312097 h 3246098"/>
                  <a:gd name="connsiteX21" fmla="*/ 5690197 w 5709265"/>
                  <a:gd name="connsiteY21" fmla="*/ 1644606 h 3246098"/>
                  <a:gd name="connsiteX22" fmla="*/ 5708669 w 5709265"/>
                  <a:gd name="connsiteY22" fmla="*/ 1921697 h 3246098"/>
                  <a:gd name="connsiteX23" fmla="*/ 5680960 w 5709265"/>
                  <a:gd name="connsiteY23" fmla="*/ 2115660 h 3246098"/>
                  <a:gd name="connsiteX24" fmla="*/ 5625542 w 5709265"/>
                  <a:gd name="connsiteY24" fmla="*/ 2198788 h 3246098"/>
                  <a:gd name="connsiteX25" fmla="*/ 5616306 w 5709265"/>
                  <a:gd name="connsiteY25" fmla="*/ 2171079 h 3246098"/>
                  <a:gd name="connsiteX26" fmla="*/ 5542415 w 5709265"/>
                  <a:gd name="connsiteY26" fmla="*/ 2078715 h 3246098"/>
                  <a:gd name="connsiteX27" fmla="*/ 5394633 w 5709265"/>
                  <a:gd name="connsiteY27" fmla="*/ 2041770 h 3246098"/>
                  <a:gd name="connsiteX28" fmla="*/ 5228378 w 5709265"/>
                  <a:gd name="connsiteY28" fmla="*/ 1995588 h 3246098"/>
                  <a:gd name="connsiteX29" fmla="*/ 4951288 w 5709265"/>
                  <a:gd name="connsiteY29" fmla="*/ 1967879 h 3246098"/>
                  <a:gd name="connsiteX30" fmla="*/ 4729615 w 5709265"/>
                  <a:gd name="connsiteY30" fmla="*/ 1967879 h 3246098"/>
                  <a:gd name="connsiteX31" fmla="*/ 4397105 w 5709265"/>
                  <a:gd name="connsiteY31" fmla="*/ 1986352 h 3246098"/>
                  <a:gd name="connsiteX32" fmla="*/ 4092306 w 5709265"/>
                  <a:gd name="connsiteY32" fmla="*/ 2051006 h 3246098"/>
                  <a:gd name="connsiteX33" fmla="*/ 3759796 w 5709265"/>
                  <a:gd name="connsiteY33" fmla="*/ 2134133 h 3246098"/>
                  <a:gd name="connsiteX34" fmla="*/ 3491942 w 5709265"/>
                  <a:gd name="connsiteY34" fmla="*/ 2235733 h 3246098"/>
                  <a:gd name="connsiteX35" fmla="*/ 3150197 w 5709265"/>
                  <a:gd name="connsiteY35" fmla="*/ 2374279 h 3246098"/>
                  <a:gd name="connsiteX36" fmla="*/ 2734560 w 5709265"/>
                  <a:gd name="connsiteY36" fmla="*/ 2549770 h 3246098"/>
                  <a:gd name="connsiteX37" fmla="*/ 2346633 w 5709265"/>
                  <a:gd name="connsiteY37" fmla="*/ 2771442 h 3246098"/>
                  <a:gd name="connsiteX38" fmla="*/ 2014124 w 5709265"/>
                  <a:gd name="connsiteY38" fmla="*/ 3002351 h 3246098"/>
                  <a:gd name="connsiteX39" fmla="*/ 1746269 w 5709265"/>
                  <a:gd name="connsiteY39" fmla="*/ 3242497 h 3246098"/>
                  <a:gd name="connsiteX40" fmla="*/ 1727797 w 5709265"/>
                  <a:gd name="connsiteY40" fmla="*/ 3131660 h 3246098"/>
                  <a:gd name="connsiteX41" fmla="*/ 1635433 w 5709265"/>
                  <a:gd name="connsiteY41" fmla="*/ 2928460 h 3246098"/>
                  <a:gd name="connsiteX42" fmla="*/ 1552306 w 5709265"/>
                  <a:gd name="connsiteY42" fmla="*/ 2743733 h 3246098"/>
                  <a:gd name="connsiteX43" fmla="*/ 1358342 w 5709265"/>
                  <a:gd name="connsiteY43" fmla="*/ 2512824 h 3246098"/>
                  <a:gd name="connsiteX44" fmla="*/ 1192088 w 5709265"/>
                  <a:gd name="connsiteY44" fmla="*/ 2365042 h 3246098"/>
                  <a:gd name="connsiteX45" fmla="*/ 933469 w 5709265"/>
                  <a:gd name="connsiteY45" fmla="*/ 2208024 h 3246098"/>
                  <a:gd name="connsiteX46" fmla="*/ 564015 w 5709265"/>
                  <a:gd name="connsiteY46" fmla="*/ 2023297 h 3246098"/>
                  <a:gd name="connsiteX47" fmla="*/ 286924 w 5709265"/>
                  <a:gd name="connsiteY47" fmla="*/ 1930933 h 3246098"/>
                  <a:gd name="connsiteX48" fmla="*/ 9833 w 5709265"/>
                  <a:gd name="connsiteY48" fmla="*/ 1875515 h 3246098"/>
                  <a:gd name="connsiteX0" fmla="*/ 9833 w 5709265"/>
                  <a:gd name="connsiteY0" fmla="*/ 1875515 h 3246098"/>
                  <a:gd name="connsiteX1" fmla="*/ 74487 w 5709265"/>
                  <a:gd name="connsiteY1" fmla="*/ 1681551 h 3246098"/>
                  <a:gd name="connsiteX2" fmla="*/ 194560 w 5709265"/>
                  <a:gd name="connsiteY2" fmla="*/ 1533770 h 3246098"/>
                  <a:gd name="connsiteX3" fmla="*/ 388524 w 5709265"/>
                  <a:gd name="connsiteY3" fmla="*/ 1275151 h 3246098"/>
                  <a:gd name="connsiteX4" fmla="*/ 702560 w 5709265"/>
                  <a:gd name="connsiteY4" fmla="*/ 1035006 h 3246098"/>
                  <a:gd name="connsiteX5" fmla="*/ 979651 w 5709265"/>
                  <a:gd name="connsiteY5" fmla="*/ 831806 h 3246098"/>
                  <a:gd name="connsiteX6" fmla="*/ 1339869 w 5709265"/>
                  <a:gd name="connsiteY6" fmla="*/ 610133 h 3246098"/>
                  <a:gd name="connsiteX7" fmla="*/ 1700088 w 5709265"/>
                  <a:gd name="connsiteY7" fmla="*/ 425406 h 3246098"/>
                  <a:gd name="connsiteX8" fmla="*/ 2143433 w 5709265"/>
                  <a:gd name="connsiteY8" fmla="*/ 240679 h 3246098"/>
                  <a:gd name="connsiteX9" fmla="*/ 2577543 w 5709265"/>
                  <a:gd name="connsiteY9" fmla="*/ 111369 h 3246098"/>
                  <a:gd name="connsiteX10" fmla="*/ 3002415 w 5709265"/>
                  <a:gd name="connsiteY10" fmla="*/ 37479 h 3246098"/>
                  <a:gd name="connsiteX11" fmla="*/ 3408815 w 5709265"/>
                  <a:gd name="connsiteY11" fmla="*/ 533 h 3246098"/>
                  <a:gd name="connsiteX12" fmla="*/ 3805978 w 5709265"/>
                  <a:gd name="connsiteY12" fmla="*/ 19006 h 3246098"/>
                  <a:gd name="connsiteX13" fmla="*/ 4203142 w 5709265"/>
                  <a:gd name="connsiteY13" fmla="*/ 65188 h 3246098"/>
                  <a:gd name="connsiteX14" fmla="*/ 4563360 w 5709265"/>
                  <a:gd name="connsiteY14" fmla="*/ 120606 h 3246098"/>
                  <a:gd name="connsiteX15" fmla="*/ 4628015 w 5709265"/>
                  <a:gd name="connsiteY15" fmla="*/ 129842 h 3246098"/>
                  <a:gd name="connsiteX16" fmla="*/ 4886632 w 5709265"/>
                  <a:gd name="connsiteY16" fmla="*/ 277625 h 3246098"/>
                  <a:gd name="connsiteX17" fmla="*/ 5052888 w 5709265"/>
                  <a:gd name="connsiteY17" fmla="*/ 443878 h 3246098"/>
                  <a:gd name="connsiteX18" fmla="*/ 5256088 w 5709265"/>
                  <a:gd name="connsiteY18" fmla="*/ 711733 h 3246098"/>
                  <a:gd name="connsiteX19" fmla="*/ 5422342 w 5709265"/>
                  <a:gd name="connsiteY19" fmla="*/ 970351 h 3246098"/>
                  <a:gd name="connsiteX20" fmla="*/ 5588597 w 5709265"/>
                  <a:gd name="connsiteY20" fmla="*/ 1312097 h 3246098"/>
                  <a:gd name="connsiteX21" fmla="*/ 5690197 w 5709265"/>
                  <a:gd name="connsiteY21" fmla="*/ 1644606 h 3246098"/>
                  <a:gd name="connsiteX22" fmla="*/ 5708669 w 5709265"/>
                  <a:gd name="connsiteY22" fmla="*/ 1921697 h 3246098"/>
                  <a:gd name="connsiteX23" fmla="*/ 5680960 w 5709265"/>
                  <a:gd name="connsiteY23" fmla="*/ 2115660 h 3246098"/>
                  <a:gd name="connsiteX24" fmla="*/ 5625542 w 5709265"/>
                  <a:gd name="connsiteY24" fmla="*/ 2198788 h 3246098"/>
                  <a:gd name="connsiteX25" fmla="*/ 5616306 w 5709265"/>
                  <a:gd name="connsiteY25" fmla="*/ 2171079 h 3246098"/>
                  <a:gd name="connsiteX26" fmla="*/ 5542415 w 5709265"/>
                  <a:gd name="connsiteY26" fmla="*/ 2078715 h 3246098"/>
                  <a:gd name="connsiteX27" fmla="*/ 5394633 w 5709265"/>
                  <a:gd name="connsiteY27" fmla="*/ 2041770 h 3246098"/>
                  <a:gd name="connsiteX28" fmla="*/ 5228378 w 5709265"/>
                  <a:gd name="connsiteY28" fmla="*/ 1995588 h 3246098"/>
                  <a:gd name="connsiteX29" fmla="*/ 4951288 w 5709265"/>
                  <a:gd name="connsiteY29" fmla="*/ 1967879 h 3246098"/>
                  <a:gd name="connsiteX30" fmla="*/ 4729615 w 5709265"/>
                  <a:gd name="connsiteY30" fmla="*/ 1967879 h 3246098"/>
                  <a:gd name="connsiteX31" fmla="*/ 4397105 w 5709265"/>
                  <a:gd name="connsiteY31" fmla="*/ 1986352 h 3246098"/>
                  <a:gd name="connsiteX32" fmla="*/ 4092306 w 5709265"/>
                  <a:gd name="connsiteY32" fmla="*/ 2051006 h 3246098"/>
                  <a:gd name="connsiteX33" fmla="*/ 3759796 w 5709265"/>
                  <a:gd name="connsiteY33" fmla="*/ 2134133 h 3246098"/>
                  <a:gd name="connsiteX34" fmla="*/ 3491942 w 5709265"/>
                  <a:gd name="connsiteY34" fmla="*/ 2235733 h 3246098"/>
                  <a:gd name="connsiteX35" fmla="*/ 3150197 w 5709265"/>
                  <a:gd name="connsiteY35" fmla="*/ 2374279 h 3246098"/>
                  <a:gd name="connsiteX36" fmla="*/ 2734560 w 5709265"/>
                  <a:gd name="connsiteY36" fmla="*/ 2549770 h 3246098"/>
                  <a:gd name="connsiteX37" fmla="*/ 2346633 w 5709265"/>
                  <a:gd name="connsiteY37" fmla="*/ 2771442 h 3246098"/>
                  <a:gd name="connsiteX38" fmla="*/ 2014124 w 5709265"/>
                  <a:gd name="connsiteY38" fmla="*/ 3002351 h 3246098"/>
                  <a:gd name="connsiteX39" fmla="*/ 1746269 w 5709265"/>
                  <a:gd name="connsiteY39" fmla="*/ 3242497 h 3246098"/>
                  <a:gd name="connsiteX40" fmla="*/ 1727797 w 5709265"/>
                  <a:gd name="connsiteY40" fmla="*/ 3131660 h 3246098"/>
                  <a:gd name="connsiteX41" fmla="*/ 1635433 w 5709265"/>
                  <a:gd name="connsiteY41" fmla="*/ 2928460 h 3246098"/>
                  <a:gd name="connsiteX42" fmla="*/ 1552306 w 5709265"/>
                  <a:gd name="connsiteY42" fmla="*/ 2743733 h 3246098"/>
                  <a:gd name="connsiteX43" fmla="*/ 1358342 w 5709265"/>
                  <a:gd name="connsiteY43" fmla="*/ 2512824 h 3246098"/>
                  <a:gd name="connsiteX44" fmla="*/ 1192088 w 5709265"/>
                  <a:gd name="connsiteY44" fmla="*/ 2365042 h 3246098"/>
                  <a:gd name="connsiteX45" fmla="*/ 933469 w 5709265"/>
                  <a:gd name="connsiteY45" fmla="*/ 2208024 h 3246098"/>
                  <a:gd name="connsiteX46" fmla="*/ 564015 w 5709265"/>
                  <a:gd name="connsiteY46" fmla="*/ 2023297 h 3246098"/>
                  <a:gd name="connsiteX47" fmla="*/ 286924 w 5709265"/>
                  <a:gd name="connsiteY47" fmla="*/ 1930933 h 3246098"/>
                  <a:gd name="connsiteX48" fmla="*/ 9833 w 5709265"/>
                  <a:gd name="connsiteY48" fmla="*/ 1875515 h 3246098"/>
                  <a:gd name="connsiteX0" fmla="*/ 9694 w 5709126"/>
                  <a:gd name="connsiteY0" fmla="*/ 1875515 h 3246098"/>
                  <a:gd name="connsiteX1" fmla="*/ 74348 w 5709126"/>
                  <a:gd name="connsiteY1" fmla="*/ 1681551 h 3246098"/>
                  <a:gd name="connsiteX2" fmla="*/ 185185 w 5709126"/>
                  <a:gd name="connsiteY2" fmla="*/ 1506061 h 3246098"/>
                  <a:gd name="connsiteX3" fmla="*/ 388385 w 5709126"/>
                  <a:gd name="connsiteY3" fmla="*/ 1275151 h 3246098"/>
                  <a:gd name="connsiteX4" fmla="*/ 702421 w 5709126"/>
                  <a:gd name="connsiteY4" fmla="*/ 1035006 h 3246098"/>
                  <a:gd name="connsiteX5" fmla="*/ 979512 w 5709126"/>
                  <a:gd name="connsiteY5" fmla="*/ 831806 h 3246098"/>
                  <a:gd name="connsiteX6" fmla="*/ 1339730 w 5709126"/>
                  <a:gd name="connsiteY6" fmla="*/ 610133 h 3246098"/>
                  <a:gd name="connsiteX7" fmla="*/ 1699949 w 5709126"/>
                  <a:gd name="connsiteY7" fmla="*/ 425406 h 3246098"/>
                  <a:gd name="connsiteX8" fmla="*/ 2143294 w 5709126"/>
                  <a:gd name="connsiteY8" fmla="*/ 240679 h 3246098"/>
                  <a:gd name="connsiteX9" fmla="*/ 2577404 w 5709126"/>
                  <a:gd name="connsiteY9" fmla="*/ 111369 h 3246098"/>
                  <a:gd name="connsiteX10" fmla="*/ 3002276 w 5709126"/>
                  <a:gd name="connsiteY10" fmla="*/ 37479 h 3246098"/>
                  <a:gd name="connsiteX11" fmla="*/ 3408676 w 5709126"/>
                  <a:gd name="connsiteY11" fmla="*/ 533 h 3246098"/>
                  <a:gd name="connsiteX12" fmla="*/ 3805839 w 5709126"/>
                  <a:gd name="connsiteY12" fmla="*/ 19006 h 3246098"/>
                  <a:gd name="connsiteX13" fmla="*/ 4203003 w 5709126"/>
                  <a:gd name="connsiteY13" fmla="*/ 65188 h 3246098"/>
                  <a:gd name="connsiteX14" fmla="*/ 4563221 w 5709126"/>
                  <a:gd name="connsiteY14" fmla="*/ 120606 h 3246098"/>
                  <a:gd name="connsiteX15" fmla="*/ 4627876 w 5709126"/>
                  <a:gd name="connsiteY15" fmla="*/ 129842 h 3246098"/>
                  <a:gd name="connsiteX16" fmla="*/ 4886493 w 5709126"/>
                  <a:gd name="connsiteY16" fmla="*/ 277625 h 3246098"/>
                  <a:gd name="connsiteX17" fmla="*/ 5052749 w 5709126"/>
                  <a:gd name="connsiteY17" fmla="*/ 443878 h 3246098"/>
                  <a:gd name="connsiteX18" fmla="*/ 5255949 w 5709126"/>
                  <a:gd name="connsiteY18" fmla="*/ 711733 h 3246098"/>
                  <a:gd name="connsiteX19" fmla="*/ 5422203 w 5709126"/>
                  <a:gd name="connsiteY19" fmla="*/ 970351 h 3246098"/>
                  <a:gd name="connsiteX20" fmla="*/ 5588458 w 5709126"/>
                  <a:gd name="connsiteY20" fmla="*/ 1312097 h 3246098"/>
                  <a:gd name="connsiteX21" fmla="*/ 5690058 w 5709126"/>
                  <a:gd name="connsiteY21" fmla="*/ 1644606 h 3246098"/>
                  <a:gd name="connsiteX22" fmla="*/ 5708530 w 5709126"/>
                  <a:gd name="connsiteY22" fmla="*/ 1921697 h 3246098"/>
                  <a:gd name="connsiteX23" fmla="*/ 5680821 w 5709126"/>
                  <a:gd name="connsiteY23" fmla="*/ 2115660 h 3246098"/>
                  <a:gd name="connsiteX24" fmla="*/ 5625403 w 5709126"/>
                  <a:gd name="connsiteY24" fmla="*/ 2198788 h 3246098"/>
                  <a:gd name="connsiteX25" fmla="*/ 5616167 w 5709126"/>
                  <a:gd name="connsiteY25" fmla="*/ 2171079 h 3246098"/>
                  <a:gd name="connsiteX26" fmla="*/ 5542276 w 5709126"/>
                  <a:gd name="connsiteY26" fmla="*/ 2078715 h 3246098"/>
                  <a:gd name="connsiteX27" fmla="*/ 5394494 w 5709126"/>
                  <a:gd name="connsiteY27" fmla="*/ 2041770 h 3246098"/>
                  <a:gd name="connsiteX28" fmla="*/ 5228239 w 5709126"/>
                  <a:gd name="connsiteY28" fmla="*/ 1995588 h 3246098"/>
                  <a:gd name="connsiteX29" fmla="*/ 4951149 w 5709126"/>
                  <a:gd name="connsiteY29" fmla="*/ 1967879 h 3246098"/>
                  <a:gd name="connsiteX30" fmla="*/ 4729476 w 5709126"/>
                  <a:gd name="connsiteY30" fmla="*/ 1967879 h 3246098"/>
                  <a:gd name="connsiteX31" fmla="*/ 4396966 w 5709126"/>
                  <a:gd name="connsiteY31" fmla="*/ 1986352 h 3246098"/>
                  <a:gd name="connsiteX32" fmla="*/ 4092167 w 5709126"/>
                  <a:gd name="connsiteY32" fmla="*/ 2051006 h 3246098"/>
                  <a:gd name="connsiteX33" fmla="*/ 3759657 w 5709126"/>
                  <a:gd name="connsiteY33" fmla="*/ 2134133 h 3246098"/>
                  <a:gd name="connsiteX34" fmla="*/ 3491803 w 5709126"/>
                  <a:gd name="connsiteY34" fmla="*/ 2235733 h 3246098"/>
                  <a:gd name="connsiteX35" fmla="*/ 3150058 w 5709126"/>
                  <a:gd name="connsiteY35" fmla="*/ 2374279 h 3246098"/>
                  <a:gd name="connsiteX36" fmla="*/ 2734421 w 5709126"/>
                  <a:gd name="connsiteY36" fmla="*/ 2549770 h 3246098"/>
                  <a:gd name="connsiteX37" fmla="*/ 2346494 w 5709126"/>
                  <a:gd name="connsiteY37" fmla="*/ 2771442 h 3246098"/>
                  <a:gd name="connsiteX38" fmla="*/ 2013985 w 5709126"/>
                  <a:gd name="connsiteY38" fmla="*/ 3002351 h 3246098"/>
                  <a:gd name="connsiteX39" fmla="*/ 1746130 w 5709126"/>
                  <a:gd name="connsiteY39" fmla="*/ 3242497 h 3246098"/>
                  <a:gd name="connsiteX40" fmla="*/ 1727658 w 5709126"/>
                  <a:gd name="connsiteY40" fmla="*/ 3131660 h 3246098"/>
                  <a:gd name="connsiteX41" fmla="*/ 1635294 w 5709126"/>
                  <a:gd name="connsiteY41" fmla="*/ 2928460 h 3246098"/>
                  <a:gd name="connsiteX42" fmla="*/ 1552167 w 5709126"/>
                  <a:gd name="connsiteY42" fmla="*/ 2743733 h 3246098"/>
                  <a:gd name="connsiteX43" fmla="*/ 1358203 w 5709126"/>
                  <a:gd name="connsiteY43" fmla="*/ 2512824 h 3246098"/>
                  <a:gd name="connsiteX44" fmla="*/ 1191949 w 5709126"/>
                  <a:gd name="connsiteY44" fmla="*/ 2365042 h 3246098"/>
                  <a:gd name="connsiteX45" fmla="*/ 933330 w 5709126"/>
                  <a:gd name="connsiteY45" fmla="*/ 2208024 h 3246098"/>
                  <a:gd name="connsiteX46" fmla="*/ 563876 w 5709126"/>
                  <a:gd name="connsiteY46" fmla="*/ 2023297 h 3246098"/>
                  <a:gd name="connsiteX47" fmla="*/ 286785 w 5709126"/>
                  <a:gd name="connsiteY47" fmla="*/ 1930933 h 3246098"/>
                  <a:gd name="connsiteX48" fmla="*/ 9694 w 5709126"/>
                  <a:gd name="connsiteY48" fmla="*/ 1875515 h 3246098"/>
                  <a:gd name="connsiteX0" fmla="*/ 9694 w 5709126"/>
                  <a:gd name="connsiteY0" fmla="*/ 1875465 h 3246048"/>
                  <a:gd name="connsiteX1" fmla="*/ 74348 w 5709126"/>
                  <a:gd name="connsiteY1" fmla="*/ 1681501 h 3246048"/>
                  <a:gd name="connsiteX2" fmla="*/ 185185 w 5709126"/>
                  <a:gd name="connsiteY2" fmla="*/ 1506011 h 3246048"/>
                  <a:gd name="connsiteX3" fmla="*/ 388385 w 5709126"/>
                  <a:gd name="connsiteY3" fmla="*/ 1275101 h 3246048"/>
                  <a:gd name="connsiteX4" fmla="*/ 702421 w 5709126"/>
                  <a:gd name="connsiteY4" fmla="*/ 1034956 h 3246048"/>
                  <a:gd name="connsiteX5" fmla="*/ 979512 w 5709126"/>
                  <a:gd name="connsiteY5" fmla="*/ 831756 h 3246048"/>
                  <a:gd name="connsiteX6" fmla="*/ 1339730 w 5709126"/>
                  <a:gd name="connsiteY6" fmla="*/ 610083 h 3246048"/>
                  <a:gd name="connsiteX7" fmla="*/ 1699949 w 5709126"/>
                  <a:gd name="connsiteY7" fmla="*/ 425356 h 3246048"/>
                  <a:gd name="connsiteX8" fmla="*/ 2143294 w 5709126"/>
                  <a:gd name="connsiteY8" fmla="*/ 240629 h 3246048"/>
                  <a:gd name="connsiteX9" fmla="*/ 2577404 w 5709126"/>
                  <a:gd name="connsiteY9" fmla="*/ 111319 h 3246048"/>
                  <a:gd name="connsiteX10" fmla="*/ 3002276 w 5709126"/>
                  <a:gd name="connsiteY10" fmla="*/ 37429 h 3246048"/>
                  <a:gd name="connsiteX11" fmla="*/ 3408676 w 5709126"/>
                  <a:gd name="connsiteY11" fmla="*/ 483 h 3246048"/>
                  <a:gd name="connsiteX12" fmla="*/ 3805839 w 5709126"/>
                  <a:gd name="connsiteY12" fmla="*/ 18956 h 3246048"/>
                  <a:gd name="connsiteX13" fmla="*/ 4221476 w 5709126"/>
                  <a:gd name="connsiteY13" fmla="*/ 55902 h 3246048"/>
                  <a:gd name="connsiteX14" fmla="*/ 4563221 w 5709126"/>
                  <a:gd name="connsiteY14" fmla="*/ 120556 h 3246048"/>
                  <a:gd name="connsiteX15" fmla="*/ 4627876 w 5709126"/>
                  <a:gd name="connsiteY15" fmla="*/ 129792 h 3246048"/>
                  <a:gd name="connsiteX16" fmla="*/ 4886493 w 5709126"/>
                  <a:gd name="connsiteY16" fmla="*/ 277575 h 3246048"/>
                  <a:gd name="connsiteX17" fmla="*/ 5052749 w 5709126"/>
                  <a:gd name="connsiteY17" fmla="*/ 443828 h 3246048"/>
                  <a:gd name="connsiteX18" fmla="*/ 5255949 w 5709126"/>
                  <a:gd name="connsiteY18" fmla="*/ 711683 h 3246048"/>
                  <a:gd name="connsiteX19" fmla="*/ 5422203 w 5709126"/>
                  <a:gd name="connsiteY19" fmla="*/ 970301 h 3246048"/>
                  <a:gd name="connsiteX20" fmla="*/ 5588458 w 5709126"/>
                  <a:gd name="connsiteY20" fmla="*/ 1312047 h 3246048"/>
                  <a:gd name="connsiteX21" fmla="*/ 5690058 w 5709126"/>
                  <a:gd name="connsiteY21" fmla="*/ 1644556 h 3246048"/>
                  <a:gd name="connsiteX22" fmla="*/ 5708530 w 5709126"/>
                  <a:gd name="connsiteY22" fmla="*/ 1921647 h 3246048"/>
                  <a:gd name="connsiteX23" fmla="*/ 5680821 w 5709126"/>
                  <a:gd name="connsiteY23" fmla="*/ 2115610 h 3246048"/>
                  <a:gd name="connsiteX24" fmla="*/ 5625403 w 5709126"/>
                  <a:gd name="connsiteY24" fmla="*/ 2198738 h 3246048"/>
                  <a:gd name="connsiteX25" fmla="*/ 5616167 w 5709126"/>
                  <a:gd name="connsiteY25" fmla="*/ 2171029 h 3246048"/>
                  <a:gd name="connsiteX26" fmla="*/ 5542276 w 5709126"/>
                  <a:gd name="connsiteY26" fmla="*/ 2078665 h 3246048"/>
                  <a:gd name="connsiteX27" fmla="*/ 5394494 w 5709126"/>
                  <a:gd name="connsiteY27" fmla="*/ 2041720 h 3246048"/>
                  <a:gd name="connsiteX28" fmla="*/ 5228239 w 5709126"/>
                  <a:gd name="connsiteY28" fmla="*/ 1995538 h 3246048"/>
                  <a:gd name="connsiteX29" fmla="*/ 4951149 w 5709126"/>
                  <a:gd name="connsiteY29" fmla="*/ 1967829 h 3246048"/>
                  <a:gd name="connsiteX30" fmla="*/ 4729476 w 5709126"/>
                  <a:gd name="connsiteY30" fmla="*/ 1967829 h 3246048"/>
                  <a:gd name="connsiteX31" fmla="*/ 4396966 w 5709126"/>
                  <a:gd name="connsiteY31" fmla="*/ 1986302 h 3246048"/>
                  <a:gd name="connsiteX32" fmla="*/ 4092167 w 5709126"/>
                  <a:gd name="connsiteY32" fmla="*/ 2050956 h 3246048"/>
                  <a:gd name="connsiteX33" fmla="*/ 3759657 w 5709126"/>
                  <a:gd name="connsiteY33" fmla="*/ 2134083 h 3246048"/>
                  <a:gd name="connsiteX34" fmla="*/ 3491803 w 5709126"/>
                  <a:gd name="connsiteY34" fmla="*/ 2235683 h 3246048"/>
                  <a:gd name="connsiteX35" fmla="*/ 3150058 w 5709126"/>
                  <a:gd name="connsiteY35" fmla="*/ 2374229 h 3246048"/>
                  <a:gd name="connsiteX36" fmla="*/ 2734421 w 5709126"/>
                  <a:gd name="connsiteY36" fmla="*/ 2549720 h 3246048"/>
                  <a:gd name="connsiteX37" fmla="*/ 2346494 w 5709126"/>
                  <a:gd name="connsiteY37" fmla="*/ 2771392 h 3246048"/>
                  <a:gd name="connsiteX38" fmla="*/ 2013985 w 5709126"/>
                  <a:gd name="connsiteY38" fmla="*/ 3002301 h 3246048"/>
                  <a:gd name="connsiteX39" fmla="*/ 1746130 w 5709126"/>
                  <a:gd name="connsiteY39" fmla="*/ 3242447 h 3246048"/>
                  <a:gd name="connsiteX40" fmla="*/ 1727658 w 5709126"/>
                  <a:gd name="connsiteY40" fmla="*/ 3131610 h 3246048"/>
                  <a:gd name="connsiteX41" fmla="*/ 1635294 w 5709126"/>
                  <a:gd name="connsiteY41" fmla="*/ 2928410 h 3246048"/>
                  <a:gd name="connsiteX42" fmla="*/ 1552167 w 5709126"/>
                  <a:gd name="connsiteY42" fmla="*/ 2743683 h 3246048"/>
                  <a:gd name="connsiteX43" fmla="*/ 1358203 w 5709126"/>
                  <a:gd name="connsiteY43" fmla="*/ 2512774 h 3246048"/>
                  <a:gd name="connsiteX44" fmla="*/ 1191949 w 5709126"/>
                  <a:gd name="connsiteY44" fmla="*/ 2364992 h 3246048"/>
                  <a:gd name="connsiteX45" fmla="*/ 933330 w 5709126"/>
                  <a:gd name="connsiteY45" fmla="*/ 2207974 h 3246048"/>
                  <a:gd name="connsiteX46" fmla="*/ 563876 w 5709126"/>
                  <a:gd name="connsiteY46" fmla="*/ 2023247 h 3246048"/>
                  <a:gd name="connsiteX47" fmla="*/ 286785 w 5709126"/>
                  <a:gd name="connsiteY47" fmla="*/ 1930883 h 3246048"/>
                  <a:gd name="connsiteX48" fmla="*/ 9694 w 5709126"/>
                  <a:gd name="connsiteY48" fmla="*/ 1875465 h 3246048"/>
                  <a:gd name="connsiteX0" fmla="*/ 9694 w 5709126"/>
                  <a:gd name="connsiteY0" fmla="*/ 1880811 h 3251394"/>
                  <a:gd name="connsiteX1" fmla="*/ 74348 w 5709126"/>
                  <a:gd name="connsiteY1" fmla="*/ 1686847 h 3251394"/>
                  <a:gd name="connsiteX2" fmla="*/ 185185 w 5709126"/>
                  <a:gd name="connsiteY2" fmla="*/ 1511357 h 3251394"/>
                  <a:gd name="connsiteX3" fmla="*/ 388385 w 5709126"/>
                  <a:gd name="connsiteY3" fmla="*/ 1280447 h 3251394"/>
                  <a:gd name="connsiteX4" fmla="*/ 702421 w 5709126"/>
                  <a:gd name="connsiteY4" fmla="*/ 1040302 h 3251394"/>
                  <a:gd name="connsiteX5" fmla="*/ 979512 w 5709126"/>
                  <a:gd name="connsiteY5" fmla="*/ 837102 h 3251394"/>
                  <a:gd name="connsiteX6" fmla="*/ 1339730 w 5709126"/>
                  <a:gd name="connsiteY6" fmla="*/ 615429 h 3251394"/>
                  <a:gd name="connsiteX7" fmla="*/ 1699949 w 5709126"/>
                  <a:gd name="connsiteY7" fmla="*/ 430702 h 3251394"/>
                  <a:gd name="connsiteX8" fmla="*/ 2143294 w 5709126"/>
                  <a:gd name="connsiteY8" fmla="*/ 245975 h 3251394"/>
                  <a:gd name="connsiteX9" fmla="*/ 2577404 w 5709126"/>
                  <a:gd name="connsiteY9" fmla="*/ 116665 h 3251394"/>
                  <a:gd name="connsiteX10" fmla="*/ 3002276 w 5709126"/>
                  <a:gd name="connsiteY10" fmla="*/ 42775 h 3251394"/>
                  <a:gd name="connsiteX11" fmla="*/ 3408676 w 5709126"/>
                  <a:gd name="connsiteY11" fmla="*/ 5829 h 3251394"/>
                  <a:gd name="connsiteX12" fmla="*/ 3824312 w 5709126"/>
                  <a:gd name="connsiteY12" fmla="*/ 5829 h 3251394"/>
                  <a:gd name="connsiteX13" fmla="*/ 4221476 w 5709126"/>
                  <a:gd name="connsiteY13" fmla="*/ 61248 h 3251394"/>
                  <a:gd name="connsiteX14" fmla="*/ 4563221 w 5709126"/>
                  <a:gd name="connsiteY14" fmla="*/ 125902 h 3251394"/>
                  <a:gd name="connsiteX15" fmla="*/ 4627876 w 5709126"/>
                  <a:gd name="connsiteY15" fmla="*/ 135138 h 3251394"/>
                  <a:gd name="connsiteX16" fmla="*/ 4886493 w 5709126"/>
                  <a:gd name="connsiteY16" fmla="*/ 282921 h 3251394"/>
                  <a:gd name="connsiteX17" fmla="*/ 5052749 w 5709126"/>
                  <a:gd name="connsiteY17" fmla="*/ 449174 h 3251394"/>
                  <a:gd name="connsiteX18" fmla="*/ 5255949 w 5709126"/>
                  <a:gd name="connsiteY18" fmla="*/ 717029 h 3251394"/>
                  <a:gd name="connsiteX19" fmla="*/ 5422203 w 5709126"/>
                  <a:gd name="connsiteY19" fmla="*/ 975647 h 3251394"/>
                  <a:gd name="connsiteX20" fmla="*/ 5588458 w 5709126"/>
                  <a:gd name="connsiteY20" fmla="*/ 1317393 h 3251394"/>
                  <a:gd name="connsiteX21" fmla="*/ 5690058 w 5709126"/>
                  <a:gd name="connsiteY21" fmla="*/ 1649902 h 3251394"/>
                  <a:gd name="connsiteX22" fmla="*/ 5708530 w 5709126"/>
                  <a:gd name="connsiteY22" fmla="*/ 1926993 h 3251394"/>
                  <a:gd name="connsiteX23" fmla="*/ 5680821 w 5709126"/>
                  <a:gd name="connsiteY23" fmla="*/ 2120956 h 3251394"/>
                  <a:gd name="connsiteX24" fmla="*/ 5625403 w 5709126"/>
                  <a:gd name="connsiteY24" fmla="*/ 2204084 h 3251394"/>
                  <a:gd name="connsiteX25" fmla="*/ 5616167 w 5709126"/>
                  <a:gd name="connsiteY25" fmla="*/ 2176375 h 3251394"/>
                  <a:gd name="connsiteX26" fmla="*/ 5542276 w 5709126"/>
                  <a:gd name="connsiteY26" fmla="*/ 2084011 h 3251394"/>
                  <a:gd name="connsiteX27" fmla="*/ 5394494 w 5709126"/>
                  <a:gd name="connsiteY27" fmla="*/ 2047066 h 3251394"/>
                  <a:gd name="connsiteX28" fmla="*/ 5228239 w 5709126"/>
                  <a:gd name="connsiteY28" fmla="*/ 2000884 h 3251394"/>
                  <a:gd name="connsiteX29" fmla="*/ 4951149 w 5709126"/>
                  <a:gd name="connsiteY29" fmla="*/ 1973175 h 3251394"/>
                  <a:gd name="connsiteX30" fmla="*/ 4729476 w 5709126"/>
                  <a:gd name="connsiteY30" fmla="*/ 1973175 h 3251394"/>
                  <a:gd name="connsiteX31" fmla="*/ 4396966 w 5709126"/>
                  <a:gd name="connsiteY31" fmla="*/ 1991648 h 3251394"/>
                  <a:gd name="connsiteX32" fmla="*/ 4092167 w 5709126"/>
                  <a:gd name="connsiteY32" fmla="*/ 2056302 h 3251394"/>
                  <a:gd name="connsiteX33" fmla="*/ 3759657 w 5709126"/>
                  <a:gd name="connsiteY33" fmla="*/ 2139429 h 3251394"/>
                  <a:gd name="connsiteX34" fmla="*/ 3491803 w 5709126"/>
                  <a:gd name="connsiteY34" fmla="*/ 2241029 h 3251394"/>
                  <a:gd name="connsiteX35" fmla="*/ 3150058 w 5709126"/>
                  <a:gd name="connsiteY35" fmla="*/ 2379575 h 3251394"/>
                  <a:gd name="connsiteX36" fmla="*/ 2734421 w 5709126"/>
                  <a:gd name="connsiteY36" fmla="*/ 2555066 h 3251394"/>
                  <a:gd name="connsiteX37" fmla="*/ 2346494 w 5709126"/>
                  <a:gd name="connsiteY37" fmla="*/ 2776738 h 3251394"/>
                  <a:gd name="connsiteX38" fmla="*/ 2013985 w 5709126"/>
                  <a:gd name="connsiteY38" fmla="*/ 3007647 h 3251394"/>
                  <a:gd name="connsiteX39" fmla="*/ 1746130 w 5709126"/>
                  <a:gd name="connsiteY39" fmla="*/ 3247793 h 3251394"/>
                  <a:gd name="connsiteX40" fmla="*/ 1727658 w 5709126"/>
                  <a:gd name="connsiteY40" fmla="*/ 3136956 h 3251394"/>
                  <a:gd name="connsiteX41" fmla="*/ 1635294 w 5709126"/>
                  <a:gd name="connsiteY41" fmla="*/ 2933756 h 3251394"/>
                  <a:gd name="connsiteX42" fmla="*/ 1552167 w 5709126"/>
                  <a:gd name="connsiteY42" fmla="*/ 2749029 h 3251394"/>
                  <a:gd name="connsiteX43" fmla="*/ 1358203 w 5709126"/>
                  <a:gd name="connsiteY43" fmla="*/ 2518120 h 3251394"/>
                  <a:gd name="connsiteX44" fmla="*/ 1191949 w 5709126"/>
                  <a:gd name="connsiteY44" fmla="*/ 2370338 h 3251394"/>
                  <a:gd name="connsiteX45" fmla="*/ 933330 w 5709126"/>
                  <a:gd name="connsiteY45" fmla="*/ 2213320 h 3251394"/>
                  <a:gd name="connsiteX46" fmla="*/ 563876 w 5709126"/>
                  <a:gd name="connsiteY46" fmla="*/ 2028593 h 3251394"/>
                  <a:gd name="connsiteX47" fmla="*/ 286785 w 5709126"/>
                  <a:gd name="connsiteY47" fmla="*/ 1936229 h 3251394"/>
                  <a:gd name="connsiteX48" fmla="*/ 9694 w 5709126"/>
                  <a:gd name="connsiteY48" fmla="*/ 1880811 h 3251394"/>
                  <a:gd name="connsiteX0" fmla="*/ 9694 w 5709126"/>
                  <a:gd name="connsiteY0" fmla="*/ 1879044 h 3249627"/>
                  <a:gd name="connsiteX1" fmla="*/ 74348 w 5709126"/>
                  <a:gd name="connsiteY1" fmla="*/ 1685080 h 3249627"/>
                  <a:gd name="connsiteX2" fmla="*/ 185185 w 5709126"/>
                  <a:gd name="connsiteY2" fmla="*/ 1509590 h 3249627"/>
                  <a:gd name="connsiteX3" fmla="*/ 388385 w 5709126"/>
                  <a:gd name="connsiteY3" fmla="*/ 1278680 h 3249627"/>
                  <a:gd name="connsiteX4" fmla="*/ 702421 w 5709126"/>
                  <a:gd name="connsiteY4" fmla="*/ 1038535 h 3249627"/>
                  <a:gd name="connsiteX5" fmla="*/ 979512 w 5709126"/>
                  <a:gd name="connsiteY5" fmla="*/ 835335 h 3249627"/>
                  <a:gd name="connsiteX6" fmla="*/ 1339730 w 5709126"/>
                  <a:gd name="connsiteY6" fmla="*/ 613662 h 3249627"/>
                  <a:gd name="connsiteX7" fmla="*/ 1699949 w 5709126"/>
                  <a:gd name="connsiteY7" fmla="*/ 428935 h 3249627"/>
                  <a:gd name="connsiteX8" fmla="*/ 2143294 w 5709126"/>
                  <a:gd name="connsiteY8" fmla="*/ 244208 h 3249627"/>
                  <a:gd name="connsiteX9" fmla="*/ 2577404 w 5709126"/>
                  <a:gd name="connsiteY9" fmla="*/ 114898 h 3249627"/>
                  <a:gd name="connsiteX10" fmla="*/ 3002276 w 5709126"/>
                  <a:gd name="connsiteY10" fmla="*/ 41008 h 3249627"/>
                  <a:gd name="connsiteX11" fmla="*/ 3408676 w 5709126"/>
                  <a:gd name="connsiteY11" fmla="*/ 4062 h 3249627"/>
                  <a:gd name="connsiteX12" fmla="*/ 3824312 w 5709126"/>
                  <a:gd name="connsiteY12" fmla="*/ 4062 h 3249627"/>
                  <a:gd name="connsiteX13" fmla="*/ 4221476 w 5709126"/>
                  <a:gd name="connsiteY13" fmla="*/ 31772 h 3249627"/>
                  <a:gd name="connsiteX14" fmla="*/ 4563221 w 5709126"/>
                  <a:gd name="connsiteY14" fmla="*/ 124135 h 3249627"/>
                  <a:gd name="connsiteX15" fmla="*/ 4627876 w 5709126"/>
                  <a:gd name="connsiteY15" fmla="*/ 133371 h 3249627"/>
                  <a:gd name="connsiteX16" fmla="*/ 4886493 w 5709126"/>
                  <a:gd name="connsiteY16" fmla="*/ 281154 h 3249627"/>
                  <a:gd name="connsiteX17" fmla="*/ 5052749 w 5709126"/>
                  <a:gd name="connsiteY17" fmla="*/ 447407 h 3249627"/>
                  <a:gd name="connsiteX18" fmla="*/ 5255949 w 5709126"/>
                  <a:gd name="connsiteY18" fmla="*/ 715262 h 3249627"/>
                  <a:gd name="connsiteX19" fmla="*/ 5422203 w 5709126"/>
                  <a:gd name="connsiteY19" fmla="*/ 973880 h 3249627"/>
                  <a:gd name="connsiteX20" fmla="*/ 5588458 w 5709126"/>
                  <a:gd name="connsiteY20" fmla="*/ 1315626 h 3249627"/>
                  <a:gd name="connsiteX21" fmla="*/ 5690058 w 5709126"/>
                  <a:gd name="connsiteY21" fmla="*/ 1648135 h 3249627"/>
                  <a:gd name="connsiteX22" fmla="*/ 5708530 w 5709126"/>
                  <a:gd name="connsiteY22" fmla="*/ 1925226 h 3249627"/>
                  <a:gd name="connsiteX23" fmla="*/ 5680821 w 5709126"/>
                  <a:gd name="connsiteY23" fmla="*/ 2119189 h 3249627"/>
                  <a:gd name="connsiteX24" fmla="*/ 5625403 w 5709126"/>
                  <a:gd name="connsiteY24" fmla="*/ 2202317 h 3249627"/>
                  <a:gd name="connsiteX25" fmla="*/ 5616167 w 5709126"/>
                  <a:gd name="connsiteY25" fmla="*/ 2174608 h 3249627"/>
                  <a:gd name="connsiteX26" fmla="*/ 5542276 w 5709126"/>
                  <a:gd name="connsiteY26" fmla="*/ 2082244 h 3249627"/>
                  <a:gd name="connsiteX27" fmla="*/ 5394494 w 5709126"/>
                  <a:gd name="connsiteY27" fmla="*/ 2045299 h 3249627"/>
                  <a:gd name="connsiteX28" fmla="*/ 5228239 w 5709126"/>
                  <a:gd name="connsiteY28" fmla="*/ 1999117 h 3249627"/>
                  <a:gd name="connsiteX29" fmla="*/ 4951149 w 5709126"/>
                  <a:gd name="connsiteY29" fmla="*/ 1971408 h 3249627"/>
                  <a:gd name="connsiteX30" fmla="*/ 4729476 w 5709126"/>
                  <a:gd name="connsiteY30" fmla="*/ 1971408 h 3249627"/>
                  <a:gd name="connsiteX31" fmla="*/ 4396966 w 5709126"/>
                  <a:gd name="connsiteY31" fmla="*/ 1989881 h 3249627"/>
                  <a:gd name="connsiteX32" fmla="*/ 4092167 w 5709126"/>
                  <a:gd name="connsiteY32" fmla="*/ 2054535 h 3249627"/>
                  <a:gd name="connsiteX33" fmla="*/ 3759657 w 5709126"/>
                  <a:gd name="connsiteY33" fmla="*/ 2137662 h 3249627"/>
                  <a:gd name="connsiteX34" fmla="*/ 3491803 w 5709126"/>
                  <a:gd name="connsiteY34" fmla="*/ 2239262 h 3249627"/>
                  <a:gd name="connsiteX35" fmla="*/ 3150058 w 5709126"/>
                  <a:gd name="connsiteY35" fmla="*/ 2377808 h 3249627"/>
                  <a:gd name="connsiteX36" fmla="*/ 2734421 w 5709126"/>
                  <a:gd name="connsiteY36" fmla="*/ 2553299 h 3249627"/>
                  <a:gd name="connsiteX37" fmla="*/ 2346494 w 5709126"/>
                  <a:gd name="connsiteY37" fmla="*/ 2774971 h 3249627"/>
                  <a:gd name="connsiteX38" fmla="*/ 2013985 w 5709126"/>
                  <a:gd name="connsiteY38" fmla="*/ 3005880 h 3249627"/>
                  <a:gd name="connsiteX39" fmla="*/ 1746130 w 5709126"/>
                  <a:gd name="connsiteY39" fmla="*/ 3246026 h 3249627"/>
                  <a:gd name="connsiteX40" fmla="*/ 1727658 w 5709126"/>
                  <a:gd name="connsiteY40" fmla="*/ 3135189 h 3249627"/>
                  <a:gd name="connsiteX41" fmla="*/ 1635294 w 5709126"/>
                  <a:gd name="connsiteY41" fmla="*/ 2931989 h 3249627"/>
                  <a:gd name="connsiteX42" fmla="*/ 1552167 w 5709126"/>
                  <a:gd name="connsiteY42" fmla="*/ 2747262 h 3249627"/>
                  <a:gd name="connsiteX43" fmla="*/ 1358203 w 5709126"/>
                  <a:gd name="connsiteY43" fmla="*/ 2516353 h 3249627"/>
                  <a:gd name="connsiteX44" fmla="*/ 1191949 w 5709126"/>
                  <a:gd name="connsiteY44" fmla="*/ 2368571 h 3249627"/>
                  <a:gd name="connsiteX45" fmla="*/ 933330 w 5709126"/>
                  <a:gd name="connsiteY45" fmla="*/ 2211553 h 3249627"/>
                  <a:gd name="connsiteX46" fmla="*/ 563876 w 5709126"/>
                  <a:gd name="connsiteY46" fmla="*/ 2026826 h 3249627"/>
                  <a:gd name="connsiteX47" fmla="*/ 286785 w 5709126"/>
                  <a:gd name="connsiteY47" fmla="*/ 1934462 h 3249627"/>
                  <a:gd name="connsiteX48" fmla="*/ 9694 w 5709126"/>
                  <a:gd name="connsiteY48" fmla="*/ 1879044 h 3249627"/>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63221 w 5709126"/>
                  <a:gd name="connsiteY14" fmla="*/ 124135 h 3248940"/>
                  <a:gd name="connsiteX15" fmla="*/ 4627876 w 5709126"/>
                  <a:gd name="connsiteY15" fmla="*/ 133371 h 3248940"/>
                  <a:gd name="connsiteX16" fmla="*/ 4886493 w 5709126"/>
                  <a:gd name="connsiteY16" fmla="*/ 281154 h 3248940"/>
                  <a:gd name="connsiteX17" fmla="*/ 5052749 w 5709126"/>
                  <a:gd name="connsiteY17" fmla="*/ 447407 h 3248940"/>
                  <a:gd name="connsiteX18" fmla="*/ 5255949 w 5709126"/>
                  <a:gd name="connsiteY18" fmla="*/ 715262 h 3248940"/>
                  <a:gd name="connsiteX19" fmla="*/ 5422203 w 5709126"/>
                  <a:gd name="connsiteY19" fmla="*/ 973880 h 3248940"/>
                  <a:gd name="connsiteX20" fmla="*/ 5588458 w 5709126"/>
                  <a:gd name="connsiteY20" fmla="*/ 1315626 h 3248940"/>
                  <a:gd name="connsiteX21" fmla="*/ 5690058 w 5709126"/>
                  <a:gd name="connsiteY21" fmla="*/ 1648135 h 3248940"/>
                  <a:gd name="connsiteX22" fmla="*/ 5708530 w 5709126"/>
                  <a:gd name="connsiteY22" fmla="*/ 1925226 h 3248940"/>
                  <a:gd name="connsiteX23" fmla="*/ 5680821 w 5709126"/>
                  <a:gd name="connsiteY23" fmla="*/ 2119189 h 3248940"/>
                  <a:gd name="connsiteX24" fmla="*/ 5625403 w 5709126"/>
                  <a:gd name="connsiteY24" fmla="*/ 2202317 h 3248940"/>
                  <a:gd name="connsiteX25" fmla="*/ 5616167 w 5709126"/>
                  <a:gd name="connsiteY25" fmla="*/ 2174608 h 3248940"/>
                  <a:gd name="connsiteX26" fmla="*/ 5542276 w 5709126"/>
                  <a:gd name="connsiteY26" fmla="*/ 2082244 h 3248940"/>
                  <a:gd name="connsiteX27" fmla="*/ 5394494 w 5709126"/>
                  <a:gd name="connsiteY27" fmla="*/ 2045299 h 3248940"/>
                  <a:gd name="connsiteX28" fmla="*/ 5228239 w 5709126"/>
                  <a:gd name="connsiteY28" fmla="*/ 1999117 h 3248940"/>
                  <a:gd name="connsiteX29" fmla="*/ 4951149 w 5709126"/>
                  <a:gd name="connsiteY29" fmla="*/ 1971408 h 3248940"/>
                  <a:gd name="connsiteX30" fmla="*/ 4729476 w 5709126"/>
                  <a:gd name="connsiteY30" fmla="*/ 1971408 h 3248940"/>
                  <a:gd name="connsiteX31" fmla="*/ 4396966 w 5709126"/>
                  <a:gd name="connsiteY31" fmla="*/ 1989881 h 3248940"/>
                  <a:gd name="connsiteX32" fmla="*/ 4092167 w 5709126"/>
                  <a:gd name="connsiteY32" fmla="*/ 2054535 h 3248940"/>
                  <a:gd name="connsiteX33" fmla="*/ 3759657 w 5709126"/>
                  <a:gd name="connsiteY33" fmla="*/ 2137662 h 3248940"/>
                  <a:gd name="connsiteX34" fmla="*/ 3491803 w 5709126"/>
                  <a:gd name="connsiteY34" fmla="*/ 2239262 h 3248940"/>
                  <a:gd name="connsiteX35" fmla="*/ 3150058 w 5709126"/>
                  <a:gd name="connsiteY35" fmla="*/ 2377808 h 3248940"/>
                  <a:gd name="connsiteX36" fmla="*/ 2734421 w 5709126"/>
                  <a:gd name="connsiteY36" fmla="*/ 2553299 h 3248940"/>
                  <a:gd name="connsiteX37" fmla="*/ 2346494 w 5709126"/>
                  <a:gd name="connsiteY37" fmla="*/ 2774971 h 3248940"/>
                  <a:gd name="connsiteX38" fmla="*/ 2013985 w 5709126"/>
                  <a:gd name="connsiteY38" fmla="*/ 3005880 h 3248940"/>
                  <a:gd name="connsiteX39" fmla="*/ 1746130 w 5709126"/>
                  <a:gd name="connsiteY39" fmla="*/ 3246026 h 3248940"/>
                  <a:gd name="connsiteX40" fmla="*/ 1690713 w 5709126"/>
                  <a:gd name="connsiteY40" fmla="*/ 3125953 h 3248940"/>
                  <a:gd name="connsiteX41" fmla="*/ 1635294 w 5709126"/>
                  <a:gd name="connsiteY41" fmla="*/ 2931989 h 3248940"/>
                  <a:gd name="connsiteX42" fmla="*/ 1552167 w 5709126"/>
                  <a:gd name="connsiteY42" fmla="*/ 2747262 h 3248940"/>
                  <a:gd name="connsiteX43" fmla="*/ 1358203 w 5709126"/>
                  <a:gd name="connsiteY43" fmla="*/ 2516353 h 3248940"/>
                  <a:gd name="connsiteX44" fmla="*/ 1191949 w 5709126"/>
                  <a:gd name="connsiteY44" fmla="*/ 2368571 h 3248940"/>
                  <a:gd name="connsiteX45" fmla="*/ 933330 w 5709126"/>
                  <a:gd name="connsiteY45" fmla="*/ 2211553 h 3248940"/>
                  <a:gd name="connsiteX46" fmla="*/ 563876 w 5709126"/>
                  <a:gd name="connsiteY46" fmla="*/ 2026826 h 3248940"/>
                  <a:gd name="connsiteX47" fmla="*/ 286785 w 5709126"/>
                  <a:gd name="connsiteY47" fmla="*/ 1934462 h 3248940"/>
                  <a:gd name="connsiteX48" fmla="*/ 9694 w 5709126"/>
                  <a:gd name="connsiteY48"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63221 w 5709126"/>
                  <a:gd name="connsiteY14" fmla="*/ 124135 h 3248940"/>
                  <a:gd name="connsiteX15" fmla="*/ 4627876 w 5709126"/>
                  <a:gd name="connsiteY15" fmla="*/ 133371 h 3248940"/>
                  <a:gd name="connsiteX16" fmla="*/ 4886493 w 5709126"/>
                  <a:gd name="connsiteY16" fmla="*/ 281154 h 3248940"/>
                  <a:gd name="connsiteX17" fmla="*/ 5052749 w 5709126"/>
                  <a:gd name="connsiteY17" fmla="*/ 447407 h 3248940"/>
                  <a:gd name="connsiteX18" fmla="*/ 5255949 w 5709126"/>
                  <a:gd name="connsiteY18" fmla="*/ 715262 h 3248940"/>
                  <a:gd name="connsiteX19" fmla="*/ 5422203 w 5709126"/>
                  <a:gd name="connsiteY19" fmla="*/ 973880 h 3248940"/>
                  <a:gd name="connsiteX20" fmla="*/ 5588458 w 5709126"/>
                  <a:gd name="connsiteY20" fmla="*/ 1315626 h 3248940"/>
                  <a:gd name="connsiteX21" fmla="*/ 5690058 w 5709126"/>
                  <a:gd name="connsiteY21" fmla="*/ 1648135 h 3248940"/>
                  <a:gd name="connsiteX22" fmla="*/ 5708530 w 5709126"/>
                  <a:gd name="connsiteY22" fmla="*/ 1925226 h 3248940"/>
                  <a:gd name="connsiteX23" fmla="*/ 5680821 w 5709126"/>
                  <a:gd name="connsiteY23" fmla="*/ 2119189 h 3248940"/>
                  <a:gd name="connsiteX24" fmla="*/ 5625403 w 5709126"/>
                  <a:gd name="connsiteY24" fmla="*/ 2202317 h 3248940"/>
                  <a:gd name="connsiteX25" fmla="*/ 5616167 w 5709126"/>
                  <a:gd name="connsiteY25" fmla="*/ 2174608 h 3248940"/>
                  <a:gd name="connsiteX26" fmla="*/ 5533040 w 5709126"/>
                  <a:gd name="connsiteY26" fmla="*/ 2109953 h 3248940"/>
                  <a:gd name="connsiteX27" fmla="*/ 5394494 w 5709126"/>
                  <a:gd name="connsiteY27" fmla="*/ 2045299 h 3248940"/>
                  <a:gd name="connsiteX28" fmla="*/ 5228239 w 5709126"/>
                  <a:gd name="connsiteY28" fmla="*/ 1999117 h 3248940"/>
                  <a:gd name="connsiteX29" fmla="*/ 4951149 w 5709126"/>
                  <a:gd name="connsiteY29" fmla="*/ 1971408 h 3248940"/>
                  <a:gd name="connsiteX30" fmla="*/ 4729476 w 5709126"/>
                  <a:gd name="connsiteY30" fmla="*/ 1971408 h 3248940"/>
                  <a:gd name="connsiteX31" fmla="*/ 4396966 w 5709126"/>
                  <a:gd name="connsiteY31" fmla="*/ 1989881 h 3248940"/>
                  <a:gd name="connsiteX32" fmla="*/ 4092167 w 5709126"/>
                  <a:gd name="connsiteY32" fmla="*/ 2054535 h 3248940"/>
                  <a:gd name="connsiteX33" fmla="*/ 3759657 w 5709126"/>
                  <a:gd name="connsiteY33" fmla="*/ 2137662 h 3248940"/>
                  <a:gd name="connsiteX34" fmla="*/ 3491803 w 5709126"/>
                  <a:gd name="connsiteY34" fmla="*/ 2239262 h 3248940"/>
                  <a:gd name="connsiteX35" fmla="*/ 3150058 w 5709126"/>
                  <a:gd name="connsiteY35" fmla="*/ 2377808 h 3248940"/>
                  <a:gd name="connsiteX36" fmla="*/ 2734421 w 5709126"/>
                  <a:gd name="connsiteY36" fmla="*/ 2553299 h 3248940"/>
                  <a:gd name="connsiteX37" fmla="*/ 2346494 w 5709126"/>
                  <a:gd name="connsiteY37" fmla="*/ 2774971 h 3248940"/>
                  <a:gd name="connsiteX38" fmla="*/ 2013985 w 5709126"/>
                  <a:gd name="connsiteY38" fmla="*/ 3005880 h 3248940"/>
                  <a:gd name="connsiteX39" fmla="*/ 1746130 w 5709126"/>
                  <a:gd name="connsiteY39" fmla="*/ 3246026 h 3248940"/>
                  <a:gd name="connsiteX40" fmla="*/ 1690713 w 5709126"/>
                  <a:gd name="connsiteY40" fmla="*/ 3125953 h 3248940"/>
                  <a:gd name="connsiteX41" fmla="*/ 1635294 w 5709126"/>
                  <a:gd name="connsiteY41" fmla="*/ 2931989 h 3248940"/>
                  <a:gd name="connsiteX42" fmla="*/ 1552167 w 5709126"/>
                  <a:gd name="connsiteY42" fmla="*/ 2747262 h 3248940"/>
                  <a:gd name="connsiteX43" fmla="*/ 1358203 w 5709126"/>
                  <a:gd name="connsiteY43" fmla="*/ 2516353 h 3248940"/>
                  <a:gd name="connsiteX44" fmla="*/ 1191949 w 5709126"/>
                  <a:gd name="connsiteY44" fmla="*/ 2368571 h 3248940"/>
                  <a:gd name="connsiteX45" fmla="*/ 933330 w 5709126"/>
                  <a:gd name="connsiteY45" fmla="*/ 2211553 h 3248940"/>
                  <a:gd name="connsiteX46" fmla="*/ 563876 w 5709126"/>
                  <a:gd name="connsiteY46" fmla="*/ 2026826 h 3248940"/>
                  <a:gd name="connsiteX47" fmla="*/ 286785 w 5709126"/>
                  <a:gd name="connsiteY47" fmla="*/ 1934462 h 3248940"/>
                  <a:gd name="connsiteX48" fmla="*/ 9694 w 5709126"/>
                  <a:gd name="connsiteY48"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63221 w 5709126"/>
                  <a:gd name="connsiteY15" fmla="*/ 124135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563876 w 5709126"/>
                  <a:gd name="connsiteY47" fmla="*/ 2026826 h 3248940"/>
                  <a:gd name="connsiteX48" fmla="*/ 286785 w 5709126"/>
                  <a:gd name="connsiteY48" fmla="*/ 1934462 h 3248940"/>
                  <a:gd name="connsiteX49" fmla="*/ 9694 w 5709126"/>
                  <a:gd name="connsiteY49"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90649 w 5709126"/>
                  <a:gd name="connsiteY15" fmla="*/ 118051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563876 w 5709126"/>
                  <a:gd name="connsiteY47" fmla="*/ 2026826 h 3248940"/>
                  <a:gd name="connsiteX48" fmla="*/ 286785 w 5709126"/>
                  <a:gd name="connsiteY48" fmla="*/ 1934462 h 3248940"/>
                  <a:gd name="connsiteX49" fmla="*/ 9694 w 5709126"/>
                  <a:gd name="connsiteY49"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90649 w 5709126"/>
                  <a:gd name="connsiteY15" fmla="*/ 118051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286785 w 5709126"/>
                  <a:gd name="connsiteY47" fmla="*/ 1934462 h 3248940"/>
                  <a:gd name="connsiteX48" fmla="*/ 9694 w 5709126"/>
                  <a:gd name="connsiteY48" fmla="*/ 1879044 h 3248940"/>
                  <a:gd name="connsiteX0" fmla="*/ 54926 w 5754358"/>
                  <a:gd name="connsiteY0" fmla="*/ 1879044 h 3248940"/>
                  <a:gd name="connsiteX1" fmla="*/ 119580 w 5754358"/>
                  <a:gd name="connsiteY1" fmla="*/ 1685080 h 3248940"/>
                  <a:gd name="connsiteX2" fmla="*/ 230417 w 5754358"/>
                  <a:gd name="connsiteY2" fmla="*/ 1509590 h 3248940"/>
                  <a:gd name="connsiteX3" fmla="*/ 433617 w 5754358"/>
                  <a:gd name="connsiteY3" fmla="*/ 1278680 h 3248940"/>
                  <a:gd name="connsiteX4" fmla="*/ 747653 w 5754358"/>
                  <a:gd name="connsiteY4" fmla="*/ 1038535 h 3248940"/>
                  <a:gd name="connsiteX5" fmla="*/ 1024744 w 5754358"/>
                  <a:gd name="connsiteY5" fmla="*/ 835335 h 3248940"/>
                  <a:gd name="connsiteX6" fmla="*/ 1384962 w 5754358"/>
                  <a:gd name="connsiteY6" fmla="*/ 613662 h 3248940"/>
                  <a:gd name="connsiteX7" fmla="*/ 1745181 w 5754358"/>
                  <a:gd name="connsiteY7" fmla="*/ 428935 h 3248940"/>
                  <a:gd name="connsiteX8" fmla="*/ 2188526 w 5754358"/>
                  <a:gd name="connsiteY8" fmla="*/ 244208 h 3248940"/>
                  <a:gd name="connsiteX9" fmla="*/ 2622636 w 5754358"/>
                  <a:gd name="connsiteY9" fmla="*/ 114898 h 3248940"/>
                  <a:gd name="connsiteX10" fmla="*/ 3047508 w 5754358"/>
                  <a:gd name="connsiteY10" fmla="*/ 41008 h 3248940"/>
                  <a:gd name="connsiteX11" fmla="*/ 3453908 w 5754358"/>
                  <a:gd name="connsiteY11" fmla="*/ 4062 h 3248940"/>
                  <a:gd name="connsiteX12" fmla="*/ 3869544 w 5754358"/>
                  <a:gd name="connsiteY12" fmla="*/ 4062 h 3248940"/>
                  <a:gd name="connsiteX13" fmla="*/ 4266708 w 5754358"/>
                  <a:gd name="connsiteY13" fmla="*/ 31772 h 3248940"/>
                  <a:gd name="connsiteX14" fmla="*/ 4587828 w 5754358"/>
                  <a:gd name="connsiteY14" fmla="*/ 92729 h 3248940"/>
                  <a:gd name="connsiteX15" fmla="*/ 4635881 w 5754358"/>
                  <a:gd name="connsiteY15" fmla="*/ 118051 h 3248940"/>
                  <a:gd name="connsiteX16" fmla="*/ 4673108 w 5754358"/>
                  <a:gd name="connsiteY16" fmla="*/ 133371 h 3248940"/>
                  <a:gd name="connsiteX17" fmla="*/ 4931725 w 5754358"/>
                  <a:gd name="connsiteY17" fmla="*/ 281154 h 3248940"/>
                  <a:gd name="connsiteX18" fmla="*/ 5097981 w 5754358"/>
                  <a:gd name="connsiteY18" fmla="*/ 447407 h 3248940"/>
                  <a:gd name="connsiteX19" fmla="*/ 5301181 w 5754358"/>
                  <a:gd name="connsiteY19" fmla="*/ 715262 h 3248940"/>
                  <a:gd name="connsiteX20" fmla="*/ 5467435 w 5754358"/>
                  <a:gd name="connsiteY20" fmla="*/ 973880 h 3248940"/>
                  <a:gd name="connsiteX21" fmla="*/ 5633690 w 5754358"/>
                  <a:gd name="connsiteY21" fmla="*/ 1315626 h 3248940"/>
                  <a:gd name="connsiteX22" fmla="*/ 5735290 w 5754358"/>
                  <a:gd name="connsiteY22" fmla="*/ 1648135 h 3248940"/>
                  <a:gd name="connsiteX23" fmla="*/ 5753762 w 5754358"/>
                  <a:gd name="connsiteY23" fmla="*/ 1925226 h 3248940"/>
                  <a:gd name="connsiteX24" fmla="*/ 5726053 w 5754358"/>
                  <a:gd name="connsiteY24" fmla="*/ 2119189 h 3248940"/>
                  <a:gd name="connsiteX25" fmla="*/ 5670635 w 5754358"/>
                  <a:gd name="connsiteY25" fmla="*/ 2202317 h 3248940"/>
                  <a:gd name="connsiteX26" fmla="*/ 5661399 w 5754358"/>
                  <a:gd name="connsiteY26" fmla="*/ 2174608 h 3248940"/>
                  <a:gd name="connsiteX27" fmla="*/ 5578272 w 5754358"/>
                  <a:gd name="connsiteY27" fmla="*/ 2109953 h 3248940"/>
                  <a:gd name="connsiteX28" fmla="*/ 5439726 w 5754358"/>
                  <a:gd name="connsiteY28" fmla="*/ 2045299 h 3248940"/>
                  <a:gd name="connsiteX29" fmla="*/ 5273471 w 5754358"/>
                  <a:gd name="connsiteY29" fmla="*/ 1999117 h 3248940"/>
                  <a:gd name="connsiteX30" fmla="*/ 4996381 w 5754358"/>
                  <a:gd name="connsiteY30" fmla="*/ 1971408 h 3248940"/>
                  <a:gd name="connsiteX31" fmla="*/ 4774708 w 5754358"/>
                  <a:gd name="connsiteY31" fmla="*/ 1971408 h 3248940"/>
                  <a:gd name="connsiteX32" fmla="*/ 4442198 w 5754358"/>
                  <a:gd name="connsiteY32" fmla="*/ 1989881 h 3248940"/>
                  <a:gd name="connsiteX33" fmla="*/ 4137399 w 5754358"/>
                  <a:gd name="connsiteY33" fmla="*/ 2054535 h 3248940"/>
                  <a:gd name="connsiteX34" fmla="*/ 3804889 w 5754358"/>
                  <a:gd name="connsiteY34" fmla="*/ 2137662 h 3248940"/>
                  <a:gd name="connsiteX35" fmla="*/ 3537035 w 5754358"/>
                  <a:gd name="connsiteY35" fmla="*/ 2239262 h 3248940"/>
                  <a:gd name="connsiteX36" fmla="*/ 3195290 w 5754358"/>
                  <a:gd name="connsiteY36" fmla="*/ 2377808 h 3248940"/>
                  <a:gd name="connsiteX37" fmla="*/ 2779653 w 5754358"/>
                  <a:gd name="connsiteY37" fmla="*/ 2553299 h 3248940"/>
                  <a:gd name="connsiteX38" fmla="*/ 2391726 w 5754358"/>
                  <a:gd name="connsiteY38" fmla="*/ 2774971 h 3248940"/>
                  <a:gd name="connsiteX39" fmla="*/ 2059217 w 5754358"/>
                  <a:gd name="connsiteY39" fmla="*/ 3005880 h 3248940"/>
                  <a:gd name="connsiteX40" fmla="*/ 1791362 w 5754358"/>
                  <a:gd name="connsiteY40" fmla="*/ 3246026 h 3248940"/>
                  <a:gd name="connsiteX41" fmla="*/ 1735945 w 5754358"/>
                  <a:gd name="connsiteY41" fmla="*/ 3125953 h 3248940"/>
                  <a:gd name="connsiteX42" fmla="*/ 1680526 w 5754358"/>
                  <a:gd name="connsiteY42" fmla="*/ 2931989 h 3248940"/>
                  <a:gd name="connsiteX43" fmla="*/ 1597399 w 5754358"/>
                  <a:gd name="connsiteY43" fmla="*/ 2747262 h 3248940"/>
                  <a:gd name="connsiteX44" fmla="*/ 1403435 w 5754358"/>
                  <a:gd name="connsiteY44" fmla="*/ 2516353 h 3248940"/>
                  <a:gd name="connsiteX45" fmla="*/ 1237181 w 5754358"/>
                  <a:gd name="connsiteY45" fmla="*/ 2368571 h 3248940"/>
                  <a:gd name="connsiteX46" fmla="*/ 978562 w 5754358"/>
                  <a:gd name="connsiteY46" fmla="*/ 2211553 h 3248940"/>
                  <a:gd name="connsiteX47" fmla="*/ 54926 w 5754358"/>
                  <a:gd name="connsiteY47" fmla="*/ 1879044 h 3248940"/>
                  <a:gd name="connsiteX0" fmla="*/ 901641 w 5677437"/>
                  <a:gd name="connsiteY0" fmla="*/ 2211553 h 3248940"/>
                  <a:gd name="connsiteX1" fmla="*/ 42659 w 5677437"/>
                  <a:gd name="connsiteY1" fmla="*/ 1685080 h 3248940"/>
                  <a:gd name="connsiteX2" fmla="*/ 153496 w 5677437"/>
                  <a:gd name="connsiteY2" fmla="*/ 1509590 h 3248940"/>
                  <a:gd name="connsiteX3" fmla="*/ 356696 w 5677437"/>
                  <a:gd name="connsiteY3" fmla="*/ 1278680 h 3248940"/>
                  <a:gd name="connsiteX4" fmla="*/ 670732 w 5677437"/>
                  <a:gd name="connsiteY4" fmla="*/ 1038535 h 3248940"/>
                  <a:gd name="connsiteX5" fmla="*/ 947823 w 5677437"/>
                  <a:gd name="connsiteY5" fmla="*/ 835335 h 3248940"/>
                  <a:gd name="connsiteX6" fmla="*/ 1308041 w 5677437"/>
                  <a:gd name="connsiteY6" fmla="*/ 613662 h 3248940"/>
                  <a:gd name="connsiteX7" fmla="*/ 1668260 w 5677437"/>
                  <a:gd name="connsiteY7" fmla="*/ 428935 h 3248940"/>
                  <a:gd name="connsiteX8" fmla="*/ 2111605 w 5677437"/>
                  <a:gd name="connsiteY8" fmla="*/ 244208 h 3248940"/>
                  <a:gd name="connsiteX9" fmla="*/ 2545715 w 5677437"/>
                  <a:gd name="connsiteY9" fmla="*/ 114898 h 3248940"/>
                  <a:gd name="connsiteX10" fmla="*/ 2970587 w 5677437"/>
                  <a:gd name="connsiteY10" fmla="*/ 41008 h 3248940"/>
                  <a:gd name="connsiteX11" fmla="*/ 3376987 w 5677437"/>
                  <a:gd name="connsiteY11" fmla="*/ 4062 h 3248940"/>
                  <a:gd name="connsiteX12" fmla="*/ 3792623 w 5677437"/>
                  <a:gd name="connsiteY12" fmla="*/ 4062 h 3248940"/>
                  <a:gd name="connsiteX13" fmla="*/ 4189787 w 5677437"/>
                  <a:gd name="connsiteY13" fmla="*/ 31772 h 3248940"/>
                  <a:gd name="connsiteX14" fmla="*/ 4510907 w 5677437"/>
                  <a:gd name="connsiteY14" fmla="*/ 92729 h 3248940"/>
                  <a:gd name="connsiteX15" fmla="*/ 4558960 w 5677437"/>
                  <a:gd name="connsiteY15" fmla="*/ 118051 h 3248940"/>
                  <a:gd name="connsiteX16" fmla="*/ 4596187 w 5677437"/>
                  <a:gd name="connsiteY16" fmla="*/ 133371 h 3248940"/>
                  <a:gd name="connsiteX17" fmla="*/ 4854804 w 5677437"/>
                  <a:gd name="connsiteY17" fmla="*/ 281154 h 3248940"/>
                  <a:gd name="connsiteX18" fmla="*/ 5021060 w 5677437"/>
                  <a:gd name="connsiteY18" fmla="*/ 447407 h 3248940"/>
                  <a:gd name="connsiteX19" fmla="*/ 5224260 w 5677437"/>
                  <a:gd name="connsiteY19" fmla="*/ 715262 h 3248940"/>
                  <a:gd name="connsiteX20" fmla="*/ 5390514 w 5677437"/>
                  <a:gd name="connsiteY20" fmla="*/ 973880 h 3248940"/>
                  <a:gd name="connsiteX21" fmla="*/ 5556769 w 5677437"/>
                  <a:gd name="connsiteY21" fmla="*/ 1315626 h 3248940"/>
                  <a:gd name="connsiteX22" fmla="*/ 5658369 w 5677437"/>
                  <a:gd name="connsiteY22" fmla="*/ 1648135 h 3248940"/>
                  <a:gd name="connsiteX23" fmla="*/ 5676841 w 5677437"/>
                  <a:gd name="connsiteY23" fmla="*/ 1925226 h 3248940"/>
                  <a:gd name="connsiteX24" fmla="*/ 5649132 w 5677437"/>
                  <a:gd name="connsiteY24" fmla="*/ 2119189 h 3248940"/>
                  <a:gd name="connsiteX25" fmla="*/ 5593714 w 5677437"/>
                  <a:gd name="connsiteY25" fmla="*/ 2202317 h 3248940"/>
                  <a:gd name="connsiteX26" fmla="*/ 5584478 w 5677437"/>
                  <a:gd name="connsiteY26" fmla="*/ 2174608 h 3248940"/>
                  <a:gd name="connsiteX27" fmla="*/ 5501351 w 5677437"/>
                  <a:gd name="connsiteY27" fmla="*/ 2109953 h 3248940"/>
                  <a:gd name="connsiteX28" fmla="*/ 5362805 w 5677437"/>
                  <a:gd name="connsiteY28" fmla="*/ 2045299 h 3248940"/>
                  <a:gd name="connsiteX29" fmla="*/ 5196550 w 5677437"/>
                  <a:gd name="connsiteY29" fmla="*/ 1999117 h 3248940"/>
                  <a:gd name="connsiteX30" fmla="*/ 4919460 w 5677437"/>
                  <a:gd name="connsiteY30" fmla="*/ 1971408 h 3248940"/>
                  <a:gd name="connsiteX31" fmla="*/ 4697787 w 5677437"/>
                  <a:gd name="connsiteY31" fmla="*/ 1971408 h 3248940"/>
                  <a:gd name="connsiteX32" fmla="*/ 4365277 w 5677437"/>
                  <a:gd name="connsiteY32" fmla="*/ 1989881 h 3248940"/>
                  <a:gd name="connsiteX33" fmla="*/ 4060478 w 5677437"/>
                  <a:gd name="connsiteY33" fmla="*/ 2054535 h 3248940"/>
                  <a:gd name="connsiteX34" fmla="*/ 3727968 w 5677437"/>
                  <a:gd name="connsiteY34" fmla="*/ 2137662 h 3248940"/>
                  <a:gd name="connsiteX35" fmla="*/ 3460114 w 5677437"/>
                  <a:gd name="connsiteY35" fmla="*/ 2239262 h 3248940"/>
                  <a:gd name="connsiteX36" fmla="*/ 3118369 w 5677437"/>
                  <a:gd name="connsiteY36" fmla="*/ 2377808 h 3248940"/>
                  <a:gd name="connsiteX37" fmla="*/ 2702732 w 5677437"/>
                  <a:gd name="connsiteY37" fmla="*/ 2553299 h 3248940"/>
                  <a:gd name="connsiteX38" fmla="*/ 2314805 w 5677437"/>
                  <a:gd name="connsiteY38" fmla="*/ 2774971 h 3248940"/>
                  <a:gd name="connsiteX39" fmla="*/ 1982296 w 5677437"/>
                  <a:gd name="connsiteY39" fmla="*/ 3005880 h 3248940"/>
                  <a:gd name="connsiteX40" fmla="*/ 1714441 w 5677437"/>
                  <a:gd name="connsiteY40" fmla="*/ 3246026 h 3248940"/>
                  <a:gd name="connsiteX41" fmla="*/ 1659024 w 5677437"/>
                  <a:gd name="connsiteY41" fmla="*/ 3125953 h 3248940"/>
                  <a:gd name="connsiteX42" fmla="*/ 1603605 w 5677437"/>
                  <a:gd name="connsiteY42" fmla="*/ 2931989 h 3248940"/>
                  <a:gd name="connsiteX43" fmla="*/ 1520478 w 5677437"/>
                  <a:gd name="connsiteY43" fmla="*/ 2747262 h 3248940"/>
                  <a:gd name="connsiteX44" fmla="*/ 1326514 w 5677437"/>
                  <a:gd name="connsiteY44" fmla="*/ 2516353 h 3248940"/>
                  <a:gd name="connsiteX45" fmla="*/ 1160260 w 5677437"/>
                  <a:gd name="connsiteY45" fmla="*/ 2368571 h 3248940"/>
                  <a:gd name="connsiteX46" fmla="*/ 901641 w 5677437"/>
                  <a:gd name="connsiteY46" fmla="*/ 2211553 h 3248940"/>
                  <a:gd name="connsiteX0" fmla="*/ 770645 w 5546441"/>
                  <a:gd name="connsiteY0" fmla="*/ 2211553 h 3248940"/>
                  <a:gd name="connsiteX1" fmla="*/ 22500 w 5546441"/>
                  <a:gd name="connsiteY1" fmla="*/ 1509590 h 3248940"/>
                  <a:gd name="connsiteX2" fmla="*/ 225700 w 5546441"/>
                  <a:gd name="connsiteY2" fmla="*/ 1278680 h 3248940"/>
                  <a:gd name="connsiteX3" fmla="*/ 539736 w 5546441"/>
                  <a:gd name="connsiteY3" fmla="*/ 1038535 h 3248940"/>
                  <a:gd name="connsiteX4" fmla="*/ 816827 w 5546441"/>
                  <a:gd name="connsiteY4" fmla="*/ 835335 h 3248940"/>
                  <a:gd name="connsiteX5" fmla="*/ 1177045 w 5546441"/>
                  <a:gd name="connsiteY5" fmla="*/ 613662 h 3248940"/>
                  <a:gd name="connsiteX6" fmla="*/ 1537264 w 5546441"/>
                  <a:gd name="connsiteY6" fmla="*/ 428935 h 3248940"/>
                  <a:gd name="connsiteX7" fmla="*/ 1980609 w 5546441"/>
                  <a:gd name="connsiteY7" fmla="*/ 244208 h 3248940"/>
                  <a:gd name="connsiteX8" fmla="*/ 2414719 w 5546441"/>
                  <a:gd name="connsiteY8" fmla="*/ 114898 h 3248940"/>
                  <a:gd name="connsiteX9" fmla="*/ 2839591 w 5546441"/>
                  <a:gd name="connsiteY9" fmla="*/ 41008 h 3248940"/>
                  <a:gd name="connsiteX10" fmla="*/ 3245991 w 5546441"/>
                  <a:gd name="connsiteY10" fmla="*/ 4062 h 3248940"/>
                  <a:gd name="connsiteX11" fmla="*/ 3661627 w 5546441"/>
                  <a:gd name="connsiteY11" fmla="*/ 4062 h 3248940"/>
                  <a:gd name="connsiteX12" fmla="*/ 4058791 w 5546441"/>
                  <a:gd name="connsiteY12" fmla="*/ 31772 h 3248940"/>
                  <a:gd name="connsiteX13" fmla="*/ 4379911 w 5546441"/>
                  <a:gd name="connsiteY13" fmla="*/ 92729 h 3248940"/>
                  <a:gd name="connsiteX14" fmla="*/ 4427964 w 5546441"/>
                  <a:gd name="connsiteY14" fmla="*/ 118051 h 3248940"/>
                  <a:gd name="connsiteX15" fmla="*/ 4465191 w 5546441"/>
                  <a:gd name="connsiteY15" fmla="*/ 133371 h 3248940"/>
                  <a:gd name="connsiteX16" fmla="*/ 4723808 w 5546441"/>
                  <a:gd name="connsiteY16" fmla="*/ 281154 h 3248940"/>
                  <a:gd name="connsiteX17" fmla="*/ 4890064 w 5546441"/>
                  <a:gd name="connsiteY17" fmla="*/ 447407 h 3248940"/>
                  <a:gd name="connsiteX18" fmla="*/ 5093264 w 5546441"/>
                  <a:gd name="connsiteY18" fmla="*/ 715262 h 3248940"/>
                  <a:gd name="connsiteX19" fmla="*/ 5259518 w 5546441"/>
                  <a:gd name="connsiteY19" fmla="*/ 973880 h 3248940"/>
                  <a:gd name="connsiteX20" fmla="*/ 5425773 w 5546441"/>
                  <a:gd name="connsiteY20" fmla="*/ 1315626 h 3248940"/>
                  <a:gd name="connsiteX21" fmla="*/ 5527373 w 5546441"/>
                  <a:gd name="connsiteY21" fmla="*/ 1648135 h 3248940"/>
                  <a:gd name="connsiteX22" fmla="*/ 5545845 w 5546441"/>
                  <a:gd name="connsiteY22" fmla="*/ 1925226 h 3248940"/>
                  <a:gd name="connsiteX23" fmla="*/ 5518136 w 5546441"/>
                  <a:gd name="connsiteY23" fmla="*/ 2119189 h 3248940"/>
                  <a:gd name="connsiteX24" fmla="*/ 5462718 w 5546441"/>
                  <a:gd name="connsiteY24" fmla="*/ 2202317 h 3248940"/>
                  <a:gd name="connsiteX25" fmla="*/ 5453482 w 5546441"/>
                  <a:gd name="connsiteY25" fmla="*/ 2174608 h 3248940"/>
                  <a:gd name="connsiteX26" fmla="*/ 5370355 w 5546441"/>
                  <a:gd name="connsiteY26" fmla="*/ 2109953 h 3248940"/>
                  <a:gd name="connsiteX27" fmla="*/ 5231809 w 5546441"/>
                  <a:gd name="connsiteY27" fmla="*/ 2045299 h 3248940"/>
                  <a:gd name="connsiteX28" fmla="*/ 5065554 w 5546441"/>
                  <a:gd name="connsiteY28" fmla="*/ 1999117 h 3248940"/>
                  <a:gd name="connsiteX29" fmla="*/ 4788464 w 5546441"/>
                  <a:gd name="connsiteY29" fmla="*/ 1971408 h 3248940"/>
                  <a:gd name="connsiteX30" fmla="*/ 4566791 w 5546441"/>
                  <a:gd name="connsiteY30" fmla="*/ 1971408 h 3248940"/>
                  <a:gd name="connsiteX31" fmla="*/ 4234281 w 5546441"/>
                  <a:gd name="connsiteY31" fmla="*/ 1989881 h 3248940"/>
                  <a:gd name="connsiteX32" fmla="*/ 3929482 w 5546441"/>
                  <a:gd name="connsiteY32" fmla="*/ 2054535 h 3248940"/>
                  <a:gd name="connsiteX33" fmla="*/ 3596972 w 5546441"/>
                  <a:gd name="connsiteY33" fmla="*/ 2137662 h 3248940"/>
                  <a:gd name="connsiteX34" fmla="*/ 3329118 w 5546441"/>
                  <a:gd name="connsiteY34" fmla="*/ 2239262 h 3248940"/>
                  <a:gd name="connsiteX35" fmla="*/ 2987373 w 5546441"/>
                  <a:gd name="connsiteY35" fmla="*/ 2377808 h 3248940"/>
                  <a:gd name="connsiteX36" fmla="*/ 2571736 w 5546441"/>
                  <a:gd name="connsiteY36" fmla="*/ 2553299 h 3248940"/>
                  <a:gd name="connsiteX37" fmla="*/ 2183809 w 5546441"/>
                  <a:gd name="connsiteY37" fmla="*/ 2774971 h 3248940"/>
                  <a:gd name="connsiteX38" fmla="*/ 1851300 w 5546441"/>
                  <a:gd name="connsiteY38" fmla="*/ 3005880 h 3248940"/>
                  <a:gd name="connsiteX39" fmla="*/ 1583445 w 5546441"/>
                  <a:gd name="connsiteY39" fmla="*/ 3246026 h 3248940"/>
                  <a:gd name="connsiteX40" fmla="*/ 1528028 w 5546441"/>
                  <a:gd name="connsiteY40" fmla="*/ 3125953 h 3248940"/>
                  <a:gd name="connsiteX41" fmla="*/ 1472609 w 5546441"/>
                  <a:gd name="connsiteY41" fmla="*/ 2931989 h 3248940"/>
                  <a:gd name="connsiteX42" fmla="*/ 1389482 w 5546441"/>
                  <a:gd name="connsiteY42" fmla="*/ 2747262 h 3248940"/>
                  <a:gd name="connsiteX43" fmla="*/ 1195518 w 5546441"/>
                  <a:gd name="connsiteY43" fmla="*/ 2516353 h 3248940"/>
                  <a:gd name="connsiteX44" fmla="*/ 1029264 w 5546441"/>
                  <a:gd name="connsiteY44" fmla="*/ 2368571 h 3248940"/>
                  <a:gd name="connsiteX45" fmla="*/ 770645 w 5546441"/>
                  <a:gd name="connsiteY45" fmla="*/ 2211553 h 3248940"/>
                  <a:gd name="connsiteX0" fmla="*/ 548882 w 5324678"/>
                  <a:gd name="connsiteY0" fmla="*/ 2211553 h 3248940"/>
                  <a:gd name="connsiteX1" fmla="*/ 3937 w 5324678"/>
                  <a:gd name="connsiteY1" fmla="*/ 1278680 h 3248940"/>
                  <a:gd name="connsiteX2" fmla="*/ 317973 w 5324678"/>
                  <a:gd name="connsiteY2" fmla="*/ 1038535 h 3248940"/>
                  <a:gd name="connsiteX3" fmla="*/ 595064 w 5324678"/>
                  <a:gd name="connsiteY3" fmla="*/ 835335 h 3248940"/>
                  <a:gd name="connsiteX4" fmla="*/ 955282 w 5324678"/>
                  <a:gd name="connsiteY4" fmla="*/ 613662 h 3248940"/>
                  <a:gd name="connsiteX5" fmla="*/ 1315501 w 5324678"/>
                  <a:gd name="connsiteY5" fmla="*/ 428935 h 3248940"/>
                  <a:gd name="connsiteX6" fmla="*/ 1758846 w 5324678"/>
                  <a:gd name="connsiteY6" fmla="*/ 244208 h 3248940"/>
                  <a:gd name="connsiteX7" fmla="*/ 2192956 w 5324678"/>
                  <a:gd name="connsiteY7" fmla="*/ 114898 h 3248940"/>
                  <a:gd name="connsiteX8" fmla="*/ 2617828 w 5324678"/>
                  <a:gd name="connsiteY8" fmla="*/ 41008 h 3248940"/>
                  <a:gd name="connsiteX9" fmla="*/ 3024228 w 5324678"/>
                  <a:gd name="connsiteY9" fmla="*/ 4062 h 3248940"/>
                  <a:gd name="connsiteX10" fmla="*/ 3439864 w 5324678"/>
                  <a:gd name="connsiteY10" fmla="*/ 4062 h 3248940"/>
                  <a:gd name="connsiteX11" fmla="*/ 3837028 w 5324678"/>
                  <a:gd name="connsiteY11" fmla="*/ 31772 h 3248940"/>
                  <a:gd name="connsiteX12" fmla="*/ 4158148 w 5324678"/>
                  <a:gd name="connsiteY12" fmla="*/ 92729 h 3248940"/>
                  <a:gd name="connsiteX13" fmla="*/ 4206201 w 5324678"/>
                  <a:gd name="connsiteY13" fmla="*/ 118051 h 3248940"/>
                  <a:gd name="connsiteX14" fmla="*/ 4243428 w 5324678"/>
                  <a:gd name="connsiteY14" fmla="*/ 133371 h 3248940"/>
                  <a:gd name="connsiteX15" fmla="*/ 4502045 w 5324678"/>
                  <a:gd name="connsiteY15" fmla="*/ 281154 h 3248940"/>
                  <a:gd name="connsiteX16" fmla="*/ 4668301 w 5324678"/>
                  <a:gd name="connsiteY16" fmla="*/ 447407 h 3248940"/>
                  <a:gd name="connsiteX17" fmla="*/ 4871501 w 5324678"/>
                  <a:gd name="connsiteY17" fmla="*/ 715262 h 3248940"/>
                  <a:gd name="connsiteX18" fmla="*/ 5037755 w 5324678"/>
                  <a:gd name="connsiteY18" fmla="*/ 973880 h 3248940"/>
                  <a:gd name="connsiteX19" fmla="*/ 5204010 w 5324678"/>
                  <a:gd name="connsiteY19" fmla="*/ 1315626 h 3248940"/>
                  <a:gd name="connsiteX20" fmla="*/ 5305610 w 5324678"/>
                  <a:gd name="connsiteY20" fmla="*/ 1648135 h 3248940"/>
                  <a:gd name="connsiteX21" fmla="*/ 5324082 w 5324678"/>
                  <a:gd name="connsiteY21" fmla="*/ 1925226 h 3248940"/>
                  <a:gd name="connsiteX22" fmla="*/ 5296373 w 5324678"/>
                  <a:gd name="connsiteY22" fmla="*/ 2119189 h 3248940"/>
                  <a:gd name="connsiteX23" fmla="*/ 5240955 w 5324678"/>
                  <a:gd name="connsiteY23" fmla="*/ 2202317 h 3248940"/>
                  <a:gd name="connsiteX24" fmla="*/ 5231719 w 5324678"/>
                  <a:gd name="connsiteY24" fmla="*/ 2174608 h 3248940"/>
                  <a:gd name="connsiteX25" fmla="*/ 5148592 w 5324678"/>
                  <a:gd name="connsiteY25" fmla="*/ 2109953 h 3248940"/>
                  <a:gd name="connsiteX26" fmla="*/ 5010046 w 5324678"/>
                  <a:gd name="connsiteY26" fmla="*/ 2045299 h 3248940"/>
                  <a:gd name="connsiteX27" fmla="*/ 4843791 w 5324678"/>
                  <a:gd name="connsiteY27" fmla="*/ 1999117 h 3248940"/>
                  <a:gd name="connsiteX28" fmla="*/ 4566701 w 5324678"/>
                  <a:gd name="connsiteY28" fmla="*/ 1971408 h 3248940"/>
                  <a:gd name="connsiteX29" fmla="*/ 4345028 w 5324678"/>
                  <a:gd name="connsiteY29" fmla="*/ 1971408 h 3248940"/>
                  <a:gd name="connsiteX30" fmla="*/ 4012518 w 5324678"/>
                  <a:gd name="connsiteY30" fmla="*/ 1989881 h 3248940"/>
                  <a:gd name="connsiteX31" fmla="*/ 3707719 w 5324678"/>
                  <a:gd name="connsiteY31" fmla="*/ 2054535 h 3248940"/>
                  <a:gd name="connsiteX32" fmla="*/ 3375209 w 5324678"/>
                  <a:gd name="connsiteY32" fmla="*/ 2137662 h 3248940"/>
                  <a:gd name="connsiteX33" fmla="*/ 3107355 w 5324678"/>
                  <a:gd name="connsiteY33" fmla="*/ 2239262 h 3248940"/>
                  <a:gd name="connsiteX34" fmla="*/ 2765610 w 5324678"/>
                  <a:gd name="connsiteY34" fmla="*/ 2377808 h 3248940"/>
                  <a:gd name="connsiteX35" fmla="*/ 2349973 w 5324678"/>
                  <a:gd name="connsiteY35" fmla="*/ 2553299 h 3248940"/>
                  <a:gd name="connsiteX36" fmla="*/ 1962046 w 5324678"/>
                  <a:gd name="connsiteY36" fmla="*/ 2774971 h 3248940"/>
                  <a:gd name="connsiteX37" fmla="*/ 1629537 w 5324678"/>
                  <a:gd name="connsiteY37" fmla="*/ 3005880 h 3248940"/>
                  <a:gd name="connsiteX38" fmla="*/ 1361682 w 5324678"/>
                  <a:gd name="connsiteY38" fmla="*/ 3246026 h 3248940"/>
                  <a:gd name="connsiteX39" fmla="*/ 1306265 w 5324678"/>
                  <a:gd name="connsiteY39" fmla="*/ 3125953 h 3248940"/>
                  <a:gd name="connsiteX40" fmla="*/ 1250846 w 5324678"/>
                  <a:gd name="connsiteY40" fmla="*/ 2931989 h 3248940"/>
                  <a:gd name="connsiteX41" fmla="*/ 1167719 w 5324678"/>
                  <a:gd name="connsiteY41" fmla="*/ 2747262 h 3248940"/>
                  <a:gd name="connsiteX42" fmla="*/ 973755 w 5324678"/>
                  <a:gd name="connsiteY42" fmla="*/ 2516353 h 3248940"/>
                  <a:gd name="connsiteX43" fmla="*/ 807501 w 5324678"/>
                  <a:gd name="connsiteY43" fmla="*/ 2368571 h 3248940"/>
                  <a:gd name="connsiteX44" fmla="*/ 548882 w 5324678"/>
                  <a:gd name="connsiteY44" fmla="*/ 2211553 h 3248940"/>
                  <a:gd name="connsiteX0" fmla="*/ 231182 w 5006978"/>
                  <a:gd name="connsiteY0" fmla="*/ 2211553 h 3248940"/>
                  <a:gd name="connsiteX1" fmla="*/ 273 w 5006978"/>
                  <a:gd name="connsiteY1" fmla="*/ 1038535 h 3248940"/>
                  <a:gd name="connsiteX2" fmla="*/ 277364 w 5006978"/>
                  <a:gd name="connsiteY2" fmla="*/ 835335 h 3248940"/>
                  <a:gd name="connsiteX3" fmla="*/ 637582 w 5006978"/>
                  <a:gd name="connsiteY3" fmla="*/ 613662 h 3248940"/>
                  <a:gd name="connsiteX4" fmla="*/ 997801 w 5006978"/>
                  <a:gd name="connsiteY4" fmla="*/ 428935 h 3248940"/>
                  <a:gd name="connsiteX5" fmla="*/ 1441146 w 5006978"/>
                  <a:gd name="connsiteY5" fmla="*/ 244208 h 3248940"/>
                  <a:gd name="connsiteX6" fmla="*/ 1875256 w 5006978"/>
                  <a:gd name="connsiteY6" fmla="*/ 114898 h 3248940"/>
                  <a:gd name="connsiteX7" fmla="*/ 2300128 w 5006978"/>
                  <a:gd name="connsiteY7" fmla="*/ 41008 h 3248940"/>
                  <a:gd name="connsiteX8" fmla="*/ 2706528 w 5006978"/>
                  <a:gd name="connsiteY8" fmla="*/ 4062 h 3248940"/>
                  <a:gd name="connsiteX9" fmla="*/ 3122164 w 5006978"/>
                  <a:gd name="connsiteY9" fmla="*/ 4062 h 3248940"/>
                  <a:gd name="connsiteX10" fmla="*/ 3519328 w 5006978"/>
                  <a:gd name="connsiteY10" fmla="*/ 31772 h 3248940"/>
                  <a:gd name="connsiteX11" fmla="*/ 3840448 w 5006978"/>
                  <a:gd name="connsiteY11" fmla="*/ 92729 h 3248940"/>
                  <a:gd name="connsiteX12" fmla="*/ 3888501 w 5006978"/>
                  <a:gd name="connsiteY12" fmla="*/ 118051 h 3248940"/>
                  <a:gd name="connsiteX13" fmla="*/ 3925728 w 5006978"/>
                  <a:gd name="connsiteY13" fmla="*/ 133371 h 3248940"/>
                  <a:gd name="connsiteX14" fmla="*/ 4184345 w 5006978"/>
                  <a:gd name="connsiteY14" fmla="*/ 281154 h 3248940"/>
                  <a:gd name="connsiteX15" fmla="*/ 4350601 w 5006978"/>
                  <a:gd name="connsiteY15" fmla="*/ 447407 h 3248940"/>
                  <a:gd name="connsiteX16" fmla="*/ 4553801 w 5006978"/>
                  <a:gd name="connsiteY16" fmla="*/ 715262 h 3248940"/>
                  <a:gd name="connsiteX17" fmla="*/ 4720055 w 5006978"/>
                  <a:gd name="connsiteY17" fmla="*/ 973880 h 3248940"/>
                  <a:gd name="connsiteX18" fmla="*/ 4886310 w 5006978"/>
                  <a:gd name="connsiteY18" fmla="*/ 1315626 h 3248940"/>
                  <a:gd name="connsiteX19" fmla="*/ 4987910 w 5006978"/>
                  <a:gd name="connsiteY19" fmla="*/ 1648135 h 3248940"/>
                  <a:gd name="connsiteX20" fmla="*/ 5006382 w 5006978"/>
                  <a:gd name="connsiteY20" fmla="*/ 1925226 h 3248940"/>
                  <a:gd name="connsiteX21" fmla="*/ 4978673 w 5006978"/>
                  <a:gd name="connsiteY21" fmla="*/ 2119189 h 3248940"/>
                  <a:gd name="connsiteX22" fmla="*/ 4923255 w 5006978"/>
                  <a:gd name="connsiteY22" fmla="*/ 2202317 h 3248940"/>
                  <a:gd name="connsiteX23" fmla="*/ 4914019 w 5006978"/>
                  <a:gd name="connsiteY23" fmla="*/ 2174608 h 3248940"/>
                  <a:gd name="connsiteX24" fmla="*/ 4830892 w 5006978"/>
                  <a:gd name="connsiteY24" fmla="*/ 2109953 h 3248940"/>
                  <a:gd name="connsiteX25" fmla="*/ 4692346 w 5006978"/>
                  <a:gd name="connsiteY25" fmla="*/ 2045299 h 3248940"/>
                  <a:gd name="connsiteX26" fmla="*/ 4526091 w 5006978"/>
                  <a:gd name="connsiteY26" fmla="*/ 1999117 h 3248940"/>
                  <a:gd name="connsiteX27" fmla="*/ 4249001 w 5006978"/>
                  <a:gd name="connsiteY27" fmla="*/ 1971408 h 3248940"/>
                  <a:gd name="connsiteX28" fmla="*/ 4027328 w 5006978"/>
                  <a:gd name="connsiteY28" fmla="*/ 1971408 h 3248940"/>
                  <a:gd name="connsiteX29" fmla="*/ 3694818 w 5006978"/>
                  <a:gd name="connsiteY29" fmla="*/ 1989881 h 3248940"/>
                  <a:gd name="connsiteX30" fmla="*/ 3390019 w 5006978"/>
                  <a:gd name="connsiteY30" fmla="*/ 2054535 h 3248940"/>
                  <a:gd name="connsiteX31" fmla="*/ 3057509 w 5006978"/>
                  <a:gd name="connsiteY31" fmla="*/ 2137662 h 3248940"/>
                  <a:gd name="connsiteX32" fmla="*/ 2789655 w 5006978"/>
                  <a:gd name="connsiteY32" fmla="*/ 2239262 h 3248940"/>
                  <a:gd name="connsiteX33" fmla="*/ 2447910 w 5006978"/>
                  <a:gd name="connsiteY33" fmla="*/ 2377808 h 3248940"/>
                  <a:gd name="connsiteX34" fmla="*/ 2032273 w 5006978"/>
                  <a:gd name="connsiteY34" fmla="*/ 2553299 h 3248940"/>
                  <a:gd name="connsiteX35" fmla="*/ 1644346 w 5006978"/>
                  <a:gd name="connsiteY35" fmla="*/ 2774971 h 3248940"/>
                  <a:gd name="connsiteX36" fmla="*/ 1311837 w 5006978"/>
                  <a:gd name="connsiteY36" fmla="*/ 3005880 h 3248940"/>
                  <a:gd name="connsiteX37" fmla="*/ 1043982 w 5006978"/>
                  <a:gd name="connsiteY37" fmla="*/ 3246026 h 3248940"/>
                  <a:gd name="connsiteX38" fmla="*/ 988565 w 5006978"/>
                  <a:gd name="connsiteY38" fmla="*/ 3125953 h 3248940"/>
                  <a:gd name="connsiteX39" fmla="*/ 933146 w 5006978"/>
                  <a:gd name="connsiteY39" fmla="*/ 2931989 h 3248940"/>
                  <a:gd name="connsiteX40" fmla="*/ 850019 w 5006978"/>
                  <a:gd name="connsiteY40" fmla="*/ 2747262 h 3248940"/>
                  <a:gd name="connsiteX41" fmla="*/ 656055 w 5006978"/>
                  <a:gd name="connsiteY41" fmla="*/ 2516353 h 3248940"/>
                  <a:gd name="connsiteX42" fmla="*/ 489801 w 5006978"/>
                  <a:gd name="connsiteY42" fmla="*/ 2368571 h 3248940"/>
                  <a:gd name="connsiteX43" fmla="*/ 231182 w 5006978"/>
                  <a:gd name="connsiteY43" fmla="*/ 2211553 h 3248940"/>
                  <a:gd name="connsiteX0" fmla="*/ 90783 w 4866579"/>
                  <a:gd name="connsiteY0" fmla="*/ 2211553 h 3248940"/>
                  <a:gd name="connsiteX1" fmla="*/ 959 w 4866579"/>
                  <a:gd name="connsiteY1" fmla="*/ 1151798 h 3248940"/>
                  <a:gd name="connsiteX2" fmla="*/ 136965 w 4866579"/>
                  <a:gd name="connsiteY2" fmla="*/ 835335 h 3248940"/>
                  <a:gd name="connsiteX3" fmla="*/ 497183 w 4866579"/>
                  <a:gd name="connsiteY3" fmla="*/ 613662 h 3248940"/>
                  <a:gd name="connsiteX4" fmla="*/ 857402 w 4866579"/>
                  <a:gd name="connsiteY4" fmla="*/ 428935 h 3248940"/>
                  <a:gd name="connsiteX5" fmla="*/ 1300747 w 4866579"/>
                  <a:gd name="connsiteY5" fmla="*/ 244208 h 3248940"/>
                  <a:gd name="connsiteX6" fmla="*/ 1734857 w 4866579"/>
                  <a:gd name="connsiteY6" fmla="*/ 114898 h 3248940"/>
                  <a:gd name="connsiteX7" fmla="*/ 2159729 w 4866579"/>
                  <a:gd name="connsiteY7" fmla="*/ 41008 h 3248940"/>
                  <a:gd name="connsiteX8" fmla="*/ 2566129 w 4866579"/>
                  <a:gd name="connsiteY8" fmla="*/ 4062 h 3248940"/>
                  <a:gd name="connsiteX9" fmla="*/ 2981765 w 4866579"/>
                  <a:gd name="connsiteY9" fmla="*/ 4062 h 3248940"/>
                  <a:gd name="connsiteX10" fmla="*/ 3378929 w 4866579"/>
                  <a:gd name="connsiteY10" fmla="*/ 31772 h 3248940"/>
                  <a:gd name="connsiteX11" fmla="*/ 3700049 w 4866579"/>
                  <a:gd name="connsiteY11" fmla="*/ 92729 h 3248940"/>
                  <a:gd name="connsiteX12" fmla="*/ 3748102 w 4866579"/>
                  <a:gd name="connsiteY12" fmla="*/ 118051 h 3248940"/>
                  <a:gd name="connsiteX13" fmla="*/ 3785329 w 4866579"/>
                  <a:gd name="connsiteY13" fmla="*/ 133371 h 3248940"/>
                  <a:gd name="connsiteX14" fmla="*/ 4043946 w 4866579"/>
                  <a:gd name="connsiteY14" fmla="*/ 281154 h 3248940"/>
                  <a:gd name="connsiteX15" fmla="*/ 4210202 w 4866579"/>
                  <a:gd name="connsiteY15" fmla="*/ 447407 h 3248940"/>
                  <a:gd name="connsiteX16" fmla="*/ 4413402 w 4866579"/>
                  <a:gd name="connsiteY16" fmla="*/ 715262 h 3248940"/>
                  <a:gd name="connsiteX17" fmla="*/ 4579656 w 4866579"/>
                  <a:gd name="connsiteY17" fmla="*/ 973880 h 3248940"/>
                  <a:gd name="connsiteX18" fmla="*/ 4745911 w 4866579"/>
                  <a:gd name="connsiteY18" fmla="*/ 1315626 h 3248940"/>
                  <a:gd name="connsiteX19" fmla="*/ 4847511 w 4866579"/>
                  <a:gd name="connsiteY19" fmla="*/ 1648135 h 3248940"/>
                  <a:gd name="connsiteX20" fmla="*/ 4865983 w 4866579"/>
                  <a:gd name="connsiteY20" fmla="*/ 1925226 h 3248940"/>
                  <a:gd name="connsiteX21" fmla="*/ 4838274 w 4866579"/>
                  <a:gd name="connsiteY21" fmla="*/ 2119189 h 3248940"/>
                  <a:gd name="connsiteX22" fmla="*/ 4782856 w 4866579"/>
                  <a:gd name="connsiteY22" fmla="*/ 2202317 h 3248940"/>
                  <a:gd name="connsiteX23" fmla="*/ 4773620 w 4866579"/>
                  <a:gd name="connsiteY23" fmla="*/ 2174608 h 3248940"/>
                  <a:gd name="connsiteX24" fmla="*/ 4690493 w 4866579"/>
                  <a:gd name="connsiteY24" fmla="*/ 2109953 h 3248940"/>
                  <a:gd name="connsiteX25" fmla="*/ 4551947 w 4866579"/>
                  <a:gd name="connsiteY25" fmla="*/ 2045299 h 3248940"/>
                  <a:gd name="connsiteX26" fmla="*/ 4385692 w 4866579"/>
                  <a:gd name="connsiteY26" fmla="*/ 1999117 h 3248940"/>
                  <a:gd name="connsiteX27" fmla="*/ 4108602 w 4866579"/>
                  <a:gd name="connsiteY27" fmla="*/ 1971408 h 3248940"/>
                  <a:gd name="connsiteX28" fmla="*/ 3886929 w 4866579"/>
                  <a:gd name="connsiteY28" fmla="*/ 1971408 h 3248940"/>
                  <a:gd name="connsiteX29" fmla="*/ 3554419 w 4866579"/>
                  <a:gd name="connsiteY29" fmla="*/ 1989881 h 3248940"/>
                  <a:gd name="connsiteX30" fmla="*/ 3249620 w 4866579"/>
                  <a:gd name="connsiteY30" fmla="*/ 2054535 h 3248940"/>
                  <a:gd name="connsiteX31" fmla="*/ 2917110 w 4866579"/>
                  <a:gd name="connsiteY31" fmla="*/ 2137662 h 3248940"/>
                  <a:gd name="connsiteX32" fmla="*/ 2649256 w 4866579"/>
                  <a:gd name="connsiteY32" fmla="*/ 2239262 h 3248940"/>
                  <a:gd name="connsiteX33" fmla="*/ 2307511 w 4866579"/>
                  <a:gd name="connsiteY33" fmla="*/ 2377808 h 3248940"/>
                  <a:gd name="connsiteX34" fmla="*/ 1891874 w 4866579"/>
                  <a:gd name="connsiteY34" fmla="*/ 2553299 h 3248940"/>
                  <a:gd name="connsiteX35" fmla="*/ 1503947 w 4866579"/>
                  <a:gd name="connsiteY35" fmla="*/ 2774971 h 3248940"/>
                  <a:gd name="connsiteX36" fmla="*/ 1171438 w 4866579"/>
                  <a:gd name="connsiteY36" fmla="*/ 3005880 h 3248940"/>
                  <a:gd name="connsiteX37" fmla="*/ 903583 w 4866579"/>
                  <a:gd name="connsiteY37" fmla="*/ 3246026 h 3248940"/>
                  <a:gd name="connsiteX38" fmla="*/ 848166 w 4866579"/>
                  <a:gd name="connsiteY38" fmla="*/ 3125953 h 3248940"/>
                  <a:gd name="connsiteX39" fmla="*/ 792747 w 4866579"/>
                  <a:gd name="connsiteY39" fmla="*/ 2931989 h 3248940"/>
                  <a:gd name="connsiteX40" fmla="*/ 709620 w 4866579"/>
                  <a:gd name="connsiteY40" fmla="*/ 2747262 h 3248940"/>
                  <a:gd name="connsiteX41" fmla="*/ 515656 w 4866579"/>
                  <a:gd name="connsiteY41" fmla="*/ 2516353 h 3248940"/>
                  <a:gd name="connsiteX42" fmla="*/ 349402 w 4866579"/>
                  <a:gd name="connsiteY42" fmla="*/ 2368571 h 3248940"/>
                  <a:gd name="connsiteX43" fmla="*/ 90783 w 4866579"/>
                  <a:gd name="connsiteY43" fmla="*/ 2211553 h 3248940"/>
                  <a:gd name="connsiteX0" fmla="*/ 212274 w 4867140"/>
                  <a:gd name="connsiteY0" fmla="*/ 2050601 h 3248940"/>
                  <a:gd name="connsiteX1" fmla="*/ 1520 w 4867140"/>
                  <a:gd name="connsiteY1" fmla="*/ 1151798 h 3248940"/>
                  <a:gd name="connsiteX2" fmla="*/ 137526 w 4867140"/>
                  <a:gd name="connsiteY2" fmla="*/ 835335 h 3248940"/>
                  <a:gd name="connsiteX3" fmla="*/ 497744 w 4867140"/>
                  <a:gd name="connsiteY3" fmla="*/ 613662 h 3248940"/>
                  <a:gd name="connsiteX4" fmla="*/ 857963 w 4867140"/>
                  <a:gd name="connsiteY4" fmla="*/ 428935 h 3248940"/>
                  <a:gd name="connsiteX5" fmla="*/ 1301308 w 4867140"/>
                  <a:gd name="connsiteY5" fmla="*/ 244208 h 3248940"/>
                  <a:gd name="connsiteX6" fmla="*/ 1735418 w 4867140"/>
                  <a:gd name="connsiteY6" fmla="*/ 114898 h 3248940"/>
                  <a:gd name="connsiteX7" fmla="*/ 2160290 w 4867140"/>
                  <a:gd name="connsiteY7" fmla="*/ 41008 h 3248940"/>
                  <a:gd name="connsiteX8" fmla="*/ 2566690 w 4867140"/>
                  <a:gd name="connsiteY8" fmla="*/ 4062 h 3248940"/>
                  <a:gd name="connsiteX9" fmla="*/ 2982326 w 4867140"/>
                  <a:gd name="connsiteY9" fmla="*/ 4062 h 3248940"/>
                  <a:gd name="connsiteX10" fmla="*/ 3379490 w 4867140"/>
                  <a:gd name="connsiteY10" fmla="*/ 31772 h 3248940"/>
                  <a:gd name="connsiteX11" fmla="*/ 3700610 w 4867140"/>
                  <a:gd name="connsiteY11" fmla="*/ 92729 h 3248940"/>
                  <a:gd name="connsiteX12" fmla="*/ 3748663 w 4867140"/>
                  <a:gd name="connsiteY12" fmla="*/ 118051 h 3248940"/>
                  <a:gd name="connsiteX13" fmla="*/ 3785890 w 4867140"/>
                  <a:gd name="connsiteY13" fmla="*/ 133371 h 3248940"/>
                  <a:gd name="connsiteX14" fmla="*/ 4044507 w 4867140"/>
                  <a:gd name="connsiteY14" fmla="*/ 281154 h 3248940"/>
                  <a:gd name="connsiteX15" fmla="*/ 4210763 w 4867140"/>
                  <a:gd name="connsiteY15" fmla="*/ 447407 h 3248940"/>
                  <a:gd name="connsiteX16" fmla="*/ 4413963 w 4867140"/>
                  <a:gd name="connsiteY16" fmla="*/ 715262 h 3248940"/>
                  <a:gd name="connsiteX17" fmla="*/ 4580217 w 4867140"/>
                  <a:gd name="connsiteY17" fmla="*/ 973880 h 3248940"/>
                  <a:gd name="connsiteX18" fmla="*/ 4746472 w 4867140"/>
                  <a:gd name="connsiteY18" fmla="*/ 1315626 h 3248940"/>
                  <a:gd name="connsiteX19" fmla="*/ 4848072 w 4867140"/>
                  <a:gd name="connsiteY19" fmla="*/ 1648135 h 3248940"/>
                  <a:gd name="connsiteX20" fmla="*/ 4866544 w 4867140"/>
                  <a:gd name="connsiteY20" fmla="*/ 1925226 h 3248940"/>
                  <a:gd name="connsiteX21" fmla="*/ 4838835 w 4867140"/>
                  <a:gd name="connsiteY21" fmla="*/ 2119189 h 3248940"/>
                  <a:gd name="connsiteX22" fmla="*/ 4783417 w 4867140"/>
                  <a:gd name="connsiteY22" fmla="*/ 2202317 h 3248940"/>
                  <a:gd name="connsiteX23" fmla="*/ 4774181 w 4867140"/>
                  <a:gd name="connsiteY23" fmla="*/ 2174608 h 3248940"/>
                  <a:gd name="connsiteX24" fmla="*/ 4691054 w 4867140"/>
                  <a:gd name="connsiteY24" fmla="*/ 2109953 h 3248940"/>
                  <a:gd name="connsiteX25" fmla="*/ 4552508 w 4867140"/>
                  <a:gd name="connsiteY25" fmla="*/ 2045299 h 3248940"/>
                  <a:gd name="connsiteX26" fmla="*/ 4386253 w 4867140"/>
                  <a:gd name="connsiteY26" fmla="*/ 1999117 h 3248940"/>
                  <a:gd name="connsiteX27" fmla="*/ 4109163 w 4867140"/>
                  <a:gd name="connsiteY27" fmla="*/ 1971408 h 3248940"/>
                  <a:gd name="connsiteX28" fmla="*/ 3887490 w 4867140"/>
                  <a:gd name="connsiteY28" fmla="*/ 1971408 h 3248940"/>
                  <a:gd name="connsiteX29" fmla="*/ 3554980 w 4867140"/>
                  <a:gd name="connsiteY29" fmla="*/ 1989881 h 3248940"/>
                  <a:gd name="connsiteX30" fmla="*/ 3250181 w 4867140"/>
                  <a:gd name="connsiteY30" fmla="*/ 2054535 h 3248940"/>
                  <a:gd name="connsiteX31" fmla="*/ 2917671 w 4867140"/>
                  <a:gd name="connsiteY31" fmla="*/ 2137662 h 3248940"/>
                  <a:gd name="connsiteX32" fmla="*/ 2649817 w 4867140"/>
                  <a:gd name="connsiteY32" fmla="*/ 2239262 h 3248940"/>
                  <a:gd name="connsiteX33" fmla="*/ 2308072 w 4867140"/>
                  <a:gd name="connsiteY33" fmla="*/ 2377808 h 3248940"/>
                  <a:gd name="connsiteX34" fmla="*/ 1892435 w 4867140"/>
                  <a:gd name="connsiteY34" fmla="*/ 2553299 h 3248940"/>
                  <a:gd name="connsiteX35" fmla="*/ 1504508 w 4867140"/>
                  <a:gd name="connsiteY35" fmla="*/ 2774971 h 3248940"/>
                  <a:gd name="connsiteX36" fmla="*/ 1171999 w 4867140"/>
                  <a:gd name="connsiteY36" fmla="*/ 3005880 h 3248940"/>
                  <a:gd name="connsiteX37" fmla="*/ 904144 w 4867140"/>
                  <a:gd name="connsiteY37" fmla="*/ 3246026 h 3248940"/>
                  <a:gd name="connsiteX38" fmla="*/ 848727 w 4867140"/>
                  <a:gd name="connsiteY38" fmla="*/ 3125953 h 3248940"/>
                  <a:gd name="connsiteX39" fmla="*/ 793308 w 4867140"/>
                  <a:gd name="connsiteY39" fmla="*/ 2931989 h 3248940"/>
                  <a:gd name="connsiteX40" fmla="*/ 710181 w 4867140"/>
                  <a:gd name="connsiteY40" fmla="*/ 2747262 h 3248940"/>
                  <a:gd name="connsiteX41" fmla="*/ 516217 w 4867140"/>
                  <a:gd name="connsiteY41" fmla="*/ 2516353 h 3248940"/>
                  <a:gd name="connsiteX42" fmla="*/ 349963 w 4867140"/>
                  <a:gd name="connsiteY42" fmla="*/ 2368571 h 3248940"/>
                  <a:gd name="connsiteX43" fmla="*/ 212274 w 4867140"/>
                  <a:gd name="connsiteY43" fmla="*/ 2050601 h 3248940"/>
                  <a:gd name="connsiteX0" fmla="*/ 212274 w 4867140"/>
                  <a:gd name="connsiteY0" fmla="*/ 2050601 h 3248940"/>
                  <a:gd name="connsiteX1" fmla="*/ 1520 w 4867140"/>
                  <a:gd name="connsiteY1" fmla="*/ 1151798 h 3248940"/>
                  <a:gd name="connsiteX2" fmla="*/ 137526 w 4867140"/>
                  <a:gd name="connsiteY2" fmla="*/ 835335 h 3248940"/>
                  <a:gd name="connsiteX3" fmla="*/ 497744 w 4867140"/>
                  <a:gd name="connsiteY3" fmla="*/ 613662 h 3248940"/>
                  <a:gd name="connsiteX4" fmla="*/ 857963 w 4867140"/>
                  <a:gd name="connsiteY4" fmla="*/ 428935 h 3248940"/>
                  <a:gd name="connsiteX5" fmla="*/ 1301308 w 4867140"/>
                  <a:gd name="connsiteY5" fmla="*/ 244208 h 3248940"/>
                  <a:gd name="connsiteX6" fmla="*/ 1735418 w 4867140"/>
                  <a:gd name="connsiteY6" fmla="*/ 114898 h 3248940"/>
                  <a:gd name="connsiteX7" fmla="*/ 2160290 w 4867140"/>
                  <a:gd name="connsiteY7" fmla="*/ 41008 h 3248940"/>
                  <a:gd name="connsiteX8" fmla="*/ 2566690 w 4867140"/>
                  <a:gd name="connsiteY8" fmla="*/ 4062 h 3248940"/>
                  <a:gd name="connsiteX9" fmla="*/ 2982326 w 4867140"/>
                  <a:gd name="connsiteY9" fmla="*/ 4062 h 3248940"/>
                  <a:gd name="connsiteX10" fmla="*/ 3379490 w 4867140"/>
                  <a:gd name="connsiteY10" fmla="*/ 31772 h 3248940"/>
                  <a:gd name="connsiteX11" fmla="*/ 3700610 w 4867140"/>
                  <a:gd name="connsiteY11" fmla="*/ 92729 h 3248940"/>
                  <a:gd name="connsiteX12" fmla="*/ 3748663 w 4867140"/>
                  <a:gd name="connsiteY12" fmla="*/ 118051 h 3248940"/>
                  <a:gd name="connsiteX13" fmla="*/ 3785890 w 4867140"/>
                  <a:gd name="connsiteY13" fmla="*/ 133371 h 3248940"/>
                  <a:gd name="connsiteX14" fmla="*/ 4044507 w 4867140"/>
                  <a:gd name="connsiteY14" fmla="*/ 281154 h 3248940"/>
                  <a:gd name="connsiteX15" fmla="*/ 4210763 w 4867140"/>
                  <a:gd name="connsiteY15" fmla="*/ 447407 h 3248940"/>
                  <a:gd name="connsiteX16" fmla="*/ 4413963 w 4867140"/>
                  <a:gd name="connsiteY16" fmla="*/ 715262 h 3248940"/>
                  <a:gd name="connsiteX17" fmla="*/ 4580217 w 4867140"/>
                  <a:gd name="connsiteY17" fmla="*/ 973880 h 3248940"/>
                  <a:gd name="connsiteX18" fmla="*/ 4746472 w 4867140"/>
                  <a:gd name="connsiteY18" fmla="*/ 1315626 h 3248940"/>
                  <a:gd name="connsiteX19" fmla="*/ 4848072 w 4867140"/>
                  <a:gd name="connsiteY19" fmla="*/ 1648135 h 3248940"/>
                  <a:gd name="connsiteX20" fmla="*/ 4866544 w 4867140"/>
                  <a:gd name="connsiteY20" fmla="*/ 1925226 h 3248940"/>
                  <a:gd name="connsiteX21" fmla="*/ 4838835 w 4867140"/>
                  <a:gd name="connsiteY21" fmla="*/ 2119189 h 3248940"/>
                  <a:gd name="connsiteX22" fmla="*/ 4783417 w 4867140"/>
                  <a:gd name="connsiteY22" fmla="*/ 2202317 h 3248940"/>
                  <a:gd name="connsiteX23" fmla="*/ 4774181 w 4867140"/>
                  <a:gd name="connsiteY23" fmla="*/ 2174608 h 3248940"/>
                  <a:gd name="connsiteX24" fmla="*/ 4691054 w 4867140"/>
                  <a:gd name="connsiteY24" fmla="*/ 2109953 h 3248940"/>
                  <a:gd name="connsiteX25" fmla="*/ 4552508 w 4867140"/>
                  <a:gd name="connsiteY25" fmla="*/ 2045299 h 3248940"/>
                  <a:gd name="connsiteX26" fmla="*/ 4386253 w 4867140"/>
                  <a:gd name="connsiteY26" fmla="*/ 1999117 h 3248940"/>
                  <a:gd name="connsiteX27" fmla="*/ 4109163 w 4867140"/>
                  <a:gd name="connsiteY27" fmla="*/ 1971408 h 3248940"/>
                  <a:gd name="connsiteX28" fmla="*/ 3887490 w 4867140"/>
                  <a:gd name="connsiteY28" fmla="*/ 1971408 h 3248940"/>
                  <a:gd name="connsiteX29" fmla="*/ 3554980 w 4867140"/>
                  <a:gd name="connsiteY29" fmla="*/ 1989881 h 3248940"/>
                  <a:gd name="connsiteX30" fmla="*/ 3250181 w 4867140"/>
                  <a:gd name="connsiteY30" fmla="*/ 2054535 h 3248940"/>
                  <a:gd name="connsiteX31" fmla="*/ 2917671 w 4867140"/>
                  <a:gd name="connsiteY31" fmla="*/ 2137662 h 3248940"/>
                  <a:gd name="connsiteX32" fmla="*/ 2649817 w 4867140"/>
                  <a:gd name="connsiteY32" fmla="*/ 2239262 h 3248940"/>
                  <a:gd name="connsiteX33" fmla="*/ 2308072 w 4867140"/>
                  <a:gd name="connsiteY33" fmla="*/ 2377808 h 3248940"/>
                  <a:gd name="connsiteX34" fmla="*/ 1892435 w 4867140"/>
                  <a:gd name="connsiteY34" fmla="*/ 2553299 h 3248940"/>
                  <a:gd name="connsiteX35" fmla="*/ 1504508 w 4867140"/>
                  <a:gd name="connsiteY35" fmla="*/ 2774971 h 3248940"/>
                  <a:gd name="connsiteX36" fmla="*/ 1171999 w 4867140"/>
                  <a:gd name="connsiteY36" fmla="*/ 3005880 h 3248940"/>
                  <a:gd name="connsiteX37" fmla="*/ 904144 w 4867140"/>
                  <a:gd name="connsiteY37" fmla="*/ 3246026 h 3248940"/>
                  <a:gd name="connsiteX38" fmla="*/ 848727 w 4867140"/>
                  <a:gd name="connsiteY38" fmla="*/ 3125953 h 3248940"/>
                  <a:gd name="connsiteX39" fmla="*/ 793308 w 4867140"/>
                  <a:gd name="connsiteY39" fmla="*/ 2931989 h 3248940"/>
                  <a:gd name="connsiteX40" fmla="*/ 710181 w 4867140"/>
                  <a:gd name="connsiteY40" fmla="*/ 2747262 h 3248940"/>
                  <a:gd name="connsiteX41" fmla="*/ 516217 w 4867140"/>
                  <a:gd name="connsiteY41" fmla="*/ 2516353 h 3248940"/>
                  <a:gd name="connsiteX42" fmla="*/ 410428 w 4867140"/>
                  <a:gd name="connsiteY42" fmla="*/ 2362610 h 3248940"/>
                  <a:gd name="connsiteX43" fmla="*/ 212274 w 4867140"/>
                  <a:gd name="connsiteY43" fmla="*/ 2050601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20369 w 4871292"/>
                  <a:gd name="connsiteY41" fmla="*/ 2516353 h 3248940"/>
                  <a:gd name="connsiteX42" fmla="*/ 414580 w 4871292"/>
                  <a:gd name="connsiteY42" fmla="*/ 2362610 h 3248940"/>
                  <a:gd name="connsiteX43" fmla="*/ 310483 w 4871292"/>
                  <a:gd name="connsiteY43" fmla="*/ 2062523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20369 w 4871292"/>
                  <a:gd name="connsiteY41" fmla="*/ 2516353 h 3248940"/>
                  <a:gd name="connsiteX42" fmla="*/ 475045 w 4871292"/>
                  <a:gd name="connsiteY42" fmla="*/ 2338766 h 3248940"/>
                  <a:gd name="connsiteX43" fmla="*/ 310483 w 4871292"/>
                  <a:gd name="connsiteY43" fmla="*/ 2062523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67397 w 4871292"/>
                  <a:gd name="connsiteY41" fmla="*/ 2498469 h 3248940"/>
                  <a:gd name="connsiteX42" fmla="*/ 475045 w 4871292"/>
                  <a:gd name="connsiteY42" fmla="*/ 2338766 h 3248940"/>
                  <a:gd name="connsiteX43" fmla="*/ 310483 w 4871292"/>
                  <a:gd name="connsiteY43" fmla="*/ 206252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578372 w 4882267"/>
                  <a:gd name="connsiteY41" fmla="*/ 2498469 h 3248940"/>
                  <a:gd name="connsiteX42" fmla="*/ 486020 w 4882267"/>
                  <a:gd name="connsiteY42" fmla="*/ 2338766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578372 w 4882267"/>
                  <a:gd name="connsiteY41" fmla="*/ 2498469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712739 w 4882267"/>
                  <a:gd name="connsiteY41" fmla="*/ 2492508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12739 w 4882267"/>
                  <a:gd name="connsiteY41" fmla="*/ 2492508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90054 w 4882267"/>
                  <a:gd name="connsiteY41" fmla="*/ 2646574 h 3248940"/>
                  <a:gd name="connsiteX42" fmla="*/ 712739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90054 w 4882267"/>
                  <a:gd name="connsiteY41" fmla="*/ 2646574 h 3248940"/>
                  <a:gd name="connsiteX42" fmla="*/ 746330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49743 w 4882267"/>
                  <a:gd name="connsiteY41" fmla="*/ 2628691 h 3248940"/>
                  <a:gd name="connsiteX42" fmla="*/ 746330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49743 w 4882267"/>
                  <a:gd name="connsiteY41" fmla="*/ 2628691 h 3248940"/>
                  <a:gd name="connsiteX42" fmla="*/ 712738 w 4882267"/>
                  <a:gd name="connsiteY42" fmla="*/ 2480586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35308 w 4882267"/>
                  <a:gd name="connsiteY39" fmla="*/ 2931989 h 3248940"/>
                  <a:gd name="connsiteX40" fmla="*/ 779054 w 4882267"/>
                  <a:gd name="connsiteY40" fmla="*/ 2741300 h 3248940"/>
                  <a:gd name="connsiteX41" fmla="*/ 749743 w 4882267"/>
                  <a:gd name="connsiteY41" fmla="*/ 2628691 h 3248940"/>
                  <a:gd name="connsiteX42" fmla="*/ 712738 w 4882267"/>
                  <a:gd name="connsiteY42" fmla="*/ 2480586 h 3248940"/>
                  <a:gd name="connsiteX43" fmla="*/ 660698 w 4882267"/>
                  <a:gd name="connsiteY43" fmla="*/ 2308961 h 3248940"/>
                  <a:gd name="connsiteX44" fmla="*/ 509573 w 4882267"/>
                  <a:gd name="connsiteY44" fmla="*/ 2008873 h 324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82267" h="3248940">
                    <a:moveTo>
                      <a:pt x="509573" y="2008873"/>
                    </a:moveTo>
                    <a:cubicBezTo>
                      <a:pt x="402231" y="1816013"/>
                      <a:pt x="76134" y="1347388"/>
                      <a:pt x="16647" y="1151798"/>
                    </a:cubicBezTo>
                    <a:cubicBezTo>
                      <a:pt x="-42840" y="956208"/>
                      <a:pt x="69949" y="925024"/>
                      <a:pt x="152653" y="835335"/>
                    </a:cubicBezTo>
                    <a:cubicBezTo>
                      <a:pt x="235357" y="745646"/>
                      <a:pt x="392798" y="681395"/>
                      <a:pt x="512871" y="613662"/>
                    </a:cubicBezTo>
                    <a:cubicBezTo>
                      <a:pt x="632944" y="545929"/>
                      <a:pt x="739163" y="490511"/>
                      <a:pt x="873090" y="428935"/>
                    </a:cubicBezTo>
                    <a:cubicBezTo>
                      <a:pt x="1007017" y="367359"/>
                      <a:pt x="1170192" y="296548"/>
                      <a:pt x="1316435" y="244208"/>
                    </a:cubicBezTo>
                    <a:cubicBezTo>
                      <a:pt x="1462678" y="191868"/>
                      <a:pt x="1750545" y="114898"/>
                      <a:pt x="1750545" y="114898"/>
                    </a:cubicBezTo>
                    <a:cubicBezTo>
                      <a:pt x="1893709" y="81031"/>
                      <a:pt x="2036872" y="59481"/>
                      <a:pt x="2175417" y="41008"/>
                    </a:cubicBezTo>
                    <a:cubicBezTo>
                      <a:pt x="2313962" y="22535"/>
                      <a:pt x="2444811" y="10220"/>
                      <a:pt x="2581817" y="4062"/>
                    </a:cubicBezTo>
                    <a:cubicBezTo>
                      <a:pt x="2718823" y="-2096"/>
                      <a:pt x="2861986" y="-556"/>
                      <a:pt x="2997453" y="4062"/>
                    </a:cubicBezTo>
                    <a:cubicBezTo>
                      <a:pt x="3132920" y="8680"/>
                      <a:pt x="3274903" y="16994"/>
                      <a:pt x="3394617" y="31772"/>
                    </a:cubicBezTo>
                    <a:cubicBezTo>
                      <a:pt x="3514331" y="46550"/>
                      <a:pt x="3658780" y="77335"/>
                      <a:pt x="3715737" y="92729"/>
                    </a:cubicBezTo>
                    <a:cubicBezTo>
                      <a:pt x="3772694" y="108123"/>
                      <a:pt x="3749577" y="111277"/>
                      <a:pt x="3763790" y="118051"/>
                    </a:cubicBezTo>
                    <a:cubicBezTo>
                      <a:pt x="3778003" y="124825"/>
                      <a:pt x="3751710" y="106187"/>
                      <a:pt x="3801017" y="133371"/>
                    </a:cubicBezTo>
                    <a:cubicBezTo>
                      <a:pt x="3850324" y="160555"/>
                      <a:pt x="3988822" y="228815"/>
                      <a:pt x="4059634" y="281154"/>
                    </a:cubicBezTo>
                    <a:cubicBezTo>
                      <a:pt x="4130446" y="333493"/>
                      <a:pt x="4164314" y="375056"/>
                      <a:pt x="4225890" y="447407"/>
                    </a:cubicBezTo>
                    <a:cubicBezTo>
                      <a:pt x="4287466" y="519758"/>
                      <a:pt x="4367514" y="627517"/>
                      <a:pt x="4429090" y="715262"/>
                    </a:cubicBezTo>
                    <a:cubicBezTo>
                      <a:pt x="4490666" y="803008"/>
                      <a:pt x="4539926" y="873819"/>
                      <a:pt x="4595344" y="973880"/>
                    </a:cubicBezTo>
                    <a:cubicBezTo>
                      <a:pt x="4650762" y="1073941"/>
                      <a:pt x="4716957" y="1203250"/>
                      <a:pt x="4761599" y="1315626"/>
                    </a:cubicBezTo>
                    <a:cubicBezTo>
                      <a:pt x="4806241" y="1428002"/>
                      <a:pt x="4843187" y="1546535"/>
                      <a:pt x="4863199" y="1648135"/>
                    </a:cubicBezTo>
                    <a:cubicBezTo>
                      <a:pt x="4883211" y="1749735"/>
                      <a:pt x="4883211" y="1846717"/>
                      <a:pt x="4881671" y="1925226"/>
                    </a:cubicBezTo>
                    <a:cubicBezTo>
                      <a:pt x="4880132" y="2003735"/>
                      <a:pt x="4867816" y="2073007"/>
                      <a:pt x="4853962" y="2119189"/>
                    </a:cubicBezTo>
                    <a:cubicBezTo>
                      <a:pt x="4840108" y="2165371"/>
                      <a:pt x="4809320" y="2193081"/>
                      <a:pt x="4798544" y="2202317"/>
                    </a:cubicBezTo>
                    <a:cubicBezTo>
                      <a:pt x="4787768" y="2211554"/>
                      <a:pt x="4804702" y="2190002"/>
                      <a:pt x="4789308" y="2174608"/>
                    </a:cubicBezTo>
                    <a:cubicBezTo>
                      <a:pt x="4773914" y="2159214"/>
                      <a:pt x="4743126" y="2131504"/>
                      <a:pt x="4706181" y="2109953"/>
                    </a:cubicBezTo>
                    <a:cubicBezTo>
                      <a:pt x="4669236" y="2088402"/>
                      <a:pt x="4618435" y="2063772"/>
                      <a:pt x="4567635" y="2045299"/>
                    </a:cubicBezTo>
                    <a:cubicBezTo>
                      <a:pt x="4516835" y="2026826"/>
                      <a:pt x="4475271" y="2011432"/>
                      <a:pt x="4401380" y="1999117"/>
                    </a:cubicBezTo>
                    <a:cubicBezTo>
                      <a:pt x="4327489" y="1986802"/>
                      <a:pt x="4207417" y="1976026"/>
                      <a:pt x="4124290" y="1971408"/>
                    </a:cubicBezTo>
                    <a:cubicBezTo>
                      <a:pt x="4041163" y="1966790"/>
                      <a:pt x="3994981" y="1968329"/>
                      <a:pt x="3902617" y="1971408"/>
                    </a:cubicBezTo>
                    <a:cubicBezTo>
                      <a:pt x="3810253" y="1974487"/>
                      <a:pt x="3676325" y="1976027"/>
                      <a:pt x="3570107" y="1989881"/>
                    </a:cubicBezTo>
                    <a:cubicBezTo>
                      <a:pt x="3463889" y="2003735"/>
                      <a:pt x="3371526" y="2029905"/>
                      <a:pt x="3265308" y="2054535"/>
                    </a:cubicBezTo>
                    <a:cubicBezTo>
                      <a:pt x="3159090" y="2079165"/>
                      <a:pt x="3032859" y="2106874"/>
                      <a:pt x="2932798" y="2137662"/>
                    </a:cubicBezTo>
                    <a:cubicBezTo>
                      <a:pt x="2832737" y="2168450"/>
                      <a:pt x="2766544" y="2199238"/>
                      <a:pt x="2664944" y="2239262"/>
                    </a:cubicBezTo>
                    <a:cubicBezTo>
                      <a:pt x="2563344" y="2279286"/>
                      <a:pt x="2323199" y="2377808"/>
                      <a:pt x="2323199" y="2377808"/>
                    </a:cubicBezTo>
                    <a:cubicBezTo>
                      <a:pt x="2196969" y="2430148"/>
                      <a:pt x="2041489" y="2487105"/>
                      <a:pt x="1907562" y="2553299"/>
                    </a:cubicBezTo>
                    <a:cubicBezTo>
                      <a:pt x="1773635" y="2619493"/>
                      <a:pt x="1639708" y="2699541"/>
                      <a:pt x="1519635" y="2774971"/>
                    </a:cubicBezTo>
                    <a:cubicBezTo>
                      <a:pt x="1399562" y="2850401"/>
                      <a:pt x="1287187" y="2927371"/>
                      <a:pt x="1187126" y="3005880"/>
                    </a:cubicBezTo>
                    <a:cubicBezTo>
                      <a:pt x="1087065" y="3084389"/>
                      <a:pt x="973150" y="3226014"/>
                      <a:pt x="919271" y="3246026"/>
                    </a:cubicBezTo>
                    <a:cubicBezTo>
                      <a:pt x="865392" y="3266038"/>
                      <a:pt x="877848" y="3178292"/>
                      <a:pt x="863854" y="3125953"/>
                    </a:cubicBezTo>
                    <a:cubicBezTo>
                      <a:pt x="849860" y="3073614"/>
                      <a:pt x="849441" y="2996098"/>
                      <a:pt x="835308" y="2931989"/>
                    </a:cubicBezTo>
                    <a:cubicBezTo>
                      <a:pt x="821175" y="2867880"/>
                      <a:pt x="793315" y="2791850"/>
                      <a:pt x="779054" y="2741300"/>
                    </a:cubicBezTo>
                    <a:cubicBezTo>
                      <a:pt x="764793" y="2690750"/>
                      <a:pt x="760796" y="2670156"/>
                      <a:pt x="749743" y="2628691"/>
                    </a:cubicBezTo>
                    <a:cubicBezTo>
                      <a:pt x="738691" y="2587226"/>
                      <a:pt x="727579" y="2533874"/>
                      <a:pt x="712738" y="2480586"/>
                    </a:cubicBezTo>
                    <a:cubicBezTo>
                      <a:pt x="697897" y="2427298"/>
                      <a:pt x="694559" y="2387580"/>
                      <a:pt x="660698" y="2308961"/>
                    </a:cubicBezTo>
                    <a:cubicBezTo>
                      <a:pt x="626837" y="2230342"/>
                      <a:pt x="616915" y="2201734"/>
                      <a:pt x="509573" y="2008873"/>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350" i="1">
                              <a:latin typeface="Cambria Math" panose="02040503050406030204" pitchFamily="18" charset="0"/>
                            </a:rPr>
                          </m:ctrlPr>
                        </m:sSubPr>
                        <m:e/>
                        <m:sub/>
                      </m:sSub>
                    </m:oMath>
                  </m:oMathPara>
                </a14:m>
                <a:endParaRPr lang="fr-FR" sz="1350" dirty="0"/>
              </a:p>
            </p:txBody>
          </p:sp>
        </mc:Choice>
        <mc:Fallback xmlns="">
          <p:sp>
            <p:nvSpPr>
              <p:cNvPr id="13" name="Forme libre 102"/>
              <p:cNvSpPr>
                <a:spLocks noRot="1" noChangeAspect="1" noMove="1" noResize="1" noEditPoints="1" noAdjustHandles="1" noChangeArrowheads="1" noChangeShapeType="1" noTextEdit="1"/>
              </p:cNvSpPr>
              <p:nvPr/>
            </p:nvSpPr>
            <p:spPr>
              <a:xfrm>
                <a:off x="339510" y="961310"/>
                <a:ext cx="5034083" cy="3775466"/>
              </a:xfrm>
              <a:custGeom>
                <a:avLst/>
                <a:gdLst>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73106 w 5704102"/>
                  <a:gd name="connsiteY33" fmla="*/ 2161842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69179 w 5704102"/>
                  <a:gd name="connsiteY37" fmla="*/ 2799151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73106 w 5704102"/>
                  <a:gd name="connsiteY33" fmla="*/ 2161842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23297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01179 w 5704102"/>
                  <a:gd name="connsiteY31" fmla="*/ 1986352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410415 w 5704102"/>
                  <a:gd name="connsiteY31" fmla="*/ 2014061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96379 w 5704102"/>
                  <a:gd name="connsiteY32" fmla="*/ 2060242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637034 w 5704102"/>
                  <a:gd name="connsiteY9" fmla="*/ 120606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35288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62997 w 5704102"/>
                  <a:gd name="connsiteY16" fmla="*/ 314570 h 3246098"/>
                  <a:gd name="connsiteX17" fmla="*/ 5020015 w 5704102"/>
                  <a:gd name="connsiteY17" fmla="*/ 480824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62997 w 5704102"/>
                  <a:gd name="connsiteY16" fmla="*/ 314570 h 3246098"/>
                  <a:gd name="connsiteX17" fmla="*/ 5047725 w 5704102"/>
                  <a:gd name="connsiteY17" fmla="*/ 443878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4670 w 5704102"/>
                  <a:gd name="connsiteY0" fmla="*/ 1875515 h 3246098"/>
                  <a:gd name="connsiteX1" fmla="*/ 115506 w 5704102"/>
                  <a:gd name="connsiteY1" fmla="*/ 1709260 h 3246098"/>
                  <a:gd name="connsiteX2" fmla="*/ 217106 w 5704102"/>
                  <a:gd name="connsiteY2" fmla="*/ 1561479 h 3246098"/>
                  <a:gd name="connsiteX3" fmla="*/ 411070 w 5704102"/>
                  <a:gd name="connsiteY3" fmla="*/ 1302860 h 3246098"/>
                  <a:gd name="connsiteX4" fmla="*/ 697397 w 5704102"/>
                  <a:gd name="connsiteY4" fmla="*/ 1035006 h 3246098"/>
                  <a:gd name="connsiteX5" fmla="*/ 974488 w 5704102"/>
                  <a:gd name="connsiteY5" fmla="*/ 831806 h 3246098"/>
                  <a:gd name="connsiteX6" fmla="*/ 1334706 w 5704102"/>
                  <a:gd name="connsiteY6" fmla="*/ 610133 h 3246098"/>
                  <a:gd name="connsiteX7" fmla="*/ 1694925 w 5704102"/>
                  <a:gd name="connsiteY7" fmla="*/ 425406 h 3246098"/>
                  <a:gd name="connsiteX8" fmla="*/ 2138270 w 5704102"/>
                  <a:gd name="connsiteY8" fmla="*/ 240679 h 3246098"/>
                  <a:gd name="connsiteX9" fmla="*/ 2572380 w 5704102"/>
                  <a:gd name="connsiteY9" fmla="*/ 111369 h 3246098"/>
                  <a:gd name="connsiteX10" fmla="*/ 2997252 w 5704102"/>
                  <a:gd name="connsiteY10" fmla="*/ 37479 h 3246098"/>
                  <a:gd name="connsiteX11" fmla="*/ 3403652 w 5704102"/>
                  <a:gd name="connsiteY11" fmla="*/ 533 h 3246098"/>
                  <a:gd name="connsiteX12" fmla="*/ 3800815 w 5704102"/>
                  <a:gd name="connsiteY12" fmla="*/ 19006 h 3246098"/>
                  <a:gd name="connsiteX13" fmla="*/ 4197979 w 5704102"/>
                  <a:gd name="connsiteY13" fmla="*/ 65188 h 3246098"/>
                  <a:gd name="connsiteX14" fmla="*/ 4558197 w 5704102"/>
                  <a:gd name="connsiteY14" fmla="*/ 120606 h 3246098"/>
                  <a:gd name="connsiteX15" fmla="*/ 4622852 w 5704102"/>
                  <a:gd name="connsiteY15" fmla="*/ 129842 h 3246098"/>
                  <a:gd name="connsiteX16" fmla="*/ 4881469 w 5704102"/>
                  <a:gd name="connsiteY16" fmla="*/ 277625 h 3246098"/>
                  <a:gd name="connsiteX17" fmla="*/ 5047725 w 5704102"/>
                  <a:gd name="connsiteY17" fmla="*/ 443878 h 3246098"/>
                  <a:gd name="connsiteX18" fmla="*/ 5250925 w 5704102"/>
                  <a:gd name="connsiteY18" fmla="*/ 711733 h 3246098"/>
                  <a:gd name="connsiteX19" fmla="*/ 5417179 w 5704102"/>
                  <a:gd name="connsiteY19" fmla="*/ 970351 h 3246098"/>
                  <a:gd name="connsiteX20" fmla="*/ 5583434 w 5704102"/>
                  <a:gd name="connsiteY20" fmla="*/ 1312097 h 3246098"/>
                  <a:gd name="connsiteX21" fmla="*/ 5685034 w 5704102"/>
                  <a:gd name="connsiteY21" fmla="*/ 1644606 h 3246098"/>
                  <a:gd name="connsiteX22" fmla="*/ 5703506 w 5704102"/>
                  <a:gd name="connsiteY22" fmla="*/ 1921697 h 3246098"/>
                  <a:gd name="connsiteX23" fmla="*/ 5675797 w 5704102"/>
                  <a:gd name="connsiteY23" fmla="*/ 2115660 h 3246098"/>
                  <a:gd name="connsiteX24" fmla="*/ 5620379 w 5704102"/>
                  <a:gd name="connsiteY24" fmla="*/ 2198788 h 3246098"/>
                  <a:gd name="connsiteX25" fmla="*/ 5611143 w 5704102"/>
                  <a:gd name="connsiteY25" fmla="*/ 2171079 h 3246098"/>
                  <a:gd name="connsiteX26" fmla="*/ 5537252 w 5704102"/>
                  <a:gd name="connsiteY26" fmla="*/ 2078715 h 3246098"/>
                  <a:gd name="connsiteX27" fmla="*/ 5389470 w 5704102"/>
                  <a:gd name="connsiteY27" fmla="*/ 2041770 h 3246098"/>
                  <a:gd name="connsiteX28" fmla="*/ 5223215 w 5704102"/>
                  <a:gd name="connsiteY28" fmla="*/ 1995588 h 3246098"/>
                  <a:gd name="connsiteX29" fmla="*/ 4946125 w 5704102"/>
                  <a:gd name="connsiteY29" fmla="*/ 1967879 h 3246098"/>
                  <a:gd name="connsiteX30" fmla="*/ 4724452 w 5704102"/>
                  <a:gd name="connsiteY30" fmla="*/ 1967879 h 3246098"/>
                  <a:gd name="connsiteX31" fmla="*/ 4391942 w 5704102"/>
                  <a:gd name="connsiteY31" fmla="*/ 1986352 h 3246098"/>
                  <a:gd name="connsiteX32" fmla="*/ 4087143 w 5704102"/>
                  <a:gd name="connsiteY32" fmla="*/ 2051006 h 3246098"/>
                  <a:gd name="connsiteX33" fmla="*/ 3754633 w 5704102"/>
                  <a:gd name="connsiteY33" fmla="*/ 2134133 h 3246098"/>
                  <a:gd name="connsiteX34" fmla="*/ 3486779 w 5704102"/>
                  <a:gd name="connsiteY34" fmla="*/ 2235733 h 3246098"/>
                  <a:gd name="connsiteX35" fmla="*/ 3145034 w 5704102"/>
                  <a:gd name="connsiteY35" fmla="*/ 2374279 h 3246098"/>
                  <a:gd name="connsiteX36" fmla="*/ 2729397 w 5704102"/>
                  <a:gd name="connsiteY36" fmla="*/ 2549770 h 3246098"/>
                  <a:gd name="connsiteX37" fmla="*/ 2341470 w 5704102"/>
                  <a:gd name="connsiteY37" fmla="*/ 2771442 h 3246098"/>
                  <a:gd name="connsiteX38" fmla="*/ 2008961 w 5704102"/>
                  <a:gd name="connsiteY38" fmla="*/ 3002351 h 3246098"/>
                  <a:gd name="connsiteX39" fmla="*/ 1741106 w 5704102"/>
                  <a:gd name="connsiteY39" fmla="*/ 3242497 h 3246098"/>
                  <a:gd name="connsiteX40" fmla="*/ 1722634 w 5704102"/>
                  <a:gd name="connsiteY40" fmla="*/ 3131660 h 3246098"/>
                  <a:gd name="connsiteX41" fmla="*/ 1630270 w 5704102"/>
                  <a:gd name="connsiteY41" fmla="*/ 2928460 h 3246098"/>
                  <a:gd name="connsiteX42" fmla="*/ 1547143 w 5704102"/>
                  <a:gd name="connsiteY42" fmla="*/ 2743733 h 3246098"/>
                  <a:gd name="connsiteX43" fmla="*/ 1353179 w 5704102"/>
                  <a:gd name="connsiteY43" fmla="*/ 2512824 h 3246098"/>
                  <a:gd name="connsiteX44" fmla="*/ 1186925 w 5704102"/>
                  <a:gd name="connsiteY44" fmla="*/ 2365042 h 3246098"/>
                  <a:gd name="connsiteX45" fmla="*/ 928306 w 5704102"/>
                  <a:gd name="connsiteY45" fmla="*/ 2208024 h 3246098"/>
                  <a:gd name="connsiteX46" fmla="*/ 558852 w 5704102"/>
                  <a:gd name="connsiteY46" fmla="*/ 2023297 h 3246098"/>
                  <a:gd name="connsiteX47" fmla="*/ 281761 w 5704102"/>
                  <a:gd name="connsiteY47" fmla="*/ 1930933 h 3246098"/>
                  <a:gd name="connsiteX48" fmla="*/ 4670 w 5704102"/>
                  <a:gd name="connsiteY48" fmla="*/ 1875515 h 3246098"/>
                  <a:gd name="connsiteX0" fmla="*/ 10273 w 5709705"/>
                  <a:gd name="connsiteY0" fmla="*/ 1875515 h 3246098"/>
                  <a:gd name="connsiteX1" fmla="*/ 74927 w 5709705"/>
                  <a:gd name="connsiteY1" fmla="*/ 1681551 h 3246098"/>
                  <a:gd name="connsiteX2" fmla="*/ 222709 w 5709705"/>
                  <a:gd name="connsiteY2" fmla="*/ 1561479 h 3246098"/>
                  <a:gd name="connsiteX3" fmla="*/ 416673 w 5709705"/>
                  <a:gd name="connsiteY3" fmla="*/ 1302860 h 3246098"/>
                  <a:gd name="connsiteX4" fmla="*/ 703000 w 5709705"/>
                  <a:gd name="connsiteY4" fmla="*/ 1035006 h 3246098"/>
                  <a:gd name="connsiteX5" fmla="*/ 980091 w 5709705"/>
                  <a:gd name="connsiteY5" fmla="*/ 831806 h 3246098"/>
                  <a:gd name="connsiteX6" fmla="*/ 1340309 w 5709705"/>
                  <a:gd name="connsiteY6" fmla="*/ 610133 h 3246098"/>
                  <a:gd name="connsiteX7" fmla="*/ 1700528 w 5709705"/>
                  <a:gd name="connsiteY7" fmla="*/ 425406 h 3246098"/>
                  <a:gd name="connsiteX8" fmla="*/ 2143873 w 5709705"/>
                  <a:gd name="connsiteY8" fmla="*/ 240679 h 3246098"/>
                  <a:gd name="connsiteX9" fmla="*/ 2577983 w 5709705"/>
                  <a:gd name="connsiteY9" fmla="*/ 111369 h 3246098"/>
                  <a:gd name="connsiteX10" fmla="*/ 3002855 w 5709705"/>
                  <a:gd name="connsiteY10" fmla="*/ 37479 h 3246098"/>
                  <a:gd name="connsiteX11" fmla="*/ 3409255 w 5709705"/>
                  <a:gd name="connsiteY11" fmla="*/ 533 h 3246098"/>
                  <a:gd name="connsiteX12" fmla="*/ 3806418 w 5709705"/>
                  <a:gd name="connsiteY12" fmla="*/ 19006 h 3246098"/>
                  <a:gd name="connsiteX13" fmla="*/ 4203582 w 5709705"/>
                  <a:gd name="connsiteY13" fmla="*/ 65188 h 3246098"/>
                  <a:gd name="connsiteX14" fmla="*/ 4563800 w 5709705"/>
                  <a:gd name="connsiteY14" fmla="*/ 120606 h 3246098"/>
                  <a:gd name="connsiteX15" fmla="*/ 4628455 w 5709705"/>
                  <a:gd name="connsiteY15" fmla="*/ 129842 h 3246098"/>
                  <a:gd name="connsiteX16" fmla="*/ 4887072 w 5709705"/>
                  <a:gd name="connsiteY16" fmla="*/ 277625 h 3246098"/>
                  <a:gd name="connsiteX17" fmla="*/ 5053328 w 5709705"/>
                  <a:gd name="connsiteY17" fmla="*/ 443878 h 3246098"/>
                  <a:gd name="connsiteX18" fmla="*/ 5256528 w 5709705"/>
                  <a:gd name="connsiteY18" fmla="*/ 711733 h 3246098"/>
                  <a:gd name="connsiteX19" fmla="*/ 5422782 w 5709705"/>
                  <a:gd name="connsiteY19" fmla="*/ 970351 h 3246098"/>
                  <a:gd name="connsiteX20" fmla="*/ 5589037 w 5709705"/>
                  <a:gd name="connsiteY20" fmla="*/ 1312097 h 3246098"/>
                  <a:gd name="connsiteX21" fmla="*/ 5690637 w 5709705"/>
                  <a:gd name="connsiteY21" fmla="*/ 1644606 h 3246098"/>
                  <a:gd name="connsiteX22" fmla="*/ 5709109 w 5709705"/>
                  <a:gd name="connsiteY22" fmla="*/ 1921697 h 3246098"/>
                  <a:gd name="connsiteX23" fmla="*/ 5681400 w 5709705"/>
                  <a:gd name="connsiteY23" fmla="*/ 2115660 h 3246098"/>
                  <a:gd name="connsiteX24" fmla="*/ 5625982 w 5709705"/>
                  <a:gd name="connsiteY24" fmla="*/ 2198788 h 3246098"/>
                  <a:gd name="connsiteX25" fmla="*/ 5616746 w 5709705"/>
                  <a:gd name="connsiteY25" fmla="*/ 2171079 h 3246098"/>
                  <a:gd name="connsiteX26" fmla="*/ 5542855 w 5709705"/>
                  <a:gd name="connsiteY26" fmla="*/ 2078715 h 3246098"/>
                  <a:gd name="connsiteX27" fmla="*/ 5395073 w 5709705"/>
                  <a:gd name="connsiteY27" fmla="*/ 2041770 h 3246098"/>
                  <a:gd name="connsiteX28" fmla="*/ 5228818 w 5709705"/>
                  <a:gd name="connsiteY28" fmla="*/ 1995588 h 3246098"/>
                  <a:gd name="connsiteX29" fmla="*/ 4951728 w 5709705"/>
                  <a:gd name="connsiteY29" fmla="*/ 1967879 h 3246098"/>
                  <a:gd name="connsiteX30" fmla="*/ 4730055 w 5709705"/>
                  <a:gd name="connsiteY30" fmla="*/ 1967879 h 3246098"/>
                  <a:gd name="connsiteX31" fmla="*/ 4397545 w 5709705"/>
                  <a:gd name="connsiteY31" fmla="*/ 1986352 h 3246098"/>
                  <a:gd name="connsiteX32" fmla="*/ 4092746 w 5709705"/>
                  <a:gd name="connsiteY32" fmla="*/ 2051006 h 3246098"/>
                  <a:gd name="connsiteX33" fmla="*/ 3760236 w 5709705"/>
                  <a:gd name="connsiteY33" fmla="*/ 2134133 h 3246098"/>
                  <a:gd name="connsiteX34" fmla="*/ 3492382 w 5709705"/>
                  <a:gd name="connsiteY34" fmla="*/ 2235733 h 3246098"/>
                  <a:gd name="connsiteX35" fmla="*/ 3150637 w 5709705"/>
                  <a:gd name="connsiteY35" fmla="*/ 2374279 h 3246098"/>
                  <a:gd name="connsiteX36" fmla="*/ 2735000 w 5709705"/>
                  <a:gd name="connsiteY36" fmla="*/ 2549770 h 3246098"/>
                  <a:gd name="connsiteX37" fmla="*/ 2347073 w 5709705"/>
                  <a:gd name="connsiteY37" fmla="*/ 2771442 h 3246098"/>
                  <a:gd name="connsiteX38" fmla="*/ 2014564 w 5709705"/>
                  <a:gd name="connsiteY38" fmla="*/ 3002351 h 3246098"/>
                  <a:gd name="connsiteX39" fmla="*/ 1746709 w 5709705"/>
                  <a:gd name="connsiteY39" fmla="*/ 3242497 h 3246098"/>
                  <a:gd name="connsiteX40" fmla="*/ 1728237 w 5709705"/>
                  <a:gd name="connsiteY40" fmla="*/ 3131660 h 3246098"/>
                  <a:gd name="connsiteX41" fmla="*/ 1635873 w 5709705"/>
                  <a:gd name="connsiteY41" fmla="*/ 2928460 h 3246098"/>
                  <a:gd name="connsiteX42" fmla="*/ 1552746 w 5709705"/>
                  <a:gd name="connsiteY42" fmla="*/ 2743733 h 3246098"/>
                  <a:gd name="connsiteX43" fmla="*/ 1358782 w 5709705"/>
                  <a:gd name="connsiteY43" fmla="*/ 2512824 h 3246098"/>
                  <a:gd name="connsiteX44" fmla="*/ 1192528 w 5709705"/>
                  <a:gd name="connsiteY44" fmla="*/ 2365042 h 3246098"/>
                  <a:gd name="connsiteX45" fmla="*/ 933909 w 5709705"/>
                  <a:gd name="connsiteY45" fmla="*/ 2208024 h 3246098"/>
                  <a:gd name="connsiteX46" fmla="*/ 564455 w 5709705"/>
                  <a:gd name="connsiteY46" fmla="*/ 2023297 h 3246098"/>
                  <a:gd name="connsiteX47" fmla="*/ 287364 w 5709705"/>
                  <a:gd name="connsiteY47" fmla="*/ 1930933 h 3246098"/>
                  <a:gd name="connsiteX48" fmla="*/ 10273 w 5709705"/>
                  <a:gd name="connsiteY48" fmla="*/ 1875515 h 3246098"/>
                  <a:gd name="connsiteX0" fmla="*/ 9833 w 5709265"/>
                  <a:gd name="connsiteY0" fmla="*/ 1875515 h 3246098"/>
                  <a:gd name="connsiteX1" fmla="*/ 74487 w 5709265"/>
                  <a:gd name="connsiteY1" fmla="*/ 1681551 h 3246098"/>
                  <a:gd name="connsiteX2" fmla="*/ 194560 w 5709265"/>
                  <a:gd name="connsiteY2" fmla="*/ 1533770 h 3246098"/>
                  <a:gd name="connsiteX3" fmla="*/ 416233 w 5709265"/>
                  <a:gd name="connsiteY3" fmla="*/ 1302860 h 3246098"/>
                  <a:gd name="connsiteX4" fmla="*/ 702560 w 5709265"/>
                  <a:gd name="connsiteY4" fmla="*/ 1035006 h 3246098"/>
                  <a:gd name="connsiteX5" fmla="*/ 979651 w 5709265"/>
                  <a:gd name="connsiteY5" fmla="*/ 831806 h 3246098"/>
                  <a:gd name="connsiteX6" fmla="*/ 1339869 w 5709265"/>
                  <a:gd name="connsiteY6" fmla="*/ 610133 h 3246098"/>
                  <a:gd name="connsiteX7" fmla="*/ 1700088 w 5709265"/>
                  <a:gd name="connsiteY7" fmla="*/ 425406 h 3246098"/>
                  <a:gd name="connsiteX8" fmla="*/ 2143433 w 5709265"/>
                  <a:gd name="connsiteY8" fmla="*/ 240679 h 3246098"/>
                  <a:gd name="connsiteX9" fmla="*/ 2577543 w 5709265"/>
                  <a:gd name="connsiteY9" fmla="*/ 111369 h 3246098"/>
                  <a:gd name="connsiteX10" fmla="*/ 3002415 w 5709265"/>
                  <a:gd name="connsiteY10" fmla="*/ 37479 h 3246098"/>
                  <a:gd name="connsiteX11" fmla="*/ 3408815 w 5709265"/>
                  <a:gd name="connsiteY11" fmla="*/ 533 h 3246098"/>
                  <a:gd name="connsiteX12" fmla="*/ 3805978 w 5709265"/>
                  <a:gd name="connsiteY12" fmla="*/ 19006 h 3246098"/>
                  <a:gd name="connsiteX13" fmla="*/ 4203142 w 5709265"/>
                  <a:gd name="connsiteY13" fmla="*/ 65188 h 3246098"/>
                  <a:gd name="connsiteX14" fmla="*/ 4563360 w 5709265"/>
                  <a:gd name="connsiteY14" fmla="*/ 120606 h 3246098"/>
                  <a:gd name="connsiteX15" fmla="*/ 4628015 w 5709265"/>
                  <a:gd name="connsiteY15" fmla="*/ 129842 h 3246098"/>
                  <a:gd name="connsiteX16" fmla="*/ 4886632 w 5709265"/>
                  <a:gd name="connsiteY16" fmla="*/ 277625 h 3246098"/>
                  <a:gd name="connsiteX17" fmla="*/ 5052888 w 5709265"/>
                  <a:gd name="connsiteY17" fmla="*/ 443878 h 3246098"/>
                  <a:gd name="connsiteX18" fmla="*/ 5256088 w 5709265"/>
                  <a:gd name="connsiteY18" fmla="*/ 711733 h 3246098"/>
                  <a:gd name="connsiteX19" fmla="*/ 5422342 w 5709265"/>
                  <a:gd name="connsiteY19" fmla="*/ 970351 h 3246098"/>
                  <a:gd name="connsiteX20" fmla="*/ 5588597 w 5709265"/>
                  <a:gd name="connsiteY20" fmla="*/ 1312097 h 3246098"/>
                  <a:gd name="connsiteX21" fmla="*/ 5690197 w 5709265"/>
                  <a:gd name="connsiteY21" fmla="*/ 1644606 h 3246098"/>
                  <a:gd name="connsiteX22" fmla="*/ 5708669 w 5709265"/>
                  <a:gd name="connsiteY22" fmla="*/ 1921697 h 3246098"/>
                  <a:gd name="connsiteX23" fmla="*/ 5680960 w 5709265"/>
                  <a:gd name="connsiteY23" fmla="*/ 2115660 h 3246098"/>
                  <a:gd name="connsiteX24" fmla="*/ 5625542 w 5709265"/>
                  <a:gd name="connsiteY24" fmla="*/ 2198788 h 3246098"/>
                  <a:gd name="connsiteX25" fmla="*/ 5616306 w 5709265"/>
                  <a:gd name="connsiteY25" fmla="*/ 2171079 h 3246098"/>
                  <a:gd name="connsiteX26" fmla="*/ 5542415 w 5709265"/>
                  <a:gd name="connsiteY26" fmla="*/ 2078715 h 3246098"/>
                  <a:gd name="connsiteX27" fmla="*/ 5394633 w 5709265"/>
                  <a:gd name="connsiteY27" fmla="*/ 2041770 h 3246098"/>
                  <a:gd name="connsiteX28" fmla="*/ 5228378 w 5709265"/>
                  <a:gd name="connsiteY28" fmla="*/ 1995588 h 3246098"/>
                  <a:gd name="connsiteX29" fmla="*/ 4951288 w 5709265"/>
                  <a:gd name="connsiteY29" fmla="*/ 1967879 h 3246098"/>
                  <a:gd name="connsiteX30" fmla="*/ 4729615 w 5709265"/>
                  <a:gd name="connsiteY30" fmla="*/ 1967879 h 3246098"/>
                  <a:gd name="connsiteX31" fmla="*/ 4397105 w 5709265"/>
                  <a:gd name="connsiteY31" fmla="*/ 1986352 h 3246098"/>
                  <a:gd name="connsiteX32" fmla="*/ 4092306 w 5709265"/>
                  <a:gd name="connsiteY32" fmla="*/ 2051006 h 3246098"/>
                  <a:gd name="connsiteX33" fmla="*/ 3759796 w 5709265"/>
                  <a:gd name="connsiteY33" fmla="*/ 2134133 h 3246098"/>
                  <a:gd name="connsiteX34" fmla="*/ 3491942 w 5709265"/>
                  <a:gd name="connsiteY34" fmla="*/ 2235733 h 3246098"/>
                  <a:gd name="connsiteX35" fmla="*/ 3150197 w 5709265"/>
                  <a:gd name="connsiteY35" fmla="*/ 2374279 h 3246098"/>
                  <a:gd name="connsiteX36" fmla="*/ 2734560 w 5709265"/>
                  <a:gd name="connsiteY36" fmla="*/ 2549770 h 3246098"/>
                  <a:gd name="connsiteX37" fmla="*/ 2346633 w 5709265"/>
                  <a:gd name="connsiteY37" fmla="*/ 2771442 h 3246098"/>
                  <a:gd name="connsiteX38" fmla="*/ 2014124 w 5709265"/>
                  <a:gd name="connsiteY38" fmla="*/ 3002351 h 3246098"/>
                  <a:gd name="connsiteX39" fmla="*/ 1746269 w 5709265"/>
                  <a:gd name="connsiteY39" fmla="*/ 3242497 h 3246098"/>
                  <a:gd name="connsiteX40" fmla="*/ 1727797 w 5709265"/>
                  <a:gd name="connsiteY40" fmla="*/ 3131660 h 3246098"/>
                  <a:gd name="connsiteX41" fmla="*/ 1635433 w 5709265"/>
                  <a:gd name="connsiteY41" fmla="*/ 2928460 h 3246098"/>
                  <a:gd name="connsiteX42" fmla="*/ 1552306 w 5709265"/>
                  <a:gd name="connsiteY42" fmla="*/ 2743733 h 3246098"/>
                  <a:gd name="connsiteX43" fmla="*/ 1358342 w 5709265"/>
                  <a:gd name="connsiteY43" fmla="*/ 2512824 h 3246098"/>
                  <a:gd name="connsiteX44" fmla="*/ 1192088 w 5709265"/>
                  <a:gd name="connsiteY44" fmla="*/ 2365042 h 3246098"/>
                  <a:gd name="connsiteX45" fmla="*/ 933469 w 5709265"/>
                  <a:gd name="connsiteY45" fmla="*/ 2208024 h 3246098"/>
                  <a:gd name="connsiteX46" fmla="*/ 564015 w 5709265"/>
                  <a:gd name="connsiteY46" fmla="*/ 2023297 h 3246098"/>
                  <a:gd name="connsiteX47" fmla="*/ 286924 w 5709265"/>
                  <a:gd name="connsiteY47" fmla="*/ 1930933 h 3246098"/>
                  <a:gd name="connsiteX48" fmla="*/ 9833 w 5709265"/>
                  <a:gd name="connsiteY48" fmla="*/ 1875515 h 3246098"/>
                  <a:gd name="connsiteX0" fmla="*/ 9833 w 5709265"/>
                  <a:gd name="connsiteY0" fmla="*/ 1875515 h 3246098"/>
                  <a:gd name="connsiteX1" fmla="*/ 74487 w 5709265"/>
                  <a:gd name="connsiteY1" fmla="*/ 1681551 h 3246098"/>
                  <a:gd name="connsiteX2" fmla="*/ 194560 w 5709265"/>
                  <a:gd name="connsiteY2" fmla="*/ 1533770 h 3246098"/>
                  <a:gd name="connsiteX3" fmla="*/ 388524 w 5709265"/>
                  <a:gd name="connsiteY3" fmla="*/ 1275151 h 3246098"/>
                  <a:gd name="connsiteX4" fmla="*/ 702560 w 5709265"/>
                  <a:gd name="connsiteY4" fmla="*/ 1035006 h 3246098"/>
                  <a:gd name="connsiteX5" fmla="*/ 979651 w 5709265"/>
                  <a:gd name="connsiteY5" fmla="*/ 831806 h 3246098"/>
                  <a:gd name="connsiteX6" fmla="*/ 1339869 w 5709265"/>
                  <a:gd name="connsiteY6" fmla="*/ 610133 h 3246098"/>
                  <a:gd name="connsiteX7" fmla="*/ 1700088 w 5709265"/>
                  <a:gd name="connsiteY7" fmla="*/ 425406 h 3246098"/>
                  <a:gd name="connsiteX8" fmla="*/ 2143433 w 5709265"/>
                  <a:gd name="connsiteY8" fmla="*/ 240679 h 3246098"/>
                  <a:gd name="connsiteX9" fmla="*/ 2577543 w 5709265"/>
                  <a:gd name="connsiteY9" fmla="*/ 111369 h 3246098"/>
                  <a:gd name="connsiteX10" fmla="*/ 3002415 w 5709265"/>
                  <a:gd name="connsiteY10" fmla="*/ 37479 h 3246098"/>
                  <a:gd name="connsiteX11" fmla="*/ 3408815 w 5709265"/>
                  <a:gd name="connsiteY11" fmla="*/ 533 h 3246098"/>
                  <a:gd name="connsiteX12" fmla="*/ 3805978 w 5709265"/>
                  <a:gd name="connsiteY12" fmla="*/ 19006 h 3246098"/>
                  <a:gd name="connsiteX13" fmla="*/ 4203142 w 5709265"/>
                  <a:gd name="connsiteY13" fmla="*/ 65188 h 3246098"/>
                  <a:gd name="connsiteX14" fmla="*/ 4563360 w 5709265"/>
                  <a:gd name="connsiteY14" fmla="*/ 120606 h 3246098"/>
                  <a:gd name="connsiteX15" fmla="*/ 4628015 w 5709265"/>
                  <a:gd name="connsiteY15" fmla="*/ 129842 h 3246098"/>
                  <a:gd name="connsiteX16" fmla="*/ 4886632 w 5709265"/>
                  <a:gd name="connsiteY16" fmla="*/ 277625 h 3246098"/>
                  <a:gd name="connsiteX17" fmla="*/ 5052888 w 5709265"/>
                  <a:gd name="connsiteY17" fmla="*/ 443878 h 3246098"/>
                  <a:gd name="connsiteX18" fmla="*/ 5256088 w 5709265"/>
                  <a:gd name="connsiteY18" fmla="*/ 711733 h 3246098"/>
                  <a:gd name="connsiteX19" fmla="*/ 5422342 w 5709265"/>
                  <a:gd name="connsiteY19" fmla="*/ 970351 h 3246098"/>
                  <a:gd name="connsiteX20" fmla="*/ 5588597 w 5709265"/>
                  <a:gd name="connsiteY20" fmla="*/ 1312097 h 3246098"/>
                  <a:gd name="connsiteX21" fmla="*/ 5690197 w 5709265"/>
                  <a:gd name="connsiteY21" fmla="*/ 1644606 h 3246098"/>
                  <a:gd name="connsiteX22" fmla="*/ 5708669 w 5709265"/>
                  <a:gd name="connsiteY22" fmla="*/ 1921697 h 3246098"/>
                  <a:gd name="connsiteX23" fmla="*/ 5680960 w 5709265"/>
                  <a:gd name="connsiteY23" fmla="*/ 2115660 h 3246098"/>
                  <a:gd name="connsiteX24" fmla="*/ 5625542 w 5709265"/>
                  <a:gd name="connsiteY24" fmla="*/ 2198788 h 3246098"/>
                  <a:gd name="connsiteX25" fmla="*/ 5616306 w 5709265"/>
                  <a:gd name="connsiteY25" fmla="*/ 2171079 h 3246098"/>
                  <a:gd name="connsiteX26" fmla="*/ 5542415 w 5709265"/>
                  <a:gd name="connsiteY26" fmla="*/ 2078715 h 3246098"/>
                  <a:gd name="connsiteX27" fmla="*/ 5394633 w 5709265"/>
                  <a:gd name="connsiteY27" fmla="*/ 2041770 h 3246098"/>
                  <a:gd name="connsiteX28" fmla="*/ 5228378 w 5709265"/>
                  <a:gd name="connsiteY28" fmla="*/ 1995588 h 3246098"/>
                  <a:gd name="connsiteX29" fmla="*/ 4951288 w 5709265"/>
                  <a:gd name="connsiteY29" fmla="*/ 1967879 h 3246098"/>
                  <a:gd name="connsiteX30" fmla="*/ 4729615 w 5709265"/>
                  <a:gd name="connsiteY30" fmla="*/ 1967879 h 3246098"/>
                  <a:gd name="connsiteX31" fmla="*/ 4397105 w 5709265"/>
                  <a:gd name="connsiteY31" fmla="*/ 1986352 h 3246098"/>
                  <a:gd name="connsiteX32" fmla="*/ 4092306 w 5709265"/>
                  <a:gd name="connsiteY32" fmla="*/ 2051006 h 3246098"/>
                  <a:gd name="connsiteX33" fmla="*/ 3759796 w 5709265"/>
                  <a:gd name="connsiteY33" fmla="*/ 2134133 h 3246098"/>
                  <a:gd name="connsiteX34" fmla="*/ 3491942 w 5709265"/>
                  <a:gd name="connsiteY34" fmla="*/ 2235733 h 3246098"/>
                  <a:gd name="connsiteX35" fmla="*/ 3150197 w 5709265"/>
                  <a:gd name="connsiteY35" fmla="*/ 2374279 h 3246098"/>
                  <a:gd name="connsiteX36" fmla="*/ 2734560 w 5709265"/>
                  <a:gd name="connsiteY36" fmla="*/ 2549770 h 3246098"/>
                  <a:gd name="connsiteX37" fmla="*/ 2346633 w 5709265"/>
                  <a:gd name="connsiteY37" fmla="*/ 2771442 h 3246098"/>
                  <a:gd name="connsiteX38" fmla="*/ 2014124 w 5709265"/>
                  <a:gd name="connsiteY38" fmla="*/ 3002351 h 3246098"/>
                  <a:gd name="connsiteX39" fmla="*/ 1746269 w 5709265"/>
                  <a:gd name="connsiteY39" fmla="*/ 3242497 h 3246098"/>
                  <a:gd name="connsiteX40" fmla="*/ 1727797 w 5709265"/>
                  <a:gd name="connsiteY40" fmla="*/ 3131660 h 3246098"/>
                  <a:gd name="connsiteX41" fmla="*/ 1635433 w 5709265"/>
                  <a:gd name="connsiteY41" fmla="*/ 2928460 h 3246098"/>
                  <a:gd name="connsiteX42" fmla="*/ 1552306 w 5709265"/>
                  <a:gd name="connsiteY42" fmla="*/ 2743733 h 3246098"/>
                  <a:gd name="connsiteX43" fmla="*/ 1358342 w 5709265"/>
                  <a:gd name="connsiteY43" fmla="*/ 2512824 h 3246098"/>
                  <a:gd name="connsiteX44" fmla="*/ 1192088 w 5709265"/>
                  <a:gd name="connsiteY44" fmla="*/ 2365042 h 3246098"/>
                  <a:gd name="connsiteX45" fmla="*/ 933469 w 5709265"/>
                  <a:gd name="connsiteY45" fmla="*/ 2208024 h 3246098"/>
                  <a:gd name="connsiteX46" fmla="*/ 564015 w 5709265"/>
                  <a:gd name="connsiteY46" fmla="*/ 2023297 h 3246098"/>
                  <a:gd name="connsiteX47" fmla="*/ 286924 w 5709265"/>
                  <a:gd name="connsiteY47" fmla="*/ 1930933 h 3246098"/>
                  <a:gd name="connsiteX48" fmla="*/ 9833 w 5709265"/>
                  <a:gd name="connsiteY48" fmla="*/ 1875515 h 3246098"/>
                  <a:gd name="connsiteX0" fmla="*/ 9694 w 5709126"/>
                  <a:gd name="connsiteY0" fmla="*/ 1875515 h 3246098"/>
                  <a:gd name="connsiteX1" fmla="*/ 74348 w 5709126"/>
                  <a:gd name="connsiteY1" fmla="*/ 1681551 h 3246098"/>
                  <a:gd name="connsiteX2" fmla="*/ 185185 w 5709126"/>
                  <a:gd name="connsiteY2" fmla="*/ 1506061 h 3246098"/>
                  <a:gd name="connsiteX3" fmla="*/ 388385 w 5709126"/>
                  <a:gd name="connsiteY3" fmla="*/ 1275151 h 3246098"/>
                  <a:gd name="connsiteX4" fmla="*/ 702421 w 5709126"/>
                  <a:gd name="connsiteY4" fmla="*/ 1035006 h 3246098"/>
                  <a:gd name="connsiteX5" fmla="*/ 979512 w 5709126"/>
                  <a:gd name="connsiteY5" fmla="*/ 831806 h 3246098"/>
                  <a:gd name="connsiteX6" fmla="*/ 1339730 w 5709126"/>
                  <a:gd name="connsiteY6" fmla="*/ 610133 h 3246098"/>
                  <a:gd name="connsiteX7" fmla="*/ 1699949 w 5709126"/>
                  <a:gd name="connsiteY7" fmla="*/ 425406 h 3246098"/>
                  <a:gd name="connsiteX8" fmla="*/ 2143294 w 5709126"/>
                  <a:gd name="connsiteY8" fmla="*/ 240679 h 3246098"/>
                  <a:gd name="connsiteX9" fmla="*/ 2577404 w 5709126"/>
                  <a:gd name="connsiteY9" fmla="*/ 111369 h 3246098"/>
                  <a:gd name="connsiteX10" fmla="*/ 3002276 w 5709126"/>
                  <a:gd name="connsiteY10" fmla="*/ 37479 h 3246098"/>
                  <a:gd name="connsiteX11" fmla="*/ 3408676 w 5709126"/>
                  <a:gd name="connsiteY11" fmla="*/ 533 h 3246098"/>
                  <a:gd name="connsiteX12" fmla="*/ 3805839 w 5709126"/>
                  <a:gd name="connsiteY12" fmla="*/ 19006 h 3246098"/>
                  <a:gd name="connsiteX13" fmla="*/ 4203003 w 5709126"/>
                  <a:gd name="connsiteY13" fmla="*/ 65188 h 3246098"/>
                  <a:gd name="connsiteX14" fmla="*/ 4563221 w 5709126"/>
                  <a:gd name="connsiteY14" fmla="*/ 120606 h 3246098"/>
                  <a:gd name="connsiteX15" fmla="*/ 4627876 w 5709126"/>
                  <a:gd name="connsiteY15" fmla="*/ 129842 h 3246098"/>
                  <a:gd name="connsiteX16" fmla="*/ 4886493 w 5709126"/>
                  <a:gd name="connsiteY16" fmla="*/ 277625 h 3246098"/>
                  <a:gd name="connsiteX17" fmla="*/ 5052749 w 5709126"/>
                  <a:gd name="connsiteY17" fmla="*/ 443878 h 3246098"/>
                  <a:gd name="connsiteX18" fmla="*/ 5255949 w 5709126"/>
                  <a:gd name="connsiteY18" fmla="*/ 711733 h 3246098"/>
                  <a:gd name="connsiteX19" fmla="*/ 5422203 w 5709126"/>
                  <a:gd name="connsiteY19" fmla="*/ 970351 h 3246098"/>
                  <a:gd name="connsiteX20" fmla="*/ 5588458 w 5709126"/>
                  <a:gd name="connsiteY20" fmla="*/ 1312097 h 3246098"/>
                  <a:gd name="connsiteX21" fmla="*/ 5690058 w 5709126"/>
                  <a:gd name="connsiteY21" fmla="*/ 1644606 h 3246098"/>
                  <a:gd name="connsiteX22" fmla="*/ 5708530 w 5709126"/>
                  <a:gd name="connsiteY22" fmla="*/ 1921697 h 3246098"/>
                  <a:gd name="connsiteX23" fmla="*/ 5680821 w 5709126"/>
                  <a:gd name="connsiteY23" fmla="*/ 2115660 h 3246098"/>
                  <a:gd name="connsiteX24" fmla="*/ 5625403 w 5709126"/>
                  <a:gd name="connsiteY24" fmla="*/ 2198788 h 3246098"/>
                  <a:gd name="connsiteX25" fmla="*/ 5616167 w 5709126"/>
                  <a:gd name="connsiteY25" fmla="*/ 2171079 h 3246098"/>
                  <a:gd name="connsiteX26" fmla="*/ 5542276 w 5709126"/>
                  <a:gd name="connsiteY26" fmla="*/ 2078715 h 3246098"/>
                  <a:gd name="connsiteX27" fmla="*/ 5394494 w 5709126"/>
                  <a:gd name="connsiteY27" fmla="*/ 2041770 h 3246098"/>
                  <a:gd name="connsiteX28" fmla="*/ 5228239 w 5709126"/>
                  <a:gd name="connsiteY28" fmla="*/ 1995588 h 3246098"/>
                  <a:gd name="connsiteX29" fmla="*/ 4951149 w 5709126"/>
                  <a:gd name="connsiteY29" fmla="*/ 1967879 h 3246098"/>
                  <a:gd name="connsiteX30" fmla="*/ 4729476 w 5709126"/>
                  <a:gd name="connsiteY30" fmla="*/ 1967879 h 3246098"/>
                  <a:gd name="connsiteX31" fmla="*/ 4396966 w 5709126"/>
                  <a:gd name="connsiteY31" fmla="*/ 1986352 h 3246098"/>
                  <a:gd name="connsiteX32" fmla="*/ 4092167 w 5709126"/>
                  <a:gd name="connsiteY32" fmla="*/ 2051006 h 3246098"/>
                  <a:gd name="connsiteX33" fmla="*/ 3759657 w 5709126"/>
                  <a:gd name="connsiteY33" fmla="*/ 2134133 h 3246098"/>
                  <a:gd name="connsiteX34" fmla="*/ 3491803 w 5709126"/>
                  <a:gd name="connsiteY34" fmla="*/ 2235733 h 3246098"/>
                  <a:gd name="connsiteX35" fmla="*/ 3150058 w 5709126"/>
                  <a:gd name="connsiteY35" fmla="*/ 2374279 h 3246098"/>
                  <a:gd name="connsiteX36" fmla="*/ 2734421 w 5709126"/>
                  <a:gd name="connsiteY36" fmla="*/ 2549770 h 3246098"/>
                  <a:gd name="connsiteX37" fmla="*/ 2346494 w 5709126"/>
                  <a:gd name="connsiteY37" fmla="*/ 2771442 h 3246098"/>
                  <a:gd name="connsiteX38" fmla="*/ 2013985 w 5709126"/>
                  <a:gd name="connsiteY38" fmla="*/ 3002351 h 3246098"/>
                  <a:gd name="connsiteX39" fmla="*/ 1746130 w 5709126"/>
                  <a:gd name="connsiteY39" fmla="*/ 3242497 h 3246098"/>
                  <a:gd name="connsiteX40" fmla="*/ 1727658 w 5709126"/>
                  <a:gd name="connsiteY40" fmla="*/ 3131660 h 3246098"/>
                  <a:gd name="connsiteX41" fmla="*/ 1635294 w 5709126"/>
                  <a:gd name="connsiteY41" fmla="*/ 2928460 h 3246098"/>
                  <a:gd name="connsiteX42" fmla="*/ 1552167 w 5709126"/>
                  <a:gd name="connsiteY42" fmla="*/ 2743733 h 3246098"/>
                  <a:gd name="connsiteX43" fmla="*/ 1358203 w 5709126"/>
                  <a:gd name="connsiteY43" fmla="*/ 2512824 h 3246098"/>
                  <a:gd name="connsiteX44" fmla="*/ 1191949 w 5709126"/>
                  <a:gd name="connsiteY44" fmla="*/ 2365042 h 3246098"/>
                  <a:gd name="connsiteX45" fmla="*/ 933330 w 5709126"/>
                  <a:gd name="connsiteY45" fmla="*/ 2208024 h 3246098"/>
                  <a:gd name="connsiteX46" fmla="*/ 563876 w 5709126"/>
                  <a:gd name="connsiteY46" fmla="*/ 2023297 h 3246098"/>
                  <a:gd name="connsiteX47" fmla="*/ 286785 w 5709126"/>
                  <a:gd name="connsiteY47" fmla="*/ 1930933 h 3246098"/>
                  <a:gd name="connsiteX48" fmla="*/ 9694 w 5709126"/>
                  <a:gd name="connsiteY48" fmla="*/ 1875515 h 3246098"/>
                  <a:gd name="connsiteX0" fmla="*/ 9694 w 5709126"/>
                  <a:gd name="connsiteY0" fmla="*/ 1875465 h 3246048"/>
                  <a:gd name="connsiteX1" fmla="*/ 74348 w 5709126"/>
                  <a:gd name="connsiteY1" fmla="*/ 1681501 h 3246048"/>
                  <a:gd name="connsiteX2" fmla="*/ 185185 w 5709126"/>
                  <a:gd name="connsiteY2" fmla="*/ 1506011 h 3246048"/>
                  <a:gd name="connsiteX3" fmla="*/ 388385 w 5709126"/>
                  <a:gd name="connsiteY3" fmla="*/ 1275101 h 3246048"/>
                  <a:gd name="connsiteX4" fmla="*/ 702421 w 5709126"/>
                  <a:gd name="connsiteY4" fmla="*/ 1034956 h 3246048"/>
                  <a:gd name="connsiteX5" fmla="*/ 979512 w 5709126"/>
                  <a:gd name="connsiteY5" fmla="*/ 831756 h 3246048"/>
                  <a:gd name="connsiteX6" fmla="*/ 1339730 w 5709126"/>
                  <a:gd name="connsiteY6" fmla="*/ 610083 h 3246048"/>
                  <a:gd name="connsiteX7" fmla="*/ 1699949 w 5709126"/>
                  <a:gd name="connsiteY7" fmla="*/ 425356 h 3246048"/>
                  <a:gd name="connsiteX8" fmla="*/ 2143294 w 5709126"/>
                  <a:gd name="connsiteY8" fmla="*/ 240629 h 3246048"/>
                  <a:gd name="connsiteX9" fmla="*/ 2577404 w 5709126"/>
                  <a:gd name="connsiteY9" fmla="*/ 111319 h 3246048"/>
                  <a:gd name="connsiteX10" fmla="*/ 3002276 w 5709126"/>
                  <a:gd name="connsiteY10" fmla="*/ 37429 h 3246048"/>
                  <a:gd name="connsiteX11" fmla="*/ 3408676 w 5709126"/>
                  <a:gd name="connsiteY11" fmla="*/ 483 h 3246048"/>
                  <a:gd name="connsiteX12" fmla="*/ 3805839 w 5709126"/>
                  <a:gd name="connsiteY12" fmla="*/ 18956 h 3246048"/>
                  <a:gd name="connsiteX13" fmla="*/ 4221476 w 5709126"/>
                  <a:gd name="connsiteY13" fmla="*/ 55902 h 3246048"/>
                  <a:gd name="connsiteX14" fmla="*/ 4563221 w 5709126"/>
                  <a:gd name="connsiteY14" fmla="*/ 120556 h 3246048"/>
                  <a:gd name="connsiteX15" fmla="*/ 4627876 w 5709126"/>
                  <a:gd name="connsiteY15" fmla="*/ 129792 h 3246048"/>
                  <a:gd name="connsiteX16" fmla="*/ 4886493 w 5709126"/>
                  <a:gd name="connsiteY16" fmla="*/ 277575 h 3246048"/>
                  <a:gd name="connsiteX17" fmla="*/ 5052749 w 5709126"/>
                  <a:gd name="connsiteY17" fmla="*/ 443828 h 3246048"/>
                  <a:gd name="connsiteX18" fmla="*/ 5255949 w 5709126"/>
                  <a:gd name="connsiteY18" fmla="*/ 711683 h 3246048"/>
                  <a:gd name="connsiteX19" fmla="*/ 5422203 w 5709126"/>
                  <a:gd name="connsiteY19" fmla="*/ 970301 h 3246048"/>
                  <a:gd name="connsiteX20" fmla="*/ 5588458 w 5709126"/>
                  <a:gd name="connsiteY20" fmla="*/ 1312047 h 3246048"/>
                  <a:gd name="connsiteX21" fmla="*/ 5690058 w 5709126"/>
                  <a:gd name="connsiteY21" fmla="*/ 1644556 h 3246048"/>
                  <a:gd name="connsiteX22" fmla="*/ 5708530 w 5709126"/>
                  <a:gd name="connsiteY22" fmla="*/ 1921647 h 3246048"/>
                  <a:gd name="connsiteX23" fmla="*/ 5680821 w 5709126"/>
                  <a:gd name="connsiteY23" fmla="*/ 2115610 h 3246048"/>
                  <a:gd name="connsiteX24" fmla="*/ 5625403 w 5709126"/>
                  <a:gd name="connsiteY24" fmla="*/ 2198738 h 3246048"/>
                  <a:gd name="connsiteX25" fmla="*/ 5616167 w 5709126"/>
                  <a:gd name="connsiteY25" fmla="*/ 2171029 h 3246048"/>
                  <a:gd name="connsiteX26" fmla="*/ 5542276 w 5709126"/>
                  <a:gd name="connsiteY26" fmla="*/ 2078665 h 3246048"/>
                  <a:gd name="connsiteX27" fmla="*/ 5394494 w 5709126"/>
                  <a:gd name="connsiteY27" fmla="*/ 2041720 h 3246048"/>
                  <a:gd name="connsiteX28" fmla="*/ 5228239 w 5709126"/>
                  <a:gd name="connsiteY28" fmla="*/ 1995538 h 3246048"/>
                  <a:gd name="connsiteX29" fmla="*/ 4951149 w 5709126"/>
                  <a:gd name="connsiteY29" fmla="*/ 1967829 h 3246048"/>
                  <a:gd name="connsiteX30" fmla="*/ 4729476 w 5709126"/>
                  <a:gd name="connsiteY30" fmla="*/ 1967829 h 3246048"/>
                  <a:gd name="connsiteX31" fmla="*/ 4396966 w 5709126"/>
                  <a:gd name="connsiteY31" fmla="*/ 1986302 h 3246048"/>
                  <a:gd name="connsiteX32" fmla="*/ 4092167 w 5709126"/>
                  <a:gd name="connsiteY32" fmla="*/ 2050956 h 3246048"/>
                  <a:gd name="connsiteX33" fmla="*/ 3759657 w 5709126"/>
                  <a:gd name="connsiteY33" fmla="*/ 2134083 h 3246048"/>
                  <a:gd name="connsiteX34" fmla="*/ 3491803 w 5709126"/>
                  <a:gd name="connsiteY34" fmla="*/ 2235683 h 3246048"/>
                  <a:gd name="connsiteX35" fmla="*/ 3150058 w 5709126"/>
                  <a:gd name="connsiteY35" fmla="*/ 2374229 h 3246048"/>
                  <a:gd name="connsiteX36" fmla="*/ 2734421 w 5709126"/>
                  <a:gd name="connsiteY36" fmla="*/ 2549720 h 3246048"/>
                  <a:gd name="connsiteX37" fmla="*/ 2346494 w 5709126"/>
                  <a:gd name="connsiteY37" fmla="*/ 2771392 h 3246048"/>
                  <a:gd name="connsiteX38" fmla="*/ 2013985 w 5709126"/>
                  <a:gd name="connsiteY38" fmla="*/ 3002301 h 3246048"/>
                  <a:gd name="connsiteX39" fmla="*/ 1746130 w 5709126"/>
                  <a:gd name="connsiteY39" fmla="*/ 3242447 h 3246048"/>
                  <a:gd name="connsiteX40" fmla="*/ 1727658 w 5709126"/>
                  <a:gd name="connsiteY40" fmla="*/ 3131610 h 3246048"/>
                  <a:gd name="connsiteX41" fmla="*/ 1635294 w 5709126"/>
                  <a:gd name="connsiteY41" fmla="*/ 2928410 h 3246048"/>
                  <a:gd name="connsiteX42" fmla="*/ 1552167 w 5709126"/>
                  <a:gd name="connsiteY42" fmla="*/ 2743683 h 3246048"/>
                  <a:gd name="connsiteX43" fmla="*/ 1358203 w 5709126"/>
                  <a:gd name="connsiteY43" fmla="*/ 2512774 h 3246048"/>
                  <a:gd name="connsiteX44" fmla="*/ 1191949 w 5709126"/>
                  <a:gd name="connsiteY44" fmla="*/ 2364992 h 3246048"/>
                  <a:gd name="connsiteX45" fmla="*/ 933330 w 5709126"/>
                  <a:gd name="connsiteY45" fmla="*/ 2207974 h 3246048"/>
                  <a:gd name="connsiteX46" fmla="*/ 563876 w 5709126"/>
                  <a:gd name="connsiteY46" fmla="*/ 2023247 h 3246048"/>
                  <a:gd name="connsiteX47" fmla="*/ 286785 w 5709126"/>
                  <a:gd name="connsiteY47" fmla="*/ 1930883 h 3246048"/>
                  <a:gd name="connsiteX48" fmla="*/ 9694 w 5709126"/>
                  <a:gd name="connsiteY48" fmla="*/ 1875465 h 3246048"/>
                  <a:gd name="connsiteX0" fmla="*/ 9694 w 5709126"/>
                  <a:gd name="connsiteY0" fmla="*/ 1880811 h 3251394"/>
                  <a:gd name="connsiteX1" fmla="*/ 74348 w 5709126"/>
                  <a:gd name="connsiteY1" fmla="*/ 1686847 h 3251394"/>
                  <a:gd name="connsiteX2" fmla="*/ 185185 w 5709126"/>
                  <a:gd name="connsiteY2" fmla="*/ 1511357 h 3251394"/>
                  <a:gd name="connsiteX3" fmla="*/ 388385 w 5709126"/>
                  <a:gd name="connsiteY3" fmla="*/ 1280447 h 3251394"/>
                  <a:gd name="connsiteX4" fmla="*/ 702421 w 5709126"/>
                  <a:gd name="connsiteY4" fmla="*/ 1040302 h 3251394"/>
                  <a:gd name="connsiteX5" fmla="*/ 979512 w 5709126"/>
                  <a:gd name="connsiteY5" fmla="*/ 837102 h 3251394"/>
                  <a:gd name="connsiteX6" fmla="*/ 1339730 w 5709126"/>
                  <a:gd name="connsiteY6" fmla="*/ 615429 h 3251394"/>
                  <a:gd name="connsiteX7" fmla="*/ 1699949 w 5709126"/>
                  <a:gd name="connsiteY7" fmla="*/ 430702 h 3251394"/>
                  <a:gd name="connsiteX8" fmla="*/ 2143294 w 5709126"/>
                  <a:gd name="connsiteY8" fmla="*/ 245975 h 3251394"/>
                  <a:gd name="connsiteX9" fmla="*/ 2577404 w 5709126"/>
                  <a:gd name="connsiteY9" fmla="*/ 116665 h 3251394"/>
                  <a:gd name="connsiteX10" fmla="*/ 3002276 w 5709126"/>
                  <a:gd name="connsiteY10" fmla="*/ 42775 h 3251394"/>
                  <a:gd name="connsiteX11" fmla="*/ 3408676 w 5709126"/>
                  <a:gd name="connsiteY11" fmla="*/ 5829 h 3251394"/>
                  <a:gd name="connsiteX12" fmla="*/ 3824312 w 5709126"/>
                  <a:gd name="connsiteY12" fmla="*/ 5829 h 3251394"/>
                  <a:gd name="connsiteX13" fmla="*/ 4221476 w 5709126"/>
                  <a:gd name="connsiteY13" fmla="*/ 61248 h 3251394"/>
                  <a:gd name="connsiteX14" fmla="*/ 4563221 w 5709126"/>
                  <a:gd name="connsiteY14" fmla="*/ 125902 h 3251394"/>
                  <a:gd name="connsiteX15" fmla="*/ 4627876 w 5709126"/>
                  <a:gd name="connsiteY15" fmla="*/ 135138 h 3251394"/>
                  <a:gd name="connsiteX16" fmla="*/ 4886493 w 5709126"/>
                  <a:gd name="connsiteY16" fmla="*/ 282921 h 3251394"/>
                  <a:gd name="connsiteX17" fmla="*/ 5052749 w 5709126"/>
                  <a:gd name="connsiteY17" fmla="*/ 449174 h 3251394"/>
                  <a:gd name="connsiteX18" fmla="*/ 5255949 w 5709126"/>
                  <a:gd name="connsiteY18" fmla="*/ 717029 h 3251394"/>
                  <a:gd name="connsiteX19" fmla="*/ 5422203 w 5709126"/>
                  <a:gd name="connsiteY19" fmla="*/ 975647 h 3251394"/>
                  <a:gd name="connsiteX20" fmla="*/ 5588458 w 5709126"/>
                  <a:gd name="connsiteY20" fmla="*/ 1317393 h 3251394"/>
                  <a:gd name="connsiteX21" fmla="*/ 5690058 w 5709126"/>
                  <a:gd name="connsiteY21" fmla="*/ 1649902 h 3251394"/>
                  <a:gd name="connsiteX22" fmla="*/ 5708530 w 5709126"/>
                  <a:gd name="connsiteY22" fmla="*/ 1926993 h 3251394"/>
                  <a:gd name="connsiteX23" fmla="*/ 5680821 w 5709126"/>
                  <a:gd name="connsiteY23" fmla="*/ 2120956 h 3251394"/>
                  <a:gd name="connsiteX24" fmla="*/ 5625403 w 5709126"/>
                  <a:gd name="connsiteY24" fmla="*/ 2204084 h 3251394"/>
                  <a:gd name="connsiteX25" fmla="*/ 5616167 w 5709126"/>
                  <a:gd name="connsiteY25" fmla="*/ 2176375 h 3251394"/>
                  <a:gd name="connsiteX26" fmla="*/ 5542276 w 5709126"/>
                  <a:gd name="connsiteY26" fmla="*/ 2084011 h 3251394"/>
                  <a:gd name="connsiteX27" fmla="*/ 5394494 w 5709126"/>
                  <a:gd name="connsiteY27" fmla="*/ 2047066 h 3251394"/>
                  <a:gd name="connsiteX28" fmla="*/ 5228239 w 5709126"/>
                  <a:gd name="connsiteY28" fmla="*/ 2000884 h 3251394"/>
                  <a:gd name="connsiteX29" fmla="*/ 4951149 w 5709126"/>
                  <a:gd name="connsiteY29" fmla="*/ 1973175 h 3251394"/>
                  <a:gd name="connsiteX30" fmla="*/ 4729476 w 5709126"/>
                  <a:gd name="connsiteY30" fmla="*/ 1973175 h 3251394"/>
                  <a:gd name="connsiteX31" fmla="*/ 4396966 w 5709126"/>
                  <a:gd name="connsiteY31" fmla="*/ 1991648 h 3251394"/>
                  <a:gd name="connsiteX32" fmla="*/ 4092167 w 5709126"/>
                  <a:gd name="connsiteY32" fmla="*/ 2056302 h 3251394"/>
                  <a:gd name="connsiteX33" fmla="*/ 3759657 w 5709126"/>
                  <a:gd name="connsiteY33" fmla="*/ 2139429 h 3251394"/>
                  <a:gd name="connsiteX34" fmla="*/ 3491803 w 5709126"/>
                  <a:gd name="connsiteY34" fmla="*/ 2241029 h 3251394"/>
                  <a:gd name="connsiteX35" fmla="*/ 3150058 w 5709126"/>
                  <a:gd name="connsiteY35" fmla="*/ 2379575 h 3251394"/>
                  <a:gd name="connsiteX36" fmla="*/ 2734421 w 5709126"/>
                  <a:gd name="connsiteY36" fmla="*/ 2555066 h 3251394"/>
                  <a:gd name="connsiteX37" fmla="*/ 2346494 w 5709126"/>
                  <a:gd name="connsiteY37" fmla="*/ 2776738 h 3251394"/>
                  <a:gd name="connsiteX38" fmla="*/ 2013985 w 5709126"/>
                  <a:gd name="connsiteY38" fmla="*/ 3007647 h 3251394"/>
                  <a:gd name="connsiteX39" fmla="*/ 1746130 w 5709126"/>
                  <a:gd name="connsiteY39" fmla="*/ 3247793 h 3251394"/>
                  <a:gd name="connsiteX40" fmla="*/ 1727658 w 5709126"/>
                  <a:gd name="connsiteY40" fmla="*/ 3136956 h 3251394"/>
                  <a:gd name="connsiteX41" fmla="*/ 1635294 w 5709126"/>
                  <a:gd name="connsiteY41" fmla="*/ 2933756 h 3251394"/>
                  <a:gd name="connsiteX42" fmla="*/ 1552167 w 5709126"/>
                  <a:gd name="connsiteY42" fmla="*/ 2749029 h 3251394"/>
                  <a:gd name="connsiteX43" fmla="*/ 1358203 w 5709126"/>
                  <a:gd name="connsiteY43" fmla="*/ 2518120 h 3251394"/>
                  <a:gd name="connsiteX44" fmla="*/ 1191949 w 5709126"/>
                  <a:gd name="connsiteY44" fmla="*/ 2370338 h 3251394"/>
                  <a:gd name="connsiteX45" fmla="*/ 933330 w 5709126"/>
                  <a:gd name="connsiteY45" fmla="*/ 2213320 h 3251394"/>
                  <a:gd name="connsiteX46" fmla="*/ 563876 w 5709126"/>
                  <a:gd name="connsiteY46" fmla="*/ 2028593 h 3251394"/>
                  <a:gd name="connsiteX47" fmla="*/ 286785 w 5709126"/>
                  <a:gd name="connsiteY47" fmla="*/ 1936229 h 3251394"/>
                  <a:gd name="connsiteX48" fmla="*/ 9694 w 5709126"/>
                  <a:gd name="connsiteY48" fmla="*/ 1880811 h 3251394"/>
                  <a:gd name="connsiteX0" fmla="*/ 9694 w 5709126"/>
                  <a:gd name="connsiteY0" fmla="*/ 1879044 h 3249627"/>
                  <a:gd name="connsiteX1" fmla="*/ 74348 w 5709126"/>
                  <a:gd name="connsiteY1" fmla="*/ 1685080 h 3249627"/>
                  <a:gd name="connsiteX2" fmla="*/ 185185 w 5709126"/>
                  <a:gd name="connsiteY2" fmla="*/ 1509590 h 3249627"/>
                  <a:gd name="connsiteX3" fmla="*/ 388385 w 5709126"/>
                  <a:gd name="connsiteY3" fmla="*/ 1278680 h 3249627"/>
                  <a:gd name="connsiteX4" fmla="*/ 702421 w 5709126"/>
                  <a:gd name="connsiteY4" fmla="*/ 1038535 h 3249627"/>
                  <a:gd name="connsiteX5" fmla="*/ 979512 w 5709126"/>
                  <a:gd name="connsiteY5" fmla="*/ 835335 h 3249627"/>
                  <a:gd name="connsiteX6" fmla="*/ 1339730 w 5709126"/>
                  <a:gd name="connsiteY6" fmla="*/ 613662 h 3249627"/>
                  <a:gd name="connsiteX7" fmla="*/ 1699949 w 5709126"/>
                  <a:gd name="connsiteY7" fmla="*/ 428935 h 3249627"/>
                  <a:gd name="connsiteX8" fmla="*/ 2143294 w 5709126"/>
                  <a:gd name="connsiteY8" fmla="*/ 244208 h 3249627"/>
                  <a:gd name="connsiteX9" fmla="*/ 2577404 w 5709126"/>
                  <a:gd name="connsiteY9" fmla="*/ 114898 h 3249627"/>
                  <a:gd name="connsiteX10" fmla="*/ 3002276 w 5709126"/>
                  <a:gd name="connsiteY10" fmla="*/ 41008 h 3249627"/>
                  <a:gd name="connsiteX11" fmla="*/ 3408676 w 5709126"/>
                  <a:gd name="connsiteY11" fmla="*/ 4062 h 3249627"/>
                  <a:gd name="connsiteX12" fmla="*/ 3824312 w 5709126"/>
                  <a:gd name="connsiteY12" fmla="*/ 4062 h 3249627"/>
                  <a:gd name="connsiteX13" fmla="*/ 4221476 w 5709126"/>
                  <a:gd name="connsiteY13" fmla="*/ 31772 h 3249627"/>
                  <a:gd name="connsiteX14" fmla="*/ 4563221 w 5709126"/>
                  <a:gd name="connsiteY14" fmla="*/ 124135 h 3249627"/>
                  <a:gd name="connsiteX15" fmla="*/ 4627876 w 5709126"/>
                  <a:gd name="connsiteY15" fmla="*/ 133371 h 3249627"/>
                  <a:gd name="connsiteX16" fmla="*/ 4886493 w 5709126"/>
                  <a:gd name="connsiteY16" fmla="*/ 281154 h 3249627"/>
                  <a:gd name="connsiteX17" fmla="*/ 5052749 w 5709126"/>
                  <a:gd name="connsiteY17" fmla="*/ 447407 h 3249627"/>
                  <a:gd name="connsiteX18" fmla="*/ 5255949 w 5709126"/>
                  <a:gd name="connsiteY18" fmla="*/ 715262 h 3249627"/>
                  <a:gd name="connsiteX19" fmla="*/ 5422203 w 5709126"/>
                  <a:gd name="connsiteY19" fmla="*/ 973880 h 3249627"/>
                  <a:gd name="connsiteX20" fmla="*/ 5588458 w 5709126"/>
                  <a:gd name="connsiteY20" fmla="*/ 1315626 h 3249627"/>
                  <a:gd name="connsiteX21" fmla="*/ 5690058 w 5709126"/>
                  <a:gd name="connsiteY21" fmla="*/ 1648135 h 3249627"/>
                  <a:gd name="connsiteX22" fmla="*/ 5708530 w 5709126"/>
                  <a:gd name="connsiteY22" fmla="*/ 1925226 h 3249627"/>
                  <a:gd name="connsiteX23" fmla="*/ 5680821 w 5709126"/>
                  <a:gd name="connsiteY23" fmla="*/ 2119189 h 3249627"/>
                  <a:gd name="connsiteX24" fmla="*/ 5625403 w 5709126"/>
                  <a:gd name="connsiteY24" fmla="*/ 2202317 h 3249627"/>
                  <a:gd name="connsiteX25" fmla="*/ 5616167 w 5709126"/>
                  <a:gd name="connsiteY25" fmla="*/ 2174608 h 3249627"/>
                  <a:gd name="connsiteX26" fmla="*/ 5542276 w 5709126"/>
                  <a:gd name="connsiteY26" fmla="*/ 2082244 h 3249627"/>
                  <a:gd name="connsiteX27" fmla="*/ 5394494 w 5709126"/>
                  <a:gd name="connsiteY27" fmla="*/ 2045299 h 3249627"/>
                  <a:gd name="connsiteX28" fmla="*/ 5228239 w 5709126"/>
                  <a:gd name="connsiteY28" fmla="*/ 1999117 h 3249627"/>
                  <a:gd name="connsiteX29" fmla="*/ 4951149 w 5709126"/>
                  <a:gd name="connsiteY29" fmla="*/ 1971408 h 3249627"/>
                  <a:gd name="connsiteX30" fmla="*/ 4729476 w 5709126"/>
                  <a:gd name="connsiteY30" fmla="*/ 1971408 h 3249627"/>
                  <a:gd name="connsiteX31" fmla="*/ 4396966 w 5709126"/>
                  <a:gd name="connsiteY31" fmla="*/ 1989881 h 3249627"/>
                  <a:gd name="connsiteX32" fmla="*/ 4092167 w 5709126"/>
                  <a:gd name="connsiteY32" fmla="*/ 2054535 h 3249627"/>
                  <a:gd name="connsiteX33" fmla="*/ 3759657 w 5709126"/>
                  <a:gd name="connsiteY33" fmla="*/ 2137662 h 3249627"/>
                  <a:gd name="connsiteX34" fmla="*/ 3491803 w 5709126"/>
                  <a:gd name="connsiteY34" fmla="*/ 2239262 h 3249627"/>
                  <a:gd name="connsiteX35" fmla="*/ 3150058 w 5709126"/>
                  <a:gd name="connsiteY35" fmla="*/ 2377808 h 3249627"/>
                  <a:gd name="connsiteX36" fmla="*/ 2734421 w 5709126"/>
                  <a:gd name="connsiteY36" fmla="*/ 2553299 h 3249627"/>
                  <a:gd name="connsiteX37" fmla="*/ 2346494 w 5709126"/>
                  <a:gd name="connsiteY37" fmla="*/ 2774971 h 3249627"/>
                  <a:gd name="connsiteX38" fmla="*/ 2013985 w 5709126"/>
                  <a:gd name="connsiteY38" fmla="*/ 3005880 h 3249627"/>
                  <a:gd name="connsiteX39" fmla="*/ 1746130 w 5709126"/>
                  <a:gd name="connsiteY39" fmla="*/ 3246026 h 3249627"/>
                  <a:gd name="connsiteX40" fmla="*/ 1727658 w 5709126"/>
                  <a:gd name="connsiteY40" fmla="*/ 3135189 h 3249627"/>
                  <a:gd name="connsiteX41" fmla="*/ 1635294 w 5709126"/>
                  <a:gd name="connsiteY41" fmla="*/ 2931989 h 3249627"/>
                  <a:gd name="connsiteX42" fmla="*/ 1552167 w 5709126"/>
                  <a:gd name="connsiteY42" fmla="*/ 2747262 h 3249627"/>
                  <a:gd name="connsiteX43" fmla="*/ 1358203 w 5709126"/>
                  <a:gd name="connsiteY43" fmla="*/ 2516353 h 3249627"/>
                  <a:gd name="connsiteX44" fmla="*/ 1191949 w 5709126"/>
                  <a:gd name="connsiteY44" fmla="*/ 2368571 h 3249627"/>
                  <a:gd name="connsiteX45" fmla="*/ 933330 w 5709126"/>
                  <a:gd name="connsiteY45" fmla="*/ 2211553 h 3249627"/>
                  <a:gd name="connsiteX46" fmla="*/ 563876 w 5709126"/>
                  <a:gd name="connsiteY46" fmla="*/ 2026826 h 3249627"/>
                  <a:gd name="connsiteX47" fmla="*/ 286785 w 5709126"/>
                  <a:gd name="connsiteY47" fmla="*/ 1934462 h 3249627"/>
                  <a:gd name="connsiteX48" fmla="*/ 9694 w 5709126"/>
                  <a:gd name="connsiteY48" fmla="*/ 1879044 h 3249627"/>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63221 w 5709126"/>
                  <a:gd name="connsiteY14" fmla="*/ 124135 h 3248940"/>
                  <a:gd name="connsiteX15" fmla="*/ 4627876 w 5709126"/>
                  <a:gd name="connsiteY15" fmla="*/ 133371 h 3248940"/>
                  <a:gd name="connsiteX16" fmla="*/ 4886493 w 5709126"/>
                  <a:gd name="connsiteY16" fmla="*/ 281154 h 3248940"/>
                  <a:gd name="connsiteX17" fmla="*/ 5052749 w 5709126"/>
                  <a:gd name="connsiteY17" fmla="*/ 447407 h 3248940"/>
                  <a:gd name="connsiteX18" fmla="*/ 5255949 w 5709126"/>
                  <a:gd name="connsiteY18" fmla="*/ 715262 h 3248940"/>
                  <a:gd name="connsiteX19" fmla="*/ 5422203 w 5709126"/>
                  <a:gd name="connsiteY19" fmla="*/ 973880 h 3248940"/>
                  <a:gd name="connsiteX20" fmla="*/ 5588458 w 5709126"/>
                  <a:gd name="connsiteY20" fmla="*/ 1315626 h 3248940"/>
                  <a:gd name="connsiteX21" fmla="*/ 5690058 w 5709126"/>
                  <a:gd name="connsiteY21" fmla="*/ 1648135 h 3248940"/>
                  <a:gd name="connsiteX22" fmla="*/ 5708530 w 5709126"/>
                  <a:gd name="connsiteY22" fmla="*/ 1925226 h 3248940"/>
                  <a:gd name="connsiteX23" fmla="*/ 5680821 w 5709126"/>
                  <a:gd name="connsiteY23" fmla="*/ 2119189 h 3248940"/>
                  <a:gd name="connsiteX24" fmla="*/ 5625403 w 5709126"/>
                  <a:gd name="connsiteY24" fmla="*/ 2202317 h 3248940"/>
                  <a:gd name="connsiteX25" fmla="*/ 5616167 w 5709126"/>
                  <a:gd name="connsiteY25" fmla="*/ 2174608 h 3248940"/>
                  <a:gd name="connsiteX26" fmla="*/ 5542276 w 5709126"/>
                  <a:gd name="connsiteY26" fmla="*/ 2082244 h 3248940"/>
                  <a:gd name="connsiteX27" fmla="*/ 5394494 w 5709126"/>
                  <a:gd name="connsiteY27" fmla="*/ 2045299 h 3248940"/>
                  <a:gd name="connsiteX28" fmla="*/ 5228239 w 5709126"/>
                  <a:gd name="connsiteY28" fmla="*/ 1999117 h 3248940"/>
                  <a:gd name="connsiteX29" fmla="*/ 4951149 w 5709126"/>
                  <a:gd name="connsiteY29" fmla="*/ 1971408 h 3248940"/>
                  <a:gd name="connsiteX30" fmla="*/ 4729476 w 5709126"/>
                  <a:gd name="connsiteY30" fmla="*/ 1971408 h 3248940"/>
                  <a:gd name="connsiteX31" fmla="*/ 4396966 w 5709126"/>
                  <a:gd name="connsiteY31" fmla="*/ 1989881 h 3248940"/>
                  <a:gd name="connsiteX32" fmla="*/ 4092167 w 5709126"/>
                  <a:gd name="connsiteY32" fmla="*/ 2054535 h 3248940"/>
                  <a:gd name="connsiteX33" fmla="*/ 3759657 w 5709126"/>
                  <a:gd name="connsiteY33" fmla="*/ 2137662 h 3248940"/>
                  <a:gd name="connsiteX34" fmla="*/ 3491803 w 5709126"/>
                  <a:gd name="connsiteY34" fmla="*/ 2239262 h 3248940"/>
                  <a:gd name="connsiteX35" fmla="*/ 3150058 w 5709126"/>
                  <a:gd name="connsiteY35" fmla="*/ 2377808 h 3248940"/>
                  <a:gd name="connsiteX36" fmla="*/ 2734421 w 5709126"/>
                  <a:gd name="connsiteY36" fmla="*/ 2553299 h 3248940"/>
                  <a:gd name="connsiteX37" fmla="*/ 2346494 w 5709126"/>
                  <a:gd name="connsiteY37" fmla="*/ 2774971 h 3248940"/>
                  <a:gd name="connsiteX38" fmla="*/ 2013985 w 5709126"/>
                  <a:gd name="connsiteY38" fmla="*/ 3005880 h 3248940"/>
                  <a:gd name="connsiteX39" fmla="*/ 1746130 w 5709126"/>
                  <a:gd name="connsiteY39" fmla="*/ 3246026 h 3248940"/>
                  <a:gd name="connsiteX40" fmla="*/ 1690713 w 5709126"/>
                  <a:gd name="connsiteY40" fmla="*/ 3125953 h 3248940"/>
                  <a:gd name="connsiteX41" fmla="*/ 1635294 w 5709126"/>
                  <a:gd name="connsiteY41" fmla="*/ 2931989 h 3248940"/>
                  <a:gd name="connsiteX42" fmla="*/ 1552167 w 5709126"/>
                  <a:gd name="connsiteY42" fmla="*/ 2747262 h 3248940"/>
                  <a:gd name="connsiteX43" fmla="*/ 1358203 w 5709126"/>
                  <a:gd name="connsiteY43" fmla="*/ 2516353 h 3248940"/>
                  <a:gd name="connsiteX44" fmla="*/ 1191949 w 5709126"/>
                  <a:gd name="connsiteY44" fmla="*/ 2368571 h 3248940"/>
                  <a:gd name="connsiteX45" fmla="*/ 933330 w 5709126"/>
                  <a:gd name="connsiteY45" fmla="*/ 2211553 h 3248940"/>
                  <a:gd name="connsiteX46" fmla="*/ 563876 w 5709126"/>
                  <a:gd name="connsiteY46" fmla="*/ 2026826 h 3248940"/>
                  <a:gd name="connsiteX47" fmla="*/ 286785 w 5709126"/>
                  <a:gd name="connsiteY47" fmla="*/ 1934462 h 3248940"/>
                  <a:gd name="connsiteX48" fmla="*/ 9694 w 5709126"/>
                  <a:gd name="connsiteY48"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63221 w 5709126"/>
                  <a:gd name="connsiteY14" fmla="*/ 124135 h 3248940"/>
                  <a:gd name="connsiteX15" fmla="*/ 4627876 w 5709126"/>
                  <a:gd name="connsiteY15" fmla="*/ 133371 h 3248940"/>
                  <a:gd name="connsiteX16" fmla="*/ 4886493 w 5709126"/>
                  <a:gd name="connsiteY16" fmla="*/ 281154 h 3248940"/>
                  <a:gd name="connsiteX17" fmla="*/ 5052749 w 5709126"/>
                  <a:gd name="connsiteY17" fmla="*/ 447407 h 3248940"/>
                  <a:gd name="connsiteX18" fmla="*/ 5255949 w 5709126"/>
                  <a:gd name="connsiteY18" fmla="*/ 715262 h 3248940"/>
                  <a:gd name="connsiteX19" fmla="*/ 5422203 w 5709126"/>
                  <a:gd name="connsiteY19" fmla="*/ 973880 h 3248940"/>
                  <a:gd name="connsiteX20" fmla="*/ 5588458 w 5709126"/>
                  <a:gd name="connsiteY20" fmla="*/ 1315626 h 3248940"/>
                  <a:gd name="connsiteX21" fmla="*/ 5690058 w 5709126"/>
                  <a:gd name="connsiteY21" fmla="*/ 1648135 h 3248940"/>
                  <a:gd name="connsiteX22" fmla="*/ 5708530 w 5709126"/>
                  <a:gd name="connsiteY22" fmla="*/ 1925226 h 3248940"/>
                  <a:gd name="connsiteX23" fmla="*/ 5680821 w 5709126"/>
                  <a:gd name="connsiteY23" fmla="*/ 2119189 h 3248940"/>
                  <a:gd name="connsiteX24" fmla="*/ 5625403 w 5709126"/>
                  <a:gd name="connsiteY24" fmla="*/ 2202317 h 3248940"/>
                  <a:gd name="connsiteX25" fmla="*/ 5616167 w 5709126"/>
                  <a:gd name="connsiteY25" fmla="*/ 2174608 h 3248940"/>
                  <a:gd name="connsiteX26" fmla="*/ 5533040 w 5709126"/>
                  <a:gd name="connsiteY26" fmla="*/ 2109953 h 3248940"/>
                  <a:gd name="connsiteX27" fmla="*/ 5394494 w 5709126"/>
                  <a:gd name="connsiteY27" fmla="*/ 2045299 h 3248940"/>
                  <a:gd name="connsiteX28" fmla="*/ 5228239 w 5709126"/>
                  <a:gd name="connsiteY28" fmla="*/ 1999117 h 3248940"/>
                  <a:gd name="connsiteX29" fmla="*/ 4951149 w 5709126"/>
                  <a:gd name="connsiteY29" fmla="*/ 1971408 h 3248940"/>
                  <a:gd name="connsiteX30" fmla="*/ 4729476 w 5709126"/>
                  <a:gd name="connsiteY30" fmla="*/ 1971408 h 3248940"/>
                  <a:gd name="connsiteX31" fmla="*/ 4396966 w 5709126"/>
                  <a:gd name="connsiteY31" fmla="*/ 1989881 h 3248940"/>
                  <a:gd name="connsiteX32" fmla="*/ 4092167 w 5709126"/>
                  <a:gd name="connsiteY32" fmla="*/ 2054535 h 3248940"/>
                  <a:gd name="connsiteX33" fmla="*/ 3759657 w 5709126"/>
                  <a:gd name="connsiteY33" fmla="*/ 2137662 h 3248940"/>
                  <a:gd name="connsiteX34" fmla="*/ 3491803 w 5709126"/>
                  <a:gd name="connsiteY34" fmla="*/ 2239262 h 3248940"/>
                  <a:gd name="connsiteX35" fmla="*/ 3150058 w 5709126"/>
                  <a:gd name="connsiteY35" fmla="*/ 2377808 h 3248940"/>
                  <a:gd name="connsiteX36" fmla="*/ 2734421 w 5709126"/>
                  <a:gd name="connsiteY36" fmla="*/ 2553299 h 3248940"/>
                  <a:gd name="connsiteX37" fmla="*/ 2346494 w 5709126"/>
                  <a:gd name="connsiteY37" fmla="*/ 2774971 h 3248940"/>
                  <a:gd name="connsiteX38" fmla="*/ 2013985 w 5709126"/>
                  <a:gd name="connsiteY38" fmla="*/ 3005880 h 3248940"/>
                  <a:gd name="connsiteX39" fmla="*/ 1746130 w 5709126"/>
                  <a:gd name="connsiteY39" fmla="*/ 3246026 h 3248940"/>
                  <a:gd name="connsiteX40" fmla="*/ 1690713 w 5709126"/>
                  <a:gd name="connsiteY40" fmla="*/ 3125953 h 3248940"/>
                  <a:gd name="connsiteX41" fmla="*/ 1635294 w 5709126"/>
                  <a:gd name="connsiteY41" fmla="*/ 2931989 h 3248940"/>
                  <a:gd name="connsiteX42" fmla="*/ 1552167 w 5709126"/>
                  <a:gd name="connsiteY42" fmla="*/ 2747262 h 3248940"/>
                  <a:gd name="connsiteX43" fmla="*/ 1358203 w 5709126"/>
                  <a:gd name="connsiteY43" fmla="*/ 2516353 h 3248940"/>
                  <a:gd name="connsiteX44" fmla="*/ 1191949 w 5709126"/>
                  <a:gd name="connsiteY44" fmla="*/ 2368571 h 3248940"/>
                  <a:gd name="connsiteX45" fmla="*/ 933330 w 5709126"/>
                  <a:gd name="connsiteY45" fmla="*/ 2211553 h 3248940"/>
                  <a:gd name="connsiteX46" fmla="*/ 563876 w 5709126"/>
                  <a:gd name="connsiteY46" fmla="*/ 2026826 h 3248940"/>
                  <a:gd name="connsiteX47" fmla="*/ 286785 w 5709126"/>
                  <a:gd name="connsiteY47" fmla="*/ 1934462 h 3248940"/>
                  <a:gd name="connsiteX48" fmla="*/ 9694 w 5709126"/>
                  <a:gd name="connsiteY48"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63221 w 5709126"/>
                  <a:gd name="connsiteY15" fmla="*/ 124135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563876 w 5709126"/>
                  <a:gd name="connsiteY47" fmla="*/ 2026826 h 3248940"/>
                  <a:gd name="connsiteX48" fmla="*/ 286785 w 5709126"/>
                  <a:gd name="connsiteY48" fmla="*/ 1934462 h 3248940"/>
                  <a:gd name="connsiteX49" fmla="*/ 9694 w 5709126"/>
                  <a:gd name="connsiteY49"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90649 w 5709126"/>
                  <a:gd name="connsiteY15" fmla="*/ 118051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563876 w 5709126"/>
                  <a:gd name="connsiteY47" fmla="*/ 2026826 h 3248940"/>
                  <a:gd name="connsiteX48" fmla="*/ 286785 w 5709126"/>
                  <a:gd name="connsiteY48" fmla="*/ 1934462 h 3248940"/>
                  <a:gd name="connsiteX49" fmla="*/ 9694 w 5709126"/>
                  <a:gd name="connsiteY49" fmla="*/ 1879044 h 3248940"/>
                  <a:gd name="connsiteX0" fmla="*/ 9694 w 5709126"/>
                  <a:gd name="connsiteY0" fmla="*/ 1879044 h 3248940"/>
                  <a:gd name="connsiteX1" fmla="*/ 74348 w 5709126"/>
                  <a:gd name="connsiteY1" fmla="*/ 1685080 h 3248940"/>
                  <a:gd name="connsiteX2" fmla="*/ 185185 w 5709126"/>
                  <a:gd name="connsiteY2" fmla="*/ 1509590 h 3248940"/>
                  <a:gd name="connsiteX3" fmla="*/ 388385 w 5709126"/>
                  <a:gd name="connsiteY3" fmla="*/ 1278680 h 3248940"/>
                  <a:gd name="connsiteX4" fmla="*/ 702421 w 5709126"/>
                  <a:gd name="connsiteY4" fmla="*/ 1038535 h 3248940"/>
                  <a:gd name="connsiteX5" fmla="*/ 979512 w 5709126"/>
                  <a:gd name="connsiteY5" fmla="*/ 835335 h 3248940"/>
                  <a:gd name="connsiteX6" fmla="*/ 1339730 w 5709126"/>
                  <a:gd name="connsiteY6" fmla="*/ 613662 h 3248940"/>
                  <a:gd name="connsiteX7" fmla="*/ 1699949 w 5709126"/>
                  <a:gd name="connsiteY7" fmla="*/ 428935 h 3248940"/>
                  <a:gd name="connsiteX8" fmla="*/ 2143294 w 5709126"/>
                  <a:gd name="connsiteY8" fmla="*/ 244208 h 3248940"/>
                  <a:gd name="connsiteX9" fmla="*/ 2577404 w 5709126"/>
                  <a:gd name="connsiteY9" fmla="*/ 114898 h 3248940"/>
                  <a:gd name="connsiteX10" fmla="*/ 3002276 w 5709126"/>
                  <a:gd name="connsiteY10" fmla="*/ 41008 h 3248940"/>
                  <a:gd name="connsiteX11" fmla="*/ 3408676 w 5709126"/>
                  <a:gd name="connsiteY11" fmla="*/ 4062 h 3248940"/>
                  <a:gd name="connsiteX12" fmla="*/ 3824312 w 5709126"/>
                  <a:gd name="connsiteY12" fmla="*/ 4062 h 3248940"/>
                  <a:gd name="connsiteX13" fmla="*/ 4221476 w 5709126"/>
                  <a:gd name="connsiteY13" fmla="*/ 31772 h 3248940"/>
                  <a:gd name="connsiteX14" fmla="*/ 4542596 w 5709126"/>
                  <a:gd name="connsiteY14" fmla="*/ 92729 h 3248940"/>
                  <a:gd name="connsiteX15" fmla="*/ 4590649 w 5709126"/>
                  <a:gd name="connsiteY15" fmla="*/ 118051 h 3248940"/>
                  <a:gd name="connsiteX16" fmla="*/ 4627876 w 5709126"/>
                  <a:gd name="connsiteY16" fmla="*/ 133371 h 3248940"/>
                  <a:gd name="connsiteX17" fmla="*/ 4886493 w 5709126"/>
                  <a:gd name="connsiteY17" fmla="*/ 281154 h 3248940"/>
                  <a:gd name="connsiteX18" fmla="*/ 5052749 w 5709126"/>
                  <a:gd name="connsiteY18" fmla="*/ 447407 h 3248940"/>
                  <a:gd name="connsiteX19" fmla="*/ 5255949 w 5709126"/>
                  <a:gd name="connsiteY19" fmla="*/ 715262 h 3248940"/>
                  <a:gd name="connsiteX20" fmla="*/ 5422203 w 5709126"/>
                  <a:gd name="connsiteY20" fmla="*/ 973880 h 3248940"/>
                  <a:gd name="connsiteX21" fmla="*/ 5588458 w 5709126"/>
                  <a:gd name="connsiteY21" fmla="*/ 1315626 h 3248940"/>
                  <a:gd name="connsiteX22" fmla="*/ 5690058 w 5709126"/>
                  <a:gd name="connsiteY22" fmla="*/ 1648135 h 3248940"/>
                  <a:gd name="connsiteX23" fmla="*/ 5708530 w 5709126"/>
                  <a:gd name="connsiteY23" fmla="*/ 1925226 h 3248940"/>
                  <a:gd name="connsiteX24" fmla="*/ 5680821 w 5709126"/>
                  <a:gd name="connsiteY24" fmla="*/ 2119189 h 3248940"/>
                  <a:gd name="connsiteX25" fmla="*/ 5625403 w 5709126"/>
                  <a:gd name="connsiteY25" fmla="*/ 2202317 h 3248940"/>
                  <a:gd name="connsiteX26" fmla="*/ 5616167 w 5709126"/>
                  <a:gd name="connsiteY26" fmla="*/ 2174608 h 3248940"/>
                  <a:gd name="connsiteX27" fmla="*/ 5533040 w 5709126"/>
                  <a:gd name="connsiteY27" fmla="*/ 2109953 h 3248940"/>
                  <a:gd name="connsiteX28" fmla="*/ 5394494 w 5709126"/>
                  <a:gd name="connsiteY28" fmla="*/ 2045299 h 3248940"/>
                  <a:gd name="connsiteX29" fmla="*/ 5228239 w 5709126"/>
                  <a:gd name="connsiteY29" fmla="*/ 1999117 h 3248940"/>
                  <a:gd name="connsiteX30" fmla="*/ 4951149 w 5709126"/>
                  <a:gd name="connsiteY30" fmla="*/ 1971408 h 3248940"/>
                  <a:gd name="connsiteX31" fmla="*/ 4729476 w 5709126"/>
                  <a:gd name="connsiteY31" fmla="*/ 1971408 h 3248940"/>
                  <a:gd name="connsiteX32" fmla="*/ 4396966 w 5709126"/>
                  <a:gd name="connsiteY32" fmla="*/ 1989881 h 3248940"/>
                  <a:gd name="connsiteX33" fmla="*/ 4092167 w 5709126"/>
                  <a:gd name="connsiteY33" fmla="*/ 2054535 h 3248940"/>
                  <a:gd name="connsiteX34" fmla="*/ 3759657 w 5709126"/>
                  <a:gd name="connsiteY34" fmla="*/ 2137662 h 3248940"/>
                  <a:gd name="connsiteX35" fmla="*/ 3491803 w 5709126"/>
                  <a:gd name="connsiteY35" fmla="*/ 2239262 h 3248940"/>
                  <a:gd name="connsiteX36" fmla="*/ 3150058 w 5709126"/>
                  <a:gd name="connsiteY36" fmla="*/ 2377808 h 3248940"/>
                  <a:gd name="connsiteX37" fmla="*/ 2734421 w 5709126"/>
                  <a:gd name="connsiteY37" fmla="*/ 2553299 h 3248940"/>
                  <a:gd name="connsiteX38" fmla="*/ 2346494 w 5709126"/>
                  <a:gd name="connsiteY38" fmla="*/ 2774971 h 3248940"/>
                  <a:gd name="connsiteX39" fmla="*/ 2013985 w 5709126"/>
                  <a:gd name="connsiteY39" fmla="*/ 3005880 h 3248940"/>
                  <a:gd name="connsiteX40" fmla="*/ 1746130 w 5709126"/>
                  <a:gd name="connsiteY40" fmla="*/ 3246026 h 3248940"/>
                  <a:gd name="connsiteX41" fmla="*/ 1690713 w 5709126"/>
                  <a:gd name="connsiteY41" fmla="*/ 3125953 h 3248940"/>
                  <a:gd name="connsiteX42" fmla="*/ 1635294 w 5709126"/>
                  <a:gd name="connsiteY42" fmla="*/ 2931989 h 3248940"/>
                  <a:gd name="connsiteX43" fmla="*/ 1552167 w 5709126"/>
                  <a:gd name="connsiteY43" fmla="*/ 2747262 h 3248940"/>
                  <a:gd name="connsiteX44" fmla="*/ 1358203 w 5709126"/>
                  <a:gd name="connsiteY44" fmla="*/ 2516353 h 3248940"/>
                  <a:gd name="connsiteX45" fmla="*/ 1191949 w 5709126"/>
                  <a:gd name="connsiteY45" fmla="*/ 2368571 h 3248940"/>
                  <a:gd name="connsiteX46" fmla="*/ 933330 w 5709126"/>
                  <a:gd name="connsiteY46" fmla="*/ 2211553 h 3248940"/>
                  <a:gd name="connsiteX47" fmla="*/ 286785 w 5709126"/>
                  <a:gd name="connsiteY47" fmla="*/ 1934462 h 3248940"/>
                  <a:gd name="connsiteX48" fmla="*/ 9694 w 5709126"/>
                  <a:gd name="connsiteY48" fmla="*/ 1879044 h 3248940"/>
                  <a:gd name="connsiteX0" fmla="*/ 54926 w 5754358"/>
                  <a:gd name="connsiteY0" fmla="*/ 1879044 h 3248940"/>
                  <a:gd name="connsiteX1" fmla="*/ 119580 w 5754358"/>
                  <a:gd name="connsiteY1" fmla="*/ 1685080 h 3248940"/>
                  <a:gd name="connsiteX2" fmla="*/ 230417 w 5754358"/>
                  <a:gd name="connsiteY2" fmla="*/ 1509590 h 3248940"/>
                  <a:gd name="connsiteX3" fmla="*/ 433617 w 5754358"/>
                  <a:gd name="connsiteY3" fmla="*/ 1278680 h 3248940"/>
                  <a:gd name="connsiteX4" fmla="*/ 747653 w 5754358"/>
                  <a:gd name="connsiteY4" fmla="*/ 1038535 h 3248940"/>
                  <a:gd name="connsiteX5" fmla="*/ 1024744 w 5754358"/>
                  <a:gd name="connsiteY5" fmla="*/ 835335 h 3248940"/>
                  <a:gd name="connsiteX6" fmla="*/ 1384962 w 5754358"/>
                  <a:gd name="connsiteY6" fmla="*/ 613662 h 3248940"/>
                  <a:gd name="connsiteX7" fmla="*/ 1745181 w 5754358"/>
                  <a:gd name="connsiteY7" fmla="*/ 428935 h 3248940"/>
                  <a:gd name="connsiteX8" fmla="*/ 2188526 w 5754358"/>
                  <a:gd name="connsiteY8" fmla="*/ 244208 h 3248940"/>
                  <a:gd name="connsiteX9" fmla="*/ 2622636 w 5754358"/>
                  <a:gd name="connsiteY9" fmla="*/ 114898 h 3248940"/>
                  <a:gd name="connsiteX10" fmla="*/ 3047508 w 5754358"/>
                  <a:gd name="connsiteY10" fmla="*/ 41008 h 3248940"/>
                  <a:gd name="connsiteX11" fmla="*/ 3453908 w 5754358"/>
                  <a:gd name="connsiteY11" fmla="*/ 4062 h 3248940"/>
                  <a:gd name="connsiteX12" fmla="*/ 3869544 w 5754358"/>
                  <a:gd name="connsiteY12" fmla="*/ 4062 h 3248940"/>
                  <a:gd name="connsiteX13" fmla="*/ 4266708 w 5754358"/>
                  <a:gd name="connsiteY13" fmla="*/ 31772 h 3248940"/>
                  <a:gd name="connsiteX14" fmla="*/ 4587828 w 5754358"/>
                  <a:gd name="connsiteY14" fmla="*/ 92729 h 3248940"/>
                  <a:gd name="connsiteX15" fmla="*/ 4635881 w 5754358"/>
                  <a:gd name="connsiteY15" fmla="*/ 118051 h 3248940"/>
                  <a:gd name="connsiteX16" fmla="*/ 4673108 w 5754358"/>
                  <a:gd name="connsiteY16" fmla="*/ 133371 h 3248940"/>
                  <a:gd name="connsiteX17" fmla="*/ 4931725 w 5754358"/>
                  <a:gd name="connsiteY17" fmla="*/ 281154 h 3248940"/>
                  <a:gd name="connsiteX18" fmla="*/ 5097981 w 5754358"/>
                  <a:gd name="connsiteY18" fmla="*/ 447407 h 3248940"/>
                  <a:gd name="connsiteX19" fmla="*/ 5301181 w 5754358"/>
                  <a:gd name="connsiteY19" fmla="*/ 715262 h 3248940"/>
                  <a:gd name="connsiteX20" fmla="*/ 5467435 w 5754358"/>
                  <a:gd name="connsiteY20" fmla="*/ 973880 h 3248940"/>
                  <a:gd name="connsiteX21" fmla="*/ 5633690 w 5754358"/>
                  <a:gd name="connsiteY21" fmla="*/ 1315626 h 3248940"/>
                  <a:gd name="connsiteX22" fmla="*/ 5735290 w 5754358"/>
                  <a:gd name="connsiteY22" fmla="*/ 1648135 h 3248940"/>
                  <a:gd name="connsiteX23" fmla="*/ 5753762 w 5754358"/>
                  <a:gd name="connsiteY23" fmla="*/ 1925226 h 3248940"/>
                  <a:gd name="connsiteX24" fmla="*/ 5726053 w 5754358"/>
                  <a:gd name="connsiteY24" fmla="*/ 2119189 h 3248940"/>
                  <a:gd name="connsiteX25" fmla="*/ 5670635 w 5754358"/>
                  <a:gd name="connsiteY25" fmla="*/ 2202317 h 3248940"/>
                  <a:gd name="connsiteX26" fmla="*/ 5661399 w 5754358"/>
                  <a:gd name="connsiteY26" fmla="*/ 2174608 h 3248940"/>
                  <a:gd name="connsiteX27" fmla="*/ 5578272 w 5754358"/>
                  <a:gd name="connsiteY27" fmla="*/ 2109953 h 3248940"/>
                  <a:gd name="connsiteX28" fmla="*/ 5439726 w 5754358"/>
                  <a:gd name="connsiteY28" fmla="*/ 2045299 h 3248940"/>
                  <a:gd name="connsiteX29" fmla="*/ 5273471 w 5754358"/>
                  <a:gd name="connsiteY29" fmla="*/ 1999117 h 3248940"/>
                  <a:gd name="connsiteX30" fmla="*/ 4996381 w 5754358"/>
                  <a:gd name="connsiteY30" fmla="*/ 1971408 h 3248940"/>
                  <a:gd name="connsiteX31" fmla="*/ 4774708 w 5754358"/>
                  <a:gd name="connsiteY31" fmla="*/ 1971408 h 3248940"/>
                  <a:gd name="connsiteX32" fmla="*/ 4442198 w 5754358"/>
                  <a:gd name="connsiteY32" fmla="*/ 1989881 h 3248940"/>
                  <a:gd name="connsiteX33" fmla="*/ 4137399 w 5754358"/>
                  <a:gd name="connsiteY33" fmla="*/ 2054535 h 3248940"/>
                  <a:gd name="connsiteX34" fmla="*/ 3804889 w 5754358"/>
                  <a:gd name="connsiteY34" fmla="*/ 2137662 h 3248940"/>
                  <a:gd name="connsiteX35" fmla="*/ 3537035 w 5754358"/>
                  <a:gd name="connsiteY35" fmla="*/ 2239262 h 3248940"/>
                  <a:gd name="connsiteX36" fmla="*/ 3195290 w 5754358"/>
                  <a:gd name="connsiteY36" fmla="*/ 2377808 h 3248940"/>
                  <a:gd name="connsiteX37" fmla="*/ 2779653 w 5754358"/>
                  <a:gd name="connsiteY37" fmla="*/ 2553299 h 3248940"/>
                  <a:gd name="connsiteX38" fmla="*/ 2391726 w 5754358"/>
                  <a:gd name="connsiteY38" fmla="*/ 2774971 h 3248940"/>
                  <a:gd name="connsiteX39" fmla="*/ 2059217 w 5754358"/>
                  <a:gd name="connsiteY39" fmla="*/ 3005880 h 3248940"/>
                  <a:gd name="connsiteX40" fmla="*/ 1791362 w 5754358"/>
                  <a:gd name="connsiteY40" fmla="*/ 3246026 h 3248940"/>
                  <a:gd name="connsiteX41" fmla="*/ 1735945 w 5754358"/>
                  <a:gd name="connsiteY41" fmla="*/ 3125953 h 3248940"/>
                  <a:gd name="connsiteX42" fmla="*/ 1680526 w 5754358"/>
                  <a:gd name="connsiteY42" fmla="*/ 2931989 h 3248940"/>
                  <a:gd name="connsiteX43" fmla="*/ 1597399 w 5754358"/>
                  <a:gd name="connsiteY43" fmla="*/ 2747262 h 3248940"/>
                  <a:gd name="connsiteX44" fmla="*/ 1403435 w 5754358"/>
                  <a:gd name="connsiteY44" fmla="*/ 2516353 h 3248940"/>
                  <a:gd name="connsiteX45" fmla="*/ 1237181 w 5754358"/>
                  <a:gd name="connsiteY45" fmla="*/ 2368571 h 3248940"/>
                  <a:gd name="connsiteX46" fmla="*/ 978562 w 5754358"/>
                  <a:gd name="connsiteY46" fmla="*/ 2211553 h 3248940"/>
                  <a:gd name="connsiteX47" fmla="*/ 54926 w 5754358"/>
                  <a:gd name="connsiteY47" fmla="*/ 1879044 h 3248940"/>
                  <a:gd name="connsiteX0" fmla="*/ 901641 w 5677437"/>
                  <a:gd name="connsiteY0" fmla="*/ 2211553 h 3248940"/>
                  <a:gd name="connsiteX1" fmla="*/ 42659 w 5677437"/>
                  <a:gd name="connsiteY1" fmla="*/ 1685080 h 3248940"/>
                  <a:gd name="connsiteX2" fmla="*/ 153496 w 5677437"/>
                  <a:gd name="connsiteY2" fmla="*/ 1509590 h 3248940"/>
                  <a:gd name="connsiteX3" fmla="*/ 356696 w 5677437"/>
                  <a:gd name="connsiteY3" fmla="*/ 1278680 h 3248940"/>
                  <a:gd name="connsiteX4" fmla="*/ 670732 w 5677437"/>
                  <a:gd name="connsiteY4" fmla="*/ 1038535 h 3248940"/>
                  <a:gd name="connsiteX5" fmla="*/ 947823 w 5677437"/>
                  <a:gd name="connsiteY5" fmla="*/ 835335 h 3248940"/>
                  <a:gd name="connsiteX6" fmla="*/ 1308041 w 5677437"/>
                  <a:gd name="connsiteY6" fmla="*/ 613662 h 3248940"/>
                  <a:gd name="connsiteX7" fmla="*/ 1668260 w 5677437"/>
                  <a:gd name="connsiteY7" fmla="*/ 428935 h 3248940"/>
                  <a:gd name="connsiteX8" fmla="*/ 2111605 w 5677437"/>
                  <a:gd name="connsiteY8" fmla="*/ 244208 h 3248940"/>
                  <a:gd name="connsiteX9" fmla="*/ 2545715 w 5677437"/>
                  <a:gd name="connsiteY9" fmla="*/ 114898 h 3248940"/>
                  <a:gd name="connsiteX10" fmla="*/ 2970587 w 5677437"/>
                  <a:gd name="connsiteY10" fmla="*/ 41008 h 3248940"/>
                  <a:gd name="connsiteX11" fmla="*/ 3376987 w 5677437"/>
                  <a:gd name="connsiteY11" fmla="*/ 4062 h 3248940"/>
                  <a:gd name="connsiteX12" fmla="*/ 3792623 w 5677437"/>
                  <a:gd name="connsiteY12" fmla="*/ 4062 h 3248940"/>
                  <a:gd name="connsiteX13" fmla="*/ 4189787 w 5677437"/>
                  <a:gd name="connsiteY13" fmla="*/ 31772 h 3248940"/>
                  <a:gd name="connsiteX14" fmla="*/ 4510907 w 5677437"/>
                  <a:gd name="connsiteY14" fmla="*/ 92729 h 3248940"/>
                  <a:gd name="connsiteX15" fmla="*/ 4558960 w 5677437"/>
                  <a:gd name="connsiteY15" fmla="*/ 118051 h 3248940"/>
                  <a:gd name="connsiteX16" fmla="*/ 4596187 w 5677437"/>
                  <a:gd name="connsiteY16" fmla="*/ 133371 h 3248940"/>
                  <a:gd name="connsiteX17" fmla="*/ 4854804 w 5677437"/>
                  <a:gd name="connsiteY17" fmla="*/ 281154 h 3248940"/>
                  <a:gd name="connsiteX18" fmla="*/ 5021060 w 5677437"/>
                  <a:gd name="connsiteY18" fmla="*/ 447407 h 3248940"/>
                  <a:gd name="connsiteX19" fmla="*/ 5224260 w 5677437"/>
                  <a:gd name="connsiteY19" fmla="*/ 715262 h 3248940"/>
                  <a:gd name="connsiteX20" fmla="*/ 5390514 w 5677437"/>
                  <a:gd name="connsiteY20" fmla="*/ 973880 h 3248940"/>
                  <a:gd name="connsiteX21" fmla="*/ 5556769 w 5677437"/>
                  <a:gd name="connsiteY21" fmla="*/ 1315626 h 3248940"/>
                  <a:gd name="connsiteX22" fmla="*/ 5658369 w 5677437"/>
                  <a:gd name="connsiteY22" fmla="*/ 1648135 h 3248940"/>
                  <a:gd name="connsiteX23" fmla="*/ 5676841 w 5677437"/>
                  <a:gd name="connsiteY23" fmla="*/ 1925226 h 3248940"/>
                  <a:gd name="connsiteX24" fmla="*/ 5649132 w 5677437"/>
                  <a:gd name="connsiteY24" fmla="*/ 2119189 h 3248940"/>
                  <a:gd name="connsiteX25" fmla="*/ 5593714 w 5677437"/>
                  <a:gd name="connsiteY25" fmla="*/ 2202317 h 3248940"/>
                  <a:gd name="connsiteX26" fmla="*/ 5584478 w 5677437"/>
                  <a:gd name="connsiteY26" fmla="*/ 2174608 h 3248940"/>
                  <a:gd name="connsiteX27" fmla="*/ 5501351 w 5677437"/>
                  <a:gd name="connsiteY27" fmla="*/ 2109953 h 3248940"/>
                  <a:gd name="connsiteX28" fmla="*/ 5362805 w 5677437"/>
                  <a:gd name="connsiteY28" fmla="*/ 2045299 h 3248940"/>
                  <a:gd name="connsiteX29" fmla="*/ 5196550 w 5677437"/>
                  <a:gd name="connsiteY29" fmla="*/ 1999117 h 3248940"/>
                  <a:gd name="connsiteX30" fmla="*/ 4919460 w 5677437"/>
                  <a:gd name="connsiteY30" fmla="*/ 1971408 h 3248940"/>
                  <a:gd name="connsiteX31" fmla="*/ 4697787 w 5677437"/>
                  <a:gd name="connsiteY31" fmla="*/ 1971408 h 3248940"/>
                  <a:gd name="connsiteX32" fmla="*/ 4365277 w 5677437"/>
                  <a:gd name="connsiteY32" fmla="*/ 1989881 h 3248940"/>
                  <a:gd name="connsiteX33" fmla="*/ 4060478 w 5677437"/>
                  <a:gd name="connsiteY33" fmla="*/ 2054535 h 3248940"/>
                  <a:gd name="connsiteX34" fmla="*/ 3727968 w 5677437"/>
                  <a:gd name="connsiteY34" fmla="*/ 2137662 h 3248940"/>
                  <a:gd name="connsiteX35" fmla="*/ 3460114 w 5677437"/>
                  <a:gd name="connsiteY35" fmla="*/ 2239262 h 3248940"/>
                  <a:gd name="connsiteX36" fmla="*/ 3118369 w 5677437"/>
                  <a:gd name="connsiteY36" fmla="*/ 2377808 h 3248940"/>
                  <a:gd name="connsiteX37" fmla="*/ 2702732 w 5677437"/>
                  <a:gd name="connsiteY37" fmla="*/ 2553299 h 3248940"/>
                  <a:gd name="connsiteX38" fmla="*/ 2314805 w 5677437"/>
                  <a:gd name="connsiteY38" fmla="*/ 2774971 h 3248940"/>
                  <a:gd name="connsiteX39" fmla="*/ 1982296 w 5677437"/>
                  <a:gd name="connsiteY39" fmla="*/ 3005880 h 3248940"/>
                  <a:gd name="connsiteX40" fmla="*/ 1714441 w 5677437"/>
                  <a:gd name="connsiteY40" fmla="*/ 3246026 h 3248940"/>
                  <a:gd name="connsiteX41" fmla="*/ 1659024 w 5677437"/>
                  <a:gd name="connsiteY41" fmla="*/ 3125953 h 3248940"/>
                  <a:gd name="connsiteX42" fmla="*/ 1603605 w 5677437"/>
                  <a:gd name="connsiteY42" fmla="*/ 2931989 h 3248940"/>
                  <a:gd name="connsiteX43" fmla="*/ 1520478 w 5677437"/>
                  <a:gd name="connsiteY43" fmla="*/ 2747262 h 3248940"/>
                  <a:gd name="connsiteX44" fmla="*/ 1326514 w 5677437"/>
                  <a:gd name="connsiteY44" fmla="*/ 2516353 h 3248940"/>
                  <a:gd name="connsiteX45" fmla="*/ 1160260 w 5677437"/>
                  <a:gd name="connsiteY45" fmla="*/ 2368571 h 3248940"/>
                  <a:gd name="connsiteX46" fmla="*/ 901641 w 5677437"/>
                  <a:gd name="connsiteY46" fmla="*/ 2211553 h 3248940"/>
                  <a:gd name="connsiteX0" fmla="*/ 770645 w 5546441"/>
                  <a:gd name="connsiteY0" fmla="*/ 2211553 h 3248940"/>
                  <a:gd name="connsiteX1" fmla="*/ 22500 w 5546441"/>
                  <a:gd name="connsiteY1" fmla="*/ 1509590 h 3248940"/>
                  <a:gd name="connsiteX2" fmla="*/ 225700 w 5546441"/>
                  <a:gd name="connsiteY2" fmla="*/ 1278680 h 3248940"/>
                  <a:gd name="connsiteX3" fmla="*/ 539736 w 5546441"/>
                  <a:gd name="connsiteY3" fmla="*/ 1038535 h 3248940"/>
                  <a:gd name="connsiteX4" fmla="*/ 816827 w 5546441"/>
                  <a:gd name="connsiteY4" fmla="*/ 835335 h 3248940"/>
                  <a:gd name="connsiteX5" fmla="*/ 1177045 w 5546441"/>
                  <a:gd name="connsiteY5" fmla="*/ 613662 h 3248940"/>
                  <a:gd name="connsiteX6" fmla="*/ 1537264 w 5546441"/>
                  <a:gd name="connsiteY6" fmla="*/ 428935 h 3248940"/>
                  <a:gd name="connsiteX7" fmla="*/ 1980609 w 5546441"/>
                  <a:gd name="connsiteY7" fmla="*/ 244208 h 3248940"/>
                  <a:gd name="connsiteX8" fmla="*/ 2414719 w 5546441"/>
                  <a:gd name="connsiteY8" fmla="*/ 114898 h 3248940"/>
                  <a:gd name="connsiteX9" fmla="*/ 2839591 w 5546441"/>
                  <a:gd name="connsiteY9" fmla="*/ 41008 h 3248940"/>
                  <a:gd name="connsiteX10" fmla="*/ 3245991 w 5546441"/>
                  <a:gd name="connsiteY10" fmla="*/ 4062 h 3248940"/>
                  <a:gd name="connsiteX11" fmla="*/ 3661627 w 5546441"/>
                  <a:gd name="connsiteY11" fmla="*/ 4062 h 3248940"/>
                  <a:gd name="connsiteX12" fmla="*/ 4058791 w 5546441"/>
                  <a:gd name="connsiteY12" fmla="*/ 31772 h 3248940"/>
                  <a:gd name="connsiteX13" fmla="*/ 4379911 w 5546441"/>
                  <a:gd name="connsiteY13" fmla="*/ 92729 h 3248940"/>
                  <a:gd name="connsiteX14" fmla="*/ 4427964 w 5546441"/>
                  <a:gd name="connsiteY14" fmla="*/ 118051 h 3248940"/>
                  <a:gd name="connsiteX15" fmla="*/ 4465191 w 5546441"/>
                  <a:gd name="connsiteY15" fmla="*/ 133371 h 3248940"/>
                  <a:gd name="connsiteX16" fmla="*/ 4723808 w 5546441"/>
                  <a:gd name="connsiteY16" fmla="*/ 281154 h 3248940"/>
                  <a:gd name="connsiteX17" fmla="*/ 4890064 w 5546441"/>
                  <a:gd name="connsiteY17" fmla="*/ 447407 h 3248940"/>
                  <a:gd name="connsiteX18" fmla="*/ 5093264 w 5546441"/>
                  <a:gd name="connsiteY18" fmla="*/ 715262 h 3248940"/>
                  <a:gd name="connsiteX19" fmla="*/ 5259518 w 5546441"/>
                  <a:gd name="connsiteY19" fmla="*/ 973880 h 3248940"/>
                  <a:gd name="connsiteX20" fmla="*/ 5425773 w 5546441"/>
                  <a:gd name="connsiteY20" fmla="*/ 1315626 h 3248940"/>
                  <a:gd name="connsiteX21" fmla="*/ 5527373 w 5546441"/>
                  <a:gd name="connsiteY21" fmla="*/ 1648135 h 3248940"/>
                  <a:gd name="connsiteX22" fmla="*/ 5545845 w 5546441"/>
                  <a:gd name="connsiteY22" fmla="*/ 1925226 h 3248940"/>
                  <a:gd name="connsiteX23" fmla="*/ 5518136 w 5546441"/>
                  <a:gd name="connsiteY23" fmla="*/ 2119189 h 3248940"/>
                  <a:gd name="connsiteX24" fmla="*/ 5462718 w 5546441"/>
                  <a:gd name="connsiteY24" fmla="*/ 2202317 h 3248940"/>
                  <a:gd name="connsiteX25" fmla="*/ 5453482 w 5546441"/>
                  <a:gd name="connsiteY25" fmla="*/ 2174608 h 3248940"/>
                  <a:gd name="connsiteX26" fmla="*/ 5370355 w 5546441"/>
                  <a:gd name="connsiteY26" fmla="*/ 2109953 h 3248940"/>
                  <a:gd name="connsiteX27" fmla="*/ 5231809 w 5546441"/>
                  <a:gd name="connsiteY27" fmla="*/ 2045299 h 3248940"/>
                  <a:gd name="connsiteX28" fmla="*/ 5065554 w 5546441"/>
                  <a:gd name="connsiteY28" fmla="*/ 1999117 h 3248940"/>
                  <a:gd name="connsiteX29" fmla="*/ 4788464 w 5546441"/>
                  <a:gd name="connsiteY29" fmla="*/ 1971408 h 3248940"/>
                  <a:gd name="connsiteX30" fmla="*/ 4566791 w 5546441"/>
                  <a:gd name="connsiteY30" fmla="*/ 1971408 h 3248940"/>
                  <a:gd name="connsiteX31" fmla="*/ 4234281 w 5546441"/>
                  <a:gd name="connsiteY31" fmla="*/ 1989881 h 3248940"/>
                  <a:gd name="connsiteX32" fmla="*/ 3929482 w 5546441"/>
                  <a:gd name="connsiteY32" fmla="*/ 2054535 h 3248940"/>
                  <a:gd name="connsiteX33" fmla="*/ 3596972 w 5546441"/>
                  <a:gd name="connsiteY33" fmla="*/ 2137662 h 3248940"/>
                  <a:gd name="connsiteX34" fmla="*/ 3329118 w 5546441"/>
                  <a:gd name="connsiteY34" fmla="*/ 2239262 h 3248940"/>
                  <a:gd name="connsiteX35" fmla="*/ 2987373 w 5546441"/>
                  <a:gd name="connsiteY35" fmla="*/ 2377808 h 3248940"/>
                  <a:gd name="connsiteX36" fmla="*/ 2571736 w 5546441"/>
                  <a:gd name="connsiteY36" fmla="*/ 2553299 h 3248940"/>
                  <a:gd name="connsiteX37" fmla="*/ 2183809 w 5546441"/>
                  <a:gd name="connsiteY37" fmla="*/ 2774971 h 3248940"/>
                  <a:gd name="connsiteX38" fmla="*/ 1851300 w 5546441"/>
                  <a:gd name="connsiteY38" fmla="*/ 3005880 h 3248940"/>
                  <a:gd name="connsiteX39" fmla="*/ 1583445 w 5546441"/>
                  <a:gd name="connsiteY39" fmla="*/ 3246026 h 3248940"/>
                  <a:gd name="connsiteX40" fmla="*/ 1528028 w 5546441"/>
                  <a:gd name="connsiteY40" fmla="*/ 3125953 h 3248940"/>
                  <a:gd name="connsiteX41" fmla="*/ 1472609 w 5546441"/>
                  <a:gd name="connsiteY41" fmla="*/ 2931989 h 3248940"/>
                  <a:gd name="connsiteX42" fmla="*/ 1389482 w 5546441"/>
                  <a:gd name="connsiteY42" fmla="*/ 2747262 h 3248940"/>
                  <a:gd name="connsiteX43" fmla="*/ 1195518 w 5546441"/>
                  <a:gd name="connsiteY43" fmla="*/ 2516353 h 3248940"/>
                  <a:gd name="connsiteX44" fmla="*/ 1029264 w 5546441"/>
                  <a:gd name="connsiteY44" fmla="*/ 2368571 h 3248940"/>
                  <a:gd name="connsiteX45" fmla="*/ 770645 w 5546441"/>
                  <a:gd name="connsiteY45" fmla="*/ 2211553 h 3248940"/>
                  <a:gd name="connsiteX0" fmla="*/ 548882 w 5324678"/>
                  <a:gd name="connsiteY0" fmla="*/ 2211553 h 3248940"/>
                  <a:gd name="connsiteX1" fmla="*/ 3937 w 5324678"/>
                  <a:gd name="connsiteY1" fmla="*/ 1278680 h 3248940"/>
                  <a:gd name="connsiteX2" fmla="*/ 317973 w 5324678"/>
                  <a:gd name="connsiteY2" fmla="*/ 1038535 h 3248940"/>
                  <a:gd name="connsiteX3" fmla="*/ 595064 w 5324678"/>
                  <a:gd name="connsiteY3" fmla="*/ 835335 h 3248940"/>
                  <a:gd name="connsiteX4" fmla="*/ 955282 w 5324678"/>
                  <a:gd name="connsiteY4" fmla="*/ 613662 h 3248940"/>
                  <a:gd name="connsiteX5" fmla="*/ 1315501 w 5324678"/>
                  <a:gd name="connsiteY5" fmla="*/ 428935 h 3248940"/>
                  <a:gd name="connsiteX6" fmla="*/ 1758846 w 5324678"/>
                  <a:gd name="connsiteY6" fmla="*/ 244208 h 3248940"/>
                  <a:gd name="connsiteX7" fmla="*/ 2192956 w 5324678"/>
                  <a:gd name="connsiteY7" fmla="*/ 114898 h 3248940"/>
                  <a:gd name="connsiteX8" fmla="*/ 2617828 w 5324678"/>
                  <a:gd name="connsiteY8" fmla="*/ 41008 h 3248940"/>
                  <a:gd name="connsiteX9" fmla="*/ 3024228 w 5324678"/>
                  <a:gd name="connsiteY9" fmla="*/ 4062 h 3248940"/>
                  <a:gd name="connsiteX10" fmla="*/ 3439864 w 5324678"/>
                  <a:gd name="connsiteY10" fmla="*/ 4062 h 3248940"/>
                  <a:gd name="connsiteX11" fmla="*/ 3837028 w 5324678"/>
                  <a:gd name="connsiteY11" fmla="*/ 31772 h 3248940"/>
                  <a:gd name="connsiteX12" fmla="*/ 4158148 w 5324678"/>
                  <a:gd name="connsiteY12" fmla="*/ 92729 h 3248940"/>
                  <a:gd name="connsiteX13" fmla="*/ 4206201 w 5324678"/>
                  <a:gd name="connsiteY13" fmla="*/ 118051 h 3248940"/>
                  <a:gd name="connsiteX14" fmla="*/ 4243428 w 5324678"/>
                  <a:gd name="connsiteY14" fmla="*/ 133371 h 3248940"/>
                  <a:gd name="connsiteX15" fmla="*/ 4502045 w 5324678"/>
                  <a:gd name="connsiteY15" fmla="*/ 281154 h 3248940"/>
                  <a:gd name="connsiteX16" fmla="*/ 4668301 w 5324678"/>
                  <a:gd name="connsiteY16" fmla="*/ 447407 h 3248940"/>
                  <a:gd name="connsiteX17" fmla="*/ 4871501 w 5324678"/>
                  <a:gd name="connsiteY17" fmla="*/ 715262 h 3248940"/>
                  <a:gd name="connsiteX18" fmla="*/ 5037755 w 5324678"/>
                  <a:gd name="connsiteY18" fmla="*/ 973880 h 3248940"/>
                  <a:gd name="connsiteX19" fmla="*/ 5204010 w 5324678"/>
                  <a:gd name="connsiteY19" fmla="*/ 1315626 h 3248940"/>
                  <a:gd name="connsiteX20" fmla="*/ 5305610 w 5324678"/>
                  <a:gd name="connsiteY20" fmla="*/ 1648135 h 3248940"/>
                  <a:gd name="connsiteX21" fmla="*/ 5324082 w 5324678"/>
                  <a:gd name="connsiteY21" fmla="*/ 1925226 h 3248940"/>
                  <a:gd name="connsiteX22" fmla="*/ 5296373 w 5324678"/>
                  <a:gd name="connsiteY22" fmla="*/ 2119189 h 3248940"/>
                  <a:gd name="connsiteX23" fmla="*/ 5240955 w 5324678"/>
                  <a:gd name="connsiteY23" fmla="*/ 2202317 h 3248940"/>
                  <a:gd name="connsiteX24" fmla="*/ 5231719 w 5324678"/>
                  <a:gd name="connsiteY24" fmla="*/ 2174608 h 3248940"/>
                  <a:gd name="connsiteX25" fmla="*/ 5148592 w 5324678"/>
                  <a:gd name="connsiteY25" fmla="*/ 2109953 h 3248940"/>
                  <a:gd name="connsiteX26" fmla="*/ 5010046 w 5324678"/>
                  <a:gd name="connsiteY26" fmla="*/ 2045299 h 3248940"/>
                  <a:gd name="connsiteX27" fmla="*/ 4843791 w 5324678"/>
                  <a:gd name="connsiteY27" fmla="*/ 1999117 h 3248940"/>
                  <a:gd name="connsiteX28" fmla="*/ 4566701 w 5324678"/>
                  <a:gd name="connsiteY28" fmla="*/ 1971408 h 3248940"/>
                  <a:gd name="connsiteX29" fmla="*/ 4345028 w 5324678"/>
                  <a:gd name="connsiteY29" fmla="*/ 1971408 h 3248940"/>
                  <a:gd name="connsiteX30" fmla="*/ 4012518 w 5324678"/>
                  <a:gd name="connsiteY30" fmla="*/ 1989881 h 3248940"/>
                  <a:gd name="connsiteX31" fmla="*/ 3707719 w 5324678"/>
                  <a:gd name="connsiteY31" fmla="*/ 2054535 h 3248940"/>
                  <a:gd name="connsiteX32" fmla="*/ 3375209 w 5324678"/>
                  <a:gd name="connsiteY32" fmla="*/ 2137662 h 3248940"/>
                  <a:gd name="connsiteX33" fmla="*/ 3107355 w 5324678"/>
                  <a:gd name="connsiteY33" fmla="*/ 2239262 h 3248940"/>
                  <a:gd name="connsiteX34" fmla="*/ 2765610 w 5324678"/>
                  <a:gd name="connsiteY34" fmla="*/ 2377808 h 3248940"/>
                  <a:gd name="connsiteX35" fmla="*/ 2349973 w 5324678"/>
                  <a:gd name="connsiteY35" fmla="*/ 2553299 h 3248940"/>
                  <a:gd name="connsiteX36" fmla="*/ 1962046 w 5324678"/>
                  <a:gd name="connsiteY36" fmla="*/ 2774971 h 3248940"/>
                  <a:gd name="connsiteX37" fmla="*/ 1629537 w 5324678"/>
                  <a:gd name="connsiteY37" fmla="*/ 3005880 h 3248940"/>
                  <a:gd name="connsiteX38" fmla="*/ 1361682 w 5324678"/>
                  <a:gd name="connsiteY38" fmla="*/ 3246026 h 3248940"/>
                  <a:gd name="connsiteX39" fmla="*/ 1306265 w 5324678"/>
                  <a:gd name="connsiteY39" fmla="*/ 3125953 h 3248940"/>
                  <a:gd name="connsiteX40" fmla="*/ 1250846 w 5324678"/>
                  <a:gd name="connsiteY40" fmla="*/ 2931989 h 3248940"/>
                  <a:gd name="connsiteX41" fmla="*/ 1167719 w 5324678"/>
                  <a:gd name="connsiteY41" fmla="*/ 2747262 h 3248940"/>
                  <a:gd name="connsiteX42" fmla="*/ 973755 w 5324678"/>
                  <a:gd name="connsiteY42" fmla="*/ 2516353 h 3248940"/>
                  <a:gd name="connsiteX43" fmla="*/ 807501 w 5324678"/>
                  <a:gd name="connsiteY43" fmla="*/ 2368571 h 3248940"/>
                  <a:gd name="connsiteX44" fmla="*/ 548882 w 5324678"/>
                  <a:gd name="connsiteY44" fmla="*/ 2211553 h 3248940"/>
                  <a:gd name="connsiteX0" fmla="*/ 231182 w 5006978"/>
                  <a:gd name="connsiteY0" fmla="*/ 2211553 h 3248940"/>
                  <a:gd name="connsiteX1" fmla="*/ 273 w 5006978"/>
                  <a:gd name="connsiteY1" fmla="*/ 1038535 h 3248940"/>
                  <a:gd name="connsiteX2" fmla="*/ 277364 w 5006978"/>
                  <a:gd name="connsiteY2" fmla="*/ 835335 h 3248940"/>
                  <a:gd name="connsiteX3" fmla="*/ 637582 w 5006978"/>
                  <a:gd name="connsiteY3" fmla="*/ 613662 h 3248940"/>
                  <a:gd name="connsiteX4" fmla="*/ 997801 w 5006978"/>
                  <a:gd name="connsiteY4" fmla="*/ 428935 h 3248940"/>
                  <a:gd name="connsiteX5" fmla="*/ 1441146 w 5006978"/>
                  <a:gd name="connsiteY5" fmla="*/ 244208 h 3248940"/>
                  <a:gd name="connsiteX6" fmla="*/ 1875256 w 5006978"/>
                  <a:gd name="connsiteY6" fmla="*/ 114898 h 3248940"/>
                  <a:gd name="connsiteX7" fmla="*/ 2300128 w 5006978"/>
                  <a:gd name="connsiteY7" fmla="*/ 41008 h 3248940"/>
                  <a:gd name="connsiteX8" fmla="*/ 2706528 w 5006978"/>
                  <a:gd name="connsiteY8" fmla="*/ 4062 h 3248940"/>
                  <a:gd name="connsiteX9" fmla="*/ 3122164 w 5006978"/>
                  <a:gd name="connsiteY9" fmla="*/ 4062 h 3248940"/>
                  <a:gd name="connsiteX10" fmla="*/ 3519328 w 5006978"/>
                  <a:gd name="connsiteY10" fmla="*/ 31772 h 3248940"/>
                  <a:gd name="connsiteX11" fmla="*/ 3840448 w 5006978"/>
                  <a:gd name="connsiteY11" fmla="*/ 92729 h 3248940"/>
                  <a:gd name="connsiteX12" fmla="*/ 3888501 w 5006978"/>
                  <a:gd name="connsiteY12" fmla="*/ 118051 h 3248940"/>
                  <a:gd name="connsiteX13" fmla="*/ 3925728 w 5006978"/>
                  <a:gd name="connsiteY13" fmla="*/ 133371 h 3248940"/>
                  <a:gd name="connsiteX14" fmla="*/ 4184345 w 5006978"/>
                  <a:gd name="connsiteY14" fmla="*/ 281154 h 3248940"/>
                  <a:gd name="connsiteX15" fmla="*/ 4350601 w 5006978"/>
                  <a:gd name="connsiteY15" fmla="*/ 447407 h 3248940"/>
                  <a:gd name="connsiteX16" fmla="*/ 4553801 w 5006978"/>
                  <a:gd name="connsiteY16" fmla="*/ 715262 h 3248940"/>
                  <a:gd name="connsiteX17" fmla="*/ 4720055 w 5006978"/>
                  <a:gd name="connsiteY17" fmla="*/ 973880 h 3248940"/>
                  <a:gd name="connsiteX18" fmla="*/ 4886310 w 5006978"/>
                  <a:gd name="connsiteY18" fmla="*/ 1315626 h 3248940"/>
                  <a:gd name="connsiteX19" fmla="*/ 4987910 w 5006978"/>
                  <a:gd name="connsiteY19" fmla="*/ 1648135 h 3248940"/>
                  <a:gd name="connsiteX20" fmla="*/ 5006382 w 5006978"/>
                  <a:gd name="connsiteY20" fmla="*/ 1925226 h 3248940"/>
                  <a:gd name="connsiteX21" fmla="*/ 4978673 w 5006978"/>
                  <a:gd name="connsiteY21" fmla="*/ 2119189 h 3248940"/>
                  <a:gd name="connsiteX22" fmla="*/ 4923255 w 5006978"/>
                  <a:gd name="connsiteY22" fmla="*/ 2202317 h 3248940"/>
                  <a:gd name="connsiteX23" fmla="*/ 4914019 w 5006978"/>
                  <a:gd name="connsiteY23" fmla="*/ 2174608 h 3248940"/>
                  <a:gd name="connsiteX24" fmla="*/ 4830892 w 5006978"/>
                  <a:gd name="connsiteY24" fmla="*/ 2109953 h 3248940"/>
                  <a:gd name="connsiteX25" fmla="*/ 4692346 w 5006978"/>
                  <a:gd name="connsiteY25" fmla="*/ 2045299 h 3248940"/>
                  <a:gd name="connsiteX26" fmla="*/ 4526091 w 5006978"/>
                  <a:gd name="connsiteY26" fmla="*/ 1999117 h 3248940"/>
                  <a:gd name="connsiteX27" fmla="*/ 4249001 w 5006978"/>
                  <a:gd name="connsiteY27" fmla="*/ 1971408 h 3248940"/>
                  <a:gd name="connsiteX28" fmla="*/ 4027328 w 5006978"/>
                  <a:gd name="connsiteY28" fmla="*/ 1971408 h 3248940"/>
                  <a:gd name="connsiteX29" fmla="*/ 3694818 w 5006978"/>
                  <a:gd name="connsiteY29" fmla="*/ 1989881 h 3248940"/>
                  <a:gd name="connsiteX30" fmla="*/ 3390019 w 5006978"/>
                  <a:gd name="connsiteY30" fmla="*/ 2054535 h 3248940"/>
                  <a:gd name="connsiteX31" fmla="*/ 3057509 w 5006978"/>
                  <a:gd name="connsiteY31" fmla="*/ 2137662 h 3248940"/>
                  <a:gd name="connsiteX32" fmla="*/ 2789655 w 5006978"/>
                  <a:gd name="connsiteY32" fmla="*/ 2239262 h 3248940"/>
                  <a:gd name="connsiteX33" fmla="*/ 2447910 w 5006978"/>
                  <a:gd name="connsiteY33" fmla="*/ 2377808 h 3248940"/>
                  <a:gd name="connsiteX34" fmla="*/ 2032273 w 5006978"/>
                  <a:gd name="connsiteY34" fmla="*/ 2553299 h 3248940"/>
                  <a:gd name="connsiteX35" fmla="*/ 1644346 w 5006978"/>
                  <a:gd name="connsiteY35" fmla="*/ 2774971 h 3248940"/>
                  <a:gd name="connsiteX36" fmla="*/ 1311837 w 5006978"/>
                  <a:gd name="connsiteY36" fmla="*/ 3005880 h 3248940"/>
                  <a:gd name="connsiteX37" fmla="*/ 1043982 w 5006978"/>
                  <a:gd name="connsiteY37" fmla="*/ 3246026 h 3248940"/>
                  <a:gd name="connsiteX38" fmla="*/ 988565 w 5006978"/>
                  <a:gd name="connsiteY38" fmla="*/ 3125953 h 3248940"/>
                  <a:gd name="connsiteX39" fmla="*/ 933146 w 5006978"/>
                  <a:gd name="connsiteY39" fmla="*/ 2931989 h 3248940"/>
                  <a:gd name="connsiteX40" fmla="*/ 850019 w 5006978"/>
                  <a:gd name="connsiteY40" fmla="*/ 2747262 h 3248940"/>
                  <a:gd name="connsiteX41" fmla="*/ 656055 w 5006978"/>
                  <a:gd name="connsiteY41" fmla="*/ 2516353 h 3248940"/>
                  <a:gd name="connsiteX42" fmla="*/ 489801 w 5006978"/>
                  <a:gd name="connsiteY42" fmla="*/ 2368571 h 3248940"/>
                  <a:gd name="connsiteX43" fmla="*/ 231182 w 5006978"/>
                  <a:gd name="connsiteY43" fmla="*/ 2211553 h 3248940"/>
                  <a:gd name="connsiteX0" fmla="*/ 90783 w 4866579"/>
                  <a:gd name="connsiteY0" fmla="*/ 2211553 h 3248940"/>
                  <a:gd name="connsiteX1" fmla="*/ 959 w 4866579"/>
                  <a:gd name="connsiteY1" fmla="*/ 1151798 h 3248940"/>
                  <a:gd name="connsiteX2" fmla="*/ 136965 w 4866579"/>
                  <a:gd name="connsiteY2" fmla="*/ 835335 h 3248940"/>
                  <a:gd name="connsiteX3" fmla="*/ 497183 w 4866579"/>
                  <a:gd name="connsiteY3" fmla="*/ 613662 h 3248940"/>
                  <a:gd name="connsiteX4" fmla="*/ 857402 w 4866579"/>
                  <a:gd name="connsiteY4" fmla="*/ 428935 h 3248940"/>
                  <a:gd name="connsiteX5" fmla="*/ 1300747 w 4866579"/>
                  <a:gd name="connsiteY5" fmla="*/ 244208 h 3248940"/>
                  <a:gd name="connsiteX6" fmla="*/ 1734857 w 4866579"/>
                  <a:gd name="connsiteY6" fmla="*/ 114898 h 3248940"/>
                  <a:gd name="connsiteX7" fmla="*/ 2159729 w 4866579"/>
                  <a:gd name="connsiteY7" fmla="*/ 41008 h 3248940"/>
                  <a:gd name="connsiteX8" fmla="*/ 2566129 w 4866579"/>
                  <a:gd name="connsiteY8" fmla="*/ 4062 h 3248940"/>
                  <a:gd name="connsiteX9" fmla="*/ 2981765 w 4866579"/>
                  <a:gd name="connsiteY9" fmla="*/ 4062 h 3248940"/>
                  <a:gd name="connsiteX10" fmla="*/ 3378929 w 4866579"/>
                  <a:gd name="connsiteY10" fmla="*/ 31772 h 3248940"/>
                  <a:gd name="connsiteX11" fmla="*/ 3700049 w 4866579"/>
                  <a:gd name="connsiteY11" fmla="*/ 92729 h 3248940"/>
                  <a:gd name="connsiteX12" fmla="*/ 3748102 w 4866579"/>
                  <a:gd name="connsiteY12" fmla="*/ 118051 h 3248940"/>
                  <a:gd name="connsiteX13" fmla="*/ 3785329 w 4866579"/>
                  <a:gd name="connsiteY13" fmla="*/ 133371 h 3248940"/>
                  <a:gd name="connsiteX14" fmla="*/ 4043946 w 4866579"/>
                  <a:gd name="connsiteY14" fmla="*/ 281154 h 3248940"/>
                  <a:gd name="connsiteX15" fmla="*/ 4210202 w 4866579"/>
                  <a:gd name="connsiteY15" fmla="*/ 447407 h 3248940"/>
                  <a:gd name="connsiteX16" fmla="*/ 4413402 w 4866579"/>
                  <a:gd name="connsiteY16" fmla="*/ 715262 h 3248940"/>
                  <a:gd name="connsiteX17" fmla="*/ 4579656 w 4866579"/>
                  <a:gd name="connsiteY17" fmla="*/ 973880 h 3248940"/>
                  <a:gd name="connsiteX18" fmla="*/ 4745911 w 4866579"/>
                  <a:gd name="connsiteY18" fmla="*/ 1315626 h 3248940"/>
                  <a:gd name="connsiteX19" fmla="*/ 4847511 w 4866579"/>
                  <a:gd name="connsiteY19" fmla="*/ 1648135 h 3248940"/>
                  <a:gd name="connsiteX20" fmla="*/ 4865983 w 4866579"/>
                  <a:gd name="connsiteY20" fmla="*/ 1925226 h 3248940"/>
                  <a:gd name="connsiteX21" fmla="*/ 4838274 w 4866579"/>
                  <a:gd name="connsiteY21" fmla="*/ 2119189 h 3248940"/>
                  <a:gd name="connsiteX22" fmla="*/ 4782856 w 4866579"/>
                  <a:gd name="connsiteY22" fmla="*/ 2202317 h 3248940"/>
                  <a:gd name="connsiteX23" fmla="*/ 4773620 w 4866579"/>
                  <a:gd name="connsiteY23" fmla="*/ 2174608 h 3248940"/>
                  <a:gd name="connsiteX24" fmla="*/ 4690493 w 4866579"/>
                  <a:gd name="connsiteY24" fmla="*/ 2109953 h 3248940"/>
                  <a:gd name="connsiteX25" fmla="*/ 4551947 w 4866579"/>
                  <a:gd name="connsiteY25" fmla="*/ 2045299 h 3248940"/>
                  <a:gd name="connsiteX26" fmla="*/ 4385692 w 4866579"/>
                  <a:gd name="connsiteY26" fmla="*/ 1999117 h 3248940"/>
                  <a:gd name="connsiteX27" fmla="*/ 4108602 w 4866579"/>
                  <a:gd name="connsiteY27" fmla="*/ 1971408 h 3248940"/>
                  <a:gd name="connsiteX28" fmla="*/ 3886929 w 4866579"/>
                  <a:gd name="connsiteY28" fmla="*/ 1971408 h 3248940"/>
                  <a:gd name="connsiteX29" fmla="*/ 3554419 w 4866579"/>
                  <a:gd name="connsiteY29" fmla="*/ 1989881 h 3248940"/>
                  <a:gd name="connsiteX30" fmla="*/ 3249620 w 4866579"/>
                  <a:gd name="connsiteY30" fmla="*/ 2054535 h 3248940"/>
                  <a:gd name="connsiteX31" fmla="*/ 2917110 w 4866579"/>
                  <a:gd name="connsiteY31" fmla="*/ 2137662 h 3248940"/>
                  <a:gd name="connsiteX32" fmla="*/ 2649256 w 4866579"/>
                  <a:gd name="connsiteY32" fmla="*/ 2239262 h 3248940"/>
                  <a:gd name="connsiteX33" fmla="*/ 2307511 w 4866579"/>
                  <a:gd name="connsiteY33" fmla="*/ 2377808 h 3248940"/>
                  <a:gd name="connsiteX34" fmla="*/ 1891874 w 4866579"/>
                  <a:gd name="connsiteY34" fmla="*/ 2553299 h 3248940"/>
                  <a:gd name="connsiteX35" fmla="*/ 1503947 w 4866579"/>
                  <a:gd name="connsiteY35" fmla="*/ 2774971 h 3248940"/>
                  <a:gd name="connsiteX36" fmla="*/ 1171438 w 4866579"/>
                  <a:gd name="connsiteY36" fmla="*/ 3005880 h 3248940"/>
                  <a:gd name="connsiteX37" fmla="*/ 903583 w 4866579"/>
                  <a:gd name="connsiteY37" fmla="*/ 3246026 h 3248940"/>
                  <a:gd name="connsiteX38" fmla="*/ 848166 w 4866579"/>
                  <a:gd name="connsiteY38" fmla="*/ 3125953 h 3248940"/>
                  <a:gd name="connsiteX39" fmla="*/ 792747 w 4866579"/>
                  <a:gd name="connsiteY39" fmla="*/ 2931989 h 3248940"/>
                  <a:gd name="connsiteX40" fmla="*/ 709620 w 4866579"/>
                  <a:gd name="connsiteY40" fmla="*/ 2747262 h 3248940"/>
                  <a:gd name="connsiteX41" fmla="*/ 515656 w 4866579"/>
                  <a:gd name="connsiteY41" fmla="*/ 2516353 h 3248940"/>
                  <a:gd name="connsiteX42" fmla="*/ 349402 w 4866579"/>
                  <a:gd name="connsiteY42" fmla="*/ 2368571 h 3248940"/>
                  <a:gd name="connsiteX43" fmla="*/ 90783 w 4866579"/>
                  <a:gd name="connsiteY43" fmla="*/ 2211553 h 3248940"/>
                  <a:gd name="connsiteX0" fmla="*/ 212274 w 4867140"/>
                  <a:gd name="connsiteY0" fmla="*/ 2050601 h 3248940"/>
                  <a:gd name="connsiteX1" fmla="*/ 1520 w 4867140"/>
                  <a:gd name="connsiteY1" fmla="*/ 1151798 h 3248940"/>
                  <a:gd name="connsiteX2" fmla="*/ 137526 w 4867140"/>
                  <a:gd name="connsiteY2" fmla="*/ 835335 h 3248940"/>
                  <a:gd name="connsiteX3" fmla="*/ 497744 w 4867140"/>
                  <a:gd name="connsiteY3" fmla="*/ 613662 h 3248940"/>
                  <a:gd name="connsiteX4" fmla="*/ 857963 w 4867140"/>
                  <a:gd name="connsiteY4" fmla="*/ 428935 h 3248940"/>
                  <a:gd name="connsiteX5" fmla="*/ 1301308 w 4867140"/>
                  <a:gd name="connsiteY5" fmla="*/ 244208 h 3248940"/>
                  <a:gd name="connsiteX6" fmla="*/ 1735418 w 4867140"/>
                  <a:gd name="connsiteY6" fmla="*/ 114898 h 3248940"/>
                  <a:gd name="connsiteX7" fmla="*/ 2160290 w 4867140"/>
                  <a:gd name="connsiteY7" fmla="*/ 41008 h 3248940"/>
                  <a:gd name="connsiteX8" fmla="*/ 2566690 w 4867140"/>
                  <a:gd name="connsiteY8" fmla="*/ 4062 h 3248940"/>
                  <a:gd name="connsiteX9" fmla="*/ 2982326 w 4867140"/>
                  <a:gd name="connsiteY9" fmla="*/ 4062 h 3248940"/>
                  <a:gd name="connsiteX10" fmla="*/ 3379490 w 4867140"/>
                  <a:gd name="connsiteY10" fmla="*/ 31772 h 3248940"/>
                  <a:gd name="connsiteX11" fmla="*/ 3700610 w 4867140"/>
                  <a:gd name="connsiteY11" fmla="*/ 92729 h 3248940"/>
                  <a:gd name="connsiteX12" fmla="*/ 3748663 w 4867140"/>
                  <a:gd name="connsiteY12" fmla="*/ 118051 h 3248940"/>
                  <a:gd name="connsiteX13" fmla="*/ 3785890 w 4867140"/>
                  <a:gd name="connsiteY13" fmla="*/ 133371 h 3248940"/>
                  <a:gd name="connsiteX14" fmla="*/ 4044507 w 4867140"/>
                  <a:gd name="connsiteY14" fmla="*/ 281154 h 3248940"/>
                  <a:gd name="connsiteX15" fmla="*/ 4210763 w 4867140"/>
                  <a:gd name="connsiteY15" fmla="*/ 447407 h 3248940"/>
                  <a:gd name="connsiteX16" fmla="*/ 4413963 w 4867140"/>
                  <a:gd name="connsiteY16" fmla="*/ 715262 h 3248940"/>
                  <a:gd name="connsiteX17" fmla="*/ 4580217 w 4867140"/>
                  <a:gd name="connsiteY17" fmla="*/ 973880 h 3248940"/>
                  <a:gd name="connsiteX18" fmla="*/ 4746472 w 4867140"/>
                  <a:gd name="connsiteY18" fmla="*/ 1315626 h 3248940"/>
                  <a:gd name="connsiteX19" fmla="*/ 4848072 w 4867140"/>
                  <a:gd name="connsiteY19" fmla="*/ 1648135 h 3248940"/>
                  <a:gd name="connsiteX20" fmla="*/ 4866544 w 4867140"/>
                  <a:gd name="connsiteY20" fmla="*/ 1925226 h 3248940"/>
                  <a:gd name="connsiteX21" fmla="*/ 4838835 w 4867140"/>
                  <a:gd name="connsiteY21" fmla="*/ 2119189 h 3248940"/>
                  <a:gd name="connsiteX22" fmla="*/ 4783417 w 4867140"/>
                  <a:gd name="connsiteY22" fmla="*/ 2202317 h 3248940"/>
                  <a:gd name="connsiteX23" fmla="*/ 4774181 w 4867140"/>
                  <a:gd name="connsiteY23" fmla="*/ 2174608 h 3248940"/>
                  <a:gd name="connsiteX24" fmla="*/ 4691054 w 4867140"/>
                  <a:gd name="connsiteY24" fmla="*/ 2109953 h 3248940"/>
                  <a:gd name="connsiteX25" fmla="*/ 4552508 w 4867140"/>
                  <a:gd name="connsiteY25" fmla="*/ 2045299 h 3248940"/>
                  <a:gd name="connsiteX26" fmla="*/ 4386253 w 4867140"/>
                  <a:gd name="connsiteY26" fmla="*/ 1999117 h 3248940"/>
                  <a:gd name="connsiteX27" fmla="*/ 4109163 w 4867140"/>
                  <a:gd name="connsiteY27" fmla="*/ 1971408 h 3248940"/>
                  <a:gd name="connsiteX28" fmla="*/ 3887490 w 4867140"/>
                  <a:gd name="connsiteY28" fmla="*/ 1971408 h 3248940"/>
                  <a:gd name="connsiteX29" fmla="*/ 3554980 w 4867140"/>
                  <a:gd name="connsiteY29" fmla="*/ 1989881 h 3248940"/>
                  <a:gd name="connsiteX30" fmla="*/ 3250181 w 4867140"/>
                  <a:gd name="connsiteY30" fmla="*/ 2054535 h 3248940"/>
                  <a:gd name="connsiteX31" fmla="*/ 2917671 w 4867140"/>
                  <a:gd name="connsiteY31" fmla="*/ 2137662 h 3248940"/>
                  <a:gd name="connsiteX32" fmla="*/ 2649817 w 4867140"/>
                  <a:gd name="connsiteY32" fmla="*/ 2239262 h 3248940"/>
                  <a:gd name="connsiteX33" fmla="*/ 2308072 w 4867140"/>
                  <a:gd name="connsiteY33" fmla="*/ 2377808 h 3248940"/>
                  <a:gd name="connsiteX34" fmla="*/ 1892435 w 4867140"/>
                  <a:gd name="connsiteY34" fmla="*/ 2553299 h 3248940"/>
                  <a:gd name="connsiteX35" fmla="*/ 1504508 w 4867140"/>
                  <a:gd name="connsiteY35" fmla="*/ 2774971 h 3248940"/>
                  <a:gd name="connsiteX36" fmla="*/ 1171999 w 4867140"/>
                  <a:gd name="connsiteY36" fmla="*/ 3005880 h 3248940"/>
                  <a:gd name="connsiteX37" fmla="*/ 904144 w 4867140"/>
                  <a:gd name="connsiteY37" fmla="*/ 3246026 h 3248940"/>
                  <a:gd name="connsiteX38" fmla="*/ 848727 w 4867140"/>
                  <a:gd name="connsiteY38" fmla="*/ 3125953 h 3248940"/>
                  <a:gd name="connsiteX39" fmla="*/ 793308 w 4867140"/>
                  <a:gd name="connsiteY39" fmla="*/ 2931989 h 3248940"/>
                  <a:gd name="connsiteX40" fmla="*/ 710181 w 4867140"/>
                  <a:gd name="connsiteY40" fmla="*/ 2747262 h 3248940"/>
                  <a:gd name="connsiteX41" fmla="*/ 516217 w 4867140"/>
                  <a:gd name="connsiteY41" fmla="*/ 2516353 h 3248940"/>
                  <a:gd name="connsiteX42" fmla="*/ 349963 w 4867140"/>
                  <a:gd name="connsiteY42" fmla="*/ 2368571 h 3248940"/>
                  <a:gd name="connsiteX43" fmla="*/ 212274 w 4867140"/>
                  <a:gd name="connsiteY43" fmla="*/ 2050601 h 3248940"/>
                  <a:gd name="connsiteX0" fmla="*/ 212274 w 4867140"/>
                  <a:gd name="connsiteY0" fmla="*/ 2050601 h 3248940"/>
                  <a:gd name="connsiteX1" fmla="*/ 1520 w 4867140"/>
                  <a:gd name="connsiteY1" fmla="*/ 1151798 h 3248940"/>
                  <a:gd name="connsiteX2" fmla="*/ 137526 w 4867140"/>
                  <a:gd name="connsiteY2" fmla="*/ 835335 h 3248940"/>
                  <a:gd name="connsiteX3" fmla="*/ 497744 w 4867140"/>
                  <a:gd name="connsiteY3" fmla="*/ 613662 h 3248940"/>
                  <a:gd name="connsiteX4" fmla="*/ 857963 w 4867140"/>
                  <a:gd name="connsiteY4" fmla="*/ 428935 h 3248940"/>
                  <a:gd name="connsiteX5" fmla="*/ 1301308 w 4867140"/>
                  <a:gd name="connsiteY5" fmla="*/ 244208 h 3248940"/>
                  <a:gd name="connsiteX6" fmla="*/ 1735418 w 4867140"/>
                  <a:gd name="connsiteY6" fmla="*/ 114898 h 3248940"/>
                  <a:gd name="connsiteX7" fmla="*/ 2160290 w 4867140"/>
                  <a:gd name="connsiteY7" fmla="*/ 41008 h 3248940"/>
                  <a:gd name="connsiteX8" fmla="*/ 2566690 w 4867140"/>
                  <a:gd name="connsiteY8" fmla="*/ 4062 h 3248940"/>
                  <a:gd name="connsiteX9" fmla="*/ 2982326 w 4867140"/>
                  <a:gd name="connsiteY9" fmla="*/ 4062 h 3248940"/>
                  <a:gd name="connsiteX10" fmla="*/ 3379490 w 4867140"/>
                  <a:gd name="connsiteY10" fmla="*/ 31772 h 3248940"/>
                  <a:gd name="connsiteX11" fmla="*/ 3700610 w 4867140"/>
                  <a:gd name="connsiteY11" fmla="*/ 92729 h 3248940"/>
                  <a:gd name="connsiteX12" fmla="*/ 3748663 w 4867140"/>
                  <a:gd name="connsiteY12" fmla="*/ 118051 h 3248940"/>
                  <a:gd name="connsiteX13" fmla="*/ 3785890 w 4867140"/>
                  <a:gd name="connsiteY13" fmla="*/ 133371 h 3248940"/>
                  <a:gd name="connsiteX14" fmla="*/ 4044507 w 4867140"/>
                  <a:gd name="connsiteY14" fmla="*/ 281154 h 3248940"/>
                  <a:gd name="connsiteX15" fmla="*/ 4210763 w 4867140"/>
                  <a:gd name="connsiteY15" fmla="*/ 447407 h 3248940"/>
                  <a:gd name="connsiteX16" fmla="*/ 4413963 w 4867140"/>
                  <a:gd name="connsiteY16" fmla="*/ 715262 h 3248940"/>
                  <a:gd name="connsiteX17" fmla="*/ 4580217 w 4867140"/>
                  <a:gd name="connsiteY17" fmla="*/ 973880 h 3248940"/>
                  <a:gd name="connsiteX18" fmla="*/ 4746472 w 4867140"/>
                  <a:gd name="connsiteY18" fmla="*/ 1315626 h 3248940"/>
                  <a:gd name="connsiteX19" fmla="*/ 4848072 w 4867140"/>
                  <a:gd name="connsiteY19" fmla="*/ 1648135 h 3248940"/>
                  <a:gd name="connsiteX20" fmla="*/ 4866544 w 4867140"/>
                  <a:gd name="connsiteY20" fmla="*/ 1925226 h 3248940"/>
                  <a:gd name="connsiteX21" fmla="*/ 4838835 w 4867140"/>
                  <a:gd name="connsiteY21" fmla="*/ 2119189 h 3248940"/>
                  <a:gd name="connsiteX22" fmla="*/ 4783417 w 4867140"/>
                  <a:gd name="connsiteY22" fmla="*/ 2202317 h 3248940"/>
                  <a:gd name="connsiteX23" fmla="*/ 4774181 w 4867140"/>
                  <a:gd name="connsiteY23" fmla="*/ 2174608 h 3248940"/>
                  <a:gd name="connsiteX24" fmla="*/ 4691054 w 4867140"/>
                  <a:gd name="connsiteY24" fmla="*/ 2109953 h 3248940"/>
                  <a:gd name="connsiteX25" fmla="*/ 4552508 w 4867140"/>
                  <a:gd name="connsiteY25" fmla="*/ 2045299 h 3248940"/>
                  <a:gd name="connsiteX26" fmla="*/ 4386253 w 4867140"/>
                  <a:gd name="connsiteY26" fmla="*/ 1999117 h 3248940"/>
                  <a:gd name="connsiteX27" fmla="*/ 4109163 w 4867140"/>
                  <a:gd name="connsiteY27" fmla="*/ 1971408 h 3248940"/>
                  <a:gd name="connsiteX28" fmla="*/ 3887490 w 4867140"/>
                  <a:gd name="connsiteY28" fmla="*/ 1971408 h 3248940"/>
                  <a:gd name="connsiteX29" fmla="*/ 3554980 w 4867140"/>
                  <a:gd name="connsiteY29" fmla="*/ 1989881 h 3248940"/>
                  <a:gd name="connsiteX30" fmla="*/ 3250181 w 4867140"/>
                  <a:gd name="connsiteY30" fmla="*/ 2054535 h 3248940"/>
                  <a:gd name="connsiteX31" fmla="*/ 2917671 w 4867140"/>
                  <a:gd name="connsiteY31" fmla="*/ 2137662 h 3248940"/>
                  <a:gd name="connsiteX32" fmla="*/ 2649817 w 4867140"/>
                  <a:gd name="connsiteY32" fmla="*/ 2239262 h 3248940"/>
                  <a:gd name="connsiteX33" fmla="*/ 2308072 w 4867140"/>
                  <a:gd name="connsiteY33" fmla="*/ 2377808 h 3248940"/>
                  <a:gd name="connsiteX34" fmla="*/ 1892435 w 4867140"/>
                  <a:gd name="connsiteY34" fmla="*/ 2553299 h 3248940"/>
                  <a:gd name="connsiteX35" fmla="*/ 1504508 w 4867140"/>
                  <a:gd name="connsiteY35" fmla="*/ 2774971 h 3248940"/>
                  <a:gd name="connsiteX36" fmla="*/ 1171999 w 4867140"/>
                  <a:gd name="connsiteY36" fmla="*/ 3005880 h 3248940"/>
                  <a:gd name="connsiteX37" fmla="*/ 904144 w 4867140"/>
                  <a:gd name="connsiteY37" fmla="*/ 3246026 h 3248940"/>
                  <a:gd name="connsiteX38" fmla="*/ 848727 w 4867140"/>
                  <a:gd name="connsiteY38" fmla="*/ 3125953 h 3248940"/>
                  <a:gd name="connsiteX39" fmla="*/ 793308 w 4867140"/>
                  <a:gd name="connsiteY39" fmla="*/ 2931989 h 3248940"/>
                  <a:gd name="connsiteX40" fmla="*/ 710181 w 4867140"/>
                  <a:gd name="connsiteY40" fmla="*/ 2747262 h 3248940"/>
                  <a:gd name="connsiteX41" fmla="*/ 516217 w 4867140"/>
                  <a:gd name="connsiteY41" fmla="*/ 2516353 h 3248940"/>
                  <a:gd name="connsiteX42" fmla="*/ 410428 w 4867140"/>
                  <a:gd name="connsiteY42" fmla="*/ 2362610 h 3248940"/>
                  <a:gd name="connsiteX43" fmla="*/ 212274 w 4867140"/>
                  <a:gd name="connsiteY43" fmla="*/ 2050601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20369 w 4871292"/>
                  <a:gd name="connsiteY41" fmla="*/ 2516353 h 3248940"/>
                  <a:gd name="connsiteX42" fmla="*/ 414580 w 4871292"/>
                  <a:gd name="connsiteY42" fmla="*/ 2362610 h 3248940"/>
                  <a:gd name="connsiteX43" fmla="*/ 310483 w 4871292"/>
                  <a:gd name="connsiteY43" fmla="*/ 2062523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20369 w 4871292"/>
                  <a:gd name="connsiteY41" fmla="*/ 2516353 h 3248940"/>
                  <a:gd name="connsiteX42" fmla="*/ 475045 w 4871292"/>
                  <a:gd name="connsiteY42" fmla="*/ 2338766 h 3248940"/>
                  <a:gd name="connsiteX43" fmla="*/ 310483 w 4871292"/>
                  <a:gd name="connsiteY43" fmla="*/ 2062523 h 3248940"/>
                  <a:gd name="connsiteX0" fmla="*/ 310483 w 4871292"/>
                  <a:gd name="connsiteY0" fmla="*/ 2062523 h 3248940"/>
                  <a:gd name="connsiteX1" fmla="*/ 5672 w 4871292"/>
                  <a:gd name="connsiteY1" fmla="*/ 1151798 h 3248940"/>
                  <a:gd name="connsiteX2" fmla="*/ 141678 w 4871292"/>
                  <a:gd name="connsiteY2" fmla="*/ 835335 h 3248940"/>
                  <a:gd name="connsiteX3" fmla="*/ 501896 w 4871292"/>
                  <a:gd name="connsiteY3" fmla="*/ 613662 h 3248940"/>
                  <a:gd name="connsiteX4" fmla="*/ 862115 w 4871292"/>
                  <a:gd name="connsiteY4" fmla="*/ 428935 h 3248940"/>
                  <a:gd name="connsiteX5" fmla="*/ 1305460 w 4871292"/>
                  <a:gd name="connsiteY5" fmla="*/ 244208 h 3248940"/>
                  <a:gd name="connsiteX6" fmla="*/ 1739570 w 4871292"/>
                  <a:gd name="connsiteY6" fmla="*/ 114898 h 3248940"/>
                  <a:gd name="connsiteX7" fmla="*/ 2164442 w 4871292"/>
                  <a:gd name="connsiteY7" fmla="*/ 41008 h 3248940"/>
                  <a:gd name="connsiteX8" fmla="*/ 2570842 w 4871292"/>
                  <a:gd name="connsiteY8" fmla="*/ 4062 h 3248940"/>
                  <a:gd name="connsiteX9" fmla="*/ 2986478 w 4871292"/>
                  <a:gd name="connsiteY9" fmla="*/ 4062 h 3248940"/>
                  <a:gd name="connsiteX10" fmla="*/ 3383642 w 4871292"/>
                  <a:gd name="connsiteY10" fmla="*/ 31772 h 3248940"/>
                  <a:gd name="connsiteX11" fmla="*/ 3704762 w 4871292"/>
                  <a:gd name="connsiteY11" fmla="*/ 92729 h 3248940"/>
                  <a:gd name="connsiteX12" fmla="*/ 3752815 w 4871292"/>
                  <a:gd name="connsiteY12" fmla="*/ 118051 h 3248940"/>
                  <a:gd name="connsiteX13" fmla="*/ 3790042 w 4871292"/>
                  <a:gd name="connsiteY13" fmla="*/ 133371 h 3248940"/>
                  <a:gd name="connsiteX14" fmla="*/ 4048659 w 4871292"/>
                  <a:gd name="connsiteY14" fmla="*/ 281154 h 3248940"/>
                  <a:gd name="connsiteX15" fmla="*/ 4214915 w 4871292"/>
                  <a:gd name="connsiteY15" fmla="*/ 447407 h 3248940"/>
                  <a:gd name="connsiteX16" fmla="*/ 4418115 w 4871292"/>
                  <a:gd name="connsiteY16" fmla="*/ 715262 h 3248940"/>
                  <a:gd name="connsiteX17" fmla="*/ 4584369 w 4871292"/>
                  <a:gd name="connsiteY17" fmla="*/ 973880 h 3248940"/>
                  <a:gd name="connsiteX18" fmla="*/ 4750624 w 4871292"/>
                  <a:gd name="connsiteY18" fmla="*/ 1315626 h 3248940"/>
                  <a:gd name="connsiteX19" fmla="*/ 4852224 w 4871292"/>
                  <a:gd name="connsiteY19" fmla="*/ 1648135 h 3248940"/>
                  <a:gd name="connsiteX20" fmla="*/ 4870696 w 4871292"/>
                  <a:gd name="connsiteY20" fmla="*/ 1925226 h 3248940"/>
                  <a:gd name="connsiteX21" fmla="*/ 4842987 w 4871292"/>
                  <a:gd name="connsiteY21" fmla="*/ 2119189 h 3248940"/>
                  <a:gd name="connsiteX22" fmla="*/ 4787569 w 4871292"/>
                  <a:gd name="connsiteY22" fmla="*/ 2202317 h 3248940"/>
                  <a:gd name="connsiteX23" fmla="*/ 4778333 w 4871292"/>
                  <a:gd name="connsiteY23" fmla="*/ 2174608 h 3248940"/>
                  <a:gd name="connsiteX24" fmla="*/ 4695206 w 4871292"/>
                  <a:gd name="connsiteY24" fmla="*/ 2109953 h 3248940"/>
                  <a:gd name="connsiteX25" fmla="*/ 4556660 w 4871292"/>
                  <a:gd name="connsiteY25" fmla="*/ 2045299 h 3248940"/>
                  <a:gd name="connsiteX26" fmla="*/ 4390405 w 4871292"/>
                  <a:gd name="connsiteY26" fmla="*/ 1999117 h 3248940"/>
                  <a:gd name="connsiteX27" fmla="*/ 4113315 w 4871292"/>
                  <a:gd name="connsiteY27" fmla="*/ 1971408 h 3248940"/>
                  <a:gd name="connsiteX28" fmla="*/ 3891642 w 4871292"/>
                  <a:gd name="connsiteY28" fmla="*/ 1971408 h 3248940"/>
                  <a:gd name="connsiteX29" fmla="*/ 3559132 w 4871292"/>
                  <a:gd name="connsiteY29" fmla="*/ 1989881 h 3248940"/>
                  <a:gd name="connsiteX30" fmla="*/ 3254333 w 4871292"/>
                  <a:gd name="connsiteY30" fmla="*/ 2054535 h 3248940"/>
                  <a:gd name="connsiteX31" fmla="*/ 2921823 w 4871292"/>
                  <a:gd name="connsiteY31" fmla="*/ 2137662 h 3248940"/>
                  <a:gd name="connsiteX32" fmla="*/ 2653969 w 4871292"/>
                  <a:gd name="connsiteY32" fmla="*/ 2239262 h 3248940"/>
                  <a:gd name="connsiteX33" fmla="*/ 2312224 w 4871292"/>
                  <a:gd name="connsiteY33" fmla="*/ 2377808 h 3248940"/>
                  <a:gd name="connsiteX34" fmla="*/ 1896587 w 4871292"/>
                  <a:gd name="connsiteY34" fmla="*/ 2553299 h 3248940"/>
                  <a:gd name="connsiteX35" fmla="*/ 1508660 w 4871292"/>
                  <a:gd name="connsiteY35" fmla="*/ 2774971 h 3248940"/>
                  <a:gd name="connsiteX36" fmla="*/ 1176151 w 4871292"/>
                  <a:gd name="connsiteY36" fmla="*/ 3005880 h 3248940"/>
                  <a:gd name="connsiteX37" fmla="*/ 908296 w 4871292"/>
                  <a:gd name="connsiteY37" fmla="*/ 3246026 h 3248940"/>
                  <a:gd name="connsiteX38" fmla="*/ 852879 w 4871292"/>
                  <a:gd name="connsiteY38" fmla="*/ 3125953 h 3248940"/>
                  <a:gd name="connsiteX39" fmla="*/ 797460 w 4871292"/>
                  <a:gd name="connsiteY39" fmla="*/ 2931989 h 3248940"/>
                  <a:gd name="connsiteX40" fmla="*/ 714333 w 4871292"/>
                  <a:gd name="connsiteY40" fmla="*/ 2747262 h 3248940"/>
                  <a:gd name="connsiteX41" fmla="*/ 567397 w 4871292"/>
                  <a:gd name="connsiteY41" fmla="*/ 2498469 h 3248940"/>
                  <a:gd name="connsiteX42" fmla="*/ 475045 w 4871292"/>
                  <a:gd name="connsiteY42" fmla="*/ 2338766 h 3248940"/>
                  <a:gd name="connsiteX43" fmla="*/ 310483 w 4871292"/>
                  <a:gd name="connsiteY43" fmla="*/ 206252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578372 w 4882267"/>
                  <a:gd name="connsiteY41" fmla="*/ 2498469 h 3248940"/>
                  <a:gd name="connsiteX42" fmla="*/ 486020 w 4882267"/>
                  <a:gd name="connsiteY42" fmla="*/ 2338766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578372 w 4882267"/>
                  <a:gd name="connsiteY41" fmla="*/ 2498469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25308 w 4882267"/>
                  <a:gd name="connsiteY40" fmla="*/ 2747262 h 3248940"/>
                  <a:gd name="connsiteX41" fmla="*/ 712739 w 4882267"/>
                  <a:gd name="connsiteY41" fmla="*/ 2492508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12739 w 4882267"/>
                  <a:gd name="connsiteY41" fmla="*/ 2492508 h 3248940"/>
                  <a:gd name="connsiteX42" fmla="*/ 660698 w 4882267"/>
                  <a:gd name="connsiteY42" fmla="*/ 2308961 h 3248940"/>
                  <a:gd name="connsiteX43" fmla="*/ 509573 w 4882267"/>
                  <a:gd name="connsiteY43"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90054 w 4882267"/>
                  <a:gd name="connsiteY41" fmla="*/ 2646574 h 3248940"/>
                  <a:gd name="connsiteX42" fmla="*/ 712739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90054 w 4882267"/>
                  <a:gd name="connsiteY41" fmla="*/ 2646574 h 3248940"/>
                  <a:gd name="connsiteX42" fmla="*/ 746330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49743 w 4882267"/>
                  <a:gd name="connsiteY41" fmla="*/ 2628691 h 3248940"/>
                  <a:gd name="connsiteX42" fmla="*/ 746330 w 4882267"/>
                  <a:gd name="connsiteY42" fmla="*/ 2492508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08435 w 4882267"/>
                  <a:gd name="connsiteY39" fmla="*/ 2931989 h 3248940"/>
                  <a:gd name="connsiteX40" fmla="*/ 779054 w 4882267"/>
                  <a:gd name="connsiteY40" fmla="*/ 2741300 h 3248940"/>
                  <a:gd name="connsiteX41" fmla="*/ 749743 w 4882267"/>
                  <a:gd name="connsiteY41" fmla="*/ 2628691 h 3248940"/>
                  <a:gd name="connsiteX42" fmla="*/ 712738 w 4882267"/>
                  <a:gd name="connsiteY42" fmla="*/ 2480586 h 3248940"/>
                  <a:gd name="connsiteX43" fmla="*/ 660698 w 4882267"/>
                  <a:gd name="connsiteY43" fmla="*/ 2308961 h 3248940"/>
                  <a:gd name="connsiteX44" fmla="*/ 509573 w 4882267"/>
                  <a:gd name="connsiteY44" fmla="*/ 2008873 h 3248940"/>
                  <a:gd name="connsiteX0" fmla="*/ 509573 w 4882267"/>
                  <a:gd name="connsiteY0" fmla="*/ 2008873 h 3248940"/>
                  <a:gd name="connsiteX1" fmla="*/ 16647 w 4882267"/>
                  <a:gd name="connsiteY1" fmla="*/ 1151798 h 3248940"/>
                  <a:gd name="connsiteX2" fmla="*/ 152653 w 4882267"/>
                  <a:gd name="connsiteY2" fmla="*/ 835335 h 3248940"/>
                  <a:gd name="connsiteX3" fmla="*/ 512871 w 4882267"/>
                  <a:gd name="connsiteY3" fmla="*/ 613662 h 3248940"/>
                  <a:gd name="connsiteX4" fmla="*/ 873090 w 4882267"/>
                  <a:gd name="connsiteY4" fmla="*/ 428935 h 3248940"/>
                  <a:gd name="connsiteX5" fmla="*/ 1316435 w 4882267"/>
                  <a:gd name="connsiteY5" fmla="*/ 244208 h 3248940"/>
                  <a:gd name="connsiteX6" fmla="*/ 1750545 w 4882267"/>
                  <a:gd name="connsiteY6" fmla="*/ 114898 h 3248940"/>
                  <a:gd name="connsiteX7" fmla="*/ 2175417 w 4882267"/>
                  <a:gd name="connsiteY7" fmla="*/ 41008 h 3248940"/>
                  <a:gd name="connsiteX8" fmla="*/ 2581817 w 4882267"/>
                  <a:gd name="connsiteY8" fmla="*/ 4062 h 3248940"/>
                  <a:gd name="connsiteX9" fmla="*/ 2997453 w 4882267"/>
                  <a:gd name="connsiteY9" fmla="*/ 4062 h 3248940"/>
                  <a:gd name="connsiteX10" fmla="*/ 3394617 w 4882267"/>
                  <a:gd name="connsiteY10" fmla="*/ 31772 h 3248940"/>
                  <a:gd name="connsiteX11" fmla="*/ 3715737 w 4882267"/>
                  <a:gd name="connsiteY11" fmla="*/ 92729 h 3248940"/>
                  <a:gd name="connsiteX12" fmla="*/ 3763790 w 4882267"/>
                  <a:gd name="connsiteY12" fmla="*/ 118051 h 3248940"/>
                  <a:gd name="connsiteX13" fmla="*/ 3801017 w 4882267"/>
                  <a:gd name="connsiteY13" fmla="*/ 133371 h 3248940"/>
                  <a:gd name="connsiteX14" fmla="*/ 4059634 w 4882267"/>
                  <a:gd name="connsiteY14" fmla="*/ 281154 h 3248940"/>
                  <a:gd name="connsiteX15" fmla="*/ 4225890 w 4882267"/>
                  <a:gd name="connsiteY15" fmla="*/ 447407 h 3248940"/>
                  <a:gd name="connsiteX16" fmla="*/ 4429090 w 4882267"/>
                  <a:gd name="connsiteY16" fmla="*/ 715262 h 3248940"/>
                  <a:gd name="connsiteX17" fmla="*/ 4595344 w 4882267"/>
                  <a:gd name="connsiteY17" fmla="*/ 973880 h 3248940"/>
                  <a:gd name="connsiteX18" fmla="*/ 4761599 w 4882267"/>
                  <a:gd name="connsiteY18" fmla="*/ 1315626 h 3248940"/>
                  <a:gd name="connsiteX19" fmla="*/ 4863199 w 4882267"/>
                  <a:gd name="connsiteY19" fmla="*/ 1648135 h 3248940"/>
                  <a:gd name="connsiteX20" fmla="*/ 4881671 w 4882267"/>
                  <a:gd name="connsiteY20" fmla="*/ 1925226 h 3248940"/>
                  <a:gd name="connsiteX21" fmla="*/ 4853962 w 4882267"/>
                  <a:gd name="connsiteY21" fmla="*/ 2119189 h 3248940"/>
                  <a:gd name="connsiteX22" fmla="*/ 4798544 w 4882267"/>
                  <a:gd name="connsiteY22" fmla="*/ 2202317 h 3248940"/>
                  <a:gd name="connsiteX23" fmla="*/ 4789308 w 4882267"/>
                  <a:gd name="connsiteY23" fmla="*/ 2174608 h 3248940"/>
                  <a:gd name="connsiteX24" fmla="*/ 4706181 w 4882267"/>
                  <a:gd name="connsiteY24" fmla="*/ 2109953 h 3248940"/>
                  <a:gd name="connsiteX25" fmla="*/ 4567635 w 4882267"/>
                  <a:gd name="connsiteY25" fmla="*/ 2045299 h 3248940"/>
                  <a:gd name="connsiteX26" fmla="*/ 4401380 w 4882267"/>
                  <a:gd name="connsiteY26" fmla="*/ 1999117 h 3248940"/>
                  <a:gd name="connsiteX27" fmla="*/ 4124290 w 4882267"/>
                  <a:gd name="connsiteY27" fmla="*/ 1971408 h 3248940"/>
                  <a:gd name="connsiteX28" fmla="*/ 3902617 w 4882267"/>
                  <a:gd name="connsiteY28" fmla="*/ 1971408 h 3248940"/>
                  <a:gd name="connsiteX29" fmla="*/ 3570107 w 4882267"/>
                  <a:gd name="connsiteY29" fmla="*/ 1989881 h 3248940"/>
                  <a:gd name="connsiteX30" fmla="*/ 3265308 w 4882267"/>
                  <a:gd name="connsiteY30" fmla="*/ 2054535 h 3248940"/>
                  <a:gd name="connsiteX31" fmla="*/ 2932798 w 4882267"/>
                  <a:gd name="connsiteY31" fmla="*/ 2137662 h 3248940"/>
                  <a:gd name="connsiteX32" fmla="*/ 2664944 w 4882267"/>
                  <a:gd name="connsiteY32" fmla="*/ 2239262 h 3248940"/>
                  <a:gd name="connsiteX33" fmla="*/ 2323199 w 4882267"/>
                  <a:gd name="connsiteY33" fmla="*/ 2377808 h 3248940"/>
                  <a:gd name="connsiteX34" fmla="*/ 1907562 w 4882267"/>
                  <a:gd name="connsiteY34" fmla="*/ 2553299 h 3248940"/>
                  <a:gd name="connsiteX35" fmla="*/ 1519635 w 4882267"/>
                  <a:gd name="connsiteY35" fmla="*/ 2774971 h 3248940"/>
                  <a:gd name="connsiteX36" fmla="*/ 1187126 w 4882267"/>
                  <a:gd name="connsiteY36" fmla="*/ 3005880 h 3248940"/>
                  <a:gd name="connsiteX37" fmla="*/ 919271 w 4882267"/>
                  <a:gd name="connsiteY37" fmla="*/ 3246026 h 3248940"/>
                  <a:gd name="connsiteX38" fmla="*/ 863854 w 4882267"/>
                  <a:gd name="connsiteY38" fmla="*/ 3125953 h 3248940"/>
                  <a:gd name="connsiteX39" fmla="*/ 835308 w 4882267"/>
                  <a:gd name="connsiteY39" fmla="*/ 2931989 h 3248940"/>
                  <a:gd name="connsiteX40" fmla="*/ 779054 w 4882267"/>
                  <a:gd name="connsiteY40" fmla="*/ 2741300 h 3248940"/>
                  <a:gd name="connsiteX41" fmla="*/ 749743 w 4882267"/>
                  <a:gd name="connsiteY41" fmla="*/ 2628691 h 3248940"/>
                  <a:gd name="connsiteX42" fmla="*/ 712738 w 4882267"/>
                  <a:gd name="connsiteY42" fmla="*/ 2480586 h 3248940"/>
                  <a:gd name="connsiteX43" fmla="*/ 660698 w 4882267"/>
                  <a:gd name="connsiteY43" fmla="*/ 2308961 h 3248940"/>
                  <a:gd name="connsiteX44" fmla="*/ 509573 w 4882267"/>
                  <a:gd name="connsiteY44" fmla="*/ 2008873 h 324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82267" h="3248940">
                    <a:moveTo>
                      <a:pt x="509573" y="2008873"/>
                    </a:moveTo>
                    <a:cubicBezTo>
                      <a:pt x="402231" y="1816013"/>
                      <a:pt x="76134" y="1347388"/>
                      <a:pt x="16647" y="1151798"/>
                    </a:cubicBezTo>
                    <a:cubicBezTo>
                      <a:pt x="-42840" y="956208"/>
                      <a:pt x="69949" y="925024"/>
                      <a:pt x="152653" y="835335"/>
                    </a:cubicBezTo>
                    <a:cubicBezTo>
                      <a:pt x="235357" y="745646"/>
                      <a:pt x="392798" y="681395"/>
                      <a:pt x="512871" y="613662"/>
                    </a:cubicBezTo>
                    <a:cubicBezTo>
                      <a:pt x="632944" y="545929"/>
                      <a:pt x="739163" y="490511"/>
                      <a:pt x="873090" y="428935"/>
                    </a:cubicBezTo>
                    <a:cubicBezTo>
                      <a:pt x="1007017" y="367359"/>
                      <a:pt x="1170192" y="296548"/>
                      <a:pt x="1316435" y="244208"/>
                    </a:cubicBezTo>
                    <a:cubicBezTo>
                      <a:pt x="1462678" y="191868"/>
                      <a:pt x="1750545" y="114898"/>
                      <a:pt x="1750545" y="114898"/>
                    </a:cubicBezTo>
                    <a:cubicBezTo>
                      <a:pt x="1893709" y="81031"/>
                      <a:pt x="2036872" y="59481"/>
                      <a:pt x="2175417" y="41008"/>
                    </a:cubicBezTo>
                    <a:cubicBezTo>
                      <a:pt x="2313962" y="22535"/>
                      <a:pt x="2444811" y="10220"/>
                      <a:pt x="2581817" y="4062"/>
                    </a:cubicBezTo>
                    <a:cubicBezTo>
                      <a:pt x="2718823" y="-2096"/>
                      <a:pt x="2861986" y="-556"/>
                      <a:pt x="2997453" y="4062"/>
                    </a:cubicBezTo>
                    <a:cubicBezTo>
                      <a:pt x="3132920" y="8680"/>
                      <a:pt x="3274903" y="16994"/>
                      <a:pt x="3394617" y="31772"/>
                    </a:cubicBezTo>
                    <a:cubicBezTo>
                      <a:pt x="3514331" y="46550"/>
                      <a:pt x="3658780" y="77335"/>
                      <a:pt x="3715737" y="92729"/>
                    </a:cubicBezTo>
                    <a:cubicBezTo>
                      <a:pt x="3772694" y="108123"/>
                      <a:pt x="3749577" y="111277"/>
                      <a:pt x="3763790" y="118051"/>
                    </a:cubicBezTo>
                    <a:cubicBezTo>
                      <a:pt x="3778003" y="124825"/>
                      <a:pt x="3751710" y="106187"/>
                      <a:pt x="3801017" y="133371"/>
                    </a:cubicBezTo>
                    <a:cubicBezTo>
                      <a:pt x="3850324" y="160555"/>
                      <a:pt x="3988822" y="228815"/>
                      <a:pt x="4059634" y="281154"/>
                    </a:cubicBezTo>
                    <a:cubicBezTo>
                      <a:pt x="4130446" y="333493"/>
                      <a:pt x="4164314" y="375056"/>
                      <a:pt x="4225890" y="447407"/>
                    </a:cubicBezTo>
                    <a:cubicBezTo>
                      <a:pt x="4287466" y="519758"/>
                      <a:pt x="4367514" y="627517"/>
                      <a:pt x="4429090" y="715262"/>
                    </a:cubicBezTo>
                    <a:cubicBezTo>
                      <a:pt x="4490666" y="803008"/>
                      <a:pt x="4539926" y="873819"/>
                      <a:pt x="4595344" y="973880"/>
                    </a:cubicBezTo>
                    <a:cubicBezTo>
                      <a:pt x="4650762" y="1073941"/>
                      <a:pt x="4716957" y="1203250"/>
                      <a:pt x="4761599" y="1315626"/>
                    </a:cubicBezTo>
                    <a:cubicBezTo>
                      <a:pt x="4806241" y="1428002"/>
                      <a:pt x="4843187" y="1546535"/>
                      <a:pt x="4863199" y="1648135"/>
                    </a:cubicBezTo>
                    <a:cubicBezTo>
                      <a:pt x="4883211" y="1749735"/>
                      <a:pt x="4883211" y="1846717"/>
                      <a:pt x="4881671" y="1925226"/>
                    </a:cubicBezTo>
                    <a:cubicBezTo>
                      <a:pt x="4880132" y="2003735"/>
                      <a:pt x="4867816" y="2073007"/>
                      <a:pt x="4853962" y="2119189"/>
                    </a:cubicBezTo>
                    <a:cubicBezTo>
                      <a:pt x="4840108" y="2165371"/>
                      <a:pt x="4809320" y="2193081"/>
                      <a:pt x="4798544" y="2202317"/>
                    </a:cubicBezTo>
                    <a:cubicBezTo>
                      <a:pt x="4787768" y="2211554"/>
                      <a:pt x="4804702" y="2190002"/>
                      <a:pt x="4789308" y="2174608"/>
                    </a:cubicBezTo>
                    <a:cubicBezTo>
                      <a:pt x="4773914" y="2159214"/>
                      <a:pt x="4743126" y="2131504"/>
                      <a:pt x="4706181" y="2109953"/>
                    </a:cubicBezTo>
                    <a:cubicBezTo>
                      <a:pt x="4669236" y="2088402"/>
                      <a:pt x="4618435" y="2063772"/>
                      <a:pt x="4567635" y="2045299"/>
                    </a:cubicBezTo>
                    <a:cubicBezTo>
                      <a:pt x="4516835" y="2026826"/>
                      <a:pt x="4475271" y="2011432"/>
                      <a:pt x="4401380" y="1999117"/>
                    </a:cubicBezTo>
                    <a:cubicBezTo>
                      <a:pt x="4327489" y="1986802"/>
                      <a:pt x="4207417" y="1976026"/>
                      <a:pt x="4124290" y="1971408"/>
                    </a:cubicBezTo>
                    <a:cubicBezTo>
                      <a:pt x="4041163" y="1966790"/>
                      <a:pt x="3994981" y="1968329"/>
                      <a:pt x="3902617" y="1971408"/>
                    </a:cubicBezTo>
                    <a:cubicBezTo>
                      <a:pt x="3810253" y="1974487"/>
                      <a:pt x="3676325" y="1976027"/>
                      <a:pt x="3570107" y="1989881"/>
                    </a:cubicBezTo>
                    <a:cubicBezTo>
                      <a:pt x="3463889" y="2003735"/>
                      <a:pt x="3371526" y="2029905"/>
                      <a:pt x="3265308" y="2054535"/>
                    </a:cubicBezTo>
                    <a:cubicBezTo>
                      <a:pt x="3159090" y="2079165"/>
                      <a:pt x="3032859" y="2106874"/>
                      <a:pt x="2932798" y="2137662"/>
                    </a:cubicBezTo>
                    <a:cubicBezTo>
                      <a:pt x="2832737" y="2168450"/>
                      <a:pt x="2766544" y="2199238"/>
                      <a:pt x="2664944" y="2239262"/>
                    </a:cubicBezTo>
                    <a:cubicBezTo>
                      <a:pt x="2563344" y="2279286"/>
                      <a:pt x="2323199" y="2377808"/>
                      <a:pt x="2323199" y="2377808"/>
                    </a:cubicBezTo>
                    <a:cubicBezTo>
                      <a:pt x="2196969" y="2430148"/>
                      <a:pt x="2041489" y="2487105"/>
                      <a:pt x="1907562" y="2553299"/>
                    </a:cubicBezTo>
                    <a:cubicBezTo>
                      <a:pt x="1773635" y="2619493"/>
                      <a:pt x="1639708" y="2699541"/>
                      <a:pt x="1519635" y="2774971"/>
                    </a:cubicBezTo>
                    <a:cubicBezTo>
                      <a:pt x="1399562" y="2850401"/>
                      <a:pt x="1287187" y="2927371"/>
                      <a:pt x="1187126" y="3005880"/>
                    </a:cubicBezTo>
                    <a:cubicBezTo>
                      <a:pt x="1087065" y="3084389"/>
                      <a:pt x="973150" y="3226014"/>
                      <a:pt x="919271" y="3246026"/>
                    </a:cubicBezTo>
                    <a:cubicBezTo>
                      <a:pt x="865392" y="3266038"/>
                      <a:pt x="877848" y="3178292"/>
                      <a:pt x="863854" y="3125953"/>
                    </a:cubicBezTo>
                    <a:cubicBezTo>
                      <a:pt x="849860" y="3073614"/>
                      <a:pt x="849441" y="2996098"/>
                      <a:pt x="835308" y="2931989"/>
                    </a:cubicBezTo>
                    <a:cubicBezTo>
                      <a:pt x="821175" y="2867880"/>
                      <a:pt x="793315" y="2791850"/>
                      <a:pt x="779054" y="2741300"/>
                    </a:cubicBezTo>
                    <a:cubicBezTo>
                      <a:pt x="764793" y="2690750"/>
                      <a:pt x="760796" y="2670156"/>
                      <a:pt x="749743" y="2628691"/>
                    </a:cubicBezTo>
                    <a:cubicBezTo>
                      <a:pt x="738691" y="2587226"/>
                      <a:pt x="727579" y="2533874"/>
                      <a:pt x="712738" y="2480586"/>
                    </a:cubicBezTo>
                    <a:cubicBezTo>
                      <a:pt x="697897" y="2427298"/>
                      <a:pt x="694559" y="2387580"/>
                      <a:pt x="660698" y="2308961"/>
                    </a:cubicBezTo>
                    <a:cubicBezTo>
                      <a:pt x="626837" y="2230342"/>
                      <a:pt x="616915" y="2201734"/>
                      <a:pt x="509573" y="2008873"/>
                    </a:cubicBezTo>
                    <a:close/>
                  </a:path>
                </a:pathLst>
              </a:custGeom>
              <a:blipFill>
                <a:blip r:embed="rId2"/>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14" name="ZoneTexte 35"/>
              <p:cNvSpPr txBox="1"/>
              <p:nvPr/>
            </p:nvSpPr>
            <p:spPr>
              <a:xfrm>
                <a:off x="215914" y="2324872"/>
                <a:ext cx="7560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a:latin typeface="Cambria Math"/>
                          <a:ea typeface="Cambria Math"/>
                        </a:rPr>
                        <m:t>𝕄</m:t>
                      </m:r>
                    </m:oMath>
                  </m:oMathPara>
                </a14:m>
                <a:endParaRPr lang="fr-FR" dirty="0"/>
              </a:p>
            </p:txBody>
          </p:sp>
        </mc:Choice>
        <mc:Fallback xmlns="">
          <p:sp>
            <p:nvSpPr>
              <p:cNvPr id="14" name="ZoneTexte 35"/>
              <p:cNvSpPr txBox="1">
                <a:spLocks noRot="1" noChangeAspect="1" noMove="1" noResize="1" noEditPoints="1" noAdjustHandles="1" noChangeArrowheads="1" noChangeShapeType="1" noTextEdit="1"/>
              </p:cNvSpPr>
              <p:nvPr/>
            </p:nvSpPr>
            <p:spPr>
              <a:xfrm>
                <a:off x="215914" y="2324872"/>
                <a:ext cx="756084" cy="369332"/>
              </a:xfrm>
              <a:prstGeom prst="rect">
                <a:avLst/>
              </a:prstGeom>
              <a:blipFill>
                <a:blip r:embed="rId3"/>
                <a:stretch>
                  <a:fillRect/>
                </a:stretch>
              </a:blipFill>
            </p:spPr>
            <p:txBody>
              <a:bodyPr/>
              <a:lstStyle/>
              <a:p>
                <a:r>
                  <a:rPr lang="en-FR">
                    <a:noFill/>
                  </a:rPr>
                  <a:t> </a:t>
                </a:r>
              </a:p>
            </p:txBody>
          </p:sp>
        </mc:Fallback>
      </mc:AlternateContent>
      <p:sp>
        <p:nvSpPr>
          <p:cNvPr id="15" name="Forme libre 104"/>
          <p:cNvSpPr/>
          <p:nvPr/>
        </p:nvSpPr>
        <p:spPr>
          <a:xfrm>
            <a:off x="1487282" y="2579160"/>
            <a:ext cx="3400719" cy="1194678"/>
          </a:xfrm>
          <a:custGeom>
            <a:avLst/>
            <a:gdLst>
              <a:gd name="connsiteX0" fmla="*/ 0 w 4534292"/>
              <a:gd name="connsiteY0" fmla="*/ 1592904 h 1592904"/>
              <a:gd name="connsiteX1" fmla="*/ 1366886 w 4534292"/>
              <a:gd name="connsiteY1" fmla="*/ 565382 h 1592904"/>
              <a:gd name="connsiteX2" fmla="*/ 3082565 w 4534292"/>
              <a:gd name="connsiteY2" fmla="*/ 46908 h 1592904"/>
              <a:gd name="connsiteX3" fmla="*/ 4534292 w 4534292"/>
              <a:gd name="connsiteY3" fmla="*/ 56335 h 1592904"/>
            </a:gdLst>
            <a:ahLst/>
            <a:cxnLst>
              <a:cxn ang="0">
                <a:pos x="connsiteX0" y="connsiteY0"/>
              </a:cxn>
              <a:cxn ang="0">
                <a:pos x="connsiteX1" y="connsiteY1"/>
              </a:cxn>
              <a:cxn ang="0">
                <a:pos x="connsiteX2" y="connsiteY2"/>
              </a:cxn>
              <a:cxn ang="0">
                <a:pos x="connsiteX3" y="connsiteY3"/>
              </a:cxn>
            </a:cxnLst>
            <a:rect l="l" t="t" r="r" b="b"/>
            <a:pathLst>
              <a:path w="4534292" h="1592904">
                <a:moveTo>
                  <a:pt x="0" y="1592904"/>
                </a:moveTo>
                <a:cubicBezTo>
                  <a:pt x="426562" y="1207976"/>
                  <a:pt x="853125" y="823048"/>
                  <a:pt x="1366886" y="565382"/>
                </a:cubicBezTo>
                <a:cubicBezTo>
                  <a:pt x="1880647" y="307716"/>
                  <a:pt x="2554664" y="131749"/>
                  <a:pt x="3082565" y="46908"/>
                </a:cubicBezTo>
                <a:cubicBezTo>
                  <a:pt x="3610466" y="-37933"/>
                  <a:pt x="4072379" y="9201"/>
                  <a:pt x="4534292" y="5633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Ellipse 37"/>
          <p:cNvSpPr/>
          <p:nvPr/>
        </p:nvSpPr>
        <p:spPr>
          <a:xfrm>
            <a:off x="2862208" y="2821540"/>
            <a:ext cx="54006" cy="550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17" name="Connecteur droit avec flèche 38"/>
          <p:cNvCxnSpPr/>
          <p:nvPr/>
        </p:nvCxnSpPr>
        <p:spPr>
          <a:xfrm flipV="1">
            <a:off x="2862208" y="2470400"/>
            <a:ext cx="1026114" cy="37864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39"/>
          <p:cNvCxnSpPr/>
          <p:nvPr/>
        </p:nvCxnSpPr>
        <p:spPr>
          <a:xfrm flipH="1">
            <a:off x="1972657" y="1822328"/>
            <a:ext cx="1512168" cy="594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40"/>
          <p:cNvCxnSpPr/>
          <p:nvPr/>
        </p:nvCxnSpPr>
        <p:spPr>
          <a:xfrm>
            <a:off x="1979133" y="2416394"/>
            <a:ext cx="937082" cy="972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41"/>
          <p:cNvCxnSpPr/>
          <p:nvPr/>
        </p:nvCxnSpPr>
        <p:spPr>
          <a:xfrm flipV="1">
            <a:off x="2916214" y="2740430"/>
            <a:ext cx="1512168" cy="64807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42"/>
              <p:cNvSpPr txBox="1"/>
              <p:nvPr/>
            </p:nvSpPr>
            <p:spPr>
              <a:xfrm>
                <a:off x="2646184" y="2861856"/>
                <a:ext cx="1112036"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350" i="1">
                              <a:latin typeface="Cambria Math" panose="02040503050406030204" pitchFamily="18" charset="0"/>
                            </a:rPr>
                          </m:ctrlPr>
                        </m:sSubPr>
                        <m:e>
                          <m:r>
                            <a:rPr lang="fr-FR" sz="1350" b="1" i="1">
                              <a:latin typeface="Cambria Math" panose="02040503050406030204" pitchFamily="18" charset="0"/>
                            </a:rPr>
                            <m:t>𝜸</m:t>
                          </m:r>
                        </m:e>
                        <m:sub>
                          <m:r>
                            <a:rPr lang="fr-FR" sz="1350" i="1">
                              <a:latin typeface="Cambria Math" panose="02040503050406030204" pitchFamily="18" charset="0"/>
                            </a:rPr>
                            <m:t>0</m:t>
                          </m:r>
                        </m:sub>
                      </m:sSub>
                      <m:d>
                        <m:dPr>
                          <m:ctrlPr>
                            <a:rPr lang="fr-FR" sz="1350" i="1">
                              <a:latin typeface="Cambria Math" panose="02040503050406030204" pitchFamily="18" charset="0"/>
                            </a:rPr>
                          </m:ctrlPr>
                        </m:dPr>
                        <m:e>
                          <m:sSub>
                            <m:sSubPr>
                              <m:ctrlPr>
                                <a:rPr lang="fr-FR" sz="1350" i="1">
                                  <a:latin typeface="Cambria Math" panose="02040503050406030204" pitchFamily="18" charset="0"/>
                                </a:rPr>
                              </m:ctrlPr>
                            </m:sSubPr>
                            <m:e>
                              <m:r>
                                <a:rPr lang="fr-FR" sz="1350" i="1">
                                  <a:latin typeface="Cambria Math" panose="02040503050406030204" pitchFamily="18" charset="0"/>
                                </a:rPr>
                                <m:t>𝑡</m:t>
                              </m:r>
                            </m:e>
                            <m:sub>
                              <m:r>
                                <a:rPr lang="fr-FR" sz="1350" i="1">
                                  <a:latin typeface="Cambria Math" panose="02040503050406030204" pitchFamily="18" charset="0"/>
                                </a:rPr>
                                <m:t>0</m:t>
                              </m:r>
                            </m:sub>
                          </m:sSub>
                        </m:e>
                      </m:d>
                      <m:r>
                        <a:rPr lang="fr-FR" sz="1350">
                          <a:latin typeface="Cambria Math" panose="02040503050406030204" pitchFamily="18" charset="0"/>
                        </a:rPr>
                        <m:t>=</m:t>
                      </m:r>
                      <m:sSub>
                        <m:sSubPr>
                          <m:ctrlPr>
                            <a:rPr lang="fr-FR" sz="1350" i="1">
                              <a:latin typeface="Cambria Math" panose="02040503050406030204" pitchFamily="18" charset="0"/>
                            </a:rPr>
                          </m:ctrlPr>
                        </m:sSubPr>
                        <m:e>
                          <m:r>
                            <a:rPr lang="fr-FR" sz="1350" b="1">
                              <a:latin typeface="Cambria Math" panose="02040503050406030204" pitchFamily="18" charset="0"/>
                            </a:rPr>
                            <m:t>𝐩</m:t>
                          </m:r>
                        </m:e>
                        <m:sub>
                          <m:r>
                            <a:rPr lang="fr-FR" sz="1350">
                              <a:latin typeface="Cambria Math" panose="02040503050406030204" pitchFamily="18" charset="0"/>
                            </a:rPr>
                            <m:t>0</m:t>
                          </m:r>
                        </m:sub>
                      </m:sSub>
                    </m:oMath>
                  </m:oMathPara>
                </a14:m>
                <a:endParaRPr lang="fr-FR" sz="1350" dirty="0"/>
              </a:p>
            </p:txBody>
          </p:sp>
        </mc:Choice>
        <mc:Fallback xmlns="">
          <p:sp>
            <p:nvSpPr>
              <p:cNvPr id="21" name="ZoneTexte 42"/>
              <p:cNvSpPr txBox="1">
                <a:spLocks noRot="1" noChangeAspect="1" noMove="1" noResize="1" noEditPoints="1" noAdjustHandles="1" noChangeArrowheads="1" noChangeShapeType="1" noTextEdit="1"/>
              </p:cNvSpPr>
              <p:nvPr/>
            </p:nvSpPr>
            <p:spPr>
              <a:xfrm>
                <a:off x="2646184" y="2861856"/>
                <a:ext cx="1112036" cy="300082"/>
              </a:xfrm>
              <a:prstGeom prst="rect">
                <a:avLst/>
              </a:prstGeom>
              <a:blipFill>
                <a:blip r:embed="rId4"/>
                <a:stretch>
                  <a:fillRect b="-4000"/>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2" name="ZoneTexte 43"/>
              <p:cNvSpPr txBox="1"/>
              <p:nvPr/>
            </p:nvSpPr>
            <p:spPr>
              <a:xfrm>
                <a:off x="3575756" y="2186024"/>
                <a:ext cx="1110432"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350" i="1">
                              <a:latin typeface="Cambria Math" panose="02040503050406030204" pitchFamily="18" charset="0"/>
                              <a:ea typeface="Cambria Math"/>
                            </a:rPr>
                          </m:ctrlPr>
                        </m:sSubSupPr>
                        <m:e>
                          <m:r>
                            <a:rPr lang="fr-FR" sz="1350" b="1" i="1">
                              <a:latin typeface="Cambria Math" panose="02040503050406030204" pitchFamily="18" charset="0"/>
                              <a:ea typeface="Cambria Math"/>
                            </a:rPr>
                            <m:t>𝜸</m:t>
                          </m:r>
                        </m:e>
                        <m:sub>
                          <m:r>
                            <a:rPr lang="fr-FR" sz="1350" i="1">
                              <a:latin typeface="Cambria Math" panose="02040503050406030204" pitchFamily="18" charset="0"/>
                              <a:ea typeface="Cambria Math"/>
                            </a:rPr>
                            <m:t>0</m:t>
                          </m:r>
                        </m:sub>
                        <m:sup>
                          <m:r>
                            <a:rPr lang="fr-FR" sz="1350" i="1">
                              <a:latin typeface="Cambria Math" panose="02040503050406030204" pitchFamily="18" charset="0"/>
                              <a:ea typeface="Cambria Math"/>
                            </a:rPr>
                            <m:t>′</m:t>
                          </m:r>
                        </m:sup>
                      </m:sSubSup>
                      <m:d>
                        <m:dPr>
                          <m:ctrlPr>
                            <a:rPr lang="fr-FR" sz="1350" i="1">
                              <a:latin typeface="Cambria Math" panose="02040503050406030204" pitchFamily="18" charset="0"/>
                              <a:ea typeface="Cambria Math"/>
                            </a:rPr>
                          </m:ctrlPr>
                        </m:dPr>
                        <m:e>
                          <m:sSub>
                            <m:sSubPr>
                              <m:ctrlPr>
                                <a:rPr lang="fr-FR" sz="1350" i="1">
                                  <a:latin typeface="Cambria Math" panose="02040503050406030204" pitchFamily="18" charset="0"/>
                                  <a:ea typeface="Cambria Math"/>
                                </a:rPr>
                              </m:ctrlPr>
                            </m:sSubPr>
                            <m:e>
                              <m:r>
                                <a:rPr lang="fr-FR" sz="1350" i="1">
                                  <a:latin typeface="Cambria Math" panose="02040503050406030204" pitchFamily="18" charset="0"/>
                                  <a:ea typeface="Cambria Math"/>
                                </a:rPr>
                                <m:t>𝑡</m:t>
                              </m:r>
                            </m:e>
                            <m:sub>
                              <m:r>
                                <a:rPr lang="fr-FR" sz="1350" i="1">
                                  <a:latin typeface="Cambria Math" panose="02040503050406030204" pitchFamily="18" charset="0"/>
                                  <a:ea typeface="Cambria Math"/>
                                </a:rPr>
                                <m:t>0</m:t>
                              </m:r>
                            </m:sub>
                          </m:sSub>
                        </m:e>
                      </m:d>
                      <m:r>
                        <a:rPr lang="fr-FR" sz="1350" i="1">
                          <a:latin typeface="Cambria Math" panose="02040503050406030204" pitchFamily="18" charset="0"/>
                          <a:ea typeface="Cambria Math"/>
                        </a:rPr>
                        <m:t>=</m:t>
                      </m:r>
                      <m:sSub>
                        <m:sSubPr>
                          <m:ctrlPr>
                            <a:rPr lang="fr-FR" sz="1350" i="1">
                              <a:latin typeface="Cambria Math" panose="02040503050406030204" pitchFamily="18" charset="0"/>
                              <a:ea typeface="Cambria Math"/>
                            </a:rPr>
                          </m:ctrlPr>
                        </m:sSubPr>
                        <m:e>
                          <m:r>
                            <a:rPr lang="fr-FR" sz="1350" b="1" i="1">
                              <a:latin typeface="Cambria Math" panose="02040503050406030204" pitchFamily="18" charset="0"/>
                              <a:ea typeface="Cambria Math"/>
                            </a:rPr>
                            <m:t>𝒗</m:t>
                          </m:r>
                        </m:e>
                        <m:sub>
                          <m:r>
                            <a:rPr lang="fr-FR" sz="1350" i="1">
                              <a:latin typeface="Cambria Math" panose="02040503050406030204" pitchFamily="18" charset="0"/>
                              <a:ea typeface="Cambria Math"/>
                            </a:rPr>
                            <m:t>0</m:t>
                          </m:r>
                        </m:sub>
                      </m:sSub>
                    </m:oMath>
                  </m:oMathPara>
                </a14:m>
                <a:endParaRPr lang="fr-FR" sz="1350" dirty="0"/>
              </a:p>
            </p:txBody>
          </p:sp>
        </mc:Choice>
        <mc:Fallback xmlns="">
          <p:sp>
            <p:nvSpPr>
              <p:cNvPr id="22" name="ZoneTexte 43"/>
              <p:cNvSpPr txBox="1">
                <a:spLocks noRot="1" noChangeAspect="1" noMove="1" noResize="1" noEditPoints="1" noAdjustHandles="1" noChangeArrowheads="1" noChangeShapeType="1" noTextEdit="1"/>
              </p:cNvSpPr>
              <p:nvPr/>
            </p:nvSpPr>
            <p:spPr>
              <a:xfrm>
                <a:off x="3575756" y="2186024"/>
                <a:ext cx="1110432" cy="300082"/>
              </a:xfrm>
              <a:prstGeom prst="rect">
                <a:avLst/>
              </a:prstGeom>
              <a:blipFill>
                <a:blip r:embed="rId5"/>
                <a:stretch>
                  <a:fillRect b="-4167"/>
                </a:stretch>
              </a:blipFill>
            </p:spPr>
            <p:txBody>
              <a:bodyPr/>
              <a:lstStyle/>
              <a:p>
                <a:r>
                  <a:rPr lang="en-FR">
                    <a:noFill/>
                  </a:rPr>
                  <a:t> </a:t>
                </a:r>
              </a:p>
            </p:txBody>
          </p:sp>
        </mc:Fallback>
      </mc:AlternateContent>
      <p:cxnSp>
        <p:nvCxnSpPr>
          <p:cNvPr id="23" name="Connecteur droit avec flèche 44"/>
          <p:cNvCxnSpPr/>
          <p:nvPr/>
        </p:nvCxnSpPr>
        <p:spPr>
          <a:xfrm flipH="1" flipV="1">
            <a:off x="2511169" y="2470400"/>
            <a:ext cx="351039" cy="378644"/>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45"/>
              <p:cNvSpPr txBox="1"/>
              <p:nvPr/>
            </p:nvSpPr>
            <p:spPr>
              <a:xfrm>
                <a:off x="2379399" y="2193401"/>
                <a:ext cx="40197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350" i="1">
                              <a:latin typeface="Cambria Math" panose="02040503050406030204" pitchFamily="18" charset="0"/>
                            </a:rPr>
                          </m:ctrlPr>
                        </m:sSubPr>
                        <m:e>
                          <m:r>
                            <a:rPr lang="fr-FR" sz="1350" i="1">
                              <a:latin typeface="Cambria Math"/>
                            </a:rPr>
                            <m:t>𝑤</m:t>
                          </m:r>
                        </m:e>
                        <m:sub>
                          <m:r>
                            <a:rPr lang="fr-FR" sz="1350" i="1">
                              <a:latin typeface="Cambria Math"/>
                            </a:rPr>
                            <m:t>𝑖</m:t>
                          </m:r>
                        </m:sub>
                      </m:sSub>
                    </m:oMath>
                  </m:oMathPara>
                </a14:m>
                <a:endParaRPr lang="fr-FR" sz="1350" dirty="0"/>
              </a:p>
            </p:txBody>
          </p:sp>
        </mc:Choice>
        <mc:Fallback xmlns="">
          <p:sp>
            <p:nvSpPr>
              <p:cNvPr id="24" name="ZoneTexte 45"/>
              <p:cNvSpPr txBox="1">
                <a:spLocks noRot="1" noChangeAspect="1" noMove="1" noResize="1" noEditPoints="1" noAdjustHandles="1" noChangeArrowheads="1" noChangeShapeType="1" noTextEdit="1"/>
              </p:cNvSpPr>
              <p:nvPr/>
            </p:nvSpPr>
            <p:spPr>
              <a:xfrm>
                <a:off x="2379399" y="2193401"/>
                <a:ext cx="401970" cy="300082"/>
              </a:xfrm>
              <a:prstGeom prst="rect">
                <a:avLst/>
              </a:prstGeom>
              <a:blipFill>
                <a:blip r:embed="rId6"/>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5" name="ZoneTexte 46"/>
              <p:cNvSpPr txBox="1"/>
              <p:nvPr/>
            </p:nvSpPr>
            <p:spPr>
              <a:xfrm>
                <a:off x="1359801" y="3736761"/>
                <a:ext cx="428131" cy="300082"/>
              </a:xfrm>
              <a:prstGeom prst="rect">
                <a:avLst/>
              </a:prstGeom>
              <a:noFill/>
            </p:spPr>
            <p:txBody>
              <a:bodyPr wrap="none" rtlCol="0">
                <a:spAutoFit/>
              </a:bodyPr>
              <a:lstStyle/>
              <a:p>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𝛾</m:t>
                        </m:r>
                      </m:e>
                      <m:sub>
                        <m:r>
                          <a:rPr lang="fr-FR" sz="1350" i="1">
                            <a:latin typeface="Cambria Math" panose="02040503050406030204" pitchFamily="18" charset="0"/>
                          </a:rPr>
                          <m:t>0</m:t>
                        </m:r>
                      </m:sub>
                    </m:sSub>
                  </m:oMath>
                </a14:m>
                <a:r>
                  <a:rPr lang="fr-FR" sz="1350" dirty="0"/>
                  <a:t>  </a:t>
                </a:r>
              </a:p>
            </p:txBody>
          </p:sp>
        </mc:Choice>
        <mc:Fallback xmlns="">
          <p:sp>
            <p:nvSpPr>
              <p:cNvPr id="25" name="ZoneTexte 46"/>
              <p:cNvSpPr txBox="1">
                <a:spLocks noRot="1" noChangeAspect="1" noMove="1" noResize="1" noEditPoints="1" noAdjustHandles="1" noChangeArrowheads="1" noChangeShapeType="1" noTextEdit="1"/>
              </p:cNvSpPr>
              <p:nvPr/>
            </p:nvSpPr>
            <p:spPr>
              <a:xfrm>
                <a:off x="1359801" y="3736761"/>
                <a:ext cx="428131" cy="300082"/>
              </a:xfrm>
              <a:prstGeom prst="rect">
                <a:avLst/>
              </a:prstGeom>
              <a:blipFill>
                <a:blip r:embed="rId7"/>
                <a:stretch>
                  <a:fillRect b="-4167"/>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6" name="ZoneTexte 47"/>
              <p:cNvSpPr txBox="1"/>
              <p:nvPr/>
            </p:nvSpPr>
            <p:spPr>
              <a:xfrm>
                <a:off x="2973953" y="1524939"/>
                <a:ext cx="848181" cy="3200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350" i="1">
                              <a:latin typeface="Cambria Math" panose="02040503050406030204" pitchFamily="18" charset="0"/>
                            </a:rPr>
                          </m:ctrlPr>
                        </m:sSubPr>
                        <m:e>
                          <m:r>
                            <m:rPr>
                              <m:sty m:val="p"/>
                            </m:rPr>
                            <a:rPr lang="fr-FR" sz="1350">
                              <a:latin typeface="Cambria Math"/>
                            </a:rPr>
                            <m:t>T</m:t>
                          </m:r>
                        </m:e>
                        <m:sub>
                          <m:sSub>
                            <m:sSubPr>
                              <m:ctrlPr>
                                <a:rPr lang="fr-FR" sz="1350" i="1">
                                  <a:latin typeface="Cambria Math" panose="02040503050406030204" pitchFamily="18" charset="0"/>
                                </a:rPr>
                              </m:ctrlPr>
                            </m:sSubPr>
                            <m:e>
                              <m:r>
                                <a:rPr lang="fr-FR" sz="1350" b="1" i="1">
                                  <a:latin typeface="Cambria Math" panose="02040503050406030204" pitchFamily="18" charset="0"/>
                                </a:rPr>
                                <m:t>𝜸</m:t>
                              </m:r>
                            </m:e>
                            <m:sub>
                              <m:r>
                                <a:rPr lang="fr-FR" sz="1350" i="1">
                                  <a:latin typeface="Cambria Math" panose="02040503050406030204" pitchFamily="18" charset="0"/>
                                </a:rPr>
                                <m:t>0</m:t>
                              </m:r>
                            </m:sub>
                          </m:sSub>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𝑡</m:t>
                              </m:r>
                            </m:e>
                            <m:sub>
                              <m:r>
                                <a:rPr lang="fr-FR" sz="1350" i="1">
                                  <a:latin typeface="Cambria Math" panose="02040503050406030204" pitchFamily="18" charset="0"/>
                                </a:rPr>
                                <m:t>0</m:t>
                              </m:r>
                            </m:sub>
                          </m:sSub>
                          <m:r>
                            <a:rPr lang="fr-FR" sz="1350" i="1">
                              <a:latin typeface="Cambria Math" panose="02040503050406030204" pitchFamily="18" charset="0"/>
                            </a:rPr>
                            <m:t>)</m:t>
                          </m:r>
                        </m:sub>
                      </m:sSub>
                      <m:r>
                        <a:rPr lang="fr-FR" sz="1350" i="1">
                          <a:latin typeface="Cambria Math"/>
                          <a:ea typeface="Cambria Math"/>
                        </a:rPr>
                        <m:t>𝕄</m:t>
                      </m:r>
                    </m:oMath>
                  </m:oMathPara>
                </a14:m>
                <a:endParaRPr lang="fr-FR" sz="1350" dirty="0"/>
              </a:p>
            </p:txBody>
          </p:sp>
        </mc:Choice>
        <mc:Fallback xmlns="">
          <p:sp>
            <p:nvSpPr>
              <p:cNvPr id="26" name="ZoneTexte 47"/>
              <p:cNvSpPr txBox="1">
                <a:spLocks noRot="1" noChangeAspect="1" noMove="1" noResize="1" noEditPoints="1" noAdjustHandles="1" noChangeArrowheads="1" noChangeShapeType="1" noTextEdit="1"/>
              </p:cNvSpPr>
              <p:nvPr/>
            </p:nvSpPr>
            <p:spPr>
              <a:xfrm>
                <a:off x="2973953" y="1524939"/>
                <a:ext cx="848181" cy="320024"/>
              </a:xfrm>
              <a:prstGeom prst="rect">
                <a:avLst/>
              </a:prstGeom>
              <a:blipFill>
                <a:blip r:embed="rId8"/>
                <a:stretch>
                  <a:fillRect b="-3846"/>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7" name="ZoneTexte 40"/>
              <p:cNvSpPr txBox="1"/>
              <p:nvPr/>
            </p:nvSpPr>
            <p:spPr>
              <a:xfrm>
                <a:off x="3420590" y="2611807"/>
                <a:ext cx="636200"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350" i="1">
                              <a:latin typeface="Cambria Math" panose="02040503050406030204" pitchFamily="18" charset="0"/>
                            </a:rPr>
                          </m:ctrlPr>
                        </m:sSubPr>
                        <m:e>
                          <m:r>
                            <a:rPr lang="fr-FR" sz="1350" b="1" i="1">
                              <a:latin typeface="Cambria Math" panose="02040503050406030204" pitchFamily="18" charset="0"/>
                            </a:rPr>
                            <m:t>𝜸</m:t>
                          </m:r>
                        </m:e>
                        <m:sub>
                          <m:r>
                            <a:rPr lang="fr-FR" sz="1350" i="1">
                              <a:latin typeface="Cambria Math" panose="02040503050406030204" pitchFamily="18" charset="0"/>
                            </a:rPr>
                            <m:t>0</m:t>
                          </m:r>
                        </m:sub>
                      </m:sSub>
                      <m:r>
                        <a:rPr lang="fr-FR" sz="1350" i="1">
                          <a:latin typeface="Cambria Math" panose="02040503050406030204" pitchFamily="18" charset="0"/>
                        </a:rPr>
                        <m:t>(</m:t>
                      </m:r>
                      <m:r>
                        <a:rPr lang="fr-FR" sz="1350" i="1">
                          <a:latin typeface="Cambria Math" panose="02040503050406030204" pitchFamily="18" charset="0"/>
                        </a:rPr>
                        <m:t>𝑠</m:t>
                      </m:r>
                      <m:r>
                        <a:rPr lang="fr-FR" sz="1350" i="1">
                          <a:latin typeface="Cambria Math" panose="02040503050406030204" pitchFamily="18" charset="0"/>
                        </a:rPr>
                        <m:t>)</m:t>
                      </m:r>
                    </m:oMath>
                  </m:oMathPara>
                </a14:m>
                <a:endParaRPr lang="fr-FR" sz="1350" dirty="0"/>
              </a:p>
            </p:txBody>
          </p:sp>
        </mc:Choice>
        <mc:Fallback xmlns="">
          <p:sp>
            <p:nvSpPr>
              <p:cNvPr id="27" name="ZoneTexte 40"/>
              <p:cNvSpPr txBox="1">
                <a:spLocks noRot="1" noChangeAspect="1" noMove="1" noResize="1" noEditPoints="1" noAdjustHandles="1" noChangeArrowheads="1" noChangeShapeType="1" noTextEdit="1"/>
              </p:cNvSpPr>
              <p:nvPr/>
            </p:nvSpPr>
            <p:spPr>
              <a:xfrm>
                <a:off x="3420590" y="2611807"/>
                <a:ext cx="636200" cy="300082"/>
              </a:xfrm>
              <a:prstGeom prst="rect">
                <a:avLst/>
              </a:prstGeom>
              <a:blipFill>
                <a:blip r:embed="rId9"/>
                <a:stretch>
                  <a:fillRect b="-8000"/>
                </a:stretch>
              </a:blipFill>
            </p:spPr>
            <p:txBody>
              <a:bodyPr/>
              <a:lstStyle/>
              <a:p>
                <a:r>
                  <a:rPr lang="en-FR">
                    <a:noFill/>
                  </a:rPr>
                  <a:t> </a:t>
                </a:r>
              </a:p>
            </p:txBody>
          </p:sp>
        </mc:Fallback>
      </mc:AlternateContent>
      <p:sp>
        <p:nvSpPr>
          <p:cNvPr id="28" name="Ellipse 53"/>
          <p:cNvSpPr/>
          <p:nvPr/>
        </p:nvSpPr>
        <p:spPr>
          <a:xfrm>
            <a:off x="3527317" y="2632218"/>
            <a:ext cx="54006" cy="550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mc:AlternateContent xmlns:mc="http://schemas.openxmlformats.org/markup-compatibility/2006" xmlns:a14="http://schemas.microsoft.com/office/drawing/2010/main">
        <mc:Choice Requires="a14">
          <p:sp>
            <p:nvSpPr>
              <p:cNvPr id="29" name="ZoneTexte 54"/>
              <p:cNvSpPr txBox="1"/>
              <p:nvPr/>
            </p:nvSpPr>
            <p:spPr>
              <a:xfrm>
                <a:off x="3192843" y="1965964"/>
                <a:ext cx="1284647" cy="3946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m:rPr>
                              <m:sty m:val="p"/>
                            </m:rPr>
                            <a:rPr lang="fr-FR">
                              <a:latin typeface="Cambria Math"/>
                            </a:rPr>
                            <m:t>P</m:t>
                          </m:r>
                        </m:e>
                        <m:sub>
                          <m:sSub>
                            <m:sSubPr>
                              <m:ctrlPr>
                                <a:rPr lang="fr-FR" i="1">
                                  <a:latin typeface="Cambria Math" panose="02040503050406030204" pitchFamily="18" charset="0"/>
                                </a:rPr>
                              </m:ctrlPr>
                            </m:sSubPr>
                            <m:e>
                              <m:r>
                                <a:rPr lang="fr-FR" b="1" i="1">
                                  <a:latin typeface="Cambria Math" panose="02040503050406030204" pitchFamily="18" charset="0"/>
                                </a:rPr>
                                <m:t>𝜸</m:t>
                              </m:r>
                            </m:e>
                            <m:sub>
                              <m:r>
                                <a:rPr lang="fr-FR" i="1">
                                  <a:latin typeface="Cambria Math" panose="02040503050406030204" pitchFamily="18" charset="0"/>
                                </a:rPr>
                                <m:t>0</m:t>
                              </m:r>
                            </m:sub>
                          </m:sSub>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a:rPr>
                                <m:t>𝑡</m:t>
                              </m:r>
                            </m:e>
                            <m:sub>
                              <m:r>
                                <a:rPr lang="fr-FR" i="1">
                                  <a:latin typeface="Cambria Math"/>
                                </a:rPr>
                                <m:t>0</m:t>
                              </m:r>
                            </m:sub>
                          </m:sSub>
                          <m:r>
                            <a:rPr lang="fr-FR" i="1">
                              <a:latin typeface="Cambria Math"/>
                            </a:rPr>
                            <m:t>,</m:t>
                          </m:r>
                          <m:r>
                            <a:rPr lang="fr-FR" i="1">
                              <a:latin typeface="Cambria Math"/>
                            </a:rPr>
                            <m:t>𝑠</m:t>
                          </m:r>
                        </m:sub>
                      </m:sSub>
                      <m:r>
                        <a:rPr lang="fr-FR" i="1">
                          <a:latin typeface="Cambria Math"/>
                        </a:rPr>
                        <m:t>(</m:t>
                      </m:r>
                      <m:sSub>
                        <m:sSubPr>
                          <m:ctrlPr>
                            <a:rPr lang="fr-FR" i="1">
                              <a:latin typeface="Cambria Math" panose="02040503050406030204" pitchFamily="18" charset="0"/>
                            </a:rPr>
                          </m:ctrlPr>
                        </m:sSubPr>
                        <m:e>
                          <m:r>
                            <a:rPr lang="fr-FR" i="1">
                              <a:latin typeface="Cambria Math"/>
                            </a:rPr>
                            <m:t>𝑤</m:t>
                          </m:r>
                        </m:e>
                        <m:sub>
                          <m:r>
                            <a:rPr lang="fr-FR" i="1">
                              <a:latin typeface="Cambria Math"/>
                            </a:rPr>
                            <m:t>𝑖</m:t>
                          </m:r>
                        </m:sub>
                      </m:sSub>
                      <m:r>
                        <a:rPr lang="fr-FR" i="1">
                          <a:latin typeface="Cambria Math"/>
                        </a:rPr>
                        <m:t>)</m:t>
                      </m:r>
                    </m:oMath>
                  </m:oMathPara>
                </a14:m>
                <a:endParaRPr lang="fr-FR" dirty="0"/>
              </a:p>
            </p:txBody>
          </p:sp>
        </mc:Choice>
        <mc:Fallback xmlns="">
          <p:sp>
            <p:nvSpPr>
              <p:cNvPr id="29" name="ZoneTexte 54"/>
              <p:cNvSpPr txBox="1">
                <a:spLocks noRot="1" noChangeAspect="1" noMove="1" noResize="1" noEditPoints="1" noAdjustHandles="1" noChangeArrowheads="1" noChangeShapeType="1" noTextEdit="1"/>
              </p:cNvSpPr>
              <p:nvPr/>
            </p:nvSpPr>
            <p:spPr>
              <a:xfrm>
                <a:off x="3192843" y="1965964"/>
                <a:ext cx="1284647" cy="394660"/>
              </a:xfrm>
              <a:prstGeom prst="rect">
                <a:avLst/>
              </a:prstGeom>
              <a:blipFill>
                <a:blip r:embed="rId10"/>
                <a:stretch>
                  <a:fillRect b="-9677"/>
                </a:stretch>
              </a:blipFill>
            </p:spPr>
            <p:txBody>
              <a:bodyPr/>
              <a:lstStyle/>
              <a:p>
                <a:r>
                  <a:rPr lang="en-FR">
                    <a:noFill/>
                  </a:rPr>
                  <a:t> </a:t>
                </a:r>
              </a:p>
            </p:txBody>
          </p:sp>
        </mc:Fallback>
      </mc:AlternateContent>
      <p:sp>
        <p:nvSpPr>
          <p:cNvPr id="30" name="Forme libre 47"/>
          <p:cNvSpPr/>
          <p:nvPr/>
        </p:nvSpPr>
        <p:spPr>
          <a:xfrm>
            <a:off x="2377649" y="1783029"/>
            <a:ext cx="1173637" cy="876693"/>
          </a:xfrm>
          <a:custGeom>
            <a:avLst/>
            <a:gdLst>
              <a:gd name="connsiteX0" fmla="*/ 1564849 w 1564849"/>
              <a:gd name="connsiteY0" fmla="*/ 1168924 h 1168924"/>
              <a:gd name="connsiteX1" fmla="*/ 744717 w 1564849"/>
              <a:gd name="connsiteY1" fmla="*/ 339365 h 1168924"/>
              <a:gd name="connsiteX2" fmla="*/ 0 w 1564849"/>
              <a:gd name="connsiteY2" fmla="*/ 0 h 1168924"/>
            </a:gdLst>
            <a:ahLst/>
            <a:cxnLst>
              <a:cxn ang="0">
                <a:pos x="connsiteX0" y="connsiteY0"/>
              </a:cxn>
              <a:cxn ang="0">
                <a:pos x="connsiteX1" y="connsiteY1"/>
              </a:cxn>
              <a:cxn ang="0">
                <a:pos x="connsiteX2" y="connsiteY2"/>
              </a:cxn>
            </a:cxnLst>
            <a:rect l="l" t="t" r="r" b="b"/>
            <a:pathLst>
              <a:path w="1564849" h="1168924">
                <a:moveTo>
                  <a:pt x="1564849" y="1168924"/>
                </a:moveTo>
                <a:cubicBezTo>
                  <a:pt x="1285187" y="851555"/>
                  <a:pt x="1005525" y="534186"/>
                  <a:pt x="744717" y="339365"/>
                </a:cubicBezTo>
                <a:cubicBezTo>
                  <a:pt x="483909" y="144544"/>
                  <a:pt x="241954" y="72272"/>
                  <a:pt x="0" y="0"/>
                </a:cubicBezTo>
              </a:path>
            </a:pathLst>
          </a:cu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1" name="Ellipse 50"/>
          <p:cNvSpPr/>
          <p:nvPr/>
        </p:nvSpPr>
        <p:spPr>
          <a:xfrm>
            <a:off x="2387294" y="1765139"/>
            <a:ext cx="37682" cy="5500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mc:AlternateContent xmlns:mc="http://schemas.openxmlformats.org/markup-compatibility/2006" xmlns:a14="http://schemas.microsoft.com/office/drawing/2010/main">
        <mc:Choice Requires="a14">
          <p:sp>
            <p:nvSpPr>
              <p:cNvPr id="32" name="ZoneTexte 52"/>
              <p:cNvSpPr txBox="1"/>
              <p:nvPr/>
            </p:nvSpPr>
            <p:spPr>
              <a:xfrm>
                <a:off x="2371633" y="1415202"/>
                <a:ext cx="12058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m:rPr>
                              <m:sty m:val="p"/>
                            </m:rPr>
                            <a:rPr lang="el-GR" i="1">
                              <a:latin typeface="Cambria Math"/>
                              <a:ea typeface="Cambria Math"/>
                            </a:rPr>
                            <m:t>η</m:t>
                          </m:r>
                        </m:e>
                        <m:sup>
                          <m:sSub>
                            <m:sSubPr>
                              <m:ctrlPr>
                                <a:rPr lang="fr-FR" i="1">
                                  <a:latin typeface="Cambria Math" panose="02040503050406030204" pitchFamily="18" charset="0"/>
                                </a:rPr>
                              </m:ctrlPr>
                            </m:sSubPr>
                            <m:e>
                              <m:r>
                                <a:rPr lang="fr-FR" i="1">
                                  <a:latin typeface="Cambria Math"/>
                                </a:rPr>
                                <m:t>𝑤</m:t>
                              </m:r>
                            </m:e>
                            <m:sub>
                              <m:r>
                                <a:rPr lang="fr-FR" i="1">
                                  <a:latin typeface="Cambria Math"/>
                                </a:rPr>
                                <m:t>𝑖</m:t>
                              </m:r>
                            </m:sub>
                          </m:sSub>
                        </m:sup>
                      </m:sSup>
                      <m:r>
                        <a:rPr lang="fr-FR" i="1">
                          <a:latin typeface="Cambria Math"/>
                        </a:rPr>
                        <m:t>(</m:t>
                      </m:r>
                      <m:sSub>
                        <m:sSubPr>
                          <m:ctrlPr>
                            <a:rPr lang="fr-FR" i="1">
                              <a:latin typeface="Cambria Math" panose="02040503050406030204" pitchFamily="18" charset="0"/>
                            </a:rPr>
                          </m:ctrlPr>
                        </m:sSubPr>
                        <m:e>
                          <m:r>
                            <a:rPr lang="fr-FR" b="1" i="1">
                              <a:latin typeface="Cambria Math" panose="02040503050406030204" pitchFamily="18" charset="0"/>
                            </a:rPr>
                            <m:t>𝜸</m:t>
                          </m:r>
                        </m:e>
                        <m:sub>
                          <m:r>
                            <a:rPr lang="fr-FR" i="1">
                              <a:latin typeface="Cambria Math" panose="02040503050406030204" pitchFamily="18" charset="0"/>
                            </a:rPr>
                            <m:t>0</m:t>
                          </m:r>
                        </m:sub>
                      </m:sSub>
                      <m:r>
                        <a:rPr lang="fr-FR" i="1">
                          <a:latin typeface="Cambria Math"/>
                        </a:rPr>
                        <m:t>,</m:t>
                      </m:r>
                      <m:r>
                        <a:rPr lang="fr-FR" i="1">
                          <a:latin typeface="Cambria Math"/>
                        </a:rPr>
                        <m:t>𝑠</m:t>
                      </m:r>
                      <m:r>
                        <a:rPr lang="fr-FR" i="1">
                          <a:latin typeface="Cambria Math"/>
                        </a:rPr>
                        <m:t>)</m:t>
                      </m:r>
                    </m:oMath>
                  </m:oMathPara>
                </a14:m>
                <a:endParaRPr lang="fr-FR" dirty="0"/>
              </a:p>
            </p:txBody>
          </p:sp>
        </mc:Choice>
        <mc:Fallback xmlns="">
          <p:sp>
            <p:nvSpPr>
              <p:cNvPr id="32" name="ZoneTexte 52"/>
              <p:cNvSpPr txBox="1">
                <a:spLocks noRot="1" noChangeAspect="1" noMove="1" noResize="1" noEditPoints="1" noAdjustHandles="1" noChangeArrowheads="1" noChangeShapeType="1" noTextEdit="1"/>
              </p:cNvSpPr>
              <p:nvPr/>
            </p:nvSpPr>
            <p:spPr>
              <a:xfrm>
                <a:off x="2371633" y="1415202"/>
                <a:ext cx="1205843" cy="369332"/>
              </a:xfrm>
              <a:prstGeom prst="rect">
                <a:avLst/>
              </a:prstGeom>
              <a:blipFill>
                <a:blip r:embed="rId11"/>
                <a:stretch>
                  <a:fillRect b="-13333"/>
                </a:stretch>
              </a:blipFill>
            </p:spPr>
            <p:txBody>
              <a:bodyPr/>
              <a:lstStyle/>
              <a:p>
                <a:r>
                  <a:rPr lang="en-FR">
                    <a:noFill/>
                  </a:rPr>
                  <a:t> </a:t>
                </a:r>
              </a:p>
            </p:txBody>
          </p:sp>
        </mc:Fallback>
      </mc:AlternateContent>
      <p:sp>
        <p:nvSpPr>
          <p:cNvPr id="33" name="Forme libre 55"/>
          <p:cNvSpPr/>
          <p:nvPr/>
        </p:nvSpPr>
        <p:spPr>
          <a:xfrm>
            <a:off x="959448" y="1504511"/>
            <a:ext cx="3386579" cy="1155212"/>
          </a:xfrm>
          <a:custGeom>
            <a:avLst/>
            <a:gdLst>
              <a:gd name="connsiteX0" fmla="*/ 0 w 4534292"/>
              <a:gd name="connsiteY0" fmla="*/ 1592904 h 1592904"/>
              <a:gd name="connsiteX1" fmla="*/ 1366886 w 4534292"/>
              <a:gd name="connsiteY1" fmla="*/ 565382 h 1592904"/>
              <a:gd name="connsiteX2" fmla="*/ 3082565 w 4534292"/>
              <a:gd name="connsiteY2" fmla="*/ 46908 h 1592904"/>
              <a:gd name="connsiteX3" fmla="*/ 4534292 w 4534292"/>
              <a:gd name="connsiteY3" fmla="*/ 56335 h 1592904"/>
              <a:gd name="connsiteX0" fmla="*/ 0 w 4515438"/>
              <a:gd name="connsiteY0" fmla="*/ 1644805 h 1644805"/>
              <a:gd name="connsiteX1" fmla="*/ 1366886 w 4515438"/>
              <a:gd name="connsiteY1" fmla="*/ 617283 h 1644805"/>
              <a:gd name="connsiteX2" fmla="*/ 3082565 w 4515438"/>
              <a:gd name="connsiteY2" fmla="*/ 98809 h 1644805"/>
              <a:gd name="connsiteX3" fmla="*/ 4515438 w 4515438"/>
              <a:gd name="connsiteY3" fmla="*/ 23395 h 1644805"/>
            </a:gdLst>
            <a:ahLst/>
            <a:cxnLst>
              <a:cxn ang="0">
                <a:pos x="connsiteX0" y="connsiteY0"/>
              </a:cxn>
              <a:cxn ang="0">
                <a:pos x="connsiteX1" y="connsiteY1"/>
              </a:cxn>
              <a:cxn ang="0">
                <a:pos x="connsiteX2" y="connsiteY2"/>
              </a:cxn>
              <a:cxn ang="0">
                <a:pos x="connsiteX3" y="connsiteY3"/>
              </a:cxn>
            </a:cxnLst>
            <a:rect l="l" t="t" r="r" b="b"/>
            <a:pathLst>
              <a:path w="4515438" h="1644805">
                <a:moveTo>
                  <a:pt x="0" y="1644805"/>
                </a:moveTo>
                <a:cubicBezTo>
                  <a:pt x="426562" y="1259877"/>
                  <a:pt x="853125" y="874949"/>
                  <a:pt x="1366886" y="617283"/>
                </a:cubicBezTo>
                <a:cubicBezTo>
                  <a:pt x="1880647" y="359617"/>
                  <a:pt x="2557806" y="197790"/>
                  <a:pt x="3082565" y="98809"/>
                </a:cubicBezTo>
                <a:cubicBezTo>
                  <a:pt x="3607324" y="-172"/>
                  <a:pt x="4053525" y="-23739"/>
                  <a:pt x="4515438" y="23395"/>
                </a:cubicBezTo>
              </a:path>
            </a:pathLst>
          </a:cu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mc:AlternateContent xmlns:mc="http://schemas.openxmlformats.org/markup-compatibility/2006" xmlns:a14="http://schemas.microsoft.com/office/drawing/2010/main">
        <mc:Choice Requires="a14">
          <p:sp>
            <p:nvSpPr>
              <p:cNvPr id="34" name="ZoneTexte 56"/>
              <p:cNvSpPr txBox="1"/>
              <p:nvPr/>
            </p:nvSpPr>
            <p:spPr>
              <a:xfrm>
                <a:off x="696772" y="2632218"/>
                <a:ext cx="11209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m:rPr>
                              <m:sty m:val="p"/>
                            </m:rPr>
                            <a:rPr lang="el-GR" i="1">
                              <a:latin typeface="Cambria Math"/>
                              <a:ea typeface="Cambria Math"/>
                            </a:rPr>
                            <m:t>η</m:t>
                          </m:r>
                        </m:e>
                        <m:sup>
                          <m:sSub>
                            <m:sSubPr>
                              <m:ctrlPr>
                                <a:rPr lang="fr-FR" i="1">
                                  <a:latin typeface="Cambria Math" panose="02040503050406030204" pitchFamily="18" charset="0"/>
                                </a:rPr>
                              </m:ctrlPr>
                            </m:sSubPr>
                            <m:e>
                              <m:r>
                                <a:rPr lang="fr-FR" i="1">
                                  <a:latin typeface="Cambria Math"/>
                                </a:rPr>
                                <m:t>𝑤</m:t>
                              </m:r>
                            </m:e>
                            <m:sub>
                              <m:r>
                                <a:rPr lang="fr-FR" i="1">
                                  <a:latin typeface="Cambria Math"/>
                                </a:rPr>
                                <m:t>𝑖</m:t>
                              </m:r>
                            </m:sub>
                          </m:sSub>
                        </m:sup>
                      </m:sSup>
                      <m:r>
                        <a:rPr lang="fr-FR" i="1">
                          <a:latin typeface="Cambria Math" panose="02040503050406030204" pitchFamily="18" charset="0"/>
                        </a:rPr>
                        <m:t>(</m:t>
                      </m:r>
                      <m:sSub>
                        <m:sSubPr>
                          <m:ctrlPr>
                            <a:rPr lang="fr-FR" i="1">
                              <a:latin typeface="Cambria Math" panose="02040503050406030204" pitchFamily="18" charset="0"/>
                            </a:rPr>
                          </m:ctrlPr>
                        </m:sSubPr>
                        <m:e>
                          <m:r>
                            <a:rPr lang="fr-FR" b="1" i="1">
                              <a:latin typeface="Cambria Math" panose="02040503050406030204" pitchFamily="18" charset="0"/>
                            </a:rPr>
                            <m:t>𝜸</m:t>
                          </m:r>
                        </m:e>
                        <m:sub>
                          <m:r>
                            <a:rPr lang="fr-FR" i="1">
                              <a:latin typeface="Cambria Math" panose="02040503050406030204" pitchFamily="18" charset="0"/>
                            </a:rPr>
                            <m:t>0</m:t>
                          </m:r>
                        </m:sub>
                      </m:sSub>
                      <m:r>
                        <a:rPr lang="fr-FR" i="1">
                          <a:latin typeface="Cambria Math"/>
                        </a:rPr>
                        <m:t>,</m:t>
                      </m:r>
                      <m:r>
                        <a:rPr lang="fr-FR" i="1">
                          <a:latin typeface="Cambria Math"/>
                          <a:ea typeface="Cambria Math"/>
                        </a:rPr>
                        <m:t>∙)</m:t>
                      </m:r>
                    </m:oMath>
                  </m:oMathPara>
                </a14:m>
                <a:endParaRPr lang="fr-FR" dirty="0"/>
              </a:p>
            </p:txBody>
          </p:sp>
        </mc:Choice>
        <mc:Fallback xmlns="">
          <p:sp>
            <p:nvSpPr>
              <p:cNvPr id="34" name="ZoneTexte 56"/>
              <p:cNvSpPr txBox="1">
                <a:spLocks noRot="1" noChangeAspect="1" noMove="1" noResize="1" noEditPoints="1" noAdjustHandles="1" noChangeArrowheads="1" noChangeShapeType="1" noTextEdit="1"/>
              </p:cNvSpPr>
              <p:nvPr/>
            </p:nvSpPr>
            <p:spPr>
              <a:xfrm>
                <a:off x="696772" y="2632218"/>
                <a:ext cx="1120948" cy="369332"/>
              </a:xfrm>
              <a:prstGeom prst="rect">
                <a:avLst/>
              </a:prstGeom>
              <a:blipFill>
                <a:blip r:embed="rId12"/>
                <a:stretch>
                  <a:fillRect b="-13333"/>
                </a:stretch>
              </a:blipFill>
            </p:spPr>
            <p:txBody>
              <a:bodyPr/>
              <a:lstStyle/>
              <a:p>
                <a:r>
                  <a:rPr lang="en-FR">
                    <a:noFill/>
                  </a:rPr>
                  <a:t> </a:t>
                </a:r>
              </a:p>
            </p:txBody>
          </p:sp>
        </mc:Fallback>
      </mc:AlternateContent>
      <p:pic>
        <p:nvPicPr>
          <p:cNvPr id="35" name="Image 10"/>
          <p:cNvPicPr>
            <a:picLocks noChangeAspect="1"/>
          </p:cNvPicPr>
          <p:nvPr/>
        </p:nvPicPr>
        <p:blipFill>
          <a:blip r:embed="rId13"/>
          <a:stretch>
            <a:fillRect/>
          </a:stretch>
        </p:blipFill>
        <p:spPr>
          <a:xfrm>
            <a:off x="5865443" y="1044119"/>
            <a:ext cx="2987584" cy="2575562"/>
          </a:xfrm>
          <a:prstGeom prst="rect">
            <a:avLst/>
          </a:prstGeom>
        </p:spPr>
      </p:pic>
      <p:pic>
        <p:nvPicPr>
          <p:cNvPr id="8" name="Picture 7"/>
          <p:cNvPicPr>
            <a:picLocks noChangeAspect="1"/>
          </p:cNvPicPr>
          <p:nvPr/>
        </p:nvPicPr>
        <p:blipFill>
          <a:blip r:embed="rId14"/>
          <a:stretch>
            <a:fillRect/>
          </a:stretch>
        </p:blipFill>
        <p:spPr>
          <a:xfrm>
            <a:off x="3452580" y="4182623"/>
            <a:ext cx="4333875" cy="276225"/>
          </a:xfrm>
          <a:prstGeom prst="rect">
            <a:avLst/>
          </a:prstGeom>
        </p:spPr>
      </p:pic>
      <p:sp>
        <p:nvSpPr>
          <p:cNvPr id="36" name="TextBox 35"/>
          <p:cNvSpPr txBox="1"/>
          <p:nvPr/>
        </p:nvSpPr>
        <p:spPr>
          <a:xfrm>
            <a:off x="5958075" y="4607871"/>
            <a:ext cx="3053405" cy="253916"/>
          </a:xfrm>
          <a:prstGeom prst="rect">
            <a:avLst/>
          </a:prstGeom>
          <a:noFill/>
        </p:spPr>
        <p:txBody>
          <a:bodyPr wrap="square" rtlCol="0">
            <a:spAutoFit/>
          </a:bodyPr>
          <a:lstStyle/>
          <a:p>
            <a:pPr algn="r"/>
            <a:r>
              <a:rPr lang="en-US" sz="1050" dirty="0"/>
              <a:t>[</a:t>
            </a:r>
            <a:r>
              <a:rPr lang="en-US" sz="1050" dirty="0" err="1"/>
              <a:t>Schiratti</a:t>
            </a:r>
            <a:r>
              <a:rPr lang="en-US" sz="1050" dirty="0"/>
              <a:t> et al. IPMI’15, NIPS’15, PhD’17, JMLR’17]</a:t>
            </a:r>
          </a:p>
        </p:txBody>
      </p:sp>
      <p:sp>
        <p:nvSpPr>
          <p:cNvPr id="37" name="Forme libre 47">
            <a:extLst>
              <a:ext uri="{FF2B5EF4-FFF2-40B4-BE49-F238E27FC236}">
                <a16:creationId xmlns:a16="http://schemas.microsoft.com/office/drawing/2014/main" id="{B7C7398F-8702-044B-973D-0C1B2AFF0794}"/>
              </a:ext>
            </a:extLst>
          </p:cNvPr>
          <p:cNvSpPr/>
          <p:nvPr/>
        </p:nvSpPr>
        <p:spPr>
          <a:xfrm>
            <a:off x="1701267" y="2071533"/>
            <a:ext cx="1173637" cy="773522"/>
          </a:xfrm>
          <a:custGeom>
            <a:avLst/>
            <a:gdLst>
              <a:gd name="connsiteX0" fmla="*/ 1564849 w 1564849"/>
              <a:gd name="connsiteY0" fmla="*/ 1168924 h 1168924"/>
              <a:gd name="connsiteX1" fmla="*/ 744717 w 1564849"/>
              <a:gd name="connsiteY1" fmla="*/ 339365 h 1168924"/>
              <a:gd name="connsiteX2" fmla="*/ 0 w 1564849"/>
              <a:gd name="connsiteY2" fmla="*/ 0 h 1168924"/>
            </a:gdLst>
            <a:ahLst/>
            <a:cxnLst>
              <a:cxn ang="0">
                <a:pos x="connsiteX0" y="connsiteY0"/>
              </a:cxn>
              <a:cxn ang="0">
                <a:pos x="connsiteX1" y="connsiteY1"/>
              </a:cxn>
              <a:cxn ang="0">
                <a:pos x="connsiteX2" y="connsiteY2"/>
              </a:cxn>
            </a:cxnLst>
            <a:rect l="l" t="t" r="r" b="b"/>
            <a:pathLst>
              <a:path w="1564849" h="1168924">
                <a:moveTo>
                  <a:pt x="1564849" y="1168924"/>
                </a:moveTo>
                <a:cubicBezTo>
                  <a:pt x="1285187" y="851555"/>
                  <a:pt x="1005525" y="534186"/>
                  <a:pt x="744717" y="339365"/>
                </a:cubicBezTo>
                <a:cubicBezTo>
                  <a:pt x="483909" y="144544"/>
                  <a:pt x="241954" y="72272"/>
                  <a:pt x="0" y="0"/>
                </a:cubicBezTo>
              </a:path>
            </a:pathLst>
          </a:cu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Espace réservé du numéro de diapositive 1">
            <a:extLst>
              <a:ext uri="{FF2B5EF4-FFF2-40B4-BE49-F238E27FC236}">
                <a16:creationId xmlns:a16="http://schemas.microsoft.com/office/drawing/2014/main" id="{74861744-71EE-533E-727E-97CABF27271D}"/>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15</a:t>
            </a:fld>
            <a:endParaRPr lang="fr-FR"/>
          </a:p>
        </p:txBody>
      </p:sp>
    </p:spTree>
    <p:extLst>
      <p:ext uri="{BB962C8B-B14F-4D97-AF65-F5344CB8AC3E}">
        <p14:creationId xmlns:p14="http://schemas.microsoft.com/office/powerpoint/2010/main" val="192726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nodeType="afterEffect">
                                  <p:stCondLst>
                                    <p:cond delay="0"/>
                                  </p:stCondLst>
                                  <p:childTnLst>
                                    <p:set>
                                      <p:cBhvr>
                                        <p:cTn id="25" dur="1" fill="hold">
                                          <p:stCondLst>
                                            <p:cond delay="0"/>
                                          </p:stCondLst>
                                        </p:cTn>
                                        <p:tgtEl>
                                          <p:spTgt spid="20"/>
                                        </p:tgtEl>
                                        <p:attrNameLst>
                                          <p:attrName>style.visibility</p:attrName>
                                        </p:attrNameLst>
                                      </p:cBhvr>
                                      <p:to>
                                        <p:strVal val="hidden"/>
                                      </p:to>
                                    </p:set>
                                  </p:childTnLst>
                                </p:cTn>
                              </p:par>
                            </p:childTnLst>
                          </p:cTn>
                        </p:par>
                        <p:par>
                          <p:cTn id="26" fill="hold">
                            <p:stCondLst>
                              <p:cond delay="0"/>
                            </p:stCondLst>
                            <p:childTnLst>
                              <p:par>
                                <p:cTn id="27" presetID="1" presetClass="exit" presetSubtype="0" fill="hold" nodeType="afterEffect">
                                  <p:stCondLst>
                                    <p:cond delay="0"/>
                                  </p:stCondLst>
                                  <p:childTnLst>
                                    <p:set>
                                      <p:cBhvr>
                                        <p:cTn id="28" dur="1" fill="hold">
                                          <p:stCondLst>
                                            <p:cond delay="0"/>
                                          </p:stCondLst>
                                        </p:cTn>
                                        <p:tgtEl>
                                          <p:spTgt spid="18"/>
                                        </p:tgtEl>
                                        <p:attrNameLst>
                                          <p:attrName>style.visibility</p:attrName>
                                        </p:attrNameLst>
                                      </p:cBhvr>
                                      <p:to>
                                        <p:strVal val="hidden"/>
                                      </p:to>
                                    </p:set>
                                  </p:childTnLst>
                                </p:cTn>
                              </p:par>
                            </p:childTnLst>
                          </p:cTn>
                        </p:par>
                        <p:par>
                          <p:cTn id="29" fill="hold">
                            <p:stCondLst>
                              <p:cond delay="0"/>
                            </p:stCondLst>
                            <p:childTnLst>
                              <p:par>
                                <p:cTn id="30" presetID="1" presetClass="exit" presetSubtype="0" fill="hold" grpId="0" nodeType="afterEffect">
                                  <p:stCondLst>
                                    <p:cond delay="0"/>
                                  </p:stCondLst>
                                  <p:childTnLst>
                                    <p:set>
                                      <p:cBhvr>
                                        <p:cTn id="31" dur="1" fill="hold">
                                          <p:stCondLst>
                                            <p:cond delay="0"/>
                                          </p:stCondLst>
                                        </p:cTn>
                                        <p:tgtEl>
                                          <p:spTgt spid="26"/>
                                        </p:tgtEl>
                                        <p:attrNameLst>
                                          <p:attrName>style.visibility</p:attrName>
                                        </p:attrNameLst>
                                      </p:cBhvr>
                                      <p:to>
                                        <p:strVal val="hidden"/>
                                      </p:to>
                                    </p:set>
                                  </p:childTnLst>
                                </p:cTn>
                              </p:par>
                            </p:childTnLst>
                          </p:cTn>
                        </p:par>
                        <p:par>
                          <p:cTn id="32" fill="hold">
                            <p:stCondLst>
                              <p:cond delay="0"/>
                            </p:stCondLst>
                            <p:childTnLst>
                              <p:par>
                                <p:cTn id="33" presetID="1" presetClass="exit" presetSubtype="0" fill="hold" nodeType="afterEffect">
                                  <p:stCondLst>
                                    <p:cond delay="0"/>
                                  </p:stCondLst>
                                  <p:childTnLst>
                                    <p:set>
                                      <p:cBhvr>
                                        <p:cTn id="34" dur="1" fill="hold">
                                          <p:stCondLst>
                                            <p:cond delay="0"/>
                                          </p:stCondLst>
                                        </p:cTn>
                                        <p:tgtEl>
                                          <p:spTgt spid="17"/>
                                        </p:tgtEl>
                                        <p:attrNameLst>
                                          <p:attrName>style.visibility</p:attrName>
                                        </p:attrNameLst>
                                      </p:cBhvr>
                                      <p:to>
                                        <p:strVal val="hidden"/>
                                      </p:to>
                                    </p:set>
                                  </p:childTnLst>
                                </p:cTn>
                              </p:par>
                            </p:childTnLst>
                          </p:cTn>
                        </p:par>
                        <p:par>
                          <p:cTn id="35" fill="hold">
                            <p:stCondLst>
                              <p:cond delay="0"/>
                            </p:stCondLst>
                            <p:childTnLst>
                              <p:par>
                                <p:cTn id="36" presetID="1" presetClass="exit" presetSubtype="0" fill="hold" grpId="0" nodeType="afterEffect">
                                  <p:stCondLst>
                                    <p:cond delay="0"/>
                                  </p:stCondLst>
                                  <p:childTnLst>
                                    <p:set>
                                      <p:cBhvr>
                                        <p:cTn id="37" dur="1" fill="hold">
                                          <p:stCondLst>
                                            <p:cond delay="0"/>
                                          </p:stCondLst>
                                        </p:cTn>
                                        <p:tgtEl>
                                          <p:spTgt spid="22"/>
                                        </p:tgtEl>
                                        <p:attrNameLst>
                                          <p:attrName>style.visibility</p:attrName>
                                        </p:attrNameLst>
                                      </p:cBhvr>
                                      <p:to>
                                        <p:strVal val="hidden"/>
                                      </p:to>
                                    </p:set>
                                  </p:childTnLst>
                                </p:cTn>
                              </p:par>
                            </p:childTnLst>
                          </p:cTn>
                        </p:par>
                        <p:par>
                          <p:cTn id="38" fill="hold">
                            <p:stCondLst>
                              <p:cond delay="0"/>
                            </p:stCondLst>
                            <p:childTnLst>
                              <p:par>
                                <p:cTn id="39" presetID="1" presetClass="entr" presetSubtype="0" fill="hold" grpId="0" nodeType="afterEffect">
                                  <p:stCondLst>
                                    <p:cond delay="2000"/>
                                  </p:stCondLst>
                                  <p:childTnLst>
                                    <p:set>
                                      <p:cBhvr>
                                        <p:cTn id="40" dur="1" fill="hold">
                                          <p:stCondLst>
                                            <p:cond delay="0"/>
                                          </p:stCondLst>
                                        </p:cTn>
                                        <p:tgtEl>
                                          <p:spTgt spid="28"/>
                                        </p:tgtEl>
                                        <p:attrNameLst>
                                          <p:attrName>style.visibility</p:attrName>
                                        </p:attrNameLst>
                                      </p:cBhvr>
                                      <p:to>
                                        <p:strVal val="visible"/>
                                      </p:to>
                                    </p:set>
                                  </p:childTnLst>
                                </p:cTn>
                              </p:par>
                            </p:childTnLst>
                          </p:cTn>
                        </p:par>
                        <p:par>
                          <p:cTn id="41" fill="hold">
                            <p:stCondLst>
                              <p:cond delay="2000"/>
                            </p:stCondLst>
                            <p:childTnLst>
                              <p:par>
                                <p:cTn id="42" presetID="1" presetClass="entr" presetSubtype="0" fill="hold" grpId="0" nodeType="after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24"/>
                                        </p:tgtEl>
                                        <p:attrNameLst>
                                          <p:attrName>style.visibility</p:attrName>
                                        </p:attrNameLst>
                                      </p:cBhvr>
                                      <p:to>
                                        <p:strVal val="hidden"/>
                                      </p:to>
                                    </p:set>
                                  </p:childTnLst>
                                </p:cTn>
                              </p:par>
                            </p:childTnLst>
                          </p:cTn>
                        </p:par>
                        <p:par>
                          <p:cTn id="48" fill="hold">
                            <p:stCondLst>
                              <p:cond delay="0"/>
                            </p:stCondLst>
                            <p:childTnLst>
                              <p:par>
                                <p:cTn id="49" presetID="0" presetClass="path" presetSubtype="0" accel="50000" decel="50000" fill="hold" nodeType="afterEffect">
                                  <p:stCondLst>
                                    <p:cond delay="0"/>
                                  </p:stCondLst>
                                  <p:childTnLst>
                                    <p:animMotion origin="layout" path="M 0.00013 4.07407E-6 L 0.0263 -0.01528 L 0.05911 -0.03264 L 0.07435 -0.03704 " pathEditMode="relative" rAng="0" ptsTypes="AAAA">
                                      <p:cBhvr>
                                        <p:cTn id="50" dur="3000" fill="hold"/>
                                        <p:tgtEl>
                                          <p:spTgt spid="23"/>
                                        </p:tgtEl>
                                        <p:attrNameLst>
                                          <p:attrName>ppt_x</p:attrName>
                                          <p:attrName>ppt_y</p:attrName>
                                        </p:attrNameLst>
                                      </p:cBhvr>
                                      <p:rCtr x="3711" y="-1852"/>
                                    </p:animMotion>
                                  </p:childTnLst>
                                </p:cTn>
                              </p:par>
                            </p:childTnLst>
                          </p:cTn>
                        </p:par>
                        <p:par>
                          <p:cTn id="51" fill="hold">
                            <p:stCondLst>
                              <p:cond delay="3000"/>
                            </p:stCondLst>
                            <p:childTnLst>
                              <p:par>
                                <p:cTn id="52" presetID="1" presetClass="entr" presetSubtype="0"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3000"/>
                                  </p:stCondLst>
                                  <p:childTnLst>
                                    <p:set>
                                      <p:cBhvr>
                                        <p:cTn id="60" dur="1" fill="hold">
                                          <p:stCondLst>
                                            <p:cond delay="0"/>
                                          </p:stCondLst>
                                        </p:cTn>
                                        <p:tgtEl>
                                          <p:spTgt spid="31"/>
                                        </p:tgtEl>
                                        <p:attrNameLst>
                                          <p:attrName>style.visibility</p:attrName>
                                        </p:attrNameLst>
                                      </p:cBhvr>
                                      <p:to>
                                        <p:strVal val="visible"/>
                                      </p:to>
                                    </p:set>
                                  </p:childTnLst>
                                </p:cTn>
                              </p:par>
                            </p:childTnLst>
                          </p:cTn>
                        </p:par>
                        <p:par>
                          <p:cTn id="61" fill="hold">
                            <p:stCondLst>
                              <p:cond delay="3000"/>
                            </p:stCondLst>
                            <p:childTnLst>
                              <p:par>
                                <p:cTn id="62" presetID="1" presetClass="entr" presetSubtype="0" fill="hold" grpId="0" nodeType="after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1"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4" grpId="1"/>
      <p:bldP spid="26" grpId="0"/>
      <p:bldP spid="27" grpId="0"/>
      <p:bldP spid="28" grpId="0" animBg="1"/>
      <p:bldP spid="29" grpId="0"/>
      <p:bldP spid="30" grpId="0" animBg="1"/>
      <p:bldP spid="31" grpId="0" animBg="1"/>
      <p:bldP spid="32" grpId="0"/>
      <p:bldP spid="33" grpId="0" animBg="1"/>
      <p:bldP spid="33" grpId="1" animBg="1"/>
      <p:bldP spid="34" grpId="0"/>
      <p:bldP spid="34" grpId="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51442" y="348746"/>
            <a:ext cx="6010275" cy="369743"/>
          </a:xfrm>
        </p:spPr>
        <p:txBody>
          <a:bodyPr>
            <a:normAutofit fontScale="92500" lnSpcReduction="10000"/>
          </a:bodyPr>
          <a:lstStyle/>
          <a:p>
            <a:r>
              <a:rPr lang="en-US" sz="1500" dirty="0"/>
              <a:t>Spatiotemporal hierarchical model</a:t>
            </a:r>
          </a:p>
        </p:txBody>
      </p:sp>
      <p:sp>
        <p:nvSpPr>
          <p:cNvPr id="15" name="TextBox 14"/>
          <p:cNvSpPr txBox="1"/>
          <p:nvPr/>
        </p:nvSpPr>
        <p:spPr>
          <a:xfrm>
            <a:off x="6090595" y="4912667"/>
            <a:ext cx="3053405" cy="253916"/>
          </a:xfrm>
          <a:prstGeom prst="rect">
            <a:avLst/>
          </a:prstGeom>
          <a:noFill/>
        </p:spPr>
        <p:txBody>
          <a:bodyPr wrap="square" rtlCol="0">
            <a:spAutoFit/>
          </a:bodyPr>
          <a:lstStyle/>
          <a:p>
            <a:pPr algn="r"/>
            <a:r>
              <a:rPr lang="en-US" sz="1050" dirty="0"/>
              <a:t>[</a:t>
            </a:r>
            <a:r>
              <a:rPr lang="en-US" sz="1050" dirty="0" err="1"/>
              <a:t>Schiratti</a:t>
            </a:r>
            <a:r>
              <a:rPr lang="en-US" sz="1050" dirty="0"/>
              <a:t> et al. IPMI’15, NIPS’15, PhD’17, JMLR’17]</a:t>
            </a:r>
          </a:p>
        </p:txBody>
      </p:sp>
      <p:sp>
        <p:nvSpPr>
          <p:cNvPr id="16" name="TextBox 15"/>
          <p:cNvSpPr txBox="1"/>
          <p:nvPr/>
        </p:nvSpPr>
        <p:spPr>
          <a:xfrm>
            <a:off x="7483111" y="1570260"/>
            <a:ext cx="1459863" cy="507831"/>
          </a:xfrm>
          <a:prstGeom prst="rect">
            <a:avLst/>
          </a:prstGeom>
          <a:noFill/>
          <a:ln w="25400">
            <a:solidFill>
              <a:schemeClr val="accent6"/>
            </a:solidFill>
          </a:ln>
        </p:spPr>
        <p:txBody>
          <a:bodyPr wrap="square" rtlCol="0">
            <a:spAutoFit/>
          </a:bodyPr>
          <a:lstStyle/>
          <a:p>
            <a:pPr algn="ctr"/>
            <a:r>
              <a:rPr lang="en-US" sz="1350" dirty="0">
                <a:sym typeface="Wingdings"/>
              </a:rPr>
              <a:t>Time is random variable</a:t>
            </a:r>
          </a:p>
        </p:txBody>
      </p:sp>
      <p:pic>
        <p:nvPicPr>
          <p:cNvPr id="17" name="Picture 26" descr="chronometer_delay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36496" y="2485427"/>
            <a:ext cx="207617" cy="241229"/>
          </a:xfrm>
          <a:prstGeom prst="rect">
            <a:avLst/>
          </a:prstGeom>
        </p:spPr>
      </p:pic>
      <p:pic>
        <p:nvPicPr>
          <p:cNvPr id="18" name="Picture 27" descr="chronometer_turned_delay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51728" y="2770065"/>
            <a:ext cx="207617" cy="241229"/>
          </a:xfrm>
          <a:prstGeom prst="rect">
            <a:avLst/>
          </a:prstGeom>
        </p:spPr>
      </p:pic>
      <p:grpSp>
        <p:nvGrpSpPr>
          <p:cNvPr id="19" name="Group 136"/>
          <p:cNvGrpSpPr/>
          <p:nvPr/>
        </p:nvGrpSpPr>
        <p:grpSpPr>
          <a:xfrm>
            <a:off x="2615795" y="1130767"/>
            <a:ext cx="2410112" cy="592896"/>
            <a:chOff x="4772606" y="1817803"/>
            <a:chExt cx="4067419" cy="1027781"/>
          </a:xfrm>
        </p:grpSpPr>
        <p:sp>
          <p:nvSpPr>
            <p:cNvPr id="20" name="Freeform 51"/>
            <p:cNvSpPr/>
            <p:nvPr/>
          </p:nvSpPr>
          <p:spPr>
            <a:xfrm>
              <a:off x="4772606" y="1817803"/>
              <a:ext cx="4067419" cy="1027781"/>
            </a:xfrm>
            <a:custGeom>
              <a:avLst/>
              <a:gdLst>
                <a:gd name="connsiteX0" fmla="*/ 0 w 6973738"/>
                <a:gd name="connsiteY0" fmla="*/ 731368 h 1735257"/>
                <a:gd name="connsiteX1" fmla="*/ 1163557 w 6973738"/>
                <a:gd name="connsiteY1" fmla="*/ 122951 h 1735257"/>
                <a:gd name="connsiteX2" fmla="*/ 3901339 w 6973738"/>
                <a:gd name="connsiteY2" fmla="*/ 1469074 h 1735257"/>
                <a:gd name="connsiteX3" fmla="*/ 6973738 w 6973738"/>
                <a:gd name="connsiteY3" fmla="*/ 1720046 h 1735257"/>
              </a:gdLst>
              <a:ahLst/>
              <a:cxnLst>
                <a:cxn ang="0">
                  <a:pos x="connsiteX0" y="connsiteY0"/>
                </a:cxn>
                <a:cxn ang="0">
                  <a:pos x="connsiteX1" y="connsiteY1"/>
                </a:cxn>
                <a:cxn ang="0">
                  <a:pos x="connsiteX2" y="connsiteY2"/>
                </a:cxn>
                <a:cxn ang="0">
                  <a:pos x="connsiteX3" y="connsiteY3"/>
                </a:cxn>
              </a:cxnLst>
              <a:rect l="l" t="t" r="r" b="b"/>
              <a:pathLst>
                <a:path w="6973738" h="1735257">
                  <a:moveTo>
                    <a:pt x="0" y="731368"/>
                  </a:moveTo>
                  <a:cubicBezTo>
                    <a:pt x="256667" y="365684"/>
                    <a:pt x="513334" y="0"/>
                    <a:pt x="1163557" y="122951"/>
                  </a:cubicBezTo>
                  <a:cubicBezTo>
                    <a:pt x="1813780" y="245902"/>
                    <a:pt x="2932976" y="1202892"/>
                    <a:pt x="3901339" y="1469074"/>
                  </a:cubicBezTo>
                  <a:cubicBezTo>
                    <a:pt x="4869703" y="1735257"/>
                    <a:pt x="6973738" y="1720046"/>
                    <a:pt x="6973738" y="1720046"/>
                  </a:cubicBezTo>
                </a:path>
              </a:pathLst>
            </a:custGeom>
            <a:ln>
              <a:solidFill>
                <a:schemeClr val="accent3"/>
              </a:solidFill>
              <a:prstDash val="lgDash"/>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 name="Oval 53"/>
            <p:cNvSpPr>
              <a:spLocks noChangeAspect="1"/>
            </p:cNvSpPr>
            <p:nvPr/>
          </p:nvSpPr>
          <p:spPr>
            <a:xfrm>
              <a:off x="5269022" y="1840325"/>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2" name="Oval 54"/>
            <p:cNvSpPr>
              <a:spLocks noChangeAspect="1"/>
            </p:cNvSpPr>
            <p:nvPr/>
          </p:nvSpPr>
          <p:spPr>
            <a:xfrm>
              <a:off x="7342879" y="2724943"/>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23" name="Group 140"/>
          <p:cNvGrpSpPr/>
          <p:nvPr/>
        </p:nvGrpSpPr>
        <p:grpSpPr>
          <a:xfrm>
            <a:off x="2563670" y="2414092"/>
            <a:ext cx="2453268" cy="514688"/>
            <a:chOff x="4703107" y="3560199"/>
            <a:chExt cx="4140252" cy="892207"/>
          </a:xfrm>
        </p:grpSpPr>
        <p:sp>
          <p:nvSpPr>
            <p:cNvPr id="24" name="Freeform 61"/>
            <p:cNvSpPr/>
            <p:nvPr/>
          </p:nvSpPr>
          <p:spPr>
            <a:xfrm>
              <a:off x="4703107" y="3560199"/>
              <a:ext cx="4140252" cy="892207"/>
            </a:xfrm>
            <a:custGeom>
              <a:avLst/>
              <a:gdLst>
                <a:gd name="connsiteX0" fmla="*/ 0 w 7098612"/>
                <a:gd name="connsiteY0" fmla="*/ 459278 h 1506359"/>
                <a:gd name="connsiteX1" fmla="*/ 1190661 w 7098612"/>
                <a:gd name="connsiteY1" fmla="*/ 119072 h 1506359"/>
                <a:gd name="connsiteX2" fmla="*/ 4377100 w 7098612"/>
                <a:gd name="connsiteY2" fmla="*/ 1173712 h 1506359"/>
                <a:gd name="connsiteX3" fmla="*/ 5579101 w 7098612"/>
                <a:gd name="connsiteY3" fmla="*/ 1491239 h 1506359"/>
                <a:gd name="connsiteX4" fmla="*/ 7098612 w 7098612"/>
                <a:gd name="connsiteY4" fmla="*/ 1264434 h 1506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8612" h="1506359">
                  <a:moveTo>
                    <a:pt x="0" y="459278"/>
                  </a:moveTo>
                  <a:cubicBezTo>
                    <a:pt x="230572" y="229639"/>
                    <a:pt x="461144" y="0"/>
                    <a:pt x="1190661" y="119072"/>
                  </a:cubicBezTo>
                  <a:cubicBezTo>
                    <a:pt x="1920178" y="238144"/>
                    <a:pt x="3645693" y="945018"/>
                    <a:pt x="4377100" y="1173712"/>
                  </a:cubicBezTo>
                  <a:cubicBezTo>
                    <a:pt x="5108507" y="1402406"/>
                    <a:pt x="5125516" y="1476119"/>
                    <a:pt x="5579101" y="1491239"/>
                  </a:cubicBezTo>
                  <a:cubicBezTo>
                    <a:pt x="6032686" y="1506359"/>
                    <a:pt x="7098612" y="1264434"/>
                    <a:pt x="7098612" y="1264434"/>
                  </a:cubicBezTo>
                </a:path>
              </a:pathLst>
            </a:custGeom>
            <a:ln w="28575">
              <a:solidFill>
                <a:schemeClr val="accent3"/>
              </a:solidFill>
              <a:prstDash val="lgDash"/>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5" name="Oval 59"/>
            <p:cNvSpPr>
              <a:spLocks noChangeAspect="1"/>
            </p:cNvSpPr>
            <p:nvPr/>
          </p:nvSpPr>
          <p:spPr>
            <a:xfrm>
              <a:off x="5230907" y="3571442"/>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6" name="Oval 60"/>
            <p:cNvSpPr>
              <a:spLocks noChangeAspect="1"/>
            </p:cNvSpPr>
            <p:nvPr/>
          </p:nvSpPr>
          <p:spPr>
            <a:xfrm>
              <a:off x="7282460" y="4244444"/>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27" name="Group 83"/>
          <p:cNvGrpSpPr/>
          <p:nvPr/>
        </p:nvGrpSpPr>
        <p:grpSpPr>
          <a:xfrm>
            <a:off x="2498533" y="1588393"/>
            <a:ext cx="3175631" cy="861755"/>
            <a:chOff x="1151533" y="2145919"/>
            <a:chExt cx="4234174" cy="1149007"/>
          </a:xfrm>
        </p:grpSpPr>
        <p:grpSp>
          <p:nvGrpSpPr>
            <p:cNvPr id="28" name="Group 114"/>
            <p:cNvGrpSpPr/>
            <p:nvPr/>
          </p:nvGrpSpPr>
          <p:grpSpPr>
            <a:xfrm>
              <a:off x="1533508" y="2145919"/>
              <a:ext cx="270775" cy="306291"/>
              <a:chOff x="2225288" y="1012321"/>
              <a:chExt cx="587622" cy="672325"/>
            </a:xfrm>
          </p:grpSpPr>
          <p:pic>
            <p:nvPicPr>
              <p:cNvPr id="40" name="Picture 24" descr="chronometer.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25288" y="1012321"/>
                <a:ext cx="587622" cy="672325"/>
              </a:xfrm>
              <a:prstGeom prst="rect">
                <a:avLst/>
              </a:prstGeom>
            </p:spPr>
          </p:pic>
          <p:pic>
            <p:nvPicPr>
              <p:cNvPr id="41" name="Picture 25" descr="latex-image-1.pdf"/>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25740" y="1399362"/>
                <a:ext cx="165100" cy="190500"/>
              </a:xfrm>
              <a:prstGeom prst="rect">
                <a:avLst/>
              </a:prstGeom>
            </p:spPr>
          </p:pic>
        </p:grpSp>
        <p:grpSp>
          <p:nvGrpSpPr>
            <p:cNvPr id="29" name="Group 130"/>
            <p:cNvGrpSpPr/>
            <p:nvPr/>
          </p:nvGrpSpPr>
          <p:grpSpPr>
            <a:xfrm>
              <a:off x="1151533" y="2497868"/>
              <a:ext cx="3197871" cy="571731"/>
              <a:chOff x="4616257" y="2845585"/>
              <a:chExt cx="4047659" cy="743319"/>
            </a:xfrm>
          </p:grpSpPr>
          <p:sp>
            <p:nvSpPr>
              <p:cNvPr id="37" name="Freeform 47"/>
              <p:cNvSpPr/>
              <p:nvPr/>
            </p:nvSpPr>
            <p:spPr>
              <a:xfrm>
                <a:off x="4616257" y="2845585"/>
                <a:ext cx="4047659" cy="743319"/>
              </a:xfrm>
              <a:custGeom>
                <a:avLst/>
                <a:gdLst>
                  <a:gd name="connsiteX0" fmla="*/ 0 w 6939858"/>
                  <a:gd name="connsiteY0" fmla="*/ 442268 h 1254984"/>
                  <a:gd name="connsiteX1" fmla="*/ 1451474 w 6939858"/>
                  <a:gd name="connsiteY1" fmla="*/ 113402 h 1254984"/>
                  <a:gd name="connsiteX2" fmla="*/ 4535855 w 6939858"/>
                  <a:gd name="connsiteY2" fmla="*/ 1122682 h 1254984"/>
                  <a:gd name="connsiteX3" fmla="*/ 6939858 w 6939858"/>
                  <a:gd name="connsiteY3" fmla="*/ 907217 h 1254984"/>
                </a:gdLst>
                <a:ahLst/>
                <a:cxnLst>
                  <a:cxn ang="0">
                    <a:pos x="connsiteX0" y="connsiteY0"/>
                  </a:cxn>
                  <a:cxn ang="0">
                    <a:pos x="connsiteX1" y="connsiteY1"/>
                  </a:cxn>
                  <a:cxn ang="0">
                    <a:pos x="connsiteX2" y="connsiteY2"/>
                  </a:cxn>
                  <a:cxn ang="0">
                    <a:pos x="connsiteX3" y="connsiteY3"/>
                  </a:cxn>
                </a:cxnLst>
                <a:rect l="l" t="t" r="r" b="b"/>
                <a:pathLst>
                  <a:path w="6939858" h="1254984">
                    <a:moveTo>
                      <a:pt x="0" y="442268"/>
                    </a:moveTo>
                    <a:cubicBezTo>
                      <a:pt x="347749" y="221134"/>
                      <a:pt x="695498" y="0"/>
                      <a:pt x="1451474" y="113402"/>
                    </a:cubicBezTo>
                    <a:cubicBezTo>
                      <a:pt x="2207450" y="226804"/>
                      <a:pt x="3621125" y="990380"/>
                      <a:pt x="4535855" y="1122682"/>
                    </a:cubicBezTo>
                    <a:cubicBezTo>
                      <a:pt x="5450585" y="1254984"/>
                      <a:pt x="6939858" y="907217"/>
                      <a:pt x="6939858" y="907217"/>
                    </a:cubicBezTo>
                  </a:path>
                </a:pathLst>
              </a:custGeom>
              <a:ln w="28575">
                <a:solidFill>
                  <a:schemeClr val="accent2"/>
                </a:solidFill>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38" name="Oval 45"/>
              <p:cNvSpPr>
                <a:spLocks noChangeAspect="1"/>
              </p:cNvSpPr>
              <p:nvPr/>
            </p:nvSpPr>
            <p:spPr>
              <a:xfrm>
                <a:off x="5217474" y="2859098"/>
                <a:ext cx="69290" cy="70364"/>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9" name="Oval 46"/>
              <p:cNvSpPr>
                <a:spLocks noChangeAspect="1"/>
              </p:cNvSpPr>
              <p:nvPr/>
            </p:nvSpPr>
            <p:spPr>
              <a:xfrm>
                <a:off x="7282460" y="3483515"/>
                <a:ext cx="69290" cy="70364"/>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30" name="Group 146"/>
            <p:cNvGrpSpPr/>
            <p:nvPr/>
          </p:nvGrpSpPr>
          <p:grpSpPr>
            <a:xfrm>
              <a:off x="3202974" y="2613124"/>
              <a:ext cx="271128" cy="306689"/>
              <a:chOff x="7159943" y="3039762"/>
              <a:chExt cx="343176" cy="398732"/>
            </a:xfrm>
          </p:grpSpPr>
          <p:pic>
            <p:nvPicPr>
              <p:cNvPr id="35" name="Picture 71" descr="chronometer_turn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59943" y="3039762"/>
                <a:ext cx="343176" cy="398732"/>
              </a:xfrm>
              <a:prstGeom prst="rect">
                <a:avLst/>
              </a:prstGeom>
            </p:spPr>
          </p:pic>
          <p:pic>
            <p:nvPicPr>
              <p:cNvPr id="36" name="Picture 75" descr="latex-image-1.pdf"/>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96229" y="3296874"/>
                <a:ext cx="44444" cy="97788"/>
              </a:xfrm>
              <a:prstGeom prst="rect">
                <a:avLst/>
              </a:prstGeom>
            </p:spPr>
          </p:pic>
        </p:grpSp>
        <p:cxnSp>
          <p:nvCxnSpPr>
            <p:cNvPr id="31" name="Straight Arrow Connector 76"/>
            <p:cNvCxnSpPr/>
            <p:nvPr/>
          </p:nvCxnSpPr>
          <p:spPr>
            <a:xfrm>
              <a:off x="1657458" y="2538378"/>
              <a:ext cx="453916" cy="158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pic>
          <p:nvPicPr>
            <p:cNvPr id="32" name="Picture 77" descr="latex-image-1.pdf"/>
            <p:cNvPicPr>
              <a:picLocks noChangeAspect="1"/>
            </p:cNvPicPr>
            <p:nvPr/>
          </p:nvPicPr>
          <p:blipFill>
            <a:blip r:embed="rId8"/>
            <a:stretch>
              <a:fillRect/>
            </a:stretch>
          </p:blipFill>
          <p:spPr>
            <a:xfrm>
              <a:off x="2001553" y="2326281"/>
              <a:ext cx="159511" cy="125930"/>
            </a:xfrm>
            <a:prstGeom prst="rect">
              <a:avLst/>
            </a:prstGeom>
          </p:spPr>
        </p:pic>
        <p:pic>
          <p:nvPicPr>
            <p:cNvPr id="33" name="Picture 78" descr="latex-image-1.pdf"/>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470542" y="2541682"/>
              <a:ext cx="139458" cy="104594"/>
            </a:xfrm>
            <a:prstGeom prst="rect">
              <a:avLst/>
            </a:prstGeom>
          </p:spPr>
        </p:pic>
        <p:pic>
          <p:nvPicPr>
            <p:cNvPr id="34" name="Picture 82" descr="latex-image-1.pdf"/>
            <p:cNvPicPr>
              <a:picLocks noChangeAspect="1"/>
            </p:cNvPicPr>
            <p:nvPr/>
          </p:nvPicPr>
          <p:blipFill>
            <a:blip r:embed="rId10"/>
            <a:stretch>
              <a:fillRect/>
            </a:stretch>
          </p:blipFill>
          <p:spPr>
            <a:xfrm>
              <a:off x="3633107" y="3079026"/>
              <a:ext cx="1752600" cy="215900"/>
            </a:xfrm>
            <a:prstGeom prst="rect">
              <a:avLst/>
            </a:prstGeom>
          </p:spPr>
        </p:pic>
      </p:grpSp>
      <p:grpSp>
        <p:nvGrpSpPr>
          <p:cNvPr id="42" name="Group 104"/>
          <p:cNvGrpSpPr/>
          <p:nvPr/>
        </p:nvGrpSpPr>
        <p:grpSpPr>
          <a:xfrm>
            <a:off x="2662548" y="1900694"/>
            <a:ext cx="453341" cy="516314"/>
            <a:chOff x="1370219" y="2846483"/>
            <a:chExt cx="604455" cy="688418"/>
          </a:xfrm>
        </p:grpSpPr>
        <p:cxnSp>
          <p:nvCxnSpPr>
            <p:cNvPr id="43" name="Straight Arrow Connector 84"/>
            <p:cNvCxnSpPr/>
            <p:nvPr/>
          </p:nvCxnSpPr>
          <p:spPr>
            <a:xfrm rot="5400000">
              <a:off x="1399749" y="3095303"/>
              <a:ext cx="480276" cy="2802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4" name="Freeform 85"/>
            <p:cNvSpPr/>
            <p:nvPr/>
          </p:nvSpPr>
          <p:spPr>
            <a:xfrm>
              <a:off x="1625876" y="2856477"/>
              <a:ext cx="348798" cy="678424"/>
            </a:xfrm>
            <a:custGeom>
              <a:avLst/>
              <a:gdLst>
                <a:gd name="connsiteX0" fmla="*/ 58587 w 563201"/>
                <a:gd name="connsiteY0" fmla="*/ 0 h 2063921"/>
                <a:gd name="connsiteX1" fmla="*/ 81267 w 563201"/>
                <a:gd name="connsiteY1" fmla="*/ 612372 h 2063921"/>
                <a:gd name="connsiteX2" fmla="*/ 546192 w 563201"/>
                <a:gd name="connsiteY2" fmla="*/ 1190724 h 2063921"/>
                <a:gd name="connsiteX3" fmla="*/ 183323 w 563201"/>
                <a:gd name="connsiteY3" fmla="*/ 2063921 h 2063921"/>
              </a:gdLst>
              <a:ahLst/>
              <a:cxnLst>
                <a:cxn ang="0">
                  <a:pos x="connsiteX0" y="connsiteY0"/>
                </a:cxn>
                <a:cxn ang="0">
                  <a:pos x="connsiteX1" y="connsiteY1"/>
                </a:cxn>
                <a:cxn ang="0">
                  <a:pos x="connsiteX2" y="connsiteY2"/>
                </a:cxn>
                <a:cxn ang="0">
                  <a:pos x="connsiteX3" y="connsiteY3"/>
                </a:cxn>
              </a:cxnLst>
              <a:rect l="l" t="t" r="r" b="b"/>
              <a:pathLst>
                <a:path w="563201" h="2063921">
                  <a:moveTo>
                    <a:pt x="58587" y="0"/>
                  </a:moveTo>
                  <a:cubicBezTo>
                    <a:pt x="29293" y="206959"/>
                    <a:pt x="0" y="413918"/>
                    <a:pt x="81267" y="612372"/>
                  </a:cubicBezTo>
                  <a:cubicBezTo>
                    <a:pt x="162534" y="810826"/>
                    <a:pt x="529183" y="948799"/>
                    <a:pt x="546192" y="1190724"/>
                  </a:cubicBezTo>
                  <a:cubicBezTo>
                    <a:pt x="563201" y="1432649"/>
                    <a:pt x="183323" y="2063921"/>
                    <a:pt x="183323" y="2063921"/>
                  </a:cubicBezTo>
                </a:path>
              </a:pathLst>
            </a:custGeom>
            <a:ln>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dirty="0"/>
            </a:p>
          </p:txBody>
        </p:sp>
        <p:cxnSp>
          <p:nvCxnSpPr>
            <p:cNvPr id="45" name="Straight Arrow Connector 86"/>
            <p:cNvCxnSpPr>
              <a:cxnSpLocks noChangeAspect="1"/>
            </p:cNvCxnSpPr>
            <p:nvPr/>
          </p:nvCxnSpPr>
          <p:spPr>
            <a:xfrm>
              <a:off x="1653900" y="2949488"/>
              <a:ext cx="107482" cy="1588"/>
            </a:xfrm>
            <a:prstGeom prst="straightConnector1">
              <a:avLst/>
            </a:prstGeom>
            <a:ln>
              <a:solidFill>
                <a:srgbClr val="FF0000"/>
              </a:solidFill>
              <a:tailEnd type="none"/>
            </a:ln>
          </p:spPr>
          <p:style>
            <a:lnRef idx="2">
              <a:schemeClr val="accent1"/>
            </a:lnRef>
            <a:fillRef idx="0">
              <a:schemeClr val="accent1"/>
            </a:fillRef>
            <a:effectRef idx="1">
              <a:schemeClr val="accent1"/>
            </a:effectRef>
            <a:fontRef idx="minor">
              <a:schemeClr val="tx1"/>
            </a:fontRef>
          </p:style>
        </p:cxnSp>
        <p:cxnSp>
          <p:nvCxnSpPr>
            <p:cNvPr id="46" name="Straight Arrow Connector 87"/>
            <p:cNvCxnSpPr>
              <a:cxnSpLocks noChangeAspect="1"/>
            </p:cNvCxnSpPr>
            <p:nvPr/>
          </p:nvCxnSpPr>
          <p:spPr>
            <a:xfrm rot="5400000">
              <a:off x="1708051" y="2893191"/>
              <a:ext cx="103007" cy="9591"/>
            </a:xfrm>
            <a:prstGeom prst="straightConnector1">
              <a:avLst/>
            </a:prstGeom>
            <a:ln>
              <a:solidFill>
                <a:srgbClr val="FF0000"/>
              </a:solidFill>
              <a:tailEnd type="none"/>
            </a:ln>
          </p:spPr>
          <p:style>
            <a:lnRef idx="2">
              <a:schemeClr val="accent1"/>
            </a:lnRef>
            <a:fillRef idx="0">
              <a:schemeClr val="accent1"/>
            </a:fillRef>
            <a:effectRef idx="1">
              <a:schemeClr val="accent1"/>
            </a:effectRef>
            <a:fontRef idx="minor">
              <a:schemeClr val="tx1"/>
            </a:fontRef>
          </p:style>
        </p:cxnSp>
        <p:pic>
          <p:nvPicPr>
            <p:cNvPr id="47" name="Picture 88" descr="latex-image-1.pdf"/>
            <p:cNvPicPr>
              <a:picLocks noChangeAspect="1"/>
            </p:cNvPicPr>
            <p:nvPr/>
          </p:nvPicPr>
          <p:blipFill>
            <a:blip r:embed="rId11"/>
            <a:stretch>
              <a:fillRect/>
            </a:stretch>
          </p:blipFill>
          <p:spPr>
            <a:xfrm>
              <a:off x="1370219" y="3127575"/>
              <a:ext cx="170557" cy="143275"/>
            </a:xfrm>
            <a:prstGeom prst="rect">
              <a:avLst/>
            </a:prstGeom>
          </p:spPr>
        </p:pic>
      </p:grpSp>
      <p:grpSp>
        <p:nvGrpSpPr>
          <p:cNvPr id="48" name="Group 152"/>
          <p:cNvGrpSpPr/>
          <p:nvPr/>
        </p:nvGrpSpPr>
        <p:grpSpPr>
          <a:xfrm>
            <a:off x="3846350" y="2246355"/>
            <a:ext cx="616268" cy="567874"/>
            <a:chOff x="2948623" y="3023202"/>
            <a:chExt cx="821690" cy="757165"/>
          </a:xfrm>
        </p:grpSpPr>
        <p:cxnSp>
          <p:nvCxnSpPr>
            <p:cNvPr id="49" name="Straight Arrow Connector 105"/>
            <p:cNvCxnSpPr/>
            <p:nvPr/>
          </p:nvCxnSpPr>
          <p:spPr>
            <a:xfrm>
              <a:off x="3313737" y="3023202"/>
              <a:ext cx="456576" cy="5582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106"/>
            <p:cNvCxnSpPr/>
            <p:nvPr/>
          </p:nvCxnSpPr>
          <p:spPr>
            <a:xfrm rot="5400000">
              <a:off x="3089271" y="3182570"/>
              <a:ext cx="337412" cy="5759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108"/>
            <p:cNvCxnSpPr>
              <a:cxnSpLocks noChangeAspect="1"/>
            </p:cNvCxnSpPr>
            <p:nvPr/>
          </p:nvCxnSpPr>
          <p:spPr>
            <a:xfrm rot="5400000">
              <a:off x="3326473" y="3084722"/>
              <a:ext cx="111397" cy="1588"/>
            </a:xfrm>
            <a:prstGeom prst="straightConnector1">
              <a:avLst/>
            </a:prstGeom>
            <a:ln>
              <a:solidFill>
                <a:srgbClr val="FF0000"/>
              </a:solidFill>
              <a:tailEnd type="none"/>
            </a:ln>
            <a:scene3d>
              <a:camera prst="orthographicFront">
                <a:rot lat="0" lon="2400000" rev="20699999"/>
              </a:camera>
              <a:lightRig rig="threePt" dir="t"/>
            </a:scene3d>
          </p:spPr>
          <p:style>
            <a:lnRef idx="2">
              <a:schemeClr val="accent1"/>
            </a:lnRef>
            <a:fillRef idx="0">
              <a:schemeClr val="accent1"/>
            </a:fillRef>
            <a:effectRef idx="1">
              <a:schemeClr val="accent1"/>
            </a:effectRef>
            <a:fontRef idx="minor">
              <a:schemeClr val="tx1"/>
            </a:fontRef>
          </p:style>
        </p:cxnSp>
        <p:cxnSp>
          <p:nvCxnSpPr>
            <p:cNvPr id="52" name="Straight Arrow Connector 109"/>
            <p:cNvCxnSpPr>
              <a:cxnSpLocks noChangeAspect="1"/>
            </p:cNvCxnSpPr>
            <p:nvPr/>
          </p:nvCxnSpPr>
          <p:spPr>
            <a:xfrm>
              <a:off x="3273855" y="3114230"/>
              <a:ext cx="101708" cy="1588"/>
            </a:xfrm>
            <a:prstGeom prst="straightConnector1">
              <a:avLst/>
            </a:prstGeom>
            <a:ln>
              <a:solidFill>
                <a:srgbClr val="FF0000"/>
              </a:solidFill>
              <a:tailEnd type="none"/>
            </a:ln>
            <a:scene3d>
              <a:camera prst="orthographicFront">
                <a:rot lat="0" lon="0" rev="20999999"/>
              </a:camera>
              <a:lightRig rig="threePt" dir="t"/>
            </a:scene3d>
          </p:spPr>
          <p:style>
            <a:lnRef idx="2">
              <a:schemeClr val="accent1"/>
            </a:lnRef>
            <a:fillRef idx="0">
              <a:schemeClr val="accent1"/>
            </a:fillRef>
            <a:effectRef idx="1">
              <a:schemeClr val="accent1"/>
            </a:effectRef>
            <a:fontRef idx="minor">
              <a:schemeClr val="tx1"/>
            </a:fontRef>
          </p:style>
        </p:cxnSp>
        <p:pic>
          <p:nvPicPr>
            <p:cNvPr id="53" name="Picture 110" descr="latex-image-1.pdf"/>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103431" y="3026244"/>
              <a:ext cx="154544" cy="105564"/>
            </a:xfrm>
            <a:prstGeom prst="rect">
              <a:avLst/>
            </a:prstGeom>
          </p:spPr>
        </p:pic>
        <p:pic>
          <p:nvPicPr>
            <p:cNvPr id="54" name="Picture 149" descr="latex-image-1.pdf"/>
            <p:cNvPicPr>
              <a:picLocks noChangeAspect="1"/>
            </p:cNvPicPr>
            <p:nvPr/>
          </p:nvPicPr>
          <p:blipFill>
            <a:blip r:embed="rId13"/>
            <a:stretch>
              <a:fillRect/>
            </a:stretch>
          </p:blipFill>
          <p:spPr>
            <a:xfrm>
              <a:off x="2948623" y="3223148"/>
              <a:ext cx="202667" cy="143556"/>
            </a:xfrm>
            <a:prstGeom prst="rect">
              <a:avLst/>
            </a:prstGeom>
          </p:spPr>
        </p:pic>
        <p:sp>
          <p:nvSpPr>
            <p:cNvPr id="55" name="Freeform 151"/>
            <p:cNvSpPr/>
            <p:nvPr/>
          </p:nvSpPr>
          <p:spPr>
            <a:xfrm>
              <a:off x="3247672" y="3026833"/>
              <a:ext cx="223662" cy="753534"/>
            </a:xfrm>
            <a:custGeom>
              <a:avLst/>
              <a:gdLst>
                <a:gd name="connsiteX0" fmla="*/ 41628 w 223662"/>
                <a:gd name="connsiteY0" fmla="*/ 0 h 753534"/>
                <a:gd name="connsiteX1" fmla="*/ 28928 w 223662"/>
                <a:gd name="connsiteY1" fmla="*/ 347134 h 753534"/>
                <a:gd name="connsiteX2" fmla="*/ 215195 w 223662"/>
                <a:gd name="connsiteY2" fmla="*/ 579967 h 753534"/>
                <a:gd name="connsiteX3" fmla="*/ 79728 w 223662"/>
                <a:gd name="connsiteY3" fmla="*/ 753534 h 753534"/>
              </a:gdLst>
              <a:ahLst/>
              <a:cxnLst>
                <a:cxn ang="0">
                  <a:pos x="connsiteX0" y="connsiteY0"/>
                </a:cxn>
                <a:cxn ang="0">
                  <a:pos x="connsiteX1" y="connsiteY1"/>
                </a:cxn>
                <a:cxn ang="0">
                  <a:pos x="connsiteX2" y="connsiteY2"/>
                </a:cxn>
                <a:cxn ang="0">
                  <a:pos x="connsiteX3" y="connsiteY3"/>
                </a:cxn>
              </a:cxnLst>
              <a:rect l="l" t="t" r="r" b="b"/>
              <a:pathLst>
                <a:path w="223662" h="753534">
                  <a:moveTo>
                    <a:pt x="41628" y="0"/>
                  </a:moveTo>
                  <a:cubicBezTo>
                    <a:pt x="20814" y="125236"/>
                    <a:pt x="0" y="250473"/>
                    <a:pt x="28928" y="347134"/>
                  </a:cubicBezTo>
                  <a:cubicBezTo>
                    <a:pt x="57856" y="443795"/>
                    <a:pt x="206728" y="512234"/>
                    <a:pt x="215195" y="579967"/>
                  </a:cubicBezTo>
                  <a:cubicBezTo>
                    <a:pt x="223662" y="647700"/>
                    <a:pt x="79728" y="753534"/>
                    <a:pt x="79728" y="753534"/>
                  </a:cubicBezTo>
                </a:path>
              </a:pathLst>
            </a:custGeom>
            <a:ln>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grpSp>
        <p:nvGrpSpPr>
          <p:cNvPr id="56" name="Group 5"/>
          <p:cNvGrpSpPr/>
          <p:nvPr/>
        </p:nvGrpSpPr>
        <p:grpSpPr>
          <a:xfrm>
            <a:off x="2234954" y="929118"/>
            <a:ext cx="3120237" cy="2350691"/>
            <a:chOff x="478881" y="1293813"/>
            <a:chExt cx="4160316" cy="3134254"/>
          </a:xfrm>
        </p:grpSpPr>
        <p:grpSp>
          <p:nvGrpSpPr>
            <p:cNvPr id="57" name="Group 61"/>
            <p:cNvGrpSpPr/>
            <p:nvPr/>
          </p:nvGrpSpPr>
          <p:grpSpPr>
            <a:xfrm>
              <a:off x="478881" y="1293813"/>
              <a:ext cx="4160316" cy="3134254"/>
              <a:chOff x="290689" y="579983"/>
              <a:chExt cx="8582377" cy="5258081"/>
            </a:xfrm>
          </p:grpSpPr>
          <p:sp>
            <p:nvSpPr>
              <p:cNvPr id="59" name="Freeform 191"/>
              <p:cNvSpPr/>
              <p:nvPr/>
            </p:nvSpPr>
            <p:spPr>
              <a:xfrm>
                <a:off x="448733" y="579983"/>
                <a:ext cx="8424333" cy="1553633"/>
              </a:xfrm>
              <a:custGeom>
                <a:avLst/>
                <a:gdLst>
                  <a:gd name="connsiteX0" fmla="*/ 0 w 8424333"/>
                  <a:gd name="connsiteY0" fmla="*/ 969433 h 1553633"/>
                  <a:gd name="connsiteX1" fmla="*/ 4021666 w 8424333"/>
                  <a:gd name="connsiteY1" fmla="*/ 97367 h 1553633"/>
                  <a:gd name="connsiteX2" fmla="*/ 8424333 w 8424333"/>
                  <a:gd name="connsiteY2" fmla="*/ 1553633 h 1553633"/>
                </a:gdLst>
                <a:ahLst/>
                <a:cxnLst>
                  <a:cxn ang="0">
                    <a:pos x="connsiteX0" y="connsiteY0"/>
                  </a:cxn>
                  <a:cxn ang="0">
                    <a:pos x="connsiteX1" y="connsiteY1"/>
                  </a:cxn>
                  <a:cxn ang="0">
                    <a:pos x="connsiteX2" y="connsiteY2"/>
                  </a:cxn>
                </a:cxnLst>
                <a:rect l="l" t="t" r="r" b="b"/>
                <a:pathLst>
                  <a:path w="8424333" h="1553633">
                    <a:moveTo>
                      <a:pt x="0" y="969433"/>
                    </a:moveTo>
                    <a:cubicBezTo>
                      <a:pt x="1308805" y="484716"/>
                      <a:pt x="2617611" y="0"/>
                      <a:pt x="4021666" y="97367"/>
                    </a:cubicBezTo>
                    <a:cubicBezTo>
                      <a:pt x="5425721" y="194734"/>
                      <a:pt x="8424333" y="1553633"/>
                      <a:pt x="8424333" y="1553633"/>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60" name="Freeform 192"/>
              <p:cNvSpPr/>
              <p:nvPr/>
            </p:nvSpPr>
            <p:spPr>
              <a:xfrm>
                <a:off x="290689" y="1532464"/>
                <a:ext cx="708378" cy="4305600"/>
              </a:xfrm>
              <a:custGeom>
                <a:avLst/>
                <a:gdLst>
                  <a:gd name="connsiteX0" fmla="*/ 166511 w 708378"/>
                  <a:gd name="connsiteY0" fmla="*/ 0 h 4699000"/>
                  <a:gd name="connsiteX1" fmla="*/ 90311 w 708378"/>
                  <a:gd name="connsiteY1" fmla="*/ 2065866 h 4699000"/>
                  <a:gd name="connsiteX2" fmla="*/ 708378 w 708378"/>
                  <a:gd name="connsiteY2" fmla="*/ 4699000 h 4699000"/>
                </a:gdLst>
                <a:ahLst/>
                <a:cxnLst>
                  <a:cxn ang="0">
                    <a:pos x="connsiteX0" y="connsiteY0"/>
                  </a:cxn>
                  <a:cxn ang="0">
                    <a:pos x="connsiteX1" y="connsiteY1"/>
                  </a:cxn>
                  <a:cxn ang="0">
                    <a:pos x="connsiteX2" y="connsiteY2"/>
                  </a:cxn>
                </a:cxnLst>
                <a:rect l="l" t="t" r="r" b="b"/>
                <a:pathLst>
                  <a:path w="708378" h="4699000">
                    <a:moveTo>
                      <a:pt x="166511" y="0"/>
                    </a:moveTo>
                    <a:cubicBezTo>
                      <a:pt x="83255" y="641350"/>
                      <a:pt x="0" y="1282700"/>
                      <a:pt x="90311" y="2065866"/>
                    </a:cubicBezTo>
                    <a:cubicBezTo>
                      <a:pt x="180622" y="2849032"/>
                      <a:pt x="708378" y="4699000"/>
                      <a:pt x="708378" y="469900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61" name="Freeform 193"/>
              <p:cNvSpPr/>
              <p:nvPr/>
            </p:nvSpPr>
            <p:spPr>
              <a:xfrm>
                <a:off x="7873514" y="2131961"/>
                <a:ext cx="991084" cy="3706103"/>
              </a:xfrm>
              <a:custGeom>
                <a:avLst/>
                <a:gdLst>
                  <a:gd name="connsiteX0" fmla="*/ 517877 w 517877"/>
                  <a:gd name="connsiteY0" fmla="*/ 0 h 4868334"/>
                  <a:gd name="connsiteX1" fmla="*/ 26811 w 517877"/>
                  <a:gd name="connsiteY1" fmla="*/ 2125134 h 4868334"/>
                  <a:gd name="connsiteX2" fmla="*/ 357011 w 517877"/>
                  <a:gd name="connsiteY2" fmla="*/ 4868334 h 4868334"/>
                </a:gdLst>
                <a:ahLst/>
                <a:cxnLst>
                  <a:cxn ang="0">
                    <a:pos x="connsiteX0" y="connsiteY0"/>
                  </a:cxn>
                  <a:cxn ang="0">
                    <a:pos x="connsiteX1" y="connsiteY1"/>
                  </a:cxn>
                  <a:cxn ang="0">
                    <a:pos x="connsiteX2" y="connsiteY2"/>
                  </a:cxn>
                </a:cxnLst>
                <a:rect l="l" t="t" r="r" b="b"/>
                <a:pathLst>
                  <a:path w="517877" h="4868334">
                    <a:moveTo>
                      <a:pt x="517877" y="0"/>
                    </a:moveTo>
                    <a:cubicBezTo>
                      <a:pt x="285749" y="656872"/>
                      <a:pt x="53622" y="1313745"/>
                      <a:pt x="26811" y="2125134"/>
                    </a:cubicBezTo>
                    <a:cubicBezTo>
                      <a:pt x="0" y="2936523"/>
                      <a:pt x="357011" y="4868334"/>
                      <a:pt x="357011" y="4868334"/>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sp>
          <p:nvSpPr>
            <p:cNvPr id="58" name="Freeform 7"/>
            <p:cNvSpPr/>
            <p:nvPr/>
          </p:nvSpPr>
          <p:spPr>
            <a:xfrm>
              <a:off x="829733" y="4157133"/>
              <a:ext cx="3657600" cy="270934"/>
            </a:xfrm>
            <a:custGeom>
              <a:avLst/>
              <a:gdLst>
                <a:gd name="connsiteX0" fmla="*/ 0 w 3657600"/>
                <a:gd name="connsiteY0" fmla="*/ 270934 h 270934"/>
                <a:gd name="connsiteX1" fmla="*/ 1735667 w 3657600"/>
                <a:gd name="connsiteY1" fmla="*/ 0 h 270934"/>
                <a:gd name="connsiteX2" fmla="*/ 3657600 w 3657600"/>
                <a:gd name="connsiteY2" fmla="*/ 270934 h 270934"/>
              </a:gdLst>
              <a:ahLst/>
              <a:cxnLst>
                <a:cxn ang="0">
                  <a:pos x="connsiteX0" y="connsiteY0"/>
                </a:cxn>
                <a:cxn ang="0">
                  <a:pos x="connsiteX1" y="connsiteY1"/>
                </a:cxn>
                <a:cxn ang="0">
                  <a:pos x="connsiteX2" y="connsiteY2"/>
                </a:cxn>
              </a:cxnLst>
              <a:rect l="l" t="t" r="r" b="b"/>
              <a:pathLst>
                <a:path w="3657600" h="270934">
                  <a:moveTo>
                    <a:pt x="0" y="270934"/>
                  </a:moveTo>
                  <a:cubicBezTo>
                    <a:pt x="563033" y="135467"/>
                    <a:pt x="1126067" y="0"/>
                    <a:pt x="1735667" y="0"/>
                  </a:cubicBezTo>
                  <a:cubicBezTo>
                    <a:pt x="2345267" y="0"/>
                    <a:pt x="3657600" y="270934"/>
                    <a:pt x="3657600" y="270934"/>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pic>
        <p:nvPicPr>
          <p:cNvPr id="62" name="Image 5" descr="latex-image-1.pdf"/>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6402420" y="2636995"/>
            <a:ext cx="1448988" cy="188999"/>
          </a:xfrm>
          <a:prstGeom prst="rect">
            <a:avLst/>
          </a:prstGeom>
        </p:spPr>
      </p:pic>
      <p:pic>
        <p:nvPicPr>
          <p:cNvPr id="63" name="Image 7" descr="latex-image-1.pdf"/>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4352089" y="2636997"/>
            <a:ext cx="1546364" cy="189000"/>
          </a:xfrm>
          <a:prstGeom prst="rect">
            <a:avLst/>
          </a:prstGeom>
        </p:spPr>
      </p:pic>
      <p:pic>
        <p:nvPicPr>
          <p:cNvPr id="64" name="Image 9" descr="latex-image-1.pdf"/>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4101335" y="3297512"/>
            <a:ext cx="1752600" cy="161925"/>
          </a:xfrm>
          <a:prstGeom prst="rect">
            <a:avLst/>
          </a:prstGeom>
        </p:spPr>
      </p:pic>
      <p:grpSp>
        <p:nvGrpSpPr>
          <p:cNvPr id="65" name="Grouper 17"/>
          <p:cNvGrpSpPr/>
          <p:nvPr/>
        </p:nvGrpSpPr>
        <p:grpSpPr>
          <a:xfrm>
            <a:off x="3831928" y="3285006"/>
            <a:ext cx="1290422" cy="837526"/>
            <a:chOff x="2784250" y="4813349"/>
            <a:chExt cx="1720563" cy="1116701"/>
          </a:xfrm>
        </p:grpSpPr>
        <p:sp>
          <p:nvSpPr>
            <p:cNvPr id="66" name="Ellipse 10"/>
            <p:cNvSpPr/>
            <p:nvPr/>
          </p:nvSpPr>
          <p:spPr>
            <a:xfrm>
              <a:off x="4218113" y="4813349"/>
              <a:ext cx="286700" cy="288471"/>
            </a:xfrm>
            <a:prstGeom prst="ellipse">
              <a:avLst/>
            </a:prstGeom>
            <a:noFill/>
            <a:ln w="28575"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cxnSp>
          <p:nvCxnSpPr>
            <p:cNvPr id="67" name="Connecteur droit avec flèche 12"/>
            <p:cNvCxnSpPr>
              <a:stCxn id="66" idx="4"/>
            </p:cNvCxnSpPr>
            <p:nvPr/>
          </p:nvCxnSpPr>
          <p:spPr>
            <a:xfrm flipH="1">
              <a:off x="4204261" y="5101820"/>
              <a:ext cx="157202" cy="665842"/>
            </a:xfrm>
            <a:prstGeom prst="straightConnector1">
              <a:avLst/>
            </a:prstGeom>
            <a:ln>
              <a:solidFill>
                <a:srgbClr val="1F497D"/>
              </a:solidFill>
              <a:tailEnd type="arrow"/>
            </a:ln>
          </p:spPr>
          <p:style>
            <a:lnRef idx="2">
              <a:schemeClr val="accent1"/>
            </a:lnRef>
            <a:fillRef idx="0">
              <a:schemeClr val="accent1"/>
            </a:fillRef>
            <a:effectRef idx="1">
              <a:schemeClr val="accent1"/>
            </a:effectRef>
            <a:fontRef idx="minor">
              <a:schemeClr val="tx1"/>
            </a:fontRef>
          </p:style>
        </p:cxnSp>
        <p:sp>
          <p:nvSpPr>
            <p:cNvPr id="68" name="ZoneTexte 13"/>
            <p:cNvSpPr txBox="1"/>
            <p:nvPr/>
          </p:nvSpPr>
          <p:spPr>
            <a:xfrm>
              <a:off x="2784250" y="5376053"/>
              <a:ext cx="1615394" cy="553997"/>
            </a:xfrm>
            <a:prstGeom prst="rect">
              <a:avLst/>
            </a:prstGeom>
            <a:noFill/>
          </p:spPr>
          <p:txBody>
            <a:bodyPr wrap="square" rtlCol="0">
              <a:spAutoFit/>
            </a:bodyPr>
            <a:lstStyle/>
            <a:p>
              <a:pPr algn="ctr"/>
              <a:r>
                <a:rPr lang="fr-FR" sz="1050" dirty="0" err="1"/>
                <a:t>Acceleration</a:t>
              </a:r>
              <a:r>
                <a:rPr lang="fr-FR" sz="1050" dirty="0"/>
                <a:t> factor</a:t>
              </a:r>
            </a:p>
          </p:txBody>
        </p:sp>
      </p:grpSp>
      <p:grpSp>
        <p:nvGrpSpPr>
          <p:cNvPr id="69" name="Grouper 18"/>
          <p:cNvGrpSpPr/>
          <p:nvPr/>
        </p:nvGrpSpPr>
        <p:grpSpPr>
          <a:xfrm>
            <a:off x="5139528" y="3270297"/>
            <a:ext cx="1211545" cy="730443"/>
            <a:chOff x="4442034" y="5018389"/>
            <a:chExt cx="1615393" cy="973924"/>
          </a:xfrm>
        </p:grpSpPr>
        <p:sp>
          <p:nvSpPr>
            <p:cNvPr id="70" name="Ellipse 70"/>
            <p:cNvSpPr/>
            <p:nvPr/>
          </p:nvSpPr>
          <p:spPr>
            <a:xfrm>
              <a:off x="5106380" y="5018389"/>
              <a:ext cx="286700" cy="288471"/>
            </a:xfrm>
            <a:prstGeom prst="ellipse">
              <a:avLst/>
            </a:prstGeom>
            <a:noFill/>
            <a:ln w="28575"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cxnSp>
          <p:nvCxnSpPr>
            <p:cNvPr id="71" name="Connecteur droit avec flèche 71"/>
            <p:cNvCxnSpPr/>
            <p:nvPr/>
          </p:nvCxnSpPr>
          <p:spPr>
            <a:xfrm>
              <a:off x="5249730" y="5300964"/>
              <a:ext cx="402943" cy="691349"/>
            </a:xfrm>
            <a:prstGeom prst="straightConnector1">
              <a:avLst/>
            </a:prstGeom>
            <a:ln>
              <a:solidFill>
                <a:srgbClr val="1F497D"/>
              </a:solidFill>
              <a:tailEnd type="arrow"/>
            </a:ln>
          </p:spPr>
          <p:style>
            <a:lnRef idx="2">
              <a:schemeClr val="accent1"/>
            </a:lnRef>
            <a:fillRef idx="0">
              <a:schemeClr val="accent1"/>
            </a:fillRef>
            <a:effectRef idx="1">
              <a:schemeClr val="accent1"/>
            </a:effectRef>
            <a:fontRef idx="minor">
              <a:schemeClr val="tx1"/>
            </a:fontRef>
          </p:style>
        </p:cxnSp>
        <p:sp>
          <p:nvSpPr>
            <p:cNvPr id="72" name="ZoneTexte 72"/>
            <p:cNvSpPr txBox="1"/>
            <p:nvPr/>
          </p:nvSpPr>
          <p:spPr>
            <a:xfrm>
              <a:off x="4442034" y="5592897"/>
              <a:ext cx="1615393" cy="338555"/>
            </a:xfrm>
            <a:prstGeom prst="rect">
              <a:avLst/>
            </a:prstGeom>
            <a:noFill/>
          </p:spPr>
          <p:txBody>
            <a:bodyPr wrap="square" rtlCol="0">
              <a:spAutoFit/>
            </a:bodyPr>
            <a:lstStyle/>
            <a:p>
              <a:pPr algn="ctr"/>
              <a:r>
                <a:rPr lang="fr-FR" sz="1050" dirty="0"/>
                <a:t>Time-shift</a:t>
              </a:r>
            </a:p>
          </p:txBody>
        </p:sp>
      </p:grpSp>
      <p:grpSp>
        <p:nvGrpSpPr>
          <p:cNvPr id="73" name="Grouper 19"/>
          <p:cNvGrpSpPr/>
          <p:nvPr/>
        </p:nvGrpSpPr>
        <p:grpSpPr>
          <a:xfrm>
            <a:off x="5644402" y="2636994"/>
            <a:ext cx="2001761" cy="1356226"/>
            <a:chOff x="4653478" y="4450274"/>
            <a:chExt cx="2973228" cy="1106307"/>
          </a:xfrm>
        </p:grpSpPr>
        <p:sp>
          <p:nvSpPr>
            <p:cNvPr id="74" name="Ellipse 73"/>
            <p:cNvSpPr/>
            <p:nvPr/>
          </p:nvSpPr>
          <p:spPr>
            <a:xfrm>
              <a:off x="4653478" y="4450274"/>
              <a:ext cx="286699" cy="170070"/>
            </a:xfrm>
            <a:prstGeom prst="ellipse">
              <a:avLst/>
            </a:prstGeom>
            <a:noFill/>
            <a:ln w="28575"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cxnSp>
          <p:nvCxnSpPr>
            <p:cNvPr id="75" name="Connecteur droit avec flèche 74"/>
            <p:cNvCxnSpPr>
              <a:stCxn id="74" idx="4"/>
            </p:cNvCxnSpPr>
            <p:nvPr/>
          </p:nvCxnSpPr>
          <p:spPr>
            <a:xfrm>
              <a:off x="4796828" y="4620344"/>
              <a:ext cx="1151624" cy="936237"/>
            </a:xfrm>
            <a:prstGeom prst="straightConnector1">
              <a:avLst/>
            </a:prstGeom>
            <a:ln>
              <a:solidFill>
                <a:srgbClr val="1F497D"/>
              </a:solidFill>
              <a:tailEnd type="arrow"/>
            </a:ln>
          </p:spPr>
          <p:style>
            <a:lnRef idx="2">
              <a:schemeClr val="accent1"/>
            </a:lnRef>
            <a:fillRef idx="0">
              <a:schemeClr val="accent1"/>
            </a:fillRef>
            <a:effectRef idx="1">
              <a:schemeClr val="accent1"/>
            </a:effectRef>
            <a:fontRef idx="minor">
              <a:schemeClr val="tx1"/>
            </a:fontRef>
          </p:style>
        </p:cxnSp>
        <p:sp>
          <p:nvSpPr>
            <p:cNvPr id="76" name="ZoneTexte 75"/>
            <p:cNvSpPr txBox="1"/>
            <p:nvPr/>
          </p:nvSpPr>
          <p:spPr>
            <a:xfrm>
              <a:off x="6011311" y="5311857"/>
              <a:ext cx="1615395" cy="207126"/>
            </a:xfrm>
            <a:prstGeom prst="rect">
              <a:avLst/>
            </a:prstGeom>
            <a:noFill/>
          </p:spPr>
          <p:txBody>
            <a:bodyPr wrap="square" rtlCol="0">
              <a:spAutoFit/>
            </a:bodyPr>
            <a:lstStyle/>
            <a:p>
              <a:pPr algn="ctr"/>
              <a:r>
                <a:rPr lang="fr-FR" sz="1050" dirty="0" err="1"/>
                <a:t>Space</a:t>
              </a:r>
              <a:r>
                <a:rPr lang="fr-FR" sz="1050" dirty="0"/>
                <a:t>-shift</a:t>
              </a:r>
            </a:p>
          </p:txBody>
        </p:sp>
      </p:grpSp>
      <p:pic>
        <p:nvPicPr>
          <p:cNvPr id="77" name="Image 20" descr="latex-image-1.pdf"/>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3881423" y="3993221"/>
            <a:ext cx="1162050" cy="180975"/>
          </a:xfrm>
          <a:prstGeom prst="rect">
            <a:avLst/>
          </a:prstGeom>
        </p:spPr>
      </p:pic>
      <p:pic>
        <p:nvPicPr>
          <p:cNvPr id="78" name="Image 21" descr="latex-image-1.pdf"/>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5305410" y="3993221"/>
            <a:ext cx="885825" cy="180975"/>
          </a:xfrm>
          <a:prstGeom prst="rect">
            <a:avLst/>
          </a:prstGeom>
        </p:spPr>
      </p:pic>
      <p:grpSp>
        <p:nvGrpSpPr>
          <p:cNvPr id="79" name="Grouper 25"/>
          <p:cNvGrpSpPr/>
          <p:nvPr/>
        </p:nvGrpSpPr>
        <p:grpSpPr>
          <a:xfrm>
            <a:off x="6467786" y="3993221"/>
            <a:ext cx="1304925" cy="366032"/>
            <a:chOff x="6211642" y="5757636"/>
            <a:chExt cx="1739900" cy="488043"/>
          </a:xfrm>
        </p:grpSpPr>
        <p:pic>
          <p:nvPicPr>
            <p:cNvPr id="80" name="Image 23" descr="latex-image-1.pdf"/>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6211642" y="5757636"/>
              <a:ext cx="1739900" cy="215900"/>
            </a:xfrm>
            <a:prstGeom prst="rect">
              <a:avLst/>
            </a:prstGeom>
          </p:spPr>
        </p:pic>
        <p:pic>
          <p:nvPicPr>
            <p:cNvPr id="81" name="Image 24" descr="latex-image-1.pdf"/>
            <p:cNvPicPr>
              <a:picLocks noChangeAspect="1"/>
            </p:cNvPicPr>
            <p:nvPr/>
          </p:nvPicPr>
          <p:blipFill>
            <a:blip r:embed="rId20">
              <a:extLst>
                <a:ext uri="{28A0092B-C50C-407E-A947-70E740481C1C}">
                  <a14:useLocalDpi xmlns:a14="http://schemas.microsoft.com/office/drawing/2010/main"/>
                </a:ext>
              </a:extLst>
            </a:blip>
            <a:stretch>
              <a:fillRect/>
            </a:stretch>
          </p:blipFill>
          <p:spPr>
            <a:xfrm>
              <a:off x="6221186" y="6055179"/>
              <a:ext cx="584200" cy="190500"/>
            </a:xfrm>
            <a:prstGeom prst="rect">
              <a:avLst/>
            </a:prstGeom>
          </p:spPr>
        </p:pic>
      </p:grpSp>
      <p:sp>
        <p:nvSpPr>
          <p:cNvPr id="82" name="ZoneTexte 26"/>
          <p:cNvSpPr txBox="1"/>
          <p:nvPr/>
        </p:nvSpPr>
        <p:spPr>
          <a:xfrm>
            <a:off x="2089925" y="3716612"/>
            <a:ext cx="1394732" cy="276999"/>
          </a:xfrm>
          <a:prstGeom prst="rect">
            <a:avLst/>
          </a:prstGeom>
          <a:noFill/>
        </p:spPr>
        <p:txBody>
          <a:bodyPr wrap="square" rtlCol="0">
            <a:spAutoFit/>
          </a:bodyPr>
          <a:lstStyle/>
          <a:p>
            <a:pPr algn="r"/>
            <a:r>
              <a:rPr lang="fr-FR" sz="1200" dirty="0" err="1"/>
              <a:t>Random</a:t>
            </a:r>
            <a:r>
              <a:rPr lang="fr-FR" sz="1200" dirty="0"/>
              <a:t> </a:t>
            </a:r>
            <a:r>
              <a:rPr lang="fr-FR" sz="1200" dirty="0" err="1"/>
              <a:t>effects</a:t>
            </a:r>
            <a:r>
              <a:rPr lang="fr-FR" sz="1200" dirty="0"/>
              <a:t>:</a:t>
            </a:r>
          </a:p>
        </p:txBody>
      </p:sp>
      <p:sp>
        <p:nvSpPr>
          <p:cNvPr id="83" name="ZoneTexte 82"/>
          <p:cNvSpPr txBox="1"/>
          <p:nvPr/>
        </p:nvSpPr>
        <p:spPr>
          <a:xfrm>
            <a:off x="2029140" y="4256015"/>
            <a:ext cx="1394732" cy="276999"/>
          </a:xfrm>
          <a:prstGeom prst="rect">
            <a:avLst/>
          </a:prstGeom>
          <a:noFill/>
        </p:spPr>
        <p:txBody>
          <a:bodyPr wrap="square" rtlCol="0">
            <a:spAutoFit/>
          </a:bodyPr>
          <a:lstStyle/>
          <a:p>
            <a:pPr algn="r"/>
            <a:r>
              <a:rPr lang="fr-FR" sz="1200" dirty="0" err="1"/>
              <a:t>Fixed</a:t>
            </a:r>
            <a:r>
              <a:rPr lang="fr-FR" sz="1200" dirty="0"/>
              <a:t> </a:t>
            </a:r>
            <a:r>
              <a:rPr lang="fr-FR" sz="1200" dirty="0" err="1"/>
              <a:t>effects</a:t>
            </a:r>
            <a:r>
              <a:rPr lang="fr-FR" sz="1200" dirty="0"/>
              <a:t>:</a:t>
            </a:r>
          </a:p>
        </p:txBody>
      </p:sp>
      <p:pic>
        <p:nvPicPr>
          <p:cNvPr id="84" name="Image 76" descr="latex-image-1.pdf"/>
          <p:cNvPicPr>
            <a:picLocks noChangeAspect="1"/>
          </p:cNvPicPr>
          <p:nvPr/>
        </p:nvPicPr>
        <p:blipFill>
          <a:blip r:embed="rId21">
            <a:extLst>
              <a:ext uri="{28A0092B-C50C-407E-A947-70E740481C1C}">
                <a14:useLocalDpi xmlns:a14="http://schemas.microsoft.com/office/drawing/2010/main"/>
              </a:ext>
            </a:extLst>
          </a:blip>
          <a:stretch>
            <a:fillRect/>
          </a:stretch>
        </p:blipFill>
        <p:spPr>
          <a:xfrm>
            <a:off x="3849846" y="4286248"/>
            <a:ext cx="638175" cy="161925"/>
          </a:xfrm>
          <a:prstGeom prst="rect">
            <a:avLst/>
          </a:prstGeom>
        </p:spPr>
      </p:pic>
      <p:sp>
        <p:nvSpPr>
          <p:cNvPr id="85" name="Oval 53"/>
          <p:cNvSpPr>
            <a:spLocks noChangeAspect="1"/>
          </p:cNvSpPr>
          <p:nvPr/>
        </p:nvSpPr>
        <p:spPr>
          <a:xfrm>
            <a:off x="2911085" y="1154316"/>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6" name="Oval 53"/>
          <p:cNvSpPr>
            <a:spLocks noChangeAspect="1"/>
          </p:cNvSpPr>
          <p:nvPr/>
        </p:nvSpPr>
        <p:spPr>
          <a:xfrm>
            <a:off x="3628693" y="1481327"/>
            <a:ext cx="45163" cy="44650"/>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87" name="Oval 53"/>
          <p:cNvSpPr>
            <a:spLocks noChangeAspect="1"/>
          </p:cNvSpPr>
          <p:nvPr/>
        </p:nvSpPr>
        <p:spPr>
          <a:xfrm>
            <a:off x="4157662" y="1660635"/>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8" name="Oval 53"/>
          <p:cNvSpPr>
            <a:spLocks noChangeAspect="1"/>
          </p:cNvSpPr>
          <p:nvPr/>
        </p:nvSpPr>
        <p:spPr>
          <a:xfrm>
            <a:off x="2869215" y="2448826"/>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9" name="Oval 53"/>
          <p:cNvSpPr>
            <a:spLocks noChangeAspect="1"/>
          </p:cNvSpPr>
          <p:nvPr/>
        </p:nvSpPr>
        <p:spPr>
          <a:xfrm>
            <a:off x="4080943" y="2797948"/>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0" name="Oval 53"/>
          <p:cNvSpPr>
            <a:spLocks noChangeAspect="1"/>
          </p:cNvSpPr>
          <p:nvPr/>
        </p:nvSpPr>
        <p:spPr>
          <a:xfrm>
            <a:off x="3498692" y="2589457"/>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1" name="Oval 53"/>
          <p:cNvSpPr>
            <a:spLocks noChangeAspect="1"/>
          </p:cNvSpPr>
          <p:nvPr/>
        </p:nvSpPr>
        <p:spPr>
          <a:xfrm>
            <a:off x="4647352" y="2886608"/>
            <a:ext cx="41057" cy="4059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4DECA786-F510-1F4E-A511-56F505D90256}"/>
              </a:ext>
            </a:extLst>
          </p:cNvPr>
          <p:cNvSpPr/>
          <p:nvPr/>
        </p:nvSpPr>
        <p:spPr>
          <a:xfrm>
            <a:off x="44132" y="941001"/>
            <a:ext cx="1743997" cy="646331"/>
          </a:xfrm>
          <a:prstGeom prst="rect">
            <a:avLst/>
          </a:prstGeom>
          <a:ln w="25400">
            <a:solidFill>
              <a:schemeClr val="accent6"/>
            </a:solidFill>
          </a:ln>
        </p:spPr>
        <p:txBody>
          <a:bodyPr wrap="square">
            <a:spAutoFit/>
          </a:bodyPr>
          <a:lstStyle/>
          <a:p>
            <a:pPr algn="ctr"/>
            <a:r>
              <a:rPr lang="en-US" sz="1200" dirty="0">
                <a:sym typeface="Wingdings"/>
              </a:rPr>
              <a:t>Orthogonality ensures unique space/time decomposition</a:t>
            </a:r>
          </a:p>
        </p:txBody>
      </p:sp>
      <p:cxnSp>
        <p:nvCxnSpPr>
          <p:cNvPr id="8" name="Straight Arrow Connector 7">
            <a:extLst>
              <a:ext uri="{FF2B5EF4-FFF2-40B4-BE49-F238E27FC236}">
                <a16:creationId xmlns:a16="http://schemas.microsoft.com/office/drawing/2014/main" id="{728012F5-FECF-A140-9993-DD02327F0261}"/>
              </a:ext>
            </a:extLst>
          </p:cNvPr>
          <p:cNvCxnSpPr>
            <a:stCxn id="6" idx="3"/>
            <a:endCxn id="38" idx="1"/>
          </p:cNvCxnSpPr>
          <p:nvPr/>
        </p:nvCxnSpPr>
        <p:spPr>
          <a:xfrm>
            <a:off x="1788129" y="1264167"/>
            <a:ext cx="1072663" cy="601927"/>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A6413DC-7177-8443-9E2F-3D0A83EAF636}"/>
              </a:ext>
            </a:extLst>
          </p:cNvPr>
          <p:cNvCxnSpPr>
            <a:cxnSpLocks/>
            <a:stCxn id="16" idx="2"/>
            <a:endCxn id="62" idx="0"/>
          </p:cNvCxnSpPr>
          <p:nvPr/>
        </p:nvCxnSpPr>
        <p:spPr>
          <a:xfrm flipH="1">
            <a:off x="7126914" y="2078091"/>
            <a:ext cx="1086129" cy="55890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DB47EB1D-F581-2C46-A03F-2FDE1F102045}"/>
              </a:ext>
            </a:extLst>
          </p:cNvPr>
          <p:cNvSpPr txBox="1"/>
          <p:nvPr/>
        </p:nvSpPr>
        <p:spPr>
          <a:xfrm>
            <a:off x="5954762" y="540458"/>
            <a:ext cx="1385560" cy="715581"/>
          </a:xfrm>
          <a:prstGeom prst="rect">
            <a:avLst/>
          </a:prstGeom>
          <a:noFill/>
          <a:ln w="25400">
            <a:solidFill>
              <a:schemeClr val="accent6"/>
            </a:solidFill>
          </a:ln>
        </p:spPr>
        <p:txBody>
          <a:bodyPr wrap="square" rtlCol="0">
            <a:spAutoFit/>
          </a:bodyPr>
          <a:lstStyle/>
          <a:p>
            <a:pPr algn="ctr"/>
            <a:r>
              <a:rPr lang="en-US" sz="1350" dirty="0">
                <a:sym typeface="Wingdings"/>
              </a:rPr>
              <a:t>Invariance </a:t>
            </a:r>
            <a:r>
              <a:rPr lang="en-US" sz="1350" dirty="0" err="1">
                <a:sym typeface="Wingdings"/>
              </a:rPr>
              <a:t>w.r.t</a:t>
            </a:r>
            <a:r>
              <a:rPr lang="en-US" sz="1350" dirty="0">
                <a:sym typeface="Wingdings"/>
              </a:rPr>
              <a:t>. reference point on geodesic</a:t>
            </a:r>
          </a:p>
        </p:txBody>
      </p:sp>
      <p:cxnSp>
        <p:nvCxnSpPr>
          <p:cNvPr id="94" name="Straight Arrow Connector 93">
            <a:extLst>
              <a:ext uri="{FF2B5EF4-FFF2-40B4-BE49-F238E27FC236}">
                <a16:creationId xmlns:a16="http://schemas.microsoft.com/office/drawing/2014/main" id="{F0CE0789-D699-B743-ACE4-6B8CE6FDC8C3}"/>
              </a:ext>
            </a:extLst>
          </p:cNvPr>
          <p:cNvCxnSpPr>
            <a:cxnSpLocks/>
            <a:stCxn id="93" idx="2"/>
          </p:cNvCxnSpPr>
          <p:nvPr/>
        </p:nvCxnSpPr>
        <p:spPr>
          <a:xfrm flipH="1">
            <a:off x="4133102" y="1256039"/>
            <a:ext cx="2514440" cy="1113267"/>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030428DE-4C89-8547-B879-07DFD6BD75F5}"/>
              </a:ext>
            </a:extLst>
          </p:cNvPr>
          <p:cNvCxnSpPr>
            <a:cxnSpLocks/>
            <a:stCxn id="93" idx="2"/>
          </p:cNvCxnSpPr>
          <p:nvPr/>
        </p:nvCxnSpPr>
        <p:spPr>
          <a:xfrm flipH="1">
            <a:off x="2934836" y="1256039"/>
            <a:ext cx="3712706" cy="74937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B233EFFA-03B9-11C3-1AD5-A252D696A01F}"/>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16</a:t>
            </a:fld>
            <a:endParaRPr lang="fr-FR"/>
          </a:p>
        </p:txBody>
      </p:sp>
    </p:spTree>
    <p:extLst>
      <p:ext uri="{BB962C8B-B14F-4D97-AF65-F5344CB8AC3E}">
        <p14:creationId xmlns:p14="http://schemas.microsoft.com/office/powerpoint/2010/main" val="351816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500"/>
                                        <p:tgtEl>
                                          <p:spTgt spid="93"/>
                                        </p:tgtEl>
                                      </p:cBhvr>
                                    </p:animEffect>
                                  </p:childTnLst>
                                </p:cTn>
                              </p:par>
                              <p:par>
                                <p:cTn id="68" presetID="1" presetClass="entr" presetSubtype="0" fill="hold" nodeType="withEffect">
                                  <p:stCondLst>
                                    <p:cond delay="0"/>
                                  </p:stCondLst>
                                  <p:childTnLst>
                                    <p:set>
                                      <p:cBhvr>
                                        <p:cTn id="69" dur="1" fill="hold">
                                          <p:stCondLst>
                                            <p:cond delay="0"/>
                                          </p:stCondLst>
                                        </p:cTn>
                                        <p:tgtEl>
                                          <p:spTgt spid="94"/>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9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childTnLst>
                                </p:cTn>
                              </p:par>
                              <p:par>
                                <p:cTn id="77" presetID="1" presetClass="entr" presetSubtype="0" fill="hold"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7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2" grpId="0"/>
      <p:bldP spid="83" grpId="0"/>
      <p:bldP spid="85" grpId="0" animBg="1"/>
      <p:bldP spid="86" grpId="0" animBg="1"/>
      <p:bldP spid="87" grpId="0" animBg="1"/>
      <p:bldP spid="88" grpId="0" animBg="1"/>
      <p:bldP spid="89" grpId="0" animBg="1"/>
      <p:bldP spid="90" grpId="0" animBg="1"/>
      <p:bldP spid="91" grpId="0" animBg="1"/>
      <p:bldP spid="6" grpId="0" animBg="1"/>
      <p:bldP spid="9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159115" y="556468"/>
            <a:ext cx="7719439" cy="3416320"/>
          </a:xfrm>
          <a:prstGeom prst="rect">
            <a:avLst/>
          </a:prstGeom>
          <a:noFill/>
        </p:spPr>
        <p:txBody>
          <a:bodyPr wrap="square" rtlCol="0">
            <a:spAutoFit/>
          </a:bodyPr>
          <a:lstStyle/>
          <a:p>
            <a:pPr indent="70247">
              <a:buFont typeface="Arial"/>
              <a:buChar char="•"/>
            </a:pPr>
            <a:endParaRPr lang="en-US" sz="1350" dirty="0">
              <a:solidFill>
                <a:srgbClr val="000000"/>
              </a:solidFill>
              <a:sym typeface="Wingdings"/>
            </a:endParaRPr>
          </a:p>
          <a:p>
            <a:pPr indent="70247">
              <a:buFont typeface="Arial"/>
              <a:buChar char="•"/>
            </a:pPr>
            <a:endParaRPr lang="en-US" sz="1350" dirty="0">
              <a:solidFill>
                <a:srgbClr val="000000"/>
              </a:solidFill>
              <a:sym typeface="Wingdings"/>
            </a:endParaRPr>
          </a:p>
          <a:p>
            <a:pPr indent="70247">
              <a:buFont typeface="Arial"/>
              <a:buChar char="•"/>
            </a:pPr>
            <a:endParaRPr lang="en-US" sz="1350" dirty="0">
              <a:solidFill>
                <a:srgbClr val="000000"/>
              </a:solidFill>
              <a:sym typeface="Wingdings"/>
            </a:endParaRPr>
          </a:p>
          <a:p>
            <a:pPr indent="70247">
              <a:buFont typeface="Arial"/>
              <a:buChar char="•"/>
            </a:pPr>
            <a:endParaRPr lang="en-US" sz="1350" dirty="0">
              <a:solidFill>
                <a:srgbClr val="000000"/>
              </a:solidFill>
              <a:sym typeface="Wingdings"/>
            </a:endParaRPr>
          </a:p>
          <a:p>
            <a:pPr indent="70247">
              <a:buFont typeface="Arial"/>
              <a:buChar char="•"/>
            </a:pPr>
            <a:endParaRPr lang="en-US" sz="1350" dirty="0">
              <a:solidFill>
                <a:srgbClr val="000000"/>
              </a:solidFill>
              <a:sym typeface="Wingdings"/>
            </a:endParaRPr>
          </a:p>
          <a:p>
            <a:pPr marL="214313" indent="-214313">
              <a:buFont typeface="Arial" panose="020B0604020202020204" pitchFamily="34" charset="0"/>
              <a:buChar char="•"/>
            </a:pPr>
            <a:r>
              <a:rPr lang="en-US" sz="1350" b="1" dirty="0">
                <a:solidFill>
                  <a:srgbClr val="000000"/>
                </a:solidFill>
                <a:sym typeface="Wingdings"/>
              </a:rPr>
              <a:t>Simulation</a:t>
            </a:r>
            <a:r>
              <a:rPr lang="en-US" sz="1350" dirty="0">
                <a:solidFill>
                  <a:srgbClr val="000000"/>
                </a:solidFill>
                <a:sym typeface="Wingdings"/>
              </a:rPr>
              <a:t>: </a:t>
            </a:r>
          </a:p>
          <a:p>
            <a:pPr marL="214313" indent="-214313">
              <a:buFont typeface="Arial" panose="020B0604020202020204" pitchFamily="34" charset="0"/>
              <a:buChar char="•"/>
            </a:pPr>
            <a:endParaRPr lang="en-US" sz="1350"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r>
              <a:rPr lang="en-US" sz="1350" b="1" dirty="0">
                <a:solidFill>
                  <a:srgbClr val="000000"/>
                </a:solidFill>
                <a:sym typeface="Wingdings"/>
              </a:rPr>
              <a:t>Approximation</a:t>
            </a:r>
            <a:r>
              <a:rPr lang="en-US" sz="1350" dirty="0">
                <a:solidFill>
                  <a:srgbClr val="000000"/>
                </a:solidFill>
                <a:sym typeface="Wingdings"/>
              </a:rPr>
              <a:t>:</a:t>
            </a: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r>
              <a:rPr lang="en-US" sz="1350" b="1" dirty="0" err="1">
                <a:solidFill>
                  <a:srgbClr val="000000"/>
                </a:solidFill>
                <a:sym typeface="Wingdings"/>
              </a:rPr>
              <a:t>Maximisation</a:t>
            </a:r>
            <a:r>
              <a:rPr lang="en-US" sz="1350" dirty="0">
                <a:solidFill>
                  <a:srgbClr val="000000"/>
                </a:solidFill>
                <a:sym typeface="Wingdings"/>
              </a:rPr>
              <a:t>:</a:t>
            </a:r>
          </a:p>
          <a:p>
            <a:pPr indent="70247">
              <a:buFont typeface="Arial"/>
              <a:buChar char="•"/>
            </a:pPr>
            <a:endParaRPr lang="en-US" sz="1350" dirty="0">
              <a:solidFill>
                <a:srgbClr val="000000"/>
              </a:solidFill>
              <a:sym typeface="Wingdings"/>
            </a:endParaRPr>
          </a:p>
          <a:p>
            <a:endParaRPr lang="en-US" sz="1350" dirty="0">
              <a:solidFill>
                <a:srgbClr val="000000"/>
              </a:solidFill>
              <a:sym typeface="Wingdings"/>
            </a:endParaRPr>
          </a:p>
        </p:txBody>
      </p:sp>
      <p:sp>
        <p:nvSpPr>
          <p:cNvPr id="5" name="Text Placeholder 4"/>
          <p:cNvSpPr>
            <a:spLocks noGrp="1"/>
          </p:cNvSpPr>
          <p:nvPr>
            <p:ph type="body" sz="quarter" idx="13"/>
          </p:nvPr>
        </p:nvSpPr>
        <p:spPr>
          <a:xfrm>
            <a:off x="507105" y="301490"/>
            <a:ext cx="6010275" cy="369743"/>
          </a:xfrm>
        </p:spPr>
        <p:txBody>
          <a:bodyPr>
            <a:normAutofit fontScale="92500" lnSpcReduction="10000"/>
          </a:bodyPr>
          <a:lstStyle/>
          <a:p>
            <a:r>
              <a:rPr lang="en-US" sz="1500" dirty="0"/>
              <a:t>Parameter estimation using MCMC-SAEM</a:t>
            </a:r>
          </a:p>
        </p:txBody>
      </p:sp>
      <p:pic>
        <p:nvPicPr>
          <p:cNvPr id="16" name="Image 2" descr="latex-image-1.pd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78136" y="448066"/>
            <a:ext cx="3724275" cy="161925"/>
          </a:xfrm>
          <a:prstGeom prst="rect">
            <a:avLst/>
          </a:prstGeom>
        </p:spPr>
      </p:pic>
      <p:pic>
        <p:nvPicPr>
          <p:cNvPr id="18" name="Image 10" descr="latex-image-1.pdf"/>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257680" y="1276042"/>
            <a:ext cx="1057275" cy="161925"/>
          </a:xfrm>
          <a:prstGeom prst="rect">
            <a:avLst/>
          </a:prstGeom>
        </p:spPr>
      </p:pic>
      <p:pic>
        <p:nvPicPr>
          <p:cNvPr id="19" name="Image 13" descr="latex-image-1.pdf"/>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583555" y="858478"/>
            <a:ext cx="3552825" cy="457200"/>
          </a:xfrm>
          <a:prstGeom prst="rect">
            <a:avLst/>
          </a:prstGeom>
        </p:spPr>
      </p:pic>
      <p:pic>
        <p:nvPicPr>
          <p:cNvPr id="20" name="Image 16" descr="latex-image-1.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386504" y="2556206"/>
            <a:ext cx="2886075" cy="180975"/>
          </a:xfrm>
          <a:prstGeom prst="rect">
            <a:avLst/>
          </a:prstGeom>
        </p:spPr>
      </p:pic>
      <p:pic>
        <p:nvPicPr>
          <p:cNvPr id="24" name="Image 20" descr="latex-image-1.pdf"/>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404874" y="2759690"/>
            <a:ext cx="3152775" cy="466725"/>
          </a:xfrm>
          <a:prstGeom prst="rect">
            <a:avLst/>
          </a:prstGeom>
        </p:spPr>
      </p:pic>
      <p:sp>
        <p:nvSpPr>
          <p:cNvPr id="30" name="ZoneTexte 1"/>
          <p:cNvSpPr txBox="1"/>
          <p:nvPr/>
        </p:nvSpPr>
        <p:spPr>
          <a:xfrm>
            <a:off x="6517380" y="4441280"/>
            <a:ext cx="2454416" cy="415498"/>
          </a:xfrm>
          <a:prstGeom prst="rect">
            <a:avLst/>
          </a:prstGeom>
          <a:noFill/>
        </p:spPr>
        <p:txBody>
          <a:bodyPr wrap="square" rtlCol="0">
            <a:spAutoFit/>
          </a:bodyPr>
          <a:lstStyle/>
          <a:p>
            <a:pPr algn="r"/>
            <a:r>
              <a:rPr lang="fr-FR" sz="1050" dirty="0"/>
              <a:t>[</a:t>
            </a:r>
            <a:r>
              <a:rPr lang="fr-FR" sz="1050" dirty="0" err="1"/>
              <a:t>Lavielle</a:t>
            </a:r>
            <a:r>
              <a:rPr lang="fr-FR" sz="1050" dirty="0"/>
              <a:t>, </a:t>
            </a:r>
            <a:r>
              <a:rPr lang="fr-FR" sz="1050" dirty="0" err="1"/>
              <a:t>Delyon</a:t>
            </a:r>
            <a:r>
              <a:rPr lang="fr-FR" sz="1050" dirty="0"/>
              <a:t>, Moulines]</a:t>
            </a:r>
          </a:p>
          <a:p>
            <a:pPr algn="r"/>
            <a:r>
              <a:rPr lang="fr-FR" sz="1050" dirty="0"/>
              <a:t>[</a:t>
            </a:r>
            <a:r>
              <a:rPr lang="fr-FR" sz="1050" dirty="0" err="1"/>
              <a:t>Allassonnière</a:t>
            </a:r>
            <a:r>
              <a:rPr lang="fr-FR" sz="1050" dirty="0"/>
              <a:t> et al.’10]</a:t>
            </a:r>
          </a:p>
        </p:txBody>
      </p:sp>
      <p:pic>
        <p:nvPicPr>
          <p:cNvPr id="6" name="Picture 5">
            <a:extLst>
              <a:ext uri="{FF2B5EF4-FFF2-40B4-BE49-F238E27FC236}">
                <a16:creationId xmlns:a16="http://schemas.microsoft.com/office/drawing/2014/main" id="{01D7578A-8CF5-1748-BB28-604831E0F4F7}"/>
              </a:ext>
            </a:extLst>
          </p:cNvPr>
          <p:cNvPicPr>
            <a:picLocks noChangeAspect="1"/>
          </p:cNvPicPr>
          <p:nvPr/>
        </p:nvPicPr>
        <p:blipFill>
          <a:blip r:embed="rId7"/>
          <a:stretch>
            <a:fillRect/>
          </a:stretch>
        </p:blipFill>
        <p:spPr>
          <a:xfrm>
            <a:off x="507105" y="1858029"/>
            <a:ext cx="1371600" cy="180975"/>
          </a:xfrm>
          <a:prstGeom prst="rect">
            <a:avLst/>
          </a:prstGeom>
        </p:spPr>
      </p:pic>
      <p:pic>
        <p:nvPicPr>
          <p:cNvPr id="10" name="Picture 9">
            <a:extLst>
              <a:ext uri="{FF2B5EF4-FFF2-40B4-BE49-F238E27FC236}">
                <a16:creationId xmlns:a16="http://schemas.microsoft.com/office/drawing/2014/main" id="{FD6597D9-22FA-9341-A145-08A4B46AF54A}"/>
              </a:ext>
            </a:extLst>
          </p:cNvPr>
          <p:cNvPicPr>
            <a:picLocks noChangeAspect="1"/>
          </p:cNvPicPr>
          <p:nvPr/>
        </p:nvPicPr>
        <p:blipFill>
          <a:blip r:embed="rId8"/>
          <a:stretch>
            <a:fillRect/>
          </a:stretch>
        </p:blipFill>
        <p:spPr>
          <a:xfrm>
            <a:off x="520461" y="3565828"/>
            <a:ext cx="1790700" cy="180975"/>
          </a:xfrm>
          <a:prstGeom prst="rect">
            <a:avLst/>
          </a:prstGeom>
        </p:spPr>
      </p:pic>
      <p:pic>
        <p:nvPicPr>
          <p:cNvPr id="12" name="Picture 11">
            <a:extLst>
              <a:ext uri="{FF2B5EF4-FFF2-40B4-BE49-F238E27FC236}">
                <a16:creationId xmlns:a16="http://schemas.microsoft.com/office/drawing/2014/main" id="{632C4A3E-26FD-D346-9323-3FACB5E8CC68}"/>
              </a:ext>
            </a:extLst>
          </p:cNvPr>
          <p:cNvPicPr>
            <a:picLocks noChangeAspect="1"/>
          </p:cNvPicPr>
          <p:nvPr/>
        </p:nvPicPr>
        <p:blipFill>
          <a:blip r:embed="rId9"/>
          <a:stretch>
            <a:fillRect/>
          </a:stretch>
        </p:blipFill>
        <p:spPr>
          <a:xfrm>
            <a:off x="5420952" y="3565828"/>
            <a:ext cx="3143250" cy="219075"/>
          </a:xfrm>
          <a:prstGeom prst="rect">
            <a:avLst/>
          </a:prstGeom>
        </p:spPr>
      </p:pic>
      <p:sp>
        <p:nvSpPr>
          <p:cNvPr id="13" name="Rectangle 12">
            <a:extLst>
              <a:ext uri="{FF2B5EF4-FFF2-40B4-BE49-F238E27FC236}">
                <a16:creationId xmlns:a16="http://schemas.microsoft.com/office/drawing/2014/main" id="{3FF81544-5945-DD40-9390-851EC4E049EC}"/>
              </a:ext>
            </a:extLst>
          </p:cNvPr>
          <p:cNvSpPr/>
          <p:nvPr/>
        </p:nvSpPr>
        <p:spPr>
          <a:xfrm>
            <a:off x="5132092" y="2193871"/>
            <a:ext cx="3605475" cy="300082"/>
          </a:xfrm>
          <a:prstGeom prst="rect">
            <a:avLst/>
          </a:prstGeom>
        </p:spPr>
        <p:txBody>
          <a:bodyPr wrap="none">
            <a:spAutoFit/>
          </a:bodyPr>
          <a:lstStyle/>
          <a:p>
            <a:pPr algn="ctr"/>
            <a:r>
              <a:rPr lang="en-US" sz="1350" b="1" dirty="0">
                <a:solidFill>
                  <a:srgbClr val="000000"/>
                </a:solidFill>
                <a:sym typeface="Wingdings"/>
              </a:rPr>
              <a:t>Distribution from the curved exponential family</a:t>
            </a:r>
          </a:p>
        </p:txBody>
      </p:sp>
      <p:sp>
        <p:nvSpPr>
          <p:cNvPr id="26" name="Rectangle 25">
            <a:extLst>
              <a:ext uri="{FF2B5EF4-FFF2-40B4-BE49-F238E27FC236}">
                <a16:creationId xmlns:a16="http://schemas.microsoft.com/office/drawing/2014/main" id="{1DDF0B0F-1188-0F46-934E-ABD0253CE466}"/>
              </a:ext>
            </a:extLst>
          </p:cNvPr>
          <p:cNvSpPr/>
          <p:nvPr/>
        </p:nvSpPr>
        <p:spPr>
          <a:xfrm>
            <a:off x="5157828" y="1633963"/>
            <a:ext cx="3249992" cy="300082"/>
          </a:xfrm>
          <a:prstGeom prst="rect">
            <a:avLst/>
          </a:prstGeom>
        </p:spPr>
        <p:txBody>
          <a:bodyPr wrap="none">
            <a:spAutoFit/>
          </a:bodyPr>
          <a:lstStyle/>
          <a:p>
            <a:r>
              <a:rPr lang="en-US" sz="1350" b="1" dirty="0">
                <a:solidFill>
                  <a:srgbClr val="000000"/>
                </a:solidFill>
                <a:sym typeface="Wingdings"/>
              </a:rPr>
              <a:t>Metropolis Hastings </a:t>
            </a:r>
            <a:r>
              <a:rPr lang="en-US" sz="1350" dirty="0">
                <a:solidFill>
                  <a:srgbClr val="000000"/>
                </a:solidFill>
                <a:sym typeface="Wingdings"/>
              </a:rPr>
              <a:t>(within Gibbs sampler)</a:t>
            </a:r>
          </a:p>
        </p:txBody>
      </p:sp>
      <p:pic>
        <p:nvPicPr>
          <p:cNvPr id="14" name="Picture 13">
            <a:extLst>
              <a:ext uri="{FF2B5EF4-FFF2-40B4-BE49-F238E27FC236}">
                <a16:creationId xmlns:a16="http://schemas.microsoft.com/office/drawing/2014/main" id="{BCCA484D-9C53-A841-BE5E-8D08B6A70B59}"/>
              </a:ext>
            </a:extLst>
          </p:cNvPr>
          <p:cNvPicPr>
            <a:picLocks noChangeAspect="1"/>
          </p:cNvPicPr>
          <p:nvPr/>
        </p:nvPicPr>
        <p:blipFill>
          <a:blip r:embed="rId10"/>
          <a:stretch>
            <a:fillRect/>
          </a:stretch>
        </p:blipFill>
        <p:spPr>
          <a:xfrm>
            <a:off x="507105" y="2977257"/>
            <a:ext cx="2047875" cy="295275"/>
          </a:xfrm>
          <a:prstGeom prst="rect">
            <a:avLst/>
          </a:prstGeom>
        </p:spPr>
      </p:pic>
      <p:pic>
        <p:nvPicPr>
          <p:cNvPr id="17" name="Picture 16">
            <a:extLst>
              <a:ext uri="{FF2B5EF4-FFF2-40B4-BE49-F238E27FC236}">
                <a16:creationId xmlns:a16="http://schemas.microsoft.com/office/drawing/2014/main" id="{0C158A8B-D935-7240-95AD-753535C810D5}"/>
              </a:ext>
            </a:extLst>
          </p:cNvPr>
          <p:cNvPicPr>
            <a:picLocks noChangeAspect="1"/>
          </p:cNvPicPr>
          <p:nvPr/>
        </p:nvPicPr>
        <p:blipFill>
          <a:blip r:embed="rId11"/>
          <a:stretch>
            <a:fillRect/>
          </a:stretch>
        </p:blipFill>
        <p:spPr>
          <a:xfrm>
            <a:off x="504591" y="2433315"/>
            <a:ext cx="4171950" cy="523875"/>
          </a:xfrm>
          <a:prstGeom prst="rect">
            <a:avLst/>
          </a:prstGeom>
        </p:spPr>
      </p:pic>
      <p:pic>
        <p:nvPicPr>
          <p:cNvPr id="28" name="Picture 27">
            <a:extLst>
              <a:ext uri="{FF2B5EF4-FFF2-40B4-BE49-F238E27FC236}">
                <a16:creationId xmlns:a16="http://schemas.microsoft.com/office/drawing/2014/main" id="{3556730F-7279-D242-BA6A-FE848B0168FF}"/>
              </a:ext>
            </a:extLst>
          </p:cNvPr>
          <p:cNvPicPr>
            <a:picLocks noChangeAspect="1"/>
          </p:cNvPicPr>
          <p:nvPr/>
        </p:nvPicPr>
        <p:blipFill>
          <a:blip r:embed="rId12"/>
          <a:stretch>
            <a:fillRect/>
          </a:stretch>
        </p:blipFill>
        <p:spPr>
          <a:xfrm>
            <a:off x="5420952" y="3811612"/>
            <a:ext cx="2990850" cy="504825"/>
          </a:xfrm>
          <a:prstGeom prst="rect">
            <a:avLst/>
          </a:prstGeom>
        </p:spPr>
      </p:pic>
      <p:sp>
        <p:nvSpPr>
          <p:cNvPr id="31" name="Rectangle 30">
            <a:extLst>
              <a:ext uri="{FF2B5EF4-FFF2-40B4-BE49-F238E27FC236}">
                <a16:creationId xmlns:a16="http://schemas.microsoft.com/office/drawing/2014/main" id="{9543E5FE-4447-6541-9C21-2F8E55DD1E53}"/>
              </a:ext>
            </a:extLst>
          </p:cNvPr>
          <p:cNvSpPr/>
          <p:nvPr/>
        </p:nvSpPr>
        <p:spPr>
          <a:xfrm>
            <a:off x="5135554" y="3293468"/>
            <a:ext cx="1749390" cy="300082"/>
          </a:xfrm>
          <a:prstGeom prst="rect">
            <a:avLst/>
          </a:prstGeom>
        </p:spPr>
        <p:txBody>
          <a:bodyPr wrap="none">
            <a:spAutoFit/>
          </a:bodyPr>
          <a:lstStyle/>
          <a:p>
            <a:pPr algn="ctr"/>
            <a:r>
              <a:rPr lang="en-US" sz="1350" b="1" dirty="0">
                <a:solidFill>
                  <a:srgbClr val="000000"/>
                </a:solidFill>
                <a:sym typeface="Wingdings"/>
              </a:rPr>
              <a:t>Gradient descent step</a:t>
            </a:r>
          </a:p>
        </p:txBody>
      </p:sp>
      <p:sp>
        <p:nvSpPr>
          <p:cNvPr id="2" name="Espace réservé du numéro de diapositive 1">
            <a:extLst>
              <a:ext uri="{FF2B5EF4-FFF2-40B4-BE49-F238E27FC236}">
                <a16:creationId xmlns:a16="http://schemas.microsoft.com/office/drawing/2014/main" id="{1B1EC96A-DD3B-2D73-C5CB-7211807C48A9}"/>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17</a:t>
            </a:fld>
            <a:endParaRPr lang="fr-FR"/>
          </a:p>
        </p:txBody>
      </p:sp>
    </p:spTree>
    <p:extLst>
      <p:ext uri="{BB962C8B-B14F-4D97-AF65-F5344CB8AC3E}">
        <p14:creationId xmlns:p14="http://schemas.microsoft.com/office/powerpoint/2010/main" val="288488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20"/>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4"/>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3" grpId="0"/>
      <p:bldP spid="13" grpId="1"/>
      <p:bldP spid="26" grpId="0"/>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44177" y="877231"/>
            <a:ext cx="3080486" cy="369743"/>
          </a:xfrm>
        </p:spPr>
        <p:txBody>
          <a:bodyPr>
            <a:normAutofit fontScale="92500" lnSpcReduction="10000"/>
          </a:bodyPr>
          <a:lstStyle/>
          <a:p>
            <a:r>
              <a:rPr lang="en-US" sz="1500" dirty="0"/>
              <a:t>A generic mixed effect model</a:t>
            </a:r>
          </a:p>
        </p:txBody>
      </p:sp>
      <p:sp>
        <p:nvSpPr>
          <p:cNvPr id="93" name="Text Placeholder 4">
            <a:extLst>
              <a:ext uri="{FF2B5EF4-FFF2-40B4-BE49-F238E27FC236}">
                <a16:creationId xmlns:a16="http://schemas.microsoft.com/office/drawing/2014/main" id="{BE3F7C91-54E0-A14E-A6FD-825E81E86A52}"/>
              </a:ext>
            </a:extLst>
          </p:cNvPr>
          <p:cNvSpPr txBox="1">
            <a:spLocks/>
          </p:cNvSpPr>
          <p:nvPr/>
        </p:nvSpPr>
        <p:spPr>
          <a:xfrm>
            <a:off x="5383188" y="877231"/>
            <a:ext cx="3080486" cy="369743"/>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702082"/>
                </a:solidFill>
                <a:latin typeface="Nexa Bold" charset="0"/>
                <a:ea typeface="Nexa Bold" charset="0"/>
                <a:cs typeface="Nexa Bold" charset="0"/>
              </a:defRPr>
            </a:lvl1pPr>
            <a:lvl2pPr marL="457200" indent="0" algn="l" defTabSz="914400" rtl="0" eaLnBrk="1" latinLnBrk="0" hangingPunct="1">
              <a:lnSpc>
                <a:spcPct val="80000"/>
              </a:lnSpc>
              <a:spcBef>
                <a:spcPts val="500"/>
              </a:spcBef>
              <a:buFontTx/>
              <a:buNone/>
              <a:defRPr sz="1500" kern="1200">
                <a:solidFill>
                  <a:schemeClr val="tx1"/>
                </a:solidFill>
                <a:latin typeface="Nexa Light" charset="0"/>
                <a:ea typeface="Nexa Light" charset="0"/>
                <a:cs typeface="Nexa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A generic inference algorithm</a:t>
            </a:r>
          </a:p>
        </p:txBody>
      </p:sp>
      <p:grpSp>
        <p:nvGrpSpPr>
          <p:cNvPr id="9" name="Group 8">
            <a:extLst>
              <a:ext uri="{FF2B5EF4-FFF2-40B4-BE49-F238E27FC236}">
                <a16:creationId xmlns:a16="http://schemas.microsoft.com/office/drawing/2014/main" id="{59916696-4416-A448-823E-C0129A83ACC8}"/>
              </a:ext>
            </a:extLst>
          </p:cNvPr>
          <p:cNvGrpSpPr/>
          <p:nvPr/>
        </p:nvGrpSpPr>
        <p:grpSpPr>
          <a:xfrm>
            <a:off x="591562" y="1600329"/>
            <a:ext cx="3663499" cy="3154971"/>
            <a:chOff x="866241" y="2021219"/>
            <a:chExt cx="4884665" cy="4206628"/>
          </a:xfrm>
        </p:grpSpPr>
        <p:pic>
          <p:nvPicPr>
            <p:cNvPr id="17" name="Picture 26" descr="chronometer_delay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34964" y="4096298"/>
              <a:ext cx="276823" cy="321638"/>
            </a:xfrm>
            <a:prstGeom prst="rect">
              <a:avLst/>
            </a:prstGeom>
          </p:spPr>
        </p:pic>
        <p:pic>
          <p:nvPicPr>
            <p:cNvPr id="18" name="Picture 27" descr="chronometer_turned_delay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21939" y="4475815"/>
              <a:ext cx="276823" cy="321638"/>
            </a:xfrm>
            <a:prstGeom prst="rect">
              <a:avLst/>
            </a:prstGeom>
          </p:spPr>
        </p:pic>
        <p:grpSp>
          <p:nvGrpSpPr>
            <p:cNvPr id="19" name="Group 136"/>
            <p:cNvGrpSpPr/>
            <p:nvPr/>
          </p:nvGrpSpPr>
          <p:grpSpPr>
            <a:xfrm>
              <a:off x="1374029" y="2290084"/>
              <a:ext cx="3213483" cy="790528"/>
              <a:chOff x="4772606" y="1817803"/>
              <a:chExt cx="4067419" cy="1027781"/>
            </a:xfrm>
          </p:grpSpPr>
          <p:sp>
            <p:nvSpPr>
              <p:cNvPr id="20" name="Freeform 51"/>
              <p:cNvSpPr/>
              <p:nvPr/>
            </p:nvSpPr>
            <p:spPr>
              <a:xfrm>
                <a:off x="4772606" y="1817803"/>
                <a:ext cx="4067419" cy="1027781"/>
              </a:xfrm>
              <a:custGeom>
                <a:avLst/>
                <a:gdLst>
                  <a:gd name="connsiteX0" fmla="*/ 0 w 6973738"/>
                  <a:gd name="connsiteY0" fmla="*/ 731368 h 1735257"/>
                  <a:gd name="connsiteX1" fmla="*/ 1163557 w 6973738"/>
                  <a:gd name="connsiteY1" fmla="*/ 122951 h 1735257"/>
                  <a:gd name="connsiteX2" fmla="*/ 3901339 w 6973738"/>
                  <a:gd name="connsiteY2" fmla="*/ 1469074 h 1735257"/>
                  <a:gd name="connsiteX3" fmla="*/ 6973738 w 6973738"/>
                  <a:gd name="connsiteY3" fmla="*/ 1720046 h 1735257"/>
                </a:gdLst>
                <a:ahLst/>
                <a:cxnLst>
                  <a:cxn ang="0">
                    <a:pos x="connsiteX0" y="connsiteY0"/>
                  </a:cxn>
                  <a:cxn ang="0">
                    <a:pos x="connsiteX1" y="connsiteY1"/>
                  </a:cxn>
                  <a:cxn ang="0">
                    <a:pos x="connsiteX2" y="connsiteY2"/>
                  </a:cxn>
                  <a:cxn ang="0">
                    <a:pos x="connsiteX3" y="connsiteY3"/>
                  </a:cxn>
                </a:cxnLst>
                <a:rect l="l" t="t" r="r" b="b"/>
                <a:pathLst>
                  <a:path w="6973738" h="1735257">
                    <a:moveTo>
                      <a:pt x="0" y="731368"/>
                    </a:moveTo>
                    <a:cubicBezTo>
                      <a:pt x="256667" y="365684"/>
                      <a:pt x="513334" y="0"/>
                      <a:pt x="1163557" y="122951"/>
                    </a:cubicBezTo>
                    <a:cubicBezTo>
                      <a:pt x="1813780" y="245902"/>
                      <a:pt x="2932976" y="1202892"/>
                      <a:pt x="3901339" y="1469074"/>
                    </a:cubicBezTo>
                    <a:cubicBezTo>
                      <a:pt x="4869703" y="1735257"/>
                      <a:pt x="6973738" y="1720046"/>
                      <a:pt x="6973738" y="1720046"/>
                    </a:cubicBezTo>
                  </a:path>
                </a:pathLst>
              </a:custGeom>
              <a:ln>
                <a:solidFill>
                  <a:schemeClr val="accent3"/>
                </a:solidFill>
                <a:prstDash val="lgDash"/>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 name="Oval 53"/>
              <p:cNvSpPr>
                <a:spLocks noChangeAspect="1"/>
              </p:cNvSpPr>
              <p:nvPr/>
            </p:nvSpPr>
            <p:spPr>
              <a:xfrm>
                <a:off x="5269022" y="1840325"/>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2" name="Oval 54"/>
              <p:cNvSpPr>
                <a:spLocks noChangeAspect="1"/>
              </p:cNvSpPr>
              <p:nvPr/>
            </p:nvSpPr>
            <p:spPr>
              <a:xfrm>
                <a:off x="7342879" y="2724943"/>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23" name="Group 140"/>
            <p:cNvGrpSpPr/>
            <p:nvPr/>
          </p:nvGrpSpPr>
          <p:grpSpPr>
            <a:xfrm>
              <a:off x="1304530" y="4001184"/>
              <a:ext cx="3271024" cy="686250"/>
              <a:chOff x="4703107" y="3560199"/>
              <a:chExt cx="4140252" cy="892207"/>
            </a:xfrm>
          </p:grpSpPr>
          <p:sp>
            <p:nvSpPr>
              <p:cNvPr id="24" name="Freeform 61"/>
              <p:cNvSpPr/>
              <p:nvPr/>
            </p:nvSpPr>
            <p:spPr>
              <a:xfrm>
                <a:off x="4703107" y="3560199"/>
                <a:ext cx="4140252" cy="892207"/>
              </a:xfrm>
              <a:custGeom>
                <a:avLst/>
                <a:gdLst>
                  <a:gd name="connsiteX0" fmla="*/ 0 w 7098612"/>
                  <a:gd name="connsiteY0" fmla="*/ 459278 h 1506359"/>
                  <a:gd name="connsiteX1" fmla="*/ 1190661 w 7098612"/>
                  <a:gd name="connsiteY1" fmla="*/ 119072 h 1506359"/>
                  <a:gd name="connsiteX2" fmla="*/ 4377100 w 7098612"/>
                  <a:gd name="connsiteY2" fmla="*/ 1173712 h 1506359"/>
                  <a:gd name="connsiteX3" fmla="*/ 5579101 w 7098612"/>
                  <a:gd name="connsiteY3" fmla="*/ 1491239 h 1506359"/>
                  <a:gd name="connsiteX4" fmla="*/ 7098612 w 7098612"/>
                  <a:gd name="connsiteY4" fmla="*/ 1264434 h 1506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8612" h="1506359">
                    <a:moveTo>
                      <a:pt x="0" y="459278"/>
                    </a:moveTo>
                    <a:cubicBezTo>
                      <a:pt x="230572" y="229639"/>
                      <a:pt x="461144" y="0"/>
                      <a:pt x="1190661" y="119072"/>
                    </a:cubicBezTo>
                    <a:cubicBezTo>
                      <a:pt x="1920178" y="238144"/>
                      <a:pt x="3645693" y="945018"/>
                      <a:pt x="4377100" y="1173712"/>
                    </a:cubicBezTo>
                    <a:cubicBezTo>
                      <a:pt x="5108507" y="1402406"/>
                      <a:pt x="5125516" y="1476119"/>
                      <a:pt x="5579101" y="1491239"/>
                    </a:cubicBezTo>
                    <a:cubicBezTo>
                      <a:pt x="6032686" y="1506359"/>
                      <a:pt x="7098612" y="1264434"/>
                      <a:pt x="7098612" y="1264434"/>
                    </a:cubicBezTo>
                  </a:path>
                </a:pathLst>
              </a:custGeom>
              <a:ln w="28575">
                <a:solidFill>
                  <a:schemeClr val="accent3"/>
                </a:solidFill>
                <a:prstDash val="lgDash"/>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5" name="Oval 59"/>
              <p:cNvSpPr>
                <a:spLocks noChangeAspect="1"/>
              </p:cNvSpPr>
              <p:nvPr/>
            </p:nvSpPr>
            <p:spPr>
              <a:xfrm>
                <a:off x="5230907" y="3571442"/>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6" name="Oval 60"/>
              <p:cNvSpPr>
                <a:spLocks noChangeAspect="1"/>
              </p:cNvSpPr>
              <p:nvPr/>
            </p:nvSpPr>
            <p:spPr>
              <a:xfrm>
                <a:off x="7282460" y="4244444"/>
                <a:ext cx="69290" cy="70364"/>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27" name="Group 83"/>
            <p:cNvGrpSpPr/>
            <p:nvPr/>
          </p:nvGrpSpPr>
          <p:grpSpPr>
            <a:xfrm>
              <a:off x="1217680" y="2900251"/>
              <a:ext cx="4234174" cy="1149007"/>
              <a:chOff x="1151533" y="2145919"/>
              <a:chExt cx="4234174" cy="1149007"/>
            </a:xfrm>
          </p:grpSpPr>
          <p:grpSp>
            <p:nvGrpSpPr>
              <p:cNvPr id="28" name="Group 114"/>
              <p:cNvGrpSpPr/>
              <p:nvPr/>
            </p:nvGrpSpPr>
            <p:grpSpPr>
              <a:xfrm>
                <a:off x="1533508" y="2145919"/>
                <a:ext cx="270775" cy="306291"/>
                <a:chOff x="2225288" y="1012321"/>
                <a:chExt cx="587622" cy="672325"/>
              </a:xfrm>
            </p:grpSpPr>
            <p:pic>
              <p:nvPicPr>
                <p:cNvPr id="40" name="Picture 24" descr="chronometer.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25288" y="1012321"/>
                  <a:ext cx="587622" cy="672325"/>
                </a:xfrm>
                <a:prstGeom prst="rect">
                  <a:avLst/>
                </a:prstGeom>
              </p:spPr>
            </p:pic>
            <p:pic>
              <p:nvPicPr>
                <p:cNvPr id="41" name="Picture 25" descr="latex-image-1.pdf"/>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25740" y="1399362"/>
                  <a:ext cx="165100" cy="190500"/>
                </a:xfrm>
                <a:prstGeom prst="rect">
                  <a:avLst/>
                </a:prstGeom>
              </p:spPr>
            </p:pic>
          </p:grpSp>
          <p:grpSp>
            <p:nvGrpSpPr>
              <p:cNvPr id="29" name="Group 130"/>
              <p:cNvGrpSpPr/>
              <p:nvPr/>
            </p:nvGrpSpPr>
            <p:grpSpPr>
              <a:xfrm>
                <a:off x="1151533" y="2497868"/>
                <a:ext cx="3197871" cy="571731"/>
                <a:chOff x="4616257" y="2845585"/>
                <a:chExt cx="4047659" cy="743319"/>
              </a:xfrm>
            </p:grpSpPr>
            <p:sp>
              <p:nvSpPr>
                <p:cNvPr id="37" name="Freeform 47"/>
                <p:cNvSpPr/>
                <p:nvPr/>
              </p:nvSpPr>
              <p:spPr>
                <a:xfrm>
                  <a:off x="4616257" y="2845585"/>
                  <a:ext cx="4047659" cy="743319"/>
                </a:xfrm>
                <a:custGeom>
                  <a:avLst/>
                  <a:gdLst>
                    <a:gd name="connsiteX0" fmla="*/ 0 w 6939858"/>
                    <a:gd name="connsiteY0" fmla="*/ 442268 h 1254984"/>
                    <a:gd name="connsiteX1" fmla="*/ 1451474 w 6939858"/>
                    <a:gd name="connsiteY1" fmla="*/ 113402 h 1254984"/>
                    <a:gd name="connsiteX2" fmla="*/ 4535855 w 6939858"/>
                    <a:gd name="connsiteY2" fmla="*/ 1122682 h 1254984"/>
                    <a:gd name="connsiteX3" fmla="*/ 6939858 w 6939858"/>
                    <a:gd name="connsiteY3" fmla="*/ 907217 h 1254984"/>
                  </a:gdLst>
                  <a:ahLst/>
                  <a:cxnLst>
                    <a:cxn ang="0">
                      <a:pos x="connsiteX0" y="connsiteY0"/>
                    </a:cxn>
                    <a:cxn ang="0">
                      <a:pos x="connsiteX1" y="connsiteY1"/>
                    </a:cxn>
                    <a:cxn ang="0">
                      <a:pos x="connsiteX2" y="connsiteY2"/>
                    </a:cxn>
                    <a:cxn ang="0">
                      <a:pos x="connsiteX3" y="connsiteY3"/>
                    </a:cxn>
                  </a:cxnLst>
                  <a:rect l="l" t="t" r="r" b="b"/>
                  <a:pathLst>
                    <a:path w="6939858" h="1254984">
                      <a:moveTo>
                        <a:pt x="0" y="442268"/>
                      </a:moveTo>
                      <a:cubicBezTo>
                        <a:pt x="347749" y="221134"/>
                        <a:pt x="695498" y="0"/>
                        <a:pt x="1451474" y="113402"/>
                      </a:cubicBezTo>
                      <a:cubicBezTo>
                        <a:pt x="2207450" y="226804"/>
                        <a:pt x="3621125" y="990380"/>
                        <a:pt x="4535855" y="1122682"/>
                      </a:cubicBezTo>
                      <a:cubicBezTo>
                        <a:pt x="5450585" y="1254984"/>
                        <a:pt x="6939858" y="907217"/>
                        <a:pt x="6939858" y="907217"/>
                      </a:cubicBezTo>
                    </a:path>
                  </a:pathLst>
                </a:custGeom>
                <a:ln w="28575">
                  <a:solidFill>
                    <a:schemeClr val="accent2"/>
                  </a:solidFill>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38" name="Oval 45"/>
                <p:cNvSpPr>
                  <a:spLocks noChangeAspect="1"/>
                </p:cNvSpPr>
                <p:nvPr/>
              </p:nvSpPr>
              <p:spPr>
                <a:xfrm>
                  <a:off x="5217474" y="2859098"/>
                  <a:ext cx="69290" cy="70364"/>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9" name="Oval 46"/>
                <p:cNvSpPr>
                  <a:spLocks noChangeAspect="1"/>
                </p:cNvSpPr>
                <p:nvPr/>
              </p:nvSpPr>
              <p:spPr>
                <a:xfrm>
                  <a:off x="7282460" y="3483515"/>
                  <a:ext cx="69290" cy="70364"/>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30" name="Group 146"/>
              <p:cNvGrpSpPr/>
              <p:nvPr/>
            </p:nvGrpSpPr>
            <p:grpSpPr>
              <a:xfrm>
                <a:off x="3202974" y="2613124"/>
                <a:ext cx="271128" cy="306689"/>
                <a:chOff x="7159943" y="3039762"/>
                <a:chExt cx="343176" cy="398732"/>
              </a:xfrm>
            </p:grpSpPr>
            <p:pic>
              <p:nvPicPr>
                <p:cNvPr id="35" name="Picture 71" descr="chronometer_turn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59943" y="3039762"/>
                  <a:ext cx="343176" cy="398732"/>
                </a:xfrm>
                <a:prstGeom prst="rect">
                  <a:avLst/>
                </a:prstGeom>
              </p:spPr>
            </p:pic>
            <p:pic>
              <p:nvPicPr>
                <p:cNvPr id="36" name="Picture 75" descr="latex-image-1.pdf"/>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96229" y="3296874"/>
                  <a:ext cx="44444" cy="97788"/>
                </a:xfrm>
                <a:prstGeom prst="rect">
                  <a:avLst/>
                </a:prstGeom>
              </p:spPr>
            </p:pic>
          </p:grpSp>
          <p:cxnSp>
            <p:nvCxnSpPr>
              <p:cNvPr id="31" name="Straight Arrow Connector 76"/>
              <p:cNvCxnSpPr/>
              <p:nvPr/>
            </p:nvCxnSpPr>
            <p:spPr>
              <a:xfrm>
                <a:off x="1657458" y="2538378"/>
                <a:ext cx="453916" cy="158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pic>
            <p:nvPicPr>
              <p:cNvPr id="32" name="Picture 77" descr="latex-image-1.pdf"/>
              <p:cNvPicPr>
                <a:picLocks noChangeAspect="1"/>
              </p:cNvPicPr>
              <p:nvPr/>
            </p:nvPicPr>
            <p:blipFill>
              <a:blip r:embed="rId8"/>
              <a:stretch>
                <a:fillRect/>
              </a:stretch>
            </p:blipFill>
            <p:spPr>
              <a:xfrm>
                <a:off x="2001553" y="2326281"/>
                <a:ext cx="159511" cy="125930"/>
              </a:xfrm>
              <a:prstGeom prst="rect">
                <a:avLst/>
              </a:prstGeom>
            </p:spPr>
          </p:pic>
          <p:pic>
            <p:nvPicPr>
              <p:cNvPr id="33" name="Picture 78" descr="latex-image-1.pdf"/>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470542" y="2541682"/>
                <a:ext cx="139458" cy="104594"/>
              </a:xfrm>
              <a:prstGeom prst="rect">
                <a:avLst/>
              </a:prstGeom>
            </p:spPr>
          </p:pic>
          <p:pic>
            <p:nvPicPr>
              <p:cNvPr id="34" name="Picture 82" descr="latex-image-1.pdf"/>
              <p:cNvPicPr>
                <a:picLocks noChangeAspect="1"/>
              </p:cNvPicPr>
              <p:nvPr/>
            </p:nvPicPr>
            <p:blipFill>
              <a:blip r:embed="rId10"/>
              <a:stretch>
                <a:fillRect/>
              </a:stretch>
            </p:blipFill>
            <p:spPr>
              <a:xfrm>
                <a:off x="3633107" y="3079026"/>
                <a:ext cx="1752600" cy="215900"/>
              </a:xfrm>
              <a:prstGeom prst="rect">
                <a:avLst/>
              </a:prstGeom>
            </p:spPr>
          </p:pic>
        </p:grpSp>
        <p:grpSp>
          <p:nvGrpSpPr>
            <p:cNvPr id="42" name="Group 104"/>
            <p:cNvGrpSpPr/>
            <p:nvPr/>
          </p:nvGrpSpPr>
          <p:grpSpPr>
            <a:xfrm>
              <a:off x="1436366" y="3316653"/>
              <a:ext cx="604455" cy="688418"/>
              <a:chOff x="1370219" y="2846483"/>
              <a:chExt cx="604455" cy="688418"/>
            </a:xfrm>
          </p:grpSpPr>
          <p:cxnSp>
            <p:nvCxnSpPr>
              <p:cNvPr id="43" name="Straight Arrow Connector 84"/>
              <p:cNvCxnSpPr/>
              <p:nvPr/>
            </p:nvCxnSpPr>
            <p:spPr>
              <a:xfrm rot="5400000">
                <a:off x="1399749" y="3095303"/>
                <a:ext cx="480276" cy="2802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4" name="Freeform 85"/>
              <p:cNvSpPr/>
              <p:nvPr/>
            </p:nvSpPr>
            <p:spPr>
              <a:xfrm>
                <a:off x="1625876" y="2856477"/>
                <a:ext cx="348798" cy="678424"/>
              </a:xfrm>
              <a:custGeom>
                <a:avLst/>
                <a:gdLst>
                  <a:gd name="connsiteX0" fmla="*/ 58587 w 563201"/>
                  <a:gd name="connsiteY0" fmla="*/ 0 h 2063921"/>
                  <a:gd name="connsiteX1" fmla="*/ 81267 w 563201"/>
                  <a:gd name="connsiteY1" fmla="*/ 612372 h 2063921"/>
                  <a:gd name="connsiteX2" fmla="*/ 546192 w 563201"/>
                  <a:gd name="connsiteY2" fmla="*/ 1190724 h 2063921"/>
                  <a:gd name="connsiteX3" fmla="*/ 183323 w 563201"/>
                  <a:gd name="connsiteY3" fmla="*/ 2063921 h 2063921"/>
                </a:gdLst>
                <a:ahLst/>
                <a:cxnLst>
                  <a:cxn ang="0">
                    <a:pos x="connsiteX0" y="connsiteY0"/>
                  </a:cxn>
                  <a:cxn ang="0">
                    <a:pos x="connsiteX1" y="connsiteY1"/>
                  </a:cxn>
                  <a:cxn ang="0">
                    <a:pos x="connsiteX2" y="connsiteY2"/>
                  </a:cxn>
                  <a:cxn ang="0">
                    <a:pos x="connsiteX3" y="connsiteY3"/>
                  </a:cxn>
                </a:cxnLst>
                <a:rect l="l" t="t" r="r" b="b"/>
                <a:pathLst>
                  <a:path w="563201" h="2063921">
                    <a:moveTo>
                      <a:pt x="58587" y="0"/>
                    </a:moveTo>
                    <a:cubicBezTo>
                      <a:pt x="29293" y="206959"/>
                      <a:pt x="0" y="413918"/>
                      <a:pt x="81267" y="612372"/>
                    </a:cubicBezTo>
                    <a:cubicBezTo>
                      <a:pt x="162534" y="810826"/>
                      <a:pt x="529183" y="948799"/>
                      <a:pt x="546192" y="1190724"/>
                    </a:cubicBezTo>
                    <a:cubicBezTo>
                      <a:pt x="563201" y="1432649"/>
                      <a:pt x="183323" y="2063921"/>
                      <a:pt x="183323" y="2063921"/>
                    </a:cubicBezTo>
                  </a:path>
                </a:pathLst>
              </a:custGeom>
              <a:ln>
                <a:tailEnd type="stealth"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dirty="0"/>
              </a:p>
            </p:txBody>
          </p:sp>
          <p:cxnSp>
            <p:nvCxnSpPr>
              <p:cNvPr id="45" name="Straight Arrow Connector 86"/>
              <p:cNvCxnSpPr>
                <a:cxnSpLocks noChangeAspect="1"/>
              </p:cNvCxnSpPr>
              <p:nvPr/>
            </p:nvCxnSpPr>
            <p:spPr>
              <a:xfrm>
                <a:off x="1653900" y="2949488"/>
                <a:ext cx="107482" cy="1588"/>
              </a:xfrm>
              <a:prstGeom prst="straightConnector1">
                <a:avLst/>
              </a:prstGeom>
              <a:ln>
                <a:solidFill>
                  <a:srgbClr val="FF0000"/>
                </a:solidFill>
                <a:tailEnd type="none"/>
              </a:ln>
            </p:spPr>
            <p:style>
              <a:lnRef idx="2">
                <a:schemeClr val="accent1"/>
              </a:lnRef>
              <a:fillRef idx="0">
                <a:schemeClr val="accent1"/>
              </a:fillRef>
              <a:effectRef idx="1">
                <a:schemeClr val="accent1"/>
              </a:effectRef>
              <a:fontRef idx="minor">
                <a:schemeClr val="tx1"/>
              </a:fontRef>
            </p:style>
          </p:cxnSp>
          <p:cxnSp>
            <p:nvCxnSpPr>
              <p:cNvPr id="46" name="Straight Arrow Connector 87"/>
              <p:cNvCxnSpPr>
                <a:cxnSpLocks noChangeAspect="1"/>
              </p:cNvCxnSpPr>
              <p:nvPr/>
            </p:nvCxnSpPr>
            <p:spPr>
              <a:xfrm rot="5400000">
                <a:off x="1708051" y="2893191"/>
                <a:ext cx="103007" cy="9591"/>
              </a:xfrm>
              <a:prstGeom prst="straightConnector1">
                <a:avLst/>
              </a:prstGeom>
              <a:ln>
                <a:solidFill>
                  <a:srgbClr val="FF0000"/>
                </a:solidFill>
                <a:tailEnd type="none"/>
              </a:ln>
            </p:spPr>
            <p:style>
              <a:lnRef idx="2">
                <a:schemeClr val="accent1"/>
              </a:lnRef>
              <a:fillRef idx="0">
                <a:schemeClr val="accent1"/>
              </a:fillRef>
              <a:effectRef idx="1">
                <a:schemeClr val="accent1"/>
              </a:effectRef>
              <a:fontRef idx="minor">
                <a:schemeClr val="tx1"/>
              </a:fontRef>
            </p:style>
          </p:cxnSp>
          <p:pic>
            <p:nvPicPr>
              <p:cNvPr id="47" name="Picture 88" descr="latex-image-1.pdf"/>
              <p:cNvPicPr>
                <a:picLocks noChangeAspect="1"/>
              </p:cNvPicPr>
              <p:nvPr/>
            </p:nvPicPr>
            <p:blipFill>
              <a:blip r:embed="rId11"/>
              <a:stretch>
                <a:fillRect/>
              </a:stretch>
            </p:blipFill>
            <p:spPr>
              <a:xfrm>
                <a:off x="1370219" y="3127575"/>
                <a:ext cx="170557" cy="143275"/>
              </a:xfrm>
              <a:prstGeom prst="rect">
                <a:avLst/>
              </a:prstGeom>
            </p:spPr>
          </p:pic>
        </p:grpSp>
        <p:grpSp>
          <p:nvGrpSpPr>
            <p:cNvPr id="48" name="Group 152"/>
            <p:cNvGrpSpPr/>
            <p:nvPr/>
          </p:nvGrpSpPr>
          <p:grpSpPr>
            <a:xfrm>
              <a:off x="3014770" y="3777534"/>
              <a:ext cx="821690" cy="757165"/>
              <a:chOff x="2948623" y="3023202"/>
              <a:chExt cx="821690" cy="757165"/>
            </a:xfrm>
          </p:grpSpPr>
          <p:cxnSp>
            <p:nvCxnSpPr>
              <p:cNvPr id="49" name="Straight Arrow Connector 105"/>
              <p:cNvCxnSpPr/>
              <p:nvPr/>
            </p:nvCxnSpPr>
            <p:spPr>
              <a:xfrm>
                <a:off x="3313737" y="3023202"/>
                <a:ext cx="456576" cy="5582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106"/>
              <p:cNvCxnSpPr/>
              <p:nvPr/>
            </p:nvCxnSpPr>
            <p:spPr>
              <a:xfrm rot="5400000">
                <a:off x="3089271" y="3182570"/>
                <a:ext cx="337412" cy="5759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108"/>
              <p:cNvCxnSpPr>
                <a:cxnSpLocks noChangeAspect="1"/>
              </p:cNvCxnSpPr>
              <p:nvPr/>
            </p:nvCxnSpPr>
            <p:spPr>
              <a:xfrm rot="5400000">
                <a:off x="3326473" y="3084722"/>
                <a:ext cx="111397" cy="1588"/>
              </a:xfrm>
              <a:prstGeom prst="straightConnector1">
                <a:avLst/>
              </a:prstGeom>
              <a:ln>
                <a:solidFill>
                  <a:srgbClr val="FF0000"/>
                </a:solidFill>
                <a:tailEnd type="none"/>
              </a:ln>
              <a:scene3d>
                <a:camera prst="orthographicFront">
                  <a:rot lat="0" lon="2400000" rev="20699999"/>
                </a:camera>
                <a:lightRig rig="threePt" dir="t"/>
              </a:scene3d>
            </p:spPr>
            <p:style>
              <a:lnRef idx="2">
                <a:schemeClr val="accent1"/>
              </a:lnRef>
              <a:fillRef idx="0">
                <a:schemeClr val="accent1"/>
              </a:fillRef>
              <a:effectRef idx="1">
                <a:schemeClr val="accent1"/>
              </a:effectRef>
              <a:fontRef idx="minor">
                <a:schemeClr val="tx1"/>
              </a:fontRef>
            </p:style>
          </p:cxnSp>
          <p:cxnSp>
            <p:nvCxnSpPr>
              <p:cNvPr id="52" name="Straight Arrow Connector 109"/>
              <p:cNvCxnSpPr>
                <a:cxnSpLocks noChangeAspect="1"/>
              </p:cNvCxnSpPr>
              <p:nvPr/>
            </p:nvCxnSpPr>
            <p:spPr>
              <a:xfrm>
                <a:off x="3273855" y="3114230"/>
                <a:ext cx="101708" cy="1588"/>
              </a:xfrm>
              <a:prstGeom prst="straightConnector1">
                <a:avLst/>
              </a:prstGeom>
              <a:ln>
                <a:solidFill>
                  <a:srgbClr val="FF0000"/>
                </a:solidFill>
                <a:tailEnd type="none"/>
              </a:ln>
              <a:scene3d>
                <a:camera prst="orthographicFront">
                  <a:rot lat="0" lon="0" rev="20999999"/>
                </a:camera>
                <a:lightRig rig="threePt" dir="t"/>
              </a:scene3d>
            </p:spPr>
            <p:style>
              <a:lnRef idx="2">
                <a:schemeClr val="accent1"/>
              </a:lnRef>
              <a:fillRef idx="0">
                <a:schemeClr val="accent1"/>
              </a:fillRef>
              <a:effectRef idx="1">
                <a:schemeClr val="accent1"/>
              </a:effectRef>
              <a:fontRef idx="minor">
                <a:schemeClr val="tx1"/>
              </a:fontRef>
            </p:style>
          </p:cxnSp>
          <p:pic>
            <p:nvPicPr>
              <p:cNvPr id="53" name="Picture 110" descr="latex-image-1.pdf"/>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103431" y="3026244"/>
                <a:ext cx="154544" cy="105564"/>
              </a:xfrm>
              <a:prstGeom prst="rect">
                <a:avLst/>
              </a:prstGeom>
            </p:spPr>
          </p:pic>
          <p:pic>
            <p:nvPicPr>
              <p:cNvPr id="54" name="Picture 149" descr="latex-image-1.pdf"/>
              <p:cNvPicPr>
                <a:picLocks noChangeAspect="1"/>
              </p:cNvPicPr>
              <p:nvPr/>
            </p:nvPicPr>
            <p:blipFill>
              <a:blip r:embed="rId13"/>
              <a:stretch>
                <a:fillRect/>
              </a:stretch>
            </p:blipFill>
            <p:spPr>
              <a:xfrm>
                <a:off x="2948623" y="3223148"/>
                <a:ext cx="202667" cy="143556"/>
              </a:xfrm>
              <a:prstGeom prst="rect">
                <a:avLst/>
              </a:prstGeom>
            </p:spPr>
          </p:pic>
          <p:sp>
            <p:nvSpPr>
              <p:cNvPr id="55" name="Freeform 151"/>
              <p:cNvSpPr/>
              <p:nvPr/>
            </p:nvSpPr>
            <p:spPr>
              <a:xfrm>
                <a:off x="3247672" y="3026833"/>
                <a:ext cx="223662" cy="753534"/>
              </a:xfrm>
              <a:custGeom>
                <a:avLst/>
                <a:gdLst>
                  <a:gd name="connsiteX0" fmla="*/ 41628 w 223662"/>
                  <a:gd name="connsiteY0" fmla="*/ 0 h 753534"/>
                  <a:gd name="connsiteX1" fmla="*/ 28928 w 223662"/>
                  <a:gd name="connsiteY1" fmla="*/ 347134 h 753534"/>
                  <a:gd name="connsiteX2" fmla="*/ 215195 w 223662"/>
                  <a:gd name="connsiteY2" fmla="*/ 579967 h 753534"/>
                  <a:gd name="connsiteX3" fmla="*/ 79728 w 223662"/>
                  <a:gd name="connsiteY3" fmla="*/ 753534 h 753534"/>
                </a:gdLst>
                <a:ahLst/>
                <a:cxnLst>
                  <a:cxn ang="0">
                    <a:pos x="connsiteX0" y="connsiteY0"/>
                  </a:cxn>
                  <a:cxn ang="0">
                    <a:pos x="connsiteX1" y="connsiteY1"/>
                  </a:cxn>
                  <a:cxn ang="0">
                    <a:pos x="connsiteX2" y="connsiteY2"/>
                  </a:cxn>
                  <a:cxn ang="0">
                    <a:pos x="connsiteX3" y="connsiteY3"/>
                  </a:cxn>
                </a:cxnLst>
                <a:rect l="l" t="t" r="r" b="b"/>
                <a:pathLst>
                  <a:path w="223662" h="753534">
                    <a:moveTo>
                      <a:pt x="41628" y="0"/>
                    </a:moveTo>
                    <a:cubicBezTo>
                      <a:pt x="20814" y="125236"/>
                      <a:pt x="0" y="250473"/>
                      <a:pt x="28928" y="347134"/>
                    </a:cubicBezTo>
                    <a:cubicBezTo>
                      <a:pt x="57856" y="443795"/>
                      <a:pt x="206728" y="512234"/>
                      <a:pt x="215195" y="579967"/>
                    </a:cubicBezTo>
                    <a:cubicBezTo>
                      <a:pt x="223662" y="647700"/>
                      <a:pt x="79728" y="753534"/>
                      <a:pt x="79728" y="753534"/>
                    </a:cubicBezTo>
                  </a:path>
                </a:pathLst>
              </a:custGeom>
              <a:ln>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grpSp>
          <p:nvGrpSpPr>
            <p:cNvPr id="56" name="Group 5"/>
            <p:cNvGrpSpPr/>
            <p:nvPr/>
          </p:nvGrpSpPr>
          <p:grpSpPr>
            <a:xfrm>
              <a:off x="866241" y="2021219"/>
              <a:ext cx="4160316" cy="3134254"/>
              <a:chOff x="478881" y="1293813"/>
              <a:chExt cx="4160316" cy="3134254"/>
            </a:xfrm>
          </p:grpSpPr>
          <p:grpSp>
            <p:nvGrpSpPr>
              <p:cNvPr id="57" name="Group 61"/>
              <p:cNvGrpSpPr/>
              <p:nvPr/>
            </p:nvGrpSpPr>
            <p:grpSpPr>
              <a:xfrm>
                <a:off x="478881" y="1293813"/>
                <a:ext cx="4160316" cy="3134254"/>
                <a:chOff x="290689" y="579983"/>
                <a:chExt cx="8582377" cy="5258081"/>
              </a:xfrm>
            </p:grpSpPr>
            <p:sp>
              <p:nvSpPr>
                <p:cNvPr id="59" name="Freeform 191"/>
                <p:cNvSpPr/>
                <p:nvPr/>
              </p:nvSpPr>
              <p:spPr>
                <a:xfrm>
                  <a:off x="448733" y="579983"/>
                  <a:ext cx="8424333" cy="1553633"/>
                </a:xfrm>
                <a:custGeom>
                  <a:avLst/>
                  <a:gdLst>
                    <a:gd name="connsiteX0" fmla="*/ 0 w 8424333"/>
                    <a:gd name="connsiteY0" fmla="*/ 969433 h 1553633"/>
                    <a:gd name="connsiteX1" fmla="*/ 4021666 w 8424333"/>
                    <a:gd name="connsiteY1" fmla="*/ 97367 h 1553633"/>
                    <a:gd name="connsiteX2" fmla="*/ 8424333 w 8424333"/>
                    <a:gd name="connsiteY2" fmla="*/ 1553633 h 1553633"/>
                  </a:gdLst>
                  <a:ahLst/>
                  <a:cxnLst>
                    <a:cxn ang="0">
                      <a:pos x="connsiteX0" y="connsiteY0"/>
                    </a:cxn>
                    <a:cxn ang="0">
                      <a:pos x="connsiteX1" y="connsiteY1"/>
                    </a:cxn>
                    <a:cxn ang="0">
                      <a:pos x="connsiteX2" y="connsiteY2"/>
                    </a:cxn>
                  </a:cxnLst>
                  <a:rect l="l" t="t" r="r" b="b"/>
                  <a:pathLst>
                    <a:path w="8424333" h="1553633">
                      <a:moveTo>
                        <a:pt x="0" y="969433"/>
                      </a:moveTo>
                      <a:cubicBezTo>
                        <a:pt x="1308805" y="484716"/>
                        <a:pt x="2617611" y="0"/>
                        <a:pt x="4021666" y="97367"/>
                      </a:cubicBezTo>
                      <a:cubicBezTo>
                        <a:pt x="5425721" y="194734"/>
                        <a:pt x="8424333" y="1553633"/>
                        <a:pt x="8424333" y="1553633"/>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60" name="Freeform 192"/>
                <p:cNvSpPr/>
                <p:nvPr/>
              </p:nvSpPr>
              <p:spPr>
                <a:xfrm>
                  <a:off x="290689" y="1532464"/>
                  <a:ext cx="708378" cy="4305600"/>
                </a:xfrm>
                <a:custGeom>
                  <a:avLst/>
                  <a:gdLst>
                    <a:gd name="connsiteX0" fmla="*/ 166511 w 708378"/>
                    <a:gd name="connsiteY0" fmla="*/ 0 h 4699000"/>
                    <a:gd name="connsiteX1" fmla="*/ 90311 w 708378"/>
                    <a:gd name="connsiteY1" fmla="*/ 2065866 h 4699000"/>
                    <a:gd name="connsiteX2" fmla="*/ 708378 w 708378"/>
                    <a:gd name="connsiteY2" fmla="*/ 4699000 h 4699000"/>
                  </a:gdLst>
                  <a:ahLst/>
                  <a:cxnLst>
                    <a:cxn ang="0">
                      <a:pos x="connsiteX0" y="connsiteY0"/>
                    </a:cxn>
                    <a:cxn ang="0">
                      <a:pos x="connsiteX1" y="connsiteY1"/>
                    </a:cxn>
                    <a:cxn ang="0">
                      <a:pos x="connsiteX2" y="connsiteY2"/>
                    </a:cxn>
                  </a:cxnLst>
                  <a:rect l="l" t="t" r="r" b="b"/>
                  <a:pathLst>
                    <a:path w="708378" h="4699000">
                      <a:moveTo>
                        <a:pt x="166511" y="0"/>
                      </a:moveTo>
                      <a:cubicBezTo>
                        <a:pt x="83255" y="641350"/>
                        <a:pt x="0" y="1282700"/>
                        <a:pt x="90311" y="2065866"/>
                      </a:cubicBezTo>
                      <a:cubicBezTo>
                        <a:pt x="180622" y="2849032"/>
                        <a:pt x="708378" y="4699000"/>
                        <a:pt x="708378" y="469900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61" name="Freeform 193"/>
                <p:cNvSpPr/>
                <p:nvPr/>
              </p:nvSpPr>
              <p:spPr>
                <a:xfrm>
                  <a:off x="7873514" y="2131961"/>
                  <a:ext cx="991084" cy="3706103"/>
                </a:xfrm>
                <a:custGeom>
                  <a:avLst/>
                  <a:gdLst>
                    <a:gd name="connsiteX0" fmla="*/ 517877 w 517877"/>
                    <a:gd name="connsiteY0" fmla="*/ 0 h 4868334"/>
                    <a:gd name="connsiteX1" fmla="*/ 26811 w 517877"/>
                    <a:gd name="connsiteY1" fmla="*/ 2125134 h 4868334"/>
                    <a:gd name="connsiteX2" fmla="*/ 357011 w 517877"/>
                    <a:gd name="connsiteY2" fmla="*/ 4868334 h 4868334"/>
                  </a:gdLst>
                  <a:ahLst/>
                  <a:cxnLst>
                    <a:cxn ang="0">
                      <a:pos x="connsiteX0" y="connsiteY0"/>
                    </a:cxn>
                    <a:cxn ang="0">
                      <a:pos x="connsiteX1" y="connsiteY1"/>
                    </a:cxn>
                    <a:cxn ang="0">
                      <a:pos x="connsiteX2" y="connsiteY2"/>
                    </a:cxn>
                  </a:cxnLst>
                  <a:rect l="l" t="t" r="r" b="b"/>
                  <a:pathLst>
                    <a:path w="517877" h="4868334">
                      <a:moveTo>
                        <a:pt x="517877" y="0"/>
                      </a:moveTo>
                      <a:cubicBezTo>
                        <a:pt x="285749" y="656872"/>
                        <a:pt x="53622" y="1313745"/>
                        <a:pt x="26811" y="2125134"/>
                      </a:cubicBezTo>
                      <a:cubicBezTo>
                        <a:pt x="0" y="2936523"/>
                        <a:pt x="357011" y="4868334"/>
                        <a:pt x="357011" y="4868334"/>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sp>
            <p:nvSpPr>
              <p:cNvPr id="58" name="Freeform 7"/>
              <p:cNvSpPr/>
              <p:nvPr/>
            </p:nvSpPr>
            <p:spPr>
              <a:xfrm>
                <a:off x="829733" y="4157133"/>
                <a:ext cx="3657600" cy="270934"/>
              </a:xfrm>
              <a:custGeom>
                <a:avLst/>
                <a:gdLst>
                  <a:gd name="connsiteX0" fmla="*/ 0 w 3657600"/>
                  <a:gd name="connsiteY0" fmla="*/ 270934 h 270934"/>
                  <a:gd name="connsiteX1" fmla="*/ 1735667 w 3657600"/>
                  <a:gd name="connsiteY1" fmla="*/ 0 h 270934"/>
                  <a:gd name="connsiteX2" fmla="*/ 3657600 w 3657600"/>
                  <a:gd name="connsiteY2" fmla="*/ 270934 h 270934"/>
                </a:gdLst>
                <a:ahLst/>
                <a:cxnLst>
                  <a:cxn ang="0">
                    <a:pos x="connsiteX0" y="connsiteY0"/>
                  </a:cxn>
                  <a:cxn ang="0">
                    <a:pos x="connsiteX1" y="connsiteY1"/>
                  </a:cxn>
                  <a:cxn ang="0">
                    <a:pos x="connsiteX2" y="connsiteY2"/>
                  </a:cxn>
                </a:cxnLst>
                <a:rect l="l" t="t" r="r" b="b"/>
                <a:pathLst>
                  <a:path w="3657600" h="270934">
                    <a:moveTo>
                      <a:pt x="0" y="270934"/>
                    </a:moveTo>
                    <a:cubicBezTo>
                      <a:pt x="563033" y="135467"/>
                      <a:pt x="1126067" y="0"/>
                      <a:pt x="1735667" y="0"/>
                    </a:cubicBezTo>
                    <a:cubicBezTo>
                      <a:pt x="2345267" y="0"/>
                      <a:pt x="3657600" y="270934"/>
                      <a:pt x="3657600" y="270934"/>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pic>
          <p:nvPicPr>
            <p:cNvPr id="62" name="Image 5" descr="latex-image-1.pdf"/>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2194358" y="5555377"/>
              <a:ext cx="1931984" cy="251998"/>
            </a:xfrm>
            <a:prstGeom prst="rect">
              <a:avLst/>
            </a:prstGeom>
          </p:spPr>
        </p:pic>
        <p:pic>
          <p:nvPicPr>
            <p:cNvPr id="63" name="Image 7" descr="latex-image-1.pdf"/>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3689087" y="4298390"/>
              <a:ext cx="2061819" cy="252000"/>
            </a:xfrm>
            <a:prstGeom prst="rect">
              <a:avLst/>
            </a:prstGeom>
          </p:spPr>
        </p:pic>
        <p:pic>
          <p:nvPicPr>
            <p:cNvPr id="64" name="Image 9" descr="latex-image-1.pdf"/>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2208394" y="6011947"/>
              <a:ext cx="2336800" cy="215900"/>
            </a:xfrm>
            <a:prstGeom prst="rect">
              <a:avLst/>
            </a:prstGeom>
          </p:spPr>
        </p:pic>
        <p:sp>
          <p:nvSpPr>
            <p:cNvPr id="85" name="Oval 53"/>
            <p:cNvSpPr>
              <a:spLocks noChangeAspect="1"/>
            </p:cNvSpPr>
            <p:nvPr/>
          </p:nvSpPr>
          <p:spPr>
            <a:xfrm>
              <a:off x="1767749" y="2321482"/>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6" name="Oval 53"/>
            <p:cNvSpPr>
              <a:spLocks noChangeAspect="1"/>
            </p:cNvSpPr>
            <p:nvPr/>
          </p:nvSpPr>
          <p:spPr>
            <a:xfrm>
              <a:off x="2724560" y="2757497"/>
              <a:ext cx="60217" cy="59533"/>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87" name="Oval 53"/>
            <p:cNvSpPr>
              <a:spLocks noChangeAspect="1"/>
            </p:cNvSpPr>
            <p:nvPr/>
          </p:nvSpPr>
          <p:spPr>
            <a:xfrm>
              <a:off x="3429852" y="2996574"/>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8" name="Oval 53"/>
            <p:cNvSpPr>
              <a:spLocks noChangeAspect="1"/>
            </p:cNvSpPr>
            <p:nvPr/>
          </p:nvSpPr>
          <p:spPr>
            <a:xfrm>
              <a:off x="1711922" y="4047495"/>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9" name="Oval 53"/>
            <p:cNvSpPr>
              <a:spLocks noChangeAspect="1"/>
            </p:cNvSpPr>
            <p:nvPr/>
          </p:nvSpPr>
          <p:spPr>
            <a:xfrm>
              <a:off x="3327560" y="4512992"/>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0" name="Oval 53"/>
            <p:cNvSpPr>
              <a:spLocks noChangeAspect="1"/>
            </p:cNvSpPr>
            <p:nvPr/>
          </p:nvSpPr>
          <p:spPr>
            <a:xfrm>
              <a:off x="2551225" y="4235004"/>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1" name="Oval 53"/>
            <p:cNvSpPr>
              <a:spLocks noChangeAspect="1"/>
            </p:cNvSpPr>
            <p:nvPr/>
          </p:nvSpPr>
          <p:spPr>
            <a:xfrm>
              <a:off x="4082771" y="4631205"/>
              <a:ext cx="54743" cy="54121"/>
            </a:xfrm>
            <a:prstGeom prst="ellipse">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7" name="Group 6">
            <a:extLst>
              <a:ext uri="{FF2B5EF4-FFF2-40B4-BE49-F238E27FC236}">
                <a16:creationId xmlns:a16="http://schemas.microsoft.com/office/drawing/2014/main" id="{3C7366F5-3793-CB4C-95AF-3143D5693E13}"/>
              </a:ext>
            </a:extLst>
          </p:cNvPr>
          <p:cNvGrpSpPr/>
          <p:nvPr/>
        </p:nvGrpSpPr>
        <p:grpSpPr>
          <a:xfrm>
            <a:off x="4670474" y="1609060"/>
            <a:ext cx="4627055" cy="2585323"/>
            <a:chOff x="494864" y="1325054"/>
            <a:chExt cx="6169407" cy="3447098"/>
          </a:xfrm>
        </p:grpSpPr>
        <p:sp>
          <p:nvSpPr>
            <p:cNvPr id="94" name="TextBox 15">
              <a:extLst>
                <a:ext uri="{FF2B5EF4-FFF2-40B4-BE49-F238E27FC236}">
                  <a16:creationId xmlns:a16="http://schemas.microsoft.com/office/drawing/2014/main" id="{9B2FAA1B-6F20-D740-B72C-1AAB85B2D05C}"/>
                </a:ext>
              </a:extLst>
            </p:cNvPr>
            <p:cNvSpPr txBox="1"/>
            <p:nvPr/>
          </p:nvSpPr>
          <p:spPr>
            <a:xfrm>
              <a:off x="494864" y="1325054"/>
              <a:ext cx="6169407" cy="3447098"/>
            </a:xfrm>
            <a:prstGeom prst="rect">
              <a:avLst/>
            </a:prstGeom>
            <a:noFill/>
          </p:spPr>
          <p:txBody>
            <a:bodyPr wrap="square" rtlCol="0">
              <a:spAutoFit/>
            </a:bodyPr>
            <a:lstStyle/>
            <a:p>
              <a:endParaRPr lang="en-US" sz="1350" dirty="0">
                <a:solidFill>
                  <a:srgbClr val="000000"/>
                </a:solidFill>
                <a:sym typeface="Wingdings"/>
              </a:endParaRPr>
            </a:p>
            <a:p>
              <a:pPr marL="214313" indent="-214313">
                <a:buFont typeface="Arial" panose="020B0604020202020204" pitchFamily="34" charset="0"/>
                <a:buChar char="•"/>
              </a:pPr>
              <a:r>
                <a:rPr lang="en-US" sz="1350" b="1" dirty="0">
                  <a:solidFill>
                    <a:srgbClr val="000000"/>
                  </a:solidFill>
                  <a:sym typeface="Wingdings"/>
                </a:rPr>
                <a:t>Simulation</a:t>
              </a:r>
              <a:r>
                <a:rPr lang="en-US" sz="1350" dirty="0">
                  <a:solidFill>
                    <a:srgbClr val="000000"/>
                  </a:solidFill>
                  <a:sym typeface="Wingdings"/>
                </a:rPr>
                <a:t>: </a:t>
              </a:r>
            </a:p>
            <a:p>
              <a:pPr marL="214313" indent="-214313">
                <a:buFont typeface="Arial" panose="020B0604020202020204" pitchFamily="34" charset="0"/>
                <a:buChar char="•"/>
              </a:pPr>
              <a:endParaRPr lang="en-US" sz="1350"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r>
                <a:rPr lang="en-US" sz="1350" b="1" dirty="0">
                  <a:solidFill>
                    <a:srgbClr val="000000"/>
                  </a:solidFill>
                  <a:sym typeface="Wingdings"/>
                </a:rPr>
                <a:t>Approximation</a:t>
              </a:r>
              <a:r>
                <a:rPr lang="en-US" sz="1350" dirty="0">
                  <a:solidFill>
                    <a:srgbClr val="000000"/>
                  </a:solidFill>
                  <a:sym typeface="Wingdings"/>
                </a:rPr>
                <a:t>:</a:t>
              </a: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endParaRPr lang="en-US" sz="1350" b="1" dirty="0">
                <a:solidFill>
                  <a:srgbClr val="000000"/>
                </a:solidFill>
                <a:sym typeface="Wingdings"/>
              </a:endParaRPr>
            </a:p>
            <a:p>
              <a:pPr marL="214313" indent="-214313">
                <a:buFont typeface="Arial" panose="020B0604020202020204" pitchFamily="34" charset="0"/>
                <a:buChar char="•"/>
              </a:pPr>
              <a:r>
                <a:rPr lang="en-US" sz="1350" b="1" dirty="0" err="1">
                  <a:solidFill>
                    <a:srgbClr val="000000"/>
                  </a:solidFill>
                  <a:sym typeface="Wingdings"/>
                </a:rPr>
                <a:t>Maximisation</a:t>
              </a:r>
              <a:r>
                <a:rPr lang="en-US" sz="1350" dirty="0">
                  <a:solidFill>
                    <a:srgbClr val="000000"/>
                  </a:solidFill>
                  <a:sym typeface="Wingdings"/>
                </a:rPr>
                <a:t>:</a:t>
              </a:r>
            </a:p>
            <a:p>
              <a:pPr indent="70247">
                <a:buFont typeface="Arial"/>
                <a:buChar char="•"/>
              </a:pPr>
              <a:endParaRPr lang="en-US" sz="1350" dirty="0">
                <a:solidFill>
                  <a:srgbClr val="000000"/>
                </a:solidFill>
                <a:sym typeface="Wingdings"/>
              </a:endParaRPr>
            </a:p>
            <a:p>
              <a:endParaRPr lang="en-US" sz="1350" dirty="0">
                <a:solidFill>
                  <a:srgbClr val="000000"/>
                </a:solidFill>
                <a:sym typeface="Wingdings"/>
              </a:endParaRPr>
            </a:p>
          </p:txBody>
        </p:sp>
        <p:pic>
          <p:nvPicPr>
            <p:cNvPr id="95" name="Picture 94">
              <a:extLst>
                <a:ext uri="{FF2B5EF4-FFF2-40B4-BE49-F238E27FC236}">
                  <a16:creationId xmlns:a16="http://schemas.microsoft.com/office/drawing/2014/main" id="{6A86CF42-684F-FC43-AAA9-A9174B8E8F83}"/>
                </a:ext>
              </a:extLst>
            </p:cNvPr>
            <p:cNvPicPr>
              <a:picLocks noChangeAspect="1"/>
            </p:cNvPicPr>
            <p:nvPr/>
          </p:nvPicPr>
          <p:blipFill>
            <a:blip r:embed="rId17"/>
            <a:stretch>
              <a:fillRect/>
            </a:stretch>
          </p:blipFill>
          <p:spPr>
            <a:xfrm>
              <a:off x="899465" y="1958884"/>
              <a:ext cx="1828800" cy="241300"/>
            </a:xfrm>
            <a:prstGeom prst="rect">
              <a:avLst/>
            </a:prstGeom>
          </p:spPr>
        </p:pic>
        <p:pic>
          <p:nvPicPr>
            <p:cNvPr id="96" name="Picture 95">
              <a:extLst>
                <a:ext uri="{FF2B5EF4-FFF2-40B4-BE49-F238E27FC236}">
                  <a16:creationId xmlns:a16="http://schemas.microsoft.com/office/drawing/2014/main" id="{D1B0DE02-FACD-4846-A4E0-3D700D9C012F}"/>
                </a:ext>
              </a:extLst>
            </p:cNvPr>
            <p:cNvPicPr>
              <a:picLocks noChangeAspect="1"/>
            </p:cNvPicPr>
            <p:nvPr/>
          </p:nvPicPr>
          <p:blipFill>
            <a:blip r:embed="rId18"/>
            <a:stretch>
              <a:fillRect/>
            </a:stretch>
          </p:blipFill>
          <p:spPr>
            <a:xfrm>
              <a:off x="917273" y="4235949"/>
              <a:ext cx="2387600" cy="241300"/>
            </a:xfrm>
            <a:prstGeom prst="rect">
              <a:avLst/>
            </a:prstGeom>
          </p:spPr>
        </p:pic>
        <p:pic>
          <p:nvPicPr>
            <p:cNvPr id="97" name="Picture 96">
              <a:extLst>
                <a:ext uri="{FF2B5EF4-FFF2-40B4-BE49-F238E27FC236}">
                  <a16:creationId xmlns:a16="http://schemas.microsoft.com/office/drawing/2014/main" id="{4586F92D-488D-3440-8752-7889E0781659}"/>
                </a:ext>
              </a:extLst>
            </p:cNvPr>
            <p:cNvPicPr>
              <a:picLocks noChangeAspect="1"/>
            </p:cNvPicPr>
            <p:nvPr/>
          </p:nvPicPr>
          <p:blipFill>
            <a:blip r:embed="rId19"/>
            <a:stretch>
              <a:fillRect/>
            </a:stretch>
          </p:blipFill>
          <p:spPr>
            <a:xfrm>
              <a:off x="899465" y="3451188"/>
              <a:ext cx="2730500" cy="393700"/>
            </a:xfrm>
            <a:prstGeom prst="rect">
              <a:avLst/>
            </a:prstGeom>
          </p:spPr>
        </p:pic>
        <p:pic>
          <p:nvPicPr>
            <p:cNvPr id="98" name="Picture 97">
              <a:extLst>
                <a:ext uri="{FF2B5EF4-FFF2-40B4-BE49-F238E27FC236}">
                  <a16:creationId xmlns:a16="http://schemas.microsoft.com/office/drawing/2014/main" id="{DD70C247-61BD-D74C-B81A-3FBA557A1865}"/>
                </a:ext>
              </a:extLst>
            </p:cNvPr>
            <p:cNvPicPr>
              <a:picLocks noChangeAspect="1"/>
            </p:cNvPicPr>
            <p:nvPr/>
          </p:nvPicPr>
          <p:blipFill>
            <a:blip r:embed="rId20"/>
            <a:stretch>
              <a:fillRect/>
            </a:stretch>
          </p:blipFill>
          <p:spPr>
            <a:xfrm>
              <a:off x="896113" y="2725932"/>
              <a:ext cx="5562600" cy="698500"/>
            </a:xfrm>
            <a:prstGeom prst="rect">
              <a:avLst/>
            </a:prstGeom>
          </p:spPr>
        </p:pic>
      </p:grpSp>
      <p:sp>
        <p:nvSpPr>
          <p:cNvPr id="2" name="Espace réservé du numéro de diapositive 1">
            <a:extLst>
              <a:ext uri="{FF2B5EF4-FFF2-40B4-BE49-F238E27FC236}">
                <a16:creationId xmlns:a16="http://schemas.microsoft.com/office/drawing/2014/main" id="{15C58CC4-CC2F-F00D-D27B-35009EB6DA7B}"/>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18</a:t>
            </a:fld>
            <a:endParaRPr lang="fr-FR"/>
          </a:p>
        </p:txBody>
      </p:sp>
    </p:spTree>
    <p:extLst>
      <p:ext uri="{BB962C8B-B14F-4D97-AF65-F5344CB8AC3E}">
        <p14:creationId xmlns:p14="http://schemas.microsoft.com/office/powerpoint/2010/main" val="371249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p:cNvSpPr txBox="1"/>
          <p:nvPr/>
        </p:nvSpPr>
        <p:spPr>
          <a:xfrm>
            <a:off x="1906625" y="1564750"/>
            <a:ext cx="6364539" cy="1325106"/>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 2. </a:t>
            </a:r>
            <a:r>
              <a:rPr lang="fr-FR" sz="2100" i="1" dirty="0" err="1">
                <a:latin typeface="Arial"/>
                <a:cs typeface="Arial"/>
              </a:rPr>
              <a:t>Univariate</a:t>
            </a:r>
            <a:r>
              <a:rPr lang="fr-FR" sz="2100" i="1" dirty="0">
                <a:latin typeface="Arial"/>
                <a:cs typeface="Arial"/>
              </a:rPr>
              <a:t> case</a:t>
            </a:r>
            <a:endParaRPr lang="fr-FR" sz="2100" dirty="0">
              <a:latin typeface="Arial"/>
              <a:cs typeface="Arial"/>
            </a:endParaRPr>
          </a:p>
        </p:txBody>
      </p:sp>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7145A295-583C-7059-8BF5-20FE01754D86}"/>
              </a:ext>
            </a:extLst>
          </p:cNvPr>
          <p:cNvSpPr>
            <a:spLocks noGrp="1"/>
          </p:cNvSpPr>
          <p:nvPr>
            <p:ph type="sldNum" sz="quarter" idx="12"/>
          </p:nvPr>
        </p:nvSpPr>
        <p:spPr/>
        <p:txBody>
          <a:bodyPr/>
          <a:lstStyle/>
          <a:p>
            <a:fld id="{B6E69D5D-3C54-E347-B3D4-70BDFA7C6521}" type="slidenum">
              <a:rPr lang="fr-FR" smtClean="0"/>
              <a:t>19</a:t>
            </a:fld>
            <a:endParaRPr lang="fr-FR"/>
          </a:p>
        </p:txBody>
      </p:sp>
    </p:spTree>
    <p:extLst>
      <p:ext uri="{BB962C8B-B14F-4D97-AF65-F5344CB8AC3E}">
        <p14:creationId xmlns:p14="http://schemas.microsoft.com/office/powerpoint/2010/main" val="3971895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19138" y="738813"/>
            <a:ext cx="6010275" cy="369743"/>
          </a:xfrm>
        </p:spPr>
        <p:txBody>
          <a:bodyPr>
            <a:normAutofit fontScale="92500" lnSpcReduction="10000"/>
          </a:bodyPr>
          <a:lstStyle/>
          <a:p>
            <a:r>
              <a:rPr lang="en-US" sz="1500" dirty="0"/>
              <a:t>Univariate case:</a:t>
            </a:r>
          </a:p>
        </p:txBody>
      </p:sp>
      <p:sp>
        <p:nvSpPr>
          <p:cNvPr id="13" name="TextBox 12"/>
          <p:cNvSpPr txBox="1"/>
          <p:nvPr/>
        </p:nvSpPr>
        <p:spPr>
          <a:xfrm>
            <a:off x="1872049" y="630194"/>
            <a:ext cx="184731" cy="300082"/>
          </a:xfrm>
          <a:prstGeom prst="rect">
            <a:avLst/>
          </a:prstGeom>
          <a:noFill/>
        </p:spPr>
        <p:txBody>
          <a:bodyPr wrap="none" rtlCol="0">
            <a:spAutoFit/>
          </a:bodyPr>
          <a:lstStyle/>
          <a:p>
            <a:endParaRPr lang="en-US" sz="1350" dirty="0"/>
          </a:p>
        </p:txBody>
      </p:sp>
      <p:cxnSp>
        <p:nvCxnSpPr>
          <p:cNvPr id="14" name="Connecteur droit avec flèche 10"/>
          <p:cNvCxnSpPr/>
          <p:nvPr/>
        </p:nvCxnSpPr>
        <p:spPr>
          <a:xfrm rot="20772728" flipV="1">
            <a:off x="1602273" y="1935352"/>
            <a:ext cx="549073" cy="418839"/>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Forme libre 9"/>
          <p:cNvSpPr/>
          <p:nvPr/>
        </p:nvSpPr>
        <p:spPr>
          <a:xfrm rot="20772728">
            <a:off x="147884" y="1736555"/>
            <a:ext cx="3205759" cy="2250798"/>
          </a:xfrm>
          <a:custGeom>
            <a:avLst/>
            <a:gdLst>
              <a:gd name="connsiteX0" fmla="*/ 0 w 3089710"/>
              <a:gd name="connsiteY0" fmla="*/ 1905802 h 1905802"/>
              <a:gd name="connsiteX1" fmla="*/ 211756 w 3089710"/>
              <a:gd name="connsiteY1" fmla="*/ 1713297 h 1905802"/>
              <a:gd name="connsiteX2" fmla="*/ 548640 w 3089710"/>
              <a:gd name="connsiteY2" fmla="*/ 1434164 h 1905802"/>
              <a:gd name="connsiteX3" fmla="*/ 914400 w 3089710"/>
              <a:gd name="connsiteY3" fmla="*/ 1145406 h 1905802"/>
              <a:gd name="connsiteX4" fmla="*/ 1414914 w 3089710"/>
              <a:gd name="connsiteY4" fmla="*/ 760396 h 1905802"/>
              <a:gd name="connsiteX5" fmla="*/ 1761423 w 3089710"/>
              <a:gd name="connsiteY5" fmla="*/ 558265 h 1905802"/>
              <a:gd name="connsiteX6" fmla="*/ 2233061 w 3089710"/>
              <a:gd name="connsiteY6" fmla="*/ 288758 h 1905802"/>
              <a:gd name="connsiteX7" fmla="*/ 2800952 w 3089710"/>
              <a:gd name="connsiteY7" fmla="*/ 77002 h 1905802"/>
              <a:gd name="connsiteX8" fmla="*/ 3089710 w 3089710"/>
              <a:gd name="connsiteY8" fmla="*/ 0 h 1905802"/>
              <a:gd name="connsiteX0" fmla="*/ 0 w 3089710"/>
              <a:gd name="connsiteY0" fmla="*/ 1905802 h 1905802"/>
              <a:gd name="connsiteX1" fmla="*/ 211756 w 3089710"/>
              <a:gd name="connsiteY1" fmla="*/ 1713297 h 1905802"/>
              <a:gd name="connsiteX2" fmla="*/ 548640 w 3089710"/>
              <a:gd name="connsiteY2" fmla="*/ 1434164 h 1905802"/>
              <a:gd name="connsiteX3" fmla="*/ 914400 w 3089710"/>
              <a:gd name="connsiteY3" fmla="*/ 1145406 h 1905802"/>
              <a:gd name="connsiteX4" fmla="*/ 1414914 w 3089710"/>
              <a:gd name="connsiteY4" fmla="*/ 760396 h 1905802"/>
              <a:gd name="connsiteX5" fmla="*/ 1745313 w 3089710"/>
              <a:gd name="connsiteY5" fmla="*/ 542980 h 1905802"/>
              <a:gd name="connsiteX6" fmla="*/ 2233061 w 3089710"/>
              <a:gd name="connsiteY6" fmla="*/ 288758 h 1905802"/>
              <a:gd name="connsiteX7" fmla="*/ 2800952 w 3089710"/>
              <a:gd name="connsiteY7" fmla="*/ 77002 h 1905802"/>
              <a:gd name="connsiteX8" fmla="*/ 3089710 w 3089710"/>
              <a:gd name="connsiteY8" fmla="*/ 0 h 1905802"/>
              <a:gd name="connsiteX0" fmla="*/ 0 w 3089710"/>
              <a:gd name="connsiteY0" fmla="*/ 1905802 h 1905802"/>
              <a:gd name="connsiteX1" fmla="*/ 211756 w 3089710"/>
              <a:gd name="connsiteY1" fmla="*/ 1713297 h 1905802"/>
              <a:gd name="connsiteX2" fmla="*/ 548640 w 3089710"/>
              <a:gd name="connsiteY2" fmla="*/ 1434164 h 1905802"/>
              <a:gd name="connsiteX3" fmla="*/ 914400 w 3089710"/>
              <a:gd name="connsiteY3" fmla="*/ 1145406 h 1905802"/>
              <a:gd name="connsiteX4" fmla="*/ 1414914 w 3089710"/>
              <a:gd name="connsiteY4" fmla="*/ 760396 h 1905802"/>
              <a:gd name="connsiteX5" fmla="*/ 1745313 w 3089710"/>
              <a:gd name="connsiteY5" fmla="*/ 542980 h 1905802"/>
              <a:gd name="connsiteX6" fmla="*/ 2233061 w 3089710"/>
              <a:gd name="connsiteY6" fmla="*/ 288758 h 1905802"/>
              <a:gd name="connsiteX7" fmla="*/ 2800952 w 3089710"/>
              <a:gd name="connsiteY7" fmla="*/ 77002 h 1905802"/>
              <a:gd name="connsiteX8" fmla="*/ 3089710 w 3089710"/>
              <a:gd name="connsiteY8" fmla="*/ 0 h 1905802"/>
              <a:gd name="connsiteX0" fmla="*/ 0 w 3062860"/>
              <a:gd name="connsiteY0" fmla="*/ 1946562 h 1946562"/>
              <a:gd name="connsiteX1" fmla="*/ 184906 w 3062860"/>
              <a:gd name="connsiteY1" fmla="*/ 1713297 h 1946562"/>
              <a:gd name="connsiteX2" fmla="*/ 521790 w 3062860"/>
              <a:gd name="connsiteY2" fmla="*/ 1434164 h 1946562"/>
              <a:gd name="connsiteX3" fmla="*/ 887550 w 3062860"/>
              <a:gd name="connsiteY3" fmla="*/ 1145406 h 1946562"/>
              <a:gd name="connsiteX4" fmla="*/ 1388064 w 3062860"/>
              <a:gd name="connsiteY4" fmla="*/ 760396 h 1946562"/>
              <a:gd name="connsiteX5" fmla="*/ 1718463 w 3062860"/>
              <a:gd name="connsiteY5" fmla="*/ 542980 h 1946562"/>
              <a:gd name="connsiteX6" fmla="*/ 2206211 w 3062860"/>
              <a:gd name="connsiteY6" fmla="*/ 288758 h 1946562"/>
              <a:gd name="connsiteX7" fmla="*/ 2774102 w 3062860"/>
              <a:gd name="connsiteY7" fmla="*/ 77002 h 1946562"/>
              <a:gd name="connsiteX8" fmla="*/ 3062860 w 3062860"/>
              <a:gd name="connsiteY8" fmla="*/ 0 h 1946562"/>
              <a:gd name="connsiteX0" fmla="*/ 0 w 3062860"/>
              <a:gd name="connsiteY0" fmla="*/ 1946562 h 1946562"/>
              <a:gd name="connsiteX1" fmla="*/ 217126 w 3062860"/>
              <a:gd name="connsiteY1" fmla="*/ 1733677 h 1946562"/>
              <a:gd name="connsiteX2" fmla="*/ 521790 w 3062860"/>
              <a:gd name="connsiteY2" fmla="*/ 1434164 h 1946562"/>
              <a:gd name="connsiteX3" fmla="*/ 887550 w 3062860"/>
              <a:gd name="connsiteY3" fmla="*/ 1145406 h 1946562"/>
              <a:gd name="connsiteX4" fmla="*/ 1388064 w 3062860"/>
              <a:gd name="connsiteY4" fmla="*/ 760396 h 1946562"/>
              <a:gd name="connsiteX5" fmla="*/ 1718463 w 3062860"/>
              <a:gd name="connsiteY5" fmla="*/ 542980 h 1946562"/>
              <a:gd name="connsiteX6" fmla="*/ 2206211 w 3062860"/>
              <a:gd name="connsiteY6" fmla="*/ 288758 h 1946562"/>
              <a:gd name="connsiteX7" fmla="*/ 2774102 w 3062860"/>
              <a:gd name="connsiteY7" fmla="*/ 77002 h 1946562"/>
              <a:gd name="connsiteX8" fmla="*/ 3062860 w 3062860"/>
              <a:gd name="connsiteY8" fmla="*/ 0 h 1946562"/>
              <a:gd name="connsiteX0" fmla="*/ 0 w 3062860"/>
              <a:gd name="connsiteY0" fmla="*/ 1946562 h 1946562"/>
              <a:gd name="connsiteX1" fmla="*/ 217126 w 3062860"/>
              <a:gd name="connsiteY1" fmla="*/ 1733677 h 1946562"/>
              <a:gd name="connsiteX2" fmla="*/ 559380 w 3062860"/>
              <a:gd name="connsiteY2" fmla="*/ 1454544 h 1946562"/>
              <a:gd name="connsiteX3" fmla="*/ 887550 w 3062860"/>
              <a:gd name="connsiteY3" fmla="*/ 1145406 h 1946562"/>
              <a:gd name="connsiteX4" fmla="*/ 1388064 w 3062860"/>
              <a:gd name="connsiteY4" fmla="*/ 760396 h 1946562"/>
              <a:gd name="connsiteX5" fmla="*/ 1718463 w 3062860"/>
              <a:gd name="connsiteY5" fmla="*/ 542980 h 1946562"/>
              <a:gd name="connsiteX6" fmla="*/ 2206211 w 3062860"/>
              <a:gd name="connsiteY6" fmla="*/ 288758 h 1946562"/>
              <a:gd name="connsiteX7" fmla="*/ 2774102 w 3062860"/>
              <a:gd name="connsiteY7" fmla="*/ 77002 h 1946562"/>
              <a:gd name="connsiteX8" fmla="*/ 3062860 w 3062860"/>
              <a:gd name="connsiteY8" fmla="*/ 0 h 1946562"/>
              <a:gd name="connsiteX0" fmla="*/ 0 w 3062860"/>
              <a:gd name="connsiteY0" fmla="*/ 1946562 h 1946562"/>
              <a:gd name="connsiteX1" fmla="*/ 217126 w 3062860"/>
              <a:gd name="connsiteY1" fmla="*/ 1733677 h 1946562"/>
              <a:gd name="connsiteX2" fmla="*/ 537900 w 3062860"/>
              <a:gd name="connsiteY2" fmla="*/ 1439259 h 1946562"/>
              <a:gd name="connsiteX3" fmla="*/ 887550 w 3062860"/>
              <a:gd name="connsiteY3" fmla="*/ 1145406 h 1946562"/>
              <a:gd name="connsiteX4" fmla="*/ 1388064 w 3062860"/>
              <a:gd name="connsiteY4" fmla="*/ 760396 h 1946562"/>
              <a:gd name="connsiteX5" fmla="*/ 1718463 w 3062860"/>
              <a:gd name="connsiteY5" fmla="*/ 542980 h 1946562"/>
              <a:gd name="connsiteX6" fmla="*/ 2206211 w 3062860"/>
              <a:gd name="connsiteY6" fmla="*/ 288758 h 1946562"/>
              <a:gd name="connsiteX7" fmla="*/ 2774102 w 3062860"/>
              <a:gd name="connsiteY7" fmla="*/ 77002 h 1946562"/>
              <a:gd name="connsiteX8" fmla="*/ 3062860 w 3062860"/>
              <a:gd name="connsiteY8" fmla="*/ 0 h 1946562"/>
              <a:gd name="connsiteX0" fmla="*/ 0 w 3062860"/>
              <a:gd name="connsiteY0" fmla="*/ 1946562 h 1946562"/>
              <a:gd name="connsiteX1" fmla="*/ 254717 w 3062860"/>
              <a:gd name="connsiteY1" fmla="*/ 1754057 h 1946562"/>
              <a:gd name="connsiteX2" fmla="*/ 537900 w 3062860"/>
              <a:gd name="connsiteY2" fmla="*/ 1439259 h 1946562"/>
              <a:gd name="connsiteX3" fmla="*/ 887550 w 3062860"/>
              <a:gd name="connsiteY3" fmla="*/ 1145406 h 1946562"/>
              <a:gd name="connsiteX4" fmla="*/ 1388064 w 3062860"/>
              <a:gd name="connsiteY4" fmla="*/ 760396 h 1946562"/>
              <a:gd name="connsiteX5" fmla="*/ 1718463 w 3062860"/>
              <a:gd name="connsiteY5" fmla="*/ 542980 h 1946562"/>
              <a:gd name="connsiteX6" fmla="*/ 2206211 w 3062860"/>
              <a:gd name="connsiteY6" fmla="*/ 288758 h 1946562"/>
              <a:gd name="connsiteX7" fmla="*/ 2774102 w 3062860"/>
              <a:gd name="connsiteY7" fmla="*/ 77002 h 1946562"/>
              <a:gd name="connsiteX8" fmla="*/ 3062860 w 3062860"/>
              <a:gd name="connsiteY8" fmla="*/ 0 h 1946562"/>
              <a:gd name="connsiteX0" fmla="*/ 0 w 2998419"/>
              <a:gd name="connsiteY0" fmla="*/ 2007701 h 2007701"/>
              <a:gd name="connsiteX1" fmla="*/ 190276 w 2998419"/>
              <a:gd name="connsiteY1" fmla="*/ 1754057 h 2007701"/>
              <a:gd name="connsiteX2" fmla="*/ 473459 w 2998419"/>
              <a:gd name="connsiteY2" fmla="*/ 1439259 h 2007701"/>
              <a:gd name="connsiteX3" fmla="*/ 823109 w 2998419"/>
              <a:gd name="connsiteY3" fmla="*/ 1145406 h 2007701"/>
              <a:gd name="connsiteX4" fmla="*/ 1323623 w 2998419"/>
              <a:gd name="connsiteY4" fmla="*/ 760396 h 2007701"/>
              <a:gd name="connsiteX5" fmla="*/ 1654022 w 2998419"/>
              <a:gd name="connsiteY5" fmla="*/ 542980 h 2007701"/>
              <a:gd name="connsiteX6" fmla="*/ 2141770 w 2998419"/>
              <a:gd name="connsiteY6" fmla="*/ 288758 h 2007701"/>
              <a:gd name="connsiteX7" fmla="*/ 2709661 w 2998419"/>
              <a:gd name="connsiteY7" fmla="*/ 77002 h 2007701"/>
              <a:gd name="connsiteX8" fmla="*/ 2998419 w 2998419"/>
              <a:gd name="connsiteY8" fmla="*/ 0 h 2007701"/>
              <a:gd name="connsiteX0" fmla="*/ 0 w 2971569"/>
              <a:gd name="connsiteY0" fmla="*/ 2017891 h 2017891"/>
              <a:gd name="connsiteX1" fmla="*/ 163426 w 2971569"/>
              <a:gd name="connsiteY1" fmla="*/ 1754057 h 2017891"/>
              <a:gd name="connsiteX2" fmla="*/ 446609 w 2971569"/>
              <a:gd name="connsiteY2" fmla="*/ 1439259 h 2017891"/>
              <a:gd name="connsiteX3" fmla="*/ 796259 w 2971569"/>
              <a:gd name="connsiteY3" fmla="*/ 1145406 h 2017891"/>
              <a:gd name="connsiteX4" fmla="*/ 1296773 w 2971569"/>
              <a:gd name="connsiteY4" fmla="*/ 760396 h 2017891"/>
              <a:gd name="connsiteX5" fmla="*/ 1627172 w 2971569"/>
              <a:gd name="connsiteY5" fmla="*/ 542980 h 2017891"/>
              <a:gd name="connsiteX6" fmla="*/ 2114920 w 2971569"/>
              <a:gd name="connsiteY6" fmla="*/ 288758 h 2017891"/>
              <a:gd name="connsiteX7" fmla="*/ 2682811 w 2971569"/>
              <a:gd name="connsiteY7" fmla="*/ 77002 h 2017891"/>
              <a:gd name="connsiteX8" fmla="*/ 2971569 w 2971569"/>
              <a:gd name="connsiteY8" fmla="*/ 0 h 2017891"/>
              <a:gd name="connsiteX0" fmla="*/ 0 w 2971569"/>
              <a:gd name="connsiteY0" fmla="*/ 2017891 h 2017891"/>
              <a:gd name="connsiteX1" fmla="*/ 163426 w 2971569"/>
              <a:gd name="connsiteY1" fmla="*/ 1754057 h 2017891"/>
              <a:gd name="connsiteX2" fmla="*/ 446609 w 2971569"/>
              <a:gd name="connsiteY2" fmla="*/ 1439259 h 2017891"/>
              <a:gd name="connsiteX3" fmla="*/ 774779 w 2971569"/>
              <a:gd name="connsiteY3" fmla="*/ 1135216 h 2017891"/>
              <a:gd name="connsiteX4" fmla="*/ 1296773 w 2971569"/>
              <a:gd name="connsiteY4" fmla="*/ 760396 h 2017891"/>
              <a:gd name="connsiteX5" fmla="*/ 1627172 w 2971569"/>
              <a:gd name="connsiteY5" fmla="*/ 542980 h 2017891"/>
              <a:gd name="connsiteX6" fmla="*/ 2114920 w 2971569"/>
              <a:gd name="connsiteY6" fmla="*/ 288758 h 2017891"/>
              <a:gd name="connsiteX7" fmla="*/ 2682811 w 2971569"/>
              <a:gd name="connsiteY7" fmla="*/ 77002 h 2017891"/>
              <a:gd name="connsiteX8" fmla="*/ 2971569 w 2971569"/>
              <a:gd name="connsiteY8" fmla="*/ 0 h 2017891"/>
              <a:gd name="connsiteX0" fmla="*/ 0 w 2998420"/>
              <a:gd name="connsiteY0" fmla="*/ 2007701 h 2007701"/>
              <a:gd name="connsiteX1" fmla="*/ 190277 w 2998420"/>
              <a:gd name="connsiteY1" fmla="*/ 1754057 h 2007701"/>
              <a:gd name="connsiteX2" fmla="*/ 473460 w 2998420"/>
              <a:gd name="connsiteY2" fmla="*/ 1439259 h 2007701"/>
              <a:gd name="connsiteX3" fmla="*/ 801630 w 2998420"/>
              <a:gd name="connsiteY3" fmla="*/ 1135216 h 2007701"/>
              <a:gd name="connsiteX4" fmla="*/ 1323624 w 2998420"/>
              <a:gd name="connsiteY4" fmla="*/ 760396 h 2007701"/>
              <a:gd name="connsiteX5" fmla="*/ 1654023 w 2998420"/>
              <a:gd name="connsiteY5" fmla="*/ 542980 h 2007701"/>
              <a:gd name="connsiteX6" fmla="*/ 2141771 w 2998420"/>
              <a:gd name="connsiteY6" fmla="*/ 288758 h 2007701"/>
              <a:gd name="connsiteX7" fmla="*/ 2709662 w 2998420"/>
              <a:gd name="connsiteY7" fmla="*/ 77002 h 2007701"/>
              <a:gd name="connsiteX8" fmla="*/ 2998420 w 2998420"/>
              <a:gd name="connsiteY8" fmla="*/ 0 h 2007701"/>
              <a:gd name="connsiteX0" fmla="*/ 0 w 2998420"/>
              <a:gd name="connsiteY0" fmla="*/ 2007701 h 2007701"/>
              <a:gd name="connsiteX1" fmla="*/ 190277 w 2998420"/>
              <a:gd name="connsiteY1" fmla="*/ 1754057 h 2007701"/>
              <a:gd name="connsiteX2" fmla="*/ 473460 w 2998420"/>
              <a:gd name="connsiteY2" fmla="*/ 1439259 h 2007701"/>
              <a:gd name="connsiteX3" fmla="*/ 801630 w 2998420"/>
              <a:gd name="connsiteY3" fmla="*/ 1135216 h 2007701"/>
              <a:gd name="connsiteX4" fmla="*/ 1323624 w 2998420"/>
              <a:gd name="connsiteY4" fmla="*/ 760396 h 2007701"/>
              <a:gd name="connsiteX5" fmla="*/ 1654023 w 2998420"/>
              <a:gd name="connsiteY5" fmla="*/ 542980 h 2007701"/>
              <a:gd name="connsiteX6" fmla="*/ 2141771 w 2998420"/>
              <a:gd name="connsiteY6" fmla="*/ 288758 h 2007701"/>
              <a:gd name="connsiteX7" fmla="*/ 2709662 w 2998420"/>
              <a:gd name="connsiteY7" fmla="*/ 77002 h 2007701"/>
              <a:gd name="connsiteX8" fmla="*/ 2998420 w 2998420"/>
              <a:gd name="connsiteY8" fmla="*/ 0 h 2007701"/>
              <a:gd name="connsiteX0" fmla="*/ 0 w 2998420"/>
              <a:gd name="connsiteY0" fmla="*/ 2007701 h 2007701"/>
              <a:gd name="connsiteX1" fmla="*/ 190277 w 2998420"/>
              <a:gd name="connsiteY1" fmla="*/ 1754057 h 2007701"/>
              <a:gd name="connsiteX2" fmla="*/ 473460 w 2998420"/>
              <a:gd name="connsiteY2" fmla="*/ 1439259 h 2007701"/>
              <a:gd name="connsiteX3" fmla="*/ 801630 w 2998420"/>
              <a:gd name="connsiteY3" fmla="*/ 1135216 h 2007701"/>
              <a:gd name="connsiteX4" fmla="*/ 1253814 w 2998420"/>
              <a:gd name="connsiteY4" fmla="*/ 806251 h 2007701"/>
              <a:gd name="connsiteX5" fmla="*/ 1654023 w 2998420"/>
              <a:gd name="connsiteY5" fmla="*/ 542980 h 2007701"/>
              <a:gd name="connsiteX6" fmla="*/ 2141771 w 2998420"/>
              <a:gd name="connsiteY6" fmla="*/ 288758 h 2007701"/>
              <a:gd name="connsiteX7" fmla="*/ 2709662 w 2998420"/>
              <a:gd name="connsiteY7" fmla="*/ 77002 h 2007701"/>
              <a:gd name="connsiteX8" fmla="*/ 2998420 w 2998420"/>
              <a:gd name="connsiteY8" fmla="*/ 0 h 2007701"/>
              <a:gd name="connsiteX0" fmla="*/ 0 w 2998420"/>
              <a:gd name="connsiteY0" fmla="*/ 2007701 h 2007701"/>
              <a:gd name="connsiteX1" fmla="*/ 190277 w 2998420"/>
              <a:gd name="connsiteY1" fmla="*/ 1754057 h 2007701"/>
              <a:gd name="connsiteX2" fmla="*/ 473460 w 2998420"/>
              <a:gd name="connsiteY2" fmla="*/ 1439259 h 2007701"/>
              <a:gd name="connsiteX3" fmla="*/ 801630 w 2998420"/>
              <a:gd name="connsiteY3" fmla="*/ 1135216 h 2007701"/>
              <a:gd name="connsiteX4" fmla="*/ 1232334 w 2998420"/>
              <a:gd name="connsiteY4" fmla="*/ 790966 h 2007701"/>
              <a:gd name="connsiteX5" fmla="*/ 1654023 w 2998420"/>
              <a:gd name="connsiteY5" fmla="*/ 542980 h 2007701"/>
              <a:gd name="connsiteX6" fmla="*/ 2141771 w 2998420"/>
              <a:gd name="connsiteY6" fmla="*/ 288758 h 2007701"/>
              <a:gd name="connsiteX7" fmla="*/ 2709662 w 2998420"/>
              <a:gd name="connsiteY7" fmla="*/ 77002 h 2007701"/>
              <a:gd name="connsiteX8" fmla="*/ 2998420 w 2998420"/>
              <a:gd name="connsiteY8" fmla="*/ 0 h 2007701"/>
              <a:gd name="connsiteX0" fmla="*/ 0 w 2998420"/>
              <a:gd name="connsiteY0" fmla="*/ 2007701 h 2007701"/>
              <a:gd name="connsiteX1" fmla="*/ 190277 w 2998420"/>
              <a:gd name="connsiteY1" fmla="*/ 1754057 h 2007701"/>
              <a:gd name="connsiteX2" fmla="*/ 473460 w 2998420"/>
              <a:gd name="connsiteY2" fmla="*/ 1439259 h 2007701"/>
              <a:gd name="connsiteX3" fmla="*/ 801630 w 2998420"/>
              <a:gd name="connsiteY3" fmla="*/ 1135216 h 2007701"/>
              <a:gd name="connsiteX4" fmla="*/ 1232334 w 2998420"/>
              <a:gd name="connsiteY4" fmla="*/ 790966 h 2007701"/>
              <a:gd name="connsiteX5" fmla="*/ 1632543 w 2998420"/>
              <a:gd name="connsiteY5" fmla="*/ 532790 h 2007701"/>
              <a:gd name="connsiteX6" fmla="*/ 2141771 w 2998420"/>
              <a:gd name="connsiteY6" fmla="*/ 288758 h 2007701"/>
              <a:gd name="connsiteX7" fmla="*/ 2709662 w 2998420"/>
              <a:gd name="connsiteY7" fmla="*/ 77002 h 2007701"/>
              <a:gd name="connsiteX8" fmla="*/ 2998420 w 2998420"/>
              <a:gd name="connsiteY8" fmla="*/ 0 h 200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8420" h="2007701">
                <a:moveTo>
                  <a:pt x="0" y="2007701"/>
                </a:moveTo>
                <a:cubicBezTo>
                  <a:pt x="38678" y="1940562"/>
                  <a:pt x="111367" y="1848797"/>
                  <a:pt x="190277" y="1754057"/>
                </a:cubicBezTo>
                <a:cubicBezTo>
                  <a:pt x="269187" y="1659317"/>
                  <a:pt x="371568" y="1542399"/>
                  <a:pt x="473460" y="1439259"/>
                </a:cubicBezTo>
                <a:cubicBezTo>
                  <a:pt x="575352" y="1336119"/>
                  <a:pt x="675151" y="1243265"/>
                  <a:pt x="801630" y="1135216"/>
                </a:cubicBezTo>
                <a:cubicBezTo>
                  <a:pt x="928109" y="1027167"/>
                  <a:pt x="1093849" y="891370"/>
                  <a:pt x="1232334" y="790966"/>
                </a:cubicBezTo>
                <a:cubicBezTo>
                  <a:pt x="1370820" y="690562"/>
                  <a:pt x="1480970" y="616491"/>
                  <a:pt x="1632543" y="532790"/>
                </a:cubicBezTo>
                <a:cubicBezTo>
                  <a:pt x="1784116" y="449089"/>
                  <a:pt x="1962251" y="364723"/>
                  <a:pt x="2141771" y="288758"/>
                </a:cubicBezTo>
                <a:cubicBezTo>
                  <a:pt x="2321291" y="212793"/>
                  <a:pt x="2566887" y="125128"/>
                  <a:pt x="2709662" y="77002"/>
                </a:cubicBezTo>
                <a:cubicBezTo>
                  <a:pt x="2852437" y="28876"/>
                  <a:pt x="2925428" y="14438"/>
                  <a:pt x="2998420" y="0"/>
                </a:cubicBezTo>
              </a:path>
            </a:pathLst>
          </a:cu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Forme libre 10"/>
          <p:cNvSpPr/>
          <p:nvPr/>
        </p:nvSpPr>
        <p:spPr>
          <a:xfrm rot="20772728">
            <a:off x="727919" y="1926426"/>
            <a:ext cx="1929109" cy="1290880"/>
          </a:xfrm>
          <a:custGeom>
            <a:avLst/>
            <a:gdLst>
              <a:gd name="connsiteX0" fmla="*/ 0 w 3234089"/>
              <a:gd name="connsiteY0" fmla="*/ 2175310 h 2175310"/>
              <a:gd name="connsiteX1" fmla="*/ 673769 w 3234089"/>
              <a:gd name="connsiteY1" fmla="*/ 1559293 h 2175310"/>
              <a:gd name="connsiteX2" fmla="*/ 1386038 w 3234089"/>
              <a:gd name="connsiteY2" fmla="*/ 981777 h 2175310"/>
              <a:gd name="connsiteX3" fmla="*/ 1809550 w 3234089"/>
              <a:gd name="connsiteY3" fmla="*/ 693019 h 2175310"/>
              <a:gd name="connsiteX4" fmla="*/ 2752825 w 3234089"/>
              <a:gd name="connsiteY4" fmla="*/ 202131 h 2175310"/>
              <a:gd name="connsiteX5" fmla="*/ 3234089 w 3234089"/>
              <a:gd name="connsiteY5" fmla="*/ 0 h 2175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089" h="2175310">
                <a:moveTo>
                  <a:pt x="0" y="2175310"/>
                </a:moveTo>
                <a:cubicBezTo>
                  <a:pt x="221381" y="1966762"/>
                  <a:pt x="442763" y="1758215"/>
                  <a:pt x="673769" y="1559293"/>
                </a:cubicBezTo>
                <a:cubicBezTo>
                  <a:pt x="904775" y="1360371"/>
                  <a:pt x="1196741" y="1126156"/>
                  <a:pt x="1386038" y="981777"/>
                </a:cubicBezTo>
                <a:cubicBezTo>
                  <a:pt x="1575335" y="837398"/>
                  <a:pt x="1581752" y="822960"/>
                  <a:pt x="1809550" y="693019"/>
                </a:cubicBezTo>
                <a:cubicBezTo>
                  <a:pt x="2037348" y="563078"/>
                  <a:pt x="2515402" y="317634"/>
                  <a:pt x="2752825" y="202131"/>
                </a:cubicBezTo>
                <a:cubicBezTo>
                  <a:pt x="2990248" y="86628"/>
                  <a:pt x="3112168" y="43314"/>
                  <a:pt x="3234089" y="0"/>
                </a:cubicBezTo>
              </a:path>
            </a:pathLst>
          </a:cu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mc:AlternateContent xmlns:mc="http://schemas.openxmlformats.org/markup-compatibility/2006" xmlns:a14="http://schemas.microsoft.com/office/drawing/2010/main">
        <mc:Choice Requires="a14">
          <p:sp>
            <p:nvSpPr>
              <p:cNvPr id="17" name="ZoneTexte 14"/>
              <p:cNvSpPr txBox="1"/>
              <p:nvPr/>
            </p:nvSpPr>
            <p:spPr>
              <a:xfrm>
                <a:off x="918008" y="3406781"/>
                <a:ext cx="1184748" cy="293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sz="1200">
                          <a:solidFill>
                            <a:schemeClr val="accent1"/>
                          </a:solidFill>
                          <a:latin typeface="Cambria Math"/>
                          <a:ea typeface="Cambria Math"/>
                        </a:rPr>
                        <m:t>Ex</m:t>
                      </m:r>
                      <m:sSub>
                        <m:sSubPr>
                          <m:ctrlPr>
                            <a:rPr lang="fr-FR" sz="1200" i="1">
                              <a:solidFill>
                                <a:schemeClr val="accent1"/>
                              </a:solidFill>
                              <a:latin typeface="Cambria Math" panose="02040503050406030204" pitchFamily="18" charset="0"/>
                              <a:ea typeface="Cambria Math"/>
                            </a:rPr>
                          </m:ctrlPr>
                        </m:sSubPr>
                        <m:e>
                          <m:r>
                            <m:rPr>
                              <m:sty m:val="p"/>
                            </m:rPr>
                            <a:rPr lang="fr-FR" sz="1200">
                              <a:solidFill>
                                <a:schemeClr val="accent1"/>
                              </a:solidFill>
                              <a:latin typeface="Cambria Math"/>
                              <a:ea typeface="Cambria Math"/>
                            </a:rPr>
                            <m:t>p</m:t>
                          </m:r>
                        </m:e>
                        <m:sub>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𝑝</m:t>
                              </m:r>
                            </m:e>
                            <m:sub>
                              <m:r>
                                <a:rPr lang="fr-FR" sz="1200" i="1">
                                  <a:solidFill>
                                    <a:schemeClr val="accent1"/>
                                  </a:solidFill>
                                  <a:latin typeface="Cambria Math"/>
                                  <a:ea typeface="Cambria Math"/>
                                </a:rPr>
                                <m:t>0</m:t>
                              </m:r>
                            </m:sub>
                          </m:sSub>
                          <m:r>
                            <a:rPr lang="fr-FR" sz="1200" i="1">
                              <a:solidFill>
                                <a:schemeClr val="accent1"/>
                              </a:solidFill>
                              <a:latin typeface="Cambria Math"/>
                              <a:ea typeface="Cambria Math"/>
                            </a:rPr>
                            <m:t>,</m:t>
                          </m:r>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𝑡</m:t>
                              </m:r>
                            </m:e>
                            <m:sub>
                              <m:r>
                                <a:rPr lang="fr-FR" sz="1200" i="1">
                                  <a:solidFill>
                                    <a:schemeClr val="accent1"/>
                                  </a:solidFill>
                                  <a:latin typeface="Cambria Math"/>
                                  <a:ea typeface="Cambria Math"/>
                                </a:rPr>
                                <m:t>0</m:t>
                              </m:r>
                            </m:sub>
                          </m:sSub>
                        </m:sub>
                      </m:sSub>
                      <m:r>
                        <a:rPr lang="fr-FR" sz="1200" i="1">
                          <a:solidFill>
                            <a:schemeClr val="accent1"/>
                          </a:solidFill>
                          <a:latin typeface="Cambria Math"/>
                          <a:ea typeface="Cambria Math"/>
                        </a:rPr>
                        <m:t>(</m:t>
                      </m:r>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𝑣</m:t>
                          </m:r>
                        </m:e>
                        <m:sub>
                          <m:r>
                            <a:rPr lang="fr-FR" sz="1200" i="1">
                              <a:solidFill>
                                <a:schemeClr val="accent1"/>
                              </a:solidFill>
                              <a:latin typeface="Cambria Math"/>
                              <a:ea typeface="Cambria Math"/>
                            </a:rPr>
                            <m:t>0</m:t>
                          </m:r>
                        </m:sub>
                      </m:sSub>
                      <m:r>
                        <a:rPr lang="fr-FR" sz="1200" i="1">
                          <a:solidFill>
                            <a:schemeClr val="accent1"/>
                          </a:solidFill>
                          <a:latin typeface="Cambria Math"/>
                          <a:ea typeface="Cambria Math"/>
                        </a:rPr>
                        <m:t>)(⋅)</m:t>
                      </m:r>
                    </m:oMath>
                  </m:oMathPara>
                </a14:m>
                <a:endParaRPr lang="fr-FR" sz="1200" dirty="0"/>
              </a:p>
            </p:txBody>
          </p:sp>
        </mc:Choice>
        <mc:Fallback xmlns="">
          <p:sp>
            <p:nvSpPr>
              <p:cNvPr id="17" name="ZoneTexte 14"/>
              <p:cNvSpPr txBox="1">
                <a:spLocks noRot="1" noChangeAspect="1" noMove="1" noResize="1" noEditPoints="1" noAdjustHandles="1" noChangeArrowheads="1" noChangeShapeType="1" noTextEdit="1"/>
              </p:cNvSpPr>
              <p:nvPr/>
            </p:nvSpPr>
            <p:spPr>
              <a:xfrm>
                <a:off x="918008" y="3406781"/>
                <a:ext cx="1184748" cy="293991"/>
              </a:xfrm>
              <a:prstGeom prst="rect">
                <a:avLst/>
              </a:prstGeom>
              <a:blipFill>
                <a:blip r:embed="rId2"/>
                <a:stretch>
                  <a:fillRect/>
                </a:stretch>
              </a:blipFill>
            </p:spPr>
            <p:txBody>
              <a:bodyPr/>
              <a:lstStyle/>
              <a:p>
                <a:r>
                  <a:rPr lang="en-FR">
                    <a:noFill/>
                  </a:rPr>
                  <a:t> </a:t>
                </a:r>
              </a:p>
            </p:txBody>
          </p:sp>
        </mc:Fallback>
      </mc:AlternateContent>
      <p:sp>
        <p:nvSpPr>
          <p:cNvPr id="18" name="Ellipse 15"/>
          <p:cNvSpPr/>
          <p:nvPr/>
        </p:nvSpPr>
        <p:spPr>
          <a:xfrm>
            <a:off x="1594469" y="2370136"/>
            <a:ext cx="103619" cy="862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mc:AlternateContent xmlns:mc="http://schemas.openxmlformats.org/markup-compatibility/2006" xmlns:a14="http://schemas.microsoft.com/office/drawing/2010/main">
        <mc:Choice Requires="a14">
          <p:sp>
            <p:nvSpPr>
              <p:cNvPr id="19" name="ZoneTexte 16"/>
              <p:cNvSpPr txBox="1"/>
              <p:nvPr/>
            </p:nvSpPr>
            <p:spPr>
              <a:xfrm>
                <a:off x="1560023" y="2437444"/>
                <a:ext cx="37375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200" i="1">
                              <a:latin typeface="Cambria Math" panose="02040503050406030204" pitchFamily="18" charset="0"/>
                            </a:rPr>
                          </m:ctrlPr>
                        </m:sSubPr>
                        <m:e>
                          <m:r>
                            <a:rPr lang="fr-FR" sz="1200" i="1">
                              <a:latin typeface="Cambria Math"/>
                            </a:rPr>
                            <m:t>𝑝</m:t>
                          </m:r>
                        </m:e>
                        <m:sub>
                          <m:r>
                            <a:rPr lang="fr-FR" sz="1200" i="1">
                              <a:latin typeface="Cambria Math"/>
                            </a:rPr>
                            <m:t>0</m:t>
                          </m:r>
                        </m:sub>
                      </m:sSub>
                    </m:oMath>
                  </m:oMathPara>
                </a14:m>
                <a:endParaRPr lang="fr-FR" sz="1200" dirty="0"/>
              </a:p>
            </p:txBody>
          </p:sp>
        </mc:Choice>
        <mc:Fallback xmlns="">
          <p:sp>
            <p:nvSpPr>
              <p:cNvPr id="19" name="ZoneTexte 16"/>
              <p:cNvSpPr txBox="1">
                <a:spLocks noRot="1" noChangeAspect="1" noMove="1" noResize="1" noEditPoints="1" noAdjustHandles="1" noChangeArrowheads="1" noChangeShapeType="1" noTextEdit="1"/>
              </p:cNvSpPr>
              <p:nvPr/>
            </p:nvSpPr>
            <p:spPr>
              <a:xfrm>
                <a:off x="1560023" y="2437444"/>
                <a:ext cx="373757" cy="276999"/>
              </a:xfrm>
              <a:prstGeom prst="rect">
                <a:avLst/>
              </a:prstGeom>
              <a:blipFill>
                <a:blip r:embed="rId3"/>
                <a:stretch>
                  <a:fillRect b="-4545"/>
                </a:stretch>
              </a:blipFill>
            </p:spPr>
            <p:txBody>
              <a:bodyPr/>
              <a:lstStyle/>
              <a:p>
                <a:r>
                  <a:rPr lang="en-FR">
                    <a:noFill/>
                  </a:rPr>
                  <a:t> </a:t>
                </a:r>
              </a:p>
            </p:txBody>
          </p:sp>
        </mc:Fallback>
      </mc:AlternateContent>
      <p:grpSp>
        <p:nvGrpSpPr>
          <p:cNvPr id="32" name="Groupe 18"/>
          <p:cNvGrpSpPr/>
          <p:nvPr/>
        </p:nvGrpSpPr>
        <p:grpSpPr>
          <a:xfrm>
            <a:off x="3276359" y="2186680"/>
            <a:ext cx="300651" cy="295862"/>
            <a:chOff x="2699816" y="927654"/>
            <a:chExt cx="1008088" cy="952309"/>
          </a:xfrm>
        </p:grpSpPr>
        <p:sp>
          <p:nvSpPr>
            <p:cNvPr id="33" name="Ellipse 28"/>
            <p:cNvSpPr/>
            <p:nvPr/>
          </p:nvSpPr>
          <p:spPr>
            <a:xfrm>
              <a:off x="2771797" y="999661"/>
              <a:ext cx="864096" cy="81065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34" name="Connecteur droit 29"/>
            <p:cNvCxnSpPr/>
            <p:nvPr/>
          </p:nvCxnSpPr>
          <p:spPr>
            <a:xfrm>
              <a:off x="3203848" y="927654"/>
              <a:ext cx="0"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Connecteur droit 30"/>
            <p:cNvCxnSpPr/>
            <p:nvPr/>
          </p:nvCxnSpPr>
          <p:spPr>
            <a:xfrm flipH="1">
              <a:off x="3454177" y="1071670"/>
              <a:ext cx="101834" cy="1018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Connecteur droit 31"/>
            <p:cNvCxnSpPr/>
            <p:nvPr/>
          </p:nvCxnSpPr>
          <p:spPr>
            <a:xfrm flipH="1">
              <a:off x="3563888" y="1404992"/>
              <a:ext cx="1440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necteur droit 32"/>
            <p:cNvCxnSpPr/>
            <p:nvPr/>
          </p:nvCxnSpPr>
          <p:spPr>
            <a:xfrm flipH="1">
              <a:off x="2699816" y="1412111"/>
              <a:ext cx="1440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Connecteur droit 33"/>
            <p:cNvCxnSpPr/>
            <p:nvPr/>
          </p:nvCxnSpPr>
          <p:spPr>
            <a:xfrm>
              <a:off x="3203848" y="1735947"/>
              <a:ext cx="0"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Connecteur droit 34"/>
            <p:cNvCxnSpPr/>
            <p:nvPr/>
          </p:nvCxnSpPr>
          <p:spPr>
            <a:xfrm flipH="1">
              <a:off x="2840632" y="1634112"/>
              <a:ext cx="101834" cy="1018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necteur droit 35"/>
            <p:cNvCxnSpPr/>
            <p:nvPr/>
          </p:nvCxnSpPr>
          <p:spPr>
            <a:xfrm>
              <a:off x="2843832" y="1071669"/>
              <a:ext cx="101834" cy="1018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Connecteur droit 36"/>
            <p:cNvCxnSpPr/>
            <p:nvPr/>
          </p:nvCxnSpPr>
          <p:spPr>
            <a:xfrm>
              <a:off x="3473138" y="1634111"/>
              <a:ext cx="101834" cy="1018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necteur droit avec flèche 37"/>
            <p:cNvCxnSpPr>
              <a:endCxn id="41" idx="0"/>
            </p:cNvCxnSpPr>
            <p:nvPr/>
          </p:nvCxnSpPr>
          <p:spPr>
            <a:xfrm flipV="1">
              <a:off x="3203847" y="999661"/>
              <a:ext cx="0" cy="405331"/>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38"/>
            <p:cNvCxnSpPr>
              <a:endCxn id="41" idx="2"/>
            </p:cNvCxnSpPr>
            <p:nvPr/>
          </p:nvCxnSpPr>
          <p:spPr>
            <a:xfrm flipH="1">
              <a:off x="2771801" y="1404992"/>
              <a:ext cx="432399" cy="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ZoneTexte 19"/>
              <p:cNvSpPr txBox="1"/>
              <p:nvPr/>
            </p:nvSpPr>
            <p:spPr>
              <a:xfrm>
                <a:off x="1750762" y="1596650"/>
                <a:ext cx="37394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200" i="1">
                              <a:latin typeface="Cambria Math" panose="02040503050406030204" pitchFamily="18" charset="0"/>
                            </a:rPr>
                          </m:ctrlPr>
                        </m:sSubPr>
                        <m:e>
                          <m:r>
                            <a:rPr lang="fr-FR" sz="1200" i="1">
                              <a:latin typeface="Cambria Math"/>
                            </a:rPr>
                            <m:t>𝑣</m:t>
                          </m:r>
                        </m:e>
                        <m:sub>
                          <m:r>
                            <a:rPr lang="fr-FR" sz="1200" i="1">
                              <a:latin typeface="Cambria Math"/>
                            </a:rPr>
                            <m:t>0</m:t>
                          </m:r>
                        </m:sub>
                      </m:sSub>
                    </m:oMath>
                  </m:oMathPara>
                </a14:m>
                <a:endParaRPr lang="fr-FR" sz="1200" dirty="0"/>
              </a:p>
            </p:txBody>
          </p:sp>
        </mc:Choice>
        <mc:Fallback xmlns="">
          <p:sp>
            <p:nvSpPr>
              <p:cNvPr id="44" name="ZoneTexte 19"/>
              <p:cNvSpPr txBox="1">
                <a:spLocks noRot="1" noChangeAspect="1" noMove="1" noResize="1" noEditPoints="1" noAdjustHandles="1" noChangeArrowheads="1" noChangeShapeType="1" noTextEdit="1"/>
              </p:cNvSpPr>
              <p:nvPr/>
            </p:nvSpPr>
            <p:spPr>
              <a:xfrm>
                <a:off x="1750762" y="1596650"/>
                <a:ext cx="373949" cy="276999"/>
              </a:xfrm>
              <a:prstGeom prst="rect">
                <a:avLst/>
              </a:prstGeom>
              <a:blipFill>
                <a:blip r:embed="rId4"/>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45" name="ZoneTexte 20"/>
              <p:cNvSpPr txBox="1"/>
              <p:nvPr/>
            </p:nvSpPr>
            <p:spPr>
              <a:xfrm>
                <a:off x="918007" y="2180139"/>
                <a:ext cx="6163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200" i="1">
                          <a:solidFill>
                            <a:schemeClr val="accent1"/>
                          </a:solidFill>
                          <a:latin typeface="Cambria Math"/>
                        </a:rPr>
                        <m:t>𝑡</m:t>
                      </m:r>
                      <m:r>
                        <a:rPr lang="fr-FR" sz="1200" i="1">
                          <a:solidFill>
                            <a:schemeClr val="accent1"/>
                          </a:solidFill>
                          <a:latin typeface="Cambria Math"/>
                        </a:rPr>
                        <m:t>=</m:t>
                      </m:r>
                      <m:sSub>
                        <m:sSubPr>
                          <m:ctrlPr>
                            <a:rPr lang="fr-FR" sz="1200" i="1">
                              <a:solidFill>
                                <a:schemeClr val="accent1"/>
                              </a:solidFill>
                              <a:latin typeface="Cambria Math" panose="02040503050406030204" pitchFamily="18" charset="0"/>
                            </a:rPr>
                          </m:ctrlPr>
                        </m:sSubPr>
                        <m:e>
                          <m:r>
                            <a:rPr lang="fr-FR" sz="1200" i="1">
                              <a:solidFill>
                                <a:schemeClr val="accent1"/>
                              </a:solidFill>
                              <a:latin typeface="Cambria Math"/>
                            </a:rPr>
                            <m:t>𝑡</m:t>
                          </m:r>
                        </m:e>
                        <m:sub>
                          <m:r>
                            <a:rPr lang="fr-FR" sz="1200" i="1">
                              <a:solidFill>
                                <a:schemeClr val="accent1"/>
                              </a:solidFill>
                              <a:latin typeface="Cambria Math"/>
                            </a:rPr>
                            <m:t>0</m:t>
                          </m:r>
                        </m:sub>
                      </m:sSub>
                    </m:oMath>
                  </m:oMathPara>
                </a14:m>
                <a:endParaRPr lang="fr-FR" sz="1200" dirty="0"/>
              </a:p>
            </p:txBody>
          </p:sp>
        </mc:Choice>
        <mc:Fallback xmlns="">
          <p:sp>
            <p:nvSpPr>
              <p:cNvPr id="45" name="ZoneTexte 20"/>
              <p:cNvSpPr txBox="1">
                <a:spLocks noRot="1" noChangeAspect="1" noMove="1" noResize="1" noEditPoints="1" noAdjustHandles="1" noChangeArrowheads="1" noChangeShapeType="1" noTextEdit="1"/>
              </p:cNvSpPr>
              <p:nvPr/>
            </p:nvSpPr>
            <p:spPr>
              <a:xfrm>
                <a:off x="918007" y="2180139"/>
                <a:ext cx="616387" cy="276999"/>
              </a:xfrm>
              <a:prstGeom prst="rect">
                <a:avLst/>
              </a:prstGeom>
              <a:blipFill>
                <a:blip r:embed="rId5"/>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46" name="ZoneTexte 21"/>
              <p:cNvSpPr txBox="1"/>
              <p:nvPr/>
            </p:nvSpPr>
            <p:spPr>
              <a:xfrm>
                <a:off x="3839507" y="2745581"/>
                <a:ext cx="37375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200" i="1">
                              <a:latin typeface="Cambria Math" panose="02040503050406030204" pitchFamily="18" charset="0"/>
                            </a:rPr>
                          </m:ctrlPr>
                        </m:sSubPr>
                        <m:e>
                          <m:r>
                            <a:rPr lang="fr-FR" sz="1200" i="1">
                              <a:latin typeface="Cambria Math"/>
                            </a:rPr>
                            <m:t>𝑝</m:t>
                          </m:r>
                        </m:e>
                        <m:sub>
                          <m:r>
                            <a:rPr lang="fr-FR" sz="1200" i="1">
                              <a:latin typeface="Cambria Math"/>
                            </a:rPr>
                            <m:t>0</m:t>
                          </m:r>
                        </m:sub>
                      </m:sSub>
                    </m:oMath>
                  </m:oMathPara>
                </a14:m>
                <a:endParaRPr lang="fr-FR" sz="1200" dirty="0"/>
              </a:p>
            </p:txBody>
          </p:sp>
        </mc:Choice>
        <mc:Fallback xmlns="">
          <p:sp>
            <p:nvSpPr>
              <p:cNvPr id="46" name="ZoneTexte 21"/>
              <p:cNvSpPr txBox="1">
                <a:spLocks noRot="1" noChangeAspect="1" noMove="1" noResize="1" noEditPoints="1" noAdjustHandles="1" noChangeArrowheads="1" noChangeShapeType="1" noTextEdit="1"/>
              </p:cNvSpPr>
              <p:nvPr/>
            </p:nvSpPr>
            <p:spPr>
              <a:xfrm>
                <a:off x="3839507" y="2745581"/>
                <a:ext cx="373757" cy="276999"/>
              </a:xfrm>
              <a:prstGeom prst="rect">
                <a:avLst/>
              </a:prstGeom>
              <a:blipFill>
                <a:blip r:embed="rId6"/>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47" name="ZoneTexte 22"/>
              <p:cNvSpPr txBox="1"/>
              <p:nvPr/>
            </p:nvSpPr>
            <p:spPr>
              <a:xfrm>
                <a:off x="3555535" y="3374347"/>
                <a:ext cx="1524905" cy="2950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200" i="1">
                          <a:solidFill>
                            <a:srgbClr val="FF0000"/>
                          </a:solidFill>
                          <a:latin typeface="Cambria Math"/>
                        </a:rPr>
                        <m:t>𝐸𝑥</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𝑝</m:t>
                          </m:r>
                        </m:e>
                        <m:sub>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𝑝</m:t>
                              </m:r>
                            </m:e>
                            <m:sub>
                              <m:r>
                                <a:rPr lang="fr-FR" sz="1200" i="1">
                                  <a:solidFill>
                                    <a:srgbClr val="FF0000"/>
                                  </a:solidFill>
                                  <a:latin typeface="Cambria Math"/>
                                </a:rPr>
                                <m:t>0</m:t>
                              </m:r>
                            </m:sub>
                          </m:sSub>
                          <m:r>
                            <a:rPr lang="fr-FR" sz="1200" i="1">
                              <a:solidFill>
                                <a:srgbClr val="FF0000"/>
                              </a:solidFill>
                              <a:latin typeface="Cambria Math"/>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𝑡</m:t>
                              </m:r>
                            </m:e>
                            <m:sub>
                              <m:r>
                                <a:rPr lang="fr-FR" sz="1200" i="1">
                                  <a:solidFill>
                                    <a:srgbClr val="FF0000"/>
                                  </a:solidFill>
                                  <a:latin typeface="Cambria Math"/>
                                </a:rPr>
                                <m:t>0</m:t>
                              </m:r>
                            </m:sub>
                          </m:sSub>
                          <m:r>
                            <a:rPr lang="fr-FR" sz="1200" i="1">
                              <a:solidFill>
                                <a:srgbClr val="FF0000"/>
                              </a:solidFill>
                              <a:latin typeface="Cambria Math"/>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𝜏</m:t>
                              </m:r>
                            </m:e>
                            <m:sub>
                              <m:r>
                                <a:rPr lang="fr-FR" sz="1200" i="1">
                                  <a:solidFill>
                                    <a:srgbClr val="FF0000"/>
                                  </a:solidFill>
                                  <a:latin typeface="Cambria Math"/>
                                </a:rPr>
                                <m:t>𝑖</m:t>
                              </m:r>
                            </m:sub>
                          </m:sSub>
                        </m:sub>
                      </m:sSub>
                      <m:r>
                        <a:rPr lang="fr-FR" sz="1200" i="1">
                          <a:solidFill>
                            <a:srgbClr val="FF0000"/>
                          </a:solidFill>
                          <a:latin typeface="Cambria Math"/>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𝛼</m:t>
                          </m:r>
                        </m:e>
                        <m:sub>
                          <m:r>
                            <a:rPr lang="fr-FR" sz="1200" i="1">
                              <a:solidFill>
                                <a:srgbClr val="FF0000"/>
                              </a:solidFill>
                              <a:latin typeface="Cambria Math"/>
                            </a:rPr>
                            <m:t>𝑖</m:t>
                          </m:r>
                        </m:sub>
                      </m:sSub>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𝑣</m:t>
                          </m:r>
                        </m:e>
                        <m:sub>
                          <m:r>
                            <a:rPr lang="fr-FR" sz="1200" i="1">
                              <a:solidFill>
                                <a:srgbClr val="FF0000"/>
                              </a:solidFill>
                              <a:latin typeface="Cambria Math"/>
                            </a:rPr>
                            <m:t>0</m:t>
                          </m:r>
                        </m:sub>
                      </m:sSub>
                      <m:r>
                        <a:rPr lang="fr-FR" sz="1200" i="1">
                          <a:solidFill>
                            <a:srgbClr val="FF0000"/>
                          </a:solidFill>
                          <a:latin typeface="Cambria Math"/>
                        </a:rPr>
                        <m:t>)(⋅)</m:t>
                      </m:r>
                    </m:oMath>
                  </m:oMathPara>
                </a14:m>
                <a:endParaRPr lang="fr-FR" sz="1200" dirty="0"/>
              </a:p>
            </p:txBody>
          </p:sp>
        </mc:Choice>
        <mc:Fallback xmlns="">
          <p:sp>
            <p:nvSpPr>
              <p:cNvPr id="47" name="ZoneTexte 22"/>
              <p:cNvSpPr txBox="1">
                <a:spLocks noRot="1" noChangeAspect="1" noMove="1" noResize="1" noEditPoints="1" noAdjustHandles="1" noChangeArrowheads="1" noChangeShapeType="1" noTextEdit="1"/>
              </p:cNvSpPr>
              <p:nvPr/>
            </p:nvSpPr>
            <p:spPr>
              <a:xfrm>
                <a:off x="3555535" y="3374347"/>
                <a:ext cx="1524905" cy="295081"/>
              </a:xfrm>
              <a:prstGeom prst="rect">
                <a:avLst/>
              </a:prstGeom>
              <a:blipFill>
                <a:blip r:embed="rId7"/>
                <a:stretch>
                  <a:fillRect/>
                </a:stretch>
              </a:blipFill>
            </p:spPr>
            <p:txBody>
              <a:bodyPr/>
              <a:lstStyle/>
              <a:p>
                <a:r>
                  <a:rPr lang="en-FR">
                    <a:noFill/>
                  </a:rPr>
                  <a:t> </a:t>
                </a:r>
              </a:p>
            </p:txBody>
          </p:sp>
        </mc:Fallback>
      </mc:AlternateContent>
      <p:cxnSp>
        <p:nvCxnSpPr>
          <p:cNvPr id="48" name="Connecteur droit avec flèche 23"/>
          <p:cNvCxnSpPr/>
          <p:nvPr/>
        </p:nvCxnSpPr>
        <p:spPr>
          <a:xfrm flipV="1">
            <a:off x="3924063" y="1368029"/>
            <a:ext cx="874825" cy="1286621"/>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ZoneTexte 26"/>
              <p:cNvSpPr txBox="1"/>
              <p:nvPr/>
            </p:nvSpPr>
            <p:spPr>
              <a:xfrm>
                <a:off x="4110184" y="1323494"/>
                <a:ext cx="51725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200" i="1">
                              <a:latin typeface="Cambria Math" panose="02040503050406030204" pitchFamily="18" charset="0"/>
                            </a:rPr>
                          </m:ctrlPr>
                        </m:sSubPr>
                        <m:e>
                          <m:r>
                            <a:rPr lang="fr-FR" sz="1200" i="1">
                              <a:latin typeface="Cambria Math"/>
                              <a:ea typeface="Cambria Math"/>
                            </a:rPr>
                            <m:t>𝛼</m:t>
                          </m:r>
                        </m:e>
                        <m:sub>
                          <m:r>
                            <a:rPr lang="fr-FR" sz="1200" i="1">
                              <a:latin typeface="Cambria Math"/>
                            </a:rPr>
                            <m:t>𝑖</m:t>
                          </m:r>
                        </m:sub>
                      </m:sSub>
                      <m:sSub>
                        <m:sSubPr>
                          <m:ctrlPr>
                            <a:rPr lang="fr-FR" sz="1200" i="1">
                              <a:latin typeface="Cambria Math" panose="02040503050406030204" pitchFamily="18" charset="0"/>
                            </a:rPr>
                          </m:ctrlPr>
                        </m:sSubPr>
                        <m:e>
                          <m:r>
                            <a:rPr lang="fr-FR" sz="1200" i="1">
                              <a:latin typeface="Cambria Math"/>
                            </a:rPr>
                            <m:t>𝑣</m:t>
                          </m:r>
                        </m:e>
                        <m:sub>
                          <m:r>
                            <a:rPr lang="fr-FR" sz="1200" i="1">
                              <a:latin typeface="Cambria Math"/>
                            </a:rPr>
                            <m:t>0</m:t>
                          </m:r>
                        </m:sub>
                      </m:sSub>
                    </m:oMath>
                  </m:oMathPara>
                </a14:m>
                <a:endParaRPr lang="fr-FR" sz="1200" dirty="0"/>
              </a:p>
            </p:txBody>
          </p:sp>
        </mc:Choice>
        <mc:Fallback xmlns="">
          <p:sp>
            <p:nvSpPr>
              <p:cNvPr id="49" name="ZoneTexte 26"/>
              <p:cNvSpPr txBox="1">
                <a:spLocks noRot="1" noChangeAspect="1" noMove="1" noResize="1" noEditPoints="1" noAdjustHandles="1" noChangeArrowheads="1" noChangeShapeType="1" noTextEdit="1"/>
              </p:cNvSpPr>
              <p:nvPr/>
            </p:nvSpPr>
            <p:spPr>
              <a:xfrm>
                <a:off x="4110184" y="1323494"/>
                <a:ext cx="517257" cy="276999"/>
              </a:xfrm>
              <a:prstGeom prst="rect">
                <a:avLst/>
              </a:prstGeom>
              <a:blipFill>
                <a:blip r:embed="rId8"/>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50" name="ZoneTexte 27"/>
              <p:cNvSpPr txBox="1"/>
              <p:nvPr/>
            </p:nvSpPr>
            <p:spPr>
              <a:xfrm>
                <a:off x="2785278" y="2482544"/>
                <a:ext cx="92102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200" i="1">
                          <a:solidFill>
                            <a:srgbClr val="FF0000"/>
                          </a:solidFill>
                          <a:latin typeface="Cambria Math"/>
                        </a:rPr>
                        <m:t>𝑡</m:t>
                      </m:r>
                      <m:r>
                        <a:rPr lang="fr-FR" sz="1200" i="1">
                          <a:solidFill>
                            <a:srgbClr val="FF0000"/>
                          </a:solidFill>
                          <a:latin typeface="Cambria Math"/>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rPr>
                            <m:t>𝑡</m:t>
                          </m:r>
                        </m:e>
                        <m:sub>
                          <m:r>
                            <a:rPr lang="fr-FR" sz="1200" i="1">
                              <a:solidFill>
                                <a:srgbClr val="FF0000"/>
                              </a:solidFill>
                              <a:latin typeface="Cambria Math"/>
                            </a:rPr>
                            <m:t>0</m:t>
                          </m:r>
                        </m:sub>
                      </m:sSub>
                      <m:r>
                        <a:rPr lang="fr-FR" sz="1200" i="1">
                          <a:solidFill>
                            <a:srgbClr val="FF0000"/>
                          </a:solidFill>
                          <a:latin typeface="Cambria Math"/>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a:ea typeface="Cambria Math"/>
                            </a:rPr>
                            <m:t>𝜏</m:t>
                          </m:r>
                        </m:e>
                        <m:sub>
                          <m:r>
                            <a:rPr lang="fr-FR" sz="1200" i="1">
                              <a:solidFill>
                                <a:srgbClr val="FF0000"/>
                              </a:solidFill>
                              <a:latin typeface="Cambria Math"/>
                            </a:rPr>
                            <m:t>𝑖</m:t>
                          </m:r>
                        </m:sub>
                      </m:sSub>
                    </m:oMath>
                  </m:oMathPara>
                </a14:m>
                <a:endParaRPr lang="fr-FR" sz="1200" dirty="0">
                  <a:solidFill>
                    <a:srgbClr val="FF0000"/>
                  </a:solidFill>
                </a:endParaRPr>
              </a:p>
            </p:txBody>
          </p:sp>
        </mc:Choice>
        <mc:Fallback xmlns="">
          <p:sp>
            <p:nvSpPr>
              <p:cNvPr id="50" name="ZoneTexte 27"/>
              <p:cNvSpPr txBox="1">
                <a:spLocks noRot="1" noChangeAspect="1" noMove="1" noResize="1" noEditPoints="1" noAdjustHandles="1" noChangeArrowheads="1" noChangeShapeType="1" noTextEdit="1"/>
              </p:cNvSpPr>
              <p:nvPr/>
            </p:nvSpPr>
            <p:spPr>
              <a:xfrm>
                <a:off x="2785278" y="2482544"/>
                <a:ext cx="921021" cy="276999"/>
              </a:xfrm>
              <a:prstGeom prst="rect">
                <a:avLst/>
              </a:prstGeom>
              <a:blipFill>
                <a:blip r:embed="rId9"/>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51" name="ZoneTexte 50"/>
              <p:cNvSpPr txBox="1"/>
              <p:nvPr/>
            </p:nvSpPr>
            <p:spPr>
              <a:xfrm>
                <a:off x="3214671" y="3759188"/>
                <a:ext cx="1318807" cy="293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sz="1200">
                          <a:solidFill>
                            <a:schemeClr val="accent1"/>
                          </a:solidFill>
                          <a:latin typeface="Cambria Math"/>
                          <a:ea typeface="Cambria Math"/>
                        </a:rPr>
                        <m:t>Ex</m:t>
                      </m:r>
                      <m:sSub>
                        <m:sSubPr>
                          <m:ctrlPr>
                            <a:rPr lang="fr-FR" sz="1200" i="1">
                              <a:solidFill>
                                <a:schemeClr val="accent1"/>
                              </a:solidFill>
                              <a:latin typeface="Cambria Math" panose="02040503050406030204" pitchFamily="18" charset="0"/>
                              <a:ea typeface="Cambria Math"/>
                            </a:rPr>
                          </m:ctrlPr>
                        </m:sSubPr>
                        <m:e>
                          <m:r>
                            <m:rPr>
                              <m:sty m:val="p"/>
                            </m:rPr>
                            <a:rPr lang="fr-FR" sz="1200">
                              <a:solidFill>
                                <a:schemeClr val="accent1"/>
                              </a:solidFill>
                              <a:latin typeface="Cambria Math"/>
                              <a:ea typeface="Cambria Math"/>
                            </a:rPr>
                            <m:t>p</m:t>
                          </m:r>
                        </m:e>
                        <m:sub>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𝑝</m:t>
                              </m:r>
                            </m:e>
                            <m:sub>
                              <m:r>
                                <a:rPr lang="fr-FR" sz="1200" i="1">
                                  <a:solidFill>
                                    <a:schemeClr val="accent1"/>
                                  </a:solidFill>
                                  <a:latin typeface="Cambria Math"/>
                                  <a:ea typeface="Cambria Math"/>
                                </a:rPr>
                                <m:t>0</m:t>
                              </m:r>
                            </m:sub>
                          </m:sSub>
                          <m:r>
                            <a:rPr lang="fr-FR" sz="1200" i="1">
                              <a:solidFill>
                                <a:schemeClr val="accent1"/>
                              </a:solidFill>
                              <a:latin typeface="Cambria Math"/>
                              <a:ea typeface="Cambria Math"/>
                            </a:rPr>
                            <m:t>,</m:t>
                          </m:r>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𝑡</m:t>
                              </m:r>
                            </m:e>
                            <m:sub>
                              <m:r>
                                <a:rPr lang="fr-FR" sz="1200" i="1">
                                  <a:solidFill>
                                    <a:schemeClr val="accent1"/>
                                  </a:solidFill>
                                  <a:latin typeface="Cambria Math"/>
                                  <a:ea typeface="Cambria Math"/>
                                </a:rPr>
                                <m:t>0</m:t>
                              </m:r>
                            </m:sub>
                          </m:sSub>
                        </m:sub>
                      </m:sSub>
                      <m:r>
                        <a:rPr lang="fr-FR" sz="1200" i="1">
                          <a:solidFill>
                            <a:schemeClr val="accent1"/>
                          </a:solidFill>
                          <a:latin typeface="Cambria Math"/>
                          <a:ea typeface="Cambria Math"/>
                        </a:rPr>
                        <m:t>(</m:t>
                      </m:r>
                      <m:sSub>
                        <m:sSubPr>
                          <m:ctrlPr>
                            <a:rPr lang="fr-FR" sz="1200" i="1">
                              <a:solidFill>
                                <a:schemeClr val="accent1"/>
                              </a:solidFill>
                              <a:latin typeface="Cambria Math" panose="02040503050406030204" pitchFamily="18" charset="0"/>
                              <a:ea typeface="Cambria Math"/>
                            </a:rPr>
                          </m:ctrlPr>
                        </m:sSubPr>
                        <m:e>
                          <m:r>
                            <a:rPr lang="fr-FR" sz="1200" i="1">
                              <a:solidFill>
                                <a:schemeClr val="accent1"/>
                              </a:solidFill>
                              <a:latin typeface="Cambria Math"/>
                              <a:ea typeface="Cambria Math"/>
                            </a:rPr>
                            <m:t>𝑣</m:t>
                          </m:r>
                        </m:e>
                        <m:sub>
                          <m:r>
                            <a:rPr lang="fr-FR" sz="1200" i="1">
                              <a:solidFill>
                                <a:schemeClr val="accent1"/>
                              </a:solidFill>
                              <a:latin typeface="Cambria Math"/>
                              <a:ea typeface="Cambria Math"/>
                            </a:rPr>
                            <m:t>0</m:t>
                          </m:r>
                        </m:sub>
                      </m:sSub>
                      <m:r>
                        <a:rPr lang="fr-FR" sz="1200" i="1">
                          <a:solidFill>
                            <a:schemeClr val="accent1"/>
                          </a:solidFill>
                          <a:latin typeface="Cambria Math"/>
                          <a:ea typeface="Cambria Math"/>
                        </a:rPr>
                        <m:t>)(⋅)</m:t>
                      </m:r>
                    </m:oMath>
                  </m:oMathPara>
                </a14:m>
                <a:endParaRPr lang="fr-FR" sz="1200" dirty="0"/>
              </a:p>
            </p:txBody>
          </p:sp>
        </mc:Choice>
        <mc:Fallback xmlns="">
          <p:sp>
            <p:nvSpPr>
              <p:cNvPr id="51" name="ZoneTexte 50"/>
              <p:cNvSpPr txBox="1">
                <a:spLocks noRot="1" noChangeAspect="1" noMove="1" noResize="1" noEditPoints="1" noAdjustHandles="1" noChangeArrowheads="1" noChangeShapeType="1" noTextEdit="1"/>
              </p:cNvSpPr>
              <p:nvPr/>
            </p:nvSpPr>
            <p:spPr>
              <a:xfrm>
                <a:off x="3214671" y="3759188"/>
                <a:ext cx="1318807" cy="293991"/>
              </a:xfrm>
              <a:prstGeom prst="rect">
                <a:avLst/>
              </a:prstGeom>
              <a:blipFill>
                <a:blip r:embed="rId10"/>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52" name="ZoneTexte 6"/>
              <p:cNvSpPr txBox="1"/>
              <p:nvPr/>
            </p:nvSpPr>
            <p:spPr>
              <a:xfrm>
                <a:off x="2933848" y="3734274"/>
                <a:ext cx="381269" cy="300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a:ea typeface="Cambria Math"/>
                        </a:rPr>
                        <m:t>𝕄</m:t>
                      </m:r>
                    </m:oMath>
                  </m:oMathPara>
                </a14:m>
                <a:endParaRPr lang="fr-FR" sz="1350" dirty="0"/>
              </a:p>
            </p:txBody>
          </p:sp>
        </mc:Choice>
        <mc:Fallback xmlns="">
          <p:sp>
            <p:nvSpPr>
              <p:cNvPr id="52" name="ZoneTexte 6"/>
              <p:cNvSpPr txBox="1">
                <a:spLocks noRot="1" noChangeAspect="1" noMove="1" noResize="1" noEditPoints="1" noAdjustHandles="1" noChangeArrowheads="1" noChangeShapeType="1" noTextEdit="1"/>
              </p:cNvSpPr>
              <p:nvPr/>
            </p:nvSpPr>
            <p:spPr>
              <a:xfrm>
                <a:off x="2933848" y="3734274"/>
                <a:ext cx="381269" cy="300082"/>
              </a:xfrm>
              <a:prstGeom prst="rect">
                <a:avLst/>
              </a:prstGeom>
              <a:blipFill>
                <a:blip r:embed="rId11"/>
                <a:stretch>
                  <a:fillRect/>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53" name="ZoneTexte 6"/>
              <p:cNvSpPr txBox="1"/>
              <p:nvPr/>
            </p:nvSpPr>
            <p:spPr>
              <a:xfrm>
                <a:off x="87331" y="4057149"/>
                <a:ext cx="514555" cy="300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a:ea typeface="Cambria Math"/>
                        </a:rPr>
                        <m:t>𝕄</m:t>
                      </m:r>
                    </m:oMath>
                  </m:oMathPara>
                </a14:m>
                <a:endParaRPr lang="fr-FR" sz="1350" dirty="0"/>
              </a:p>
            </p:txBody>
          </p:sp>
        </mc:Choice>
        <mc:Fallback xmlns="">
          <p:sp>
            <p:nvSpPr>
              <p:cNvPr id="53" name="ZoneTexte 6"/>
              <p:cNvSpPr txBox="1">
                <a:spLocks noRot="1" noChangeAspect="1" noMove="1" noResize="1" noEditPoints="1" noAdjustHandles="1" noChangeArrowheads="1" noChangeShapeType="1" noTextEdit="1"/>
              </p:cNvSpPr>
              <p:nvPr/>
            </p:nvSpPr>
            <p:spPr>
              <a:xfrm>
                <a:off x="87331" y="4057149"/>
                <a:ext cx="514555" cy="300082"/>
              </a:xfrm>
              <a:prstGeom prst="rect">
                <a:avLst/>
              </a:prstGeom>
              <a:blipFill>
                <a:blip r:embed="rId12"/>
                <a:stretch>
                  <a:fillRect/>
                </a:stretch>
              </a:blipFill>
            </p:spPr>
            <p:txBody>
              <a:bodyPr/>
              <a:lstStyle/>
              <a:p>
                <a:r>
                  <a:rPr lang="en-FR">
                    <a:noFill/>
                  </a:rPr>
                  <a:t> </a:t>
                </a:r>
              </a:p>
            </p:txBody>
          </p:sp>
        </mc:Fallback>
      </mc:AlternateContent>
      <p:sp>
        <p:nvSpPr>
          <p:cNvPr id="54" name="Forme libre 21"/>
          <p:cNvSpPr/>
          <p:nvPr/>
        </p:nvSpPr>
        <p:spPr>
          <a:xfrm rot="20312606">
            <a:off x="3167229" y="2009735"/>
            <a:ext cx="1974220" cy="1148291"/>
          </a:xfrm>
          <a:custGeom>
            <a:avLst/>
            <a:gdLst>
              <a:gd name="connsiteX0" fmla="*/ 0 w 3385457"/>
              <a:gd name="connsiteY0" fmla="*/ 1850572 h 1850572"/>
              <a:gd name="connsiteX1" fmla="*/ 446314 w 3385457"/>
              <a:gd name="connsiteY1" fmla="*/ 1469572 h 1850572"/>
              <a:gd name="connsiteX2" fmla="*/ 1186542 w 3385457"/>
              <a:gd name="connsiteY2" fmla="*/ 947057 h 1850572"/>
              <a:gd name="connsiteX3" fmla="*/ 2046514 w 3385457"/>
              <a:gd name="connsiteY3" fmla="*/ 522514 h 1850572"/>
              <a:gd name="connsiteX4" fmla="*/ 2884714 w 3385457"/>
              <a:gd name="connsiteY4" fmla="*/ 185057 h 1850572"/>
              <a:gd name="connsiteX5" fmla="*/ 3385457 w 3385457"/>
              <a:gd name="connsiteY5" fmla="*/ 0 h 1850572"/>
              <a:gd name="connsiteX0" fmla="*/ 0 w 3385457"/>
              <a:gd name="connsiteY0" fmla="*/ 1850572 h 1850572"/>
              <a:gd name="connsiteX1" fmla="*/ 446314 w 3385457"/>
              <a:gd name="connsiteY1" fmla="*/ 1469572 h 1850572"/>
              <a:gd name="connsiteX2" fmla="*/ 1127374 w 3385457"/>
              <a:gd name="connsiteY2" fmla="*/ 888790 h 1850572"/>
              <a:gd name="connsiteX3" fmla="*/ 2046514 w 3385457"/>
              <a:gd name="connsiteY3" fmla="*/ 522514 h 1850572"/>
              <a:gd name="connsiteX4" fmla="*/ 2884714 w 3385457"/>
              <a:gd name="connsiteY4" fmla="*/ 185057 h 1850572"/>
              <a:gd name="connsiteX5" fmla="*/ 3385457 w 3385457"/>
              <a:gd name="connsiteY5" fmla="*/ 0 h 1850572"/>
              <a:gd name="connsiteX0" fmla="*/ 0 w 3385457"/>
              <a:gd name="connsiteY0" fmla="*/ 1850572 h 1850572"/>
              <a:gd name="connsiteX1" fmla="*/ 409700 w 3385457"/>
              <a:gd name="connsiteY1" fmla="*/ 1443513 h 1850572"/>
              <a:gd name="connsiteX2" fmla="*/ 1127374 w 3385457"/>
              <a:gd name="connsiteY2" fmla="*/ 888790 h 1850572"/>
              <a:gd name="connsiteX3" fmla="*/ 2046514 w 3385457"/>
              <a:gd name="connsiteY3" fmla="*/ 522514 h 1850572"/>
              <a:gd name="connsiteX4" fmla="*/ 2884714 w 3385457"/>
              <a:gd name="connsiteY4" fmla="*/ 185057 h 1850572"/>
              <a:gd name="connsiteX5" fmla="*/ 3385457 w 3385457"/>
              <a:gd name="connsiteY5" fmla="*/ 0 h 1850572"/>
              <a:gd name="connsiteX0" fmla="*/ 0 w 3385457"/>
              <a:gd name="connsiteY0" fmla="*/ 1850572 h 1850572"/>
              <a:gd name="connsiteX1" fmla="*/ 409700 w 3385457"/>
              <a:gd name="connsiteY1" fmla="*/ 1443513 h 1850572"/>
              <a:gd name="connsiteX2" fmla="*/ 1127374 w 3385457"/>
              <a:gd name="connsiteY2" fmla="*/ 888790 h 1850572"/>
              <a:gd name="connsiteX3" fmla="*/ 1968750 w 3385457"/>
              <a:gd name="connsiteY3" fmla="*/ 421907 h 1850572"/>
              <a:gd name="connsiteX4" fmla="*/ 2884714 w 3385457"/>
              <a:gd name="connsiteY4" fmla="*/ 185057 h 1850572"/>
              <a:gd name="connsiteX5" fmla="*/ 3385457 w 3385457"/>
              <a:gd name="connsiteY5" fmla="*/ 0 h 1850572"/>
              <a:gd name="connsiteX0" fmla="*/ 0 w 3385457"/>
              <a:gd name="connsiteY0" fmla="*/ 1850572 h 1850572"/>
              <a:gd name="connsiteX1" fmla="*/ 409700 w 3385457"/>
              <a:gd name="connsiteY1" fmla="*/ 1443513 h 1850572"/>
              <a:gd name="connsiteX2" fmla="*/ 1127374 w 3385457"/>
              <a:gd name="connsiteY2" fmla="*/ 888790 h 1850572"/>
              <a:gd name="connsiteX3" fmla="*/ 1968750 w 3385457"/>
              <a:gd name="connsiteY3" fmla="*/ 421907 h 1850572"/>
              <a:gd name="connsiteX4" fmla="*/ 2884714 w 3385457"/>
              <a:gd name="connsiteY4" fmla="*/ 185057 h 1850572"/>
              <a:gd name="connsiteX5" fmla="*/ 3385457 w 3385457"/>
              <a:gd name="connsiteY5" fmla="*/ 0 h 1850572"/>
              <a:gd name="connsiteX0" fmla="*/ 0 w 3385457"/>
              <a:gd name="connsiteY0" fmla="*/ 1850572 h 1850572"/>
              <a:gd name="connsiteX1" fmla="*/ 409700 w 3385457"/>
              <a:gd name="connsiteY1" fmla="*/ 1443513 h 1850572"/>
              <a:gd name="connsiteX2" fmla="*/ 1127374 w 3385457"/>
              <a:gd name="connsiteY2" fmla="*/ 888790 h 1850572"/>
              <a:gd name="connsiteX3" fmla="*/ 1942001 w 3385457"/>
              <a:gd name="connsiteY3" fmla="*/ 399830 h 1850572"/>
              <a:gd name="connsiteX4" fmla="*/ 2884714 w 3385457"/>
              <a:gd name="connsiteY4" fmla="*/ 185057 h 1850572"/>
              <a:gd name="connsiteX5" fmla="*/ 3385457 w 3385457"/>
              <a:gd name="connsiteY5" fmla="*/ 0 h 1850572"/>
              <a:gd name="connsiteX0" fmla="*/ 0 w 3385457"/>
              <a:gd name="connsiteY0" fmla="*/ 1850572 h 1850572"/>
              <a:gd name="connsiteX1" fmla="*/ 409700 w 3385457"/>
              <a:gd name="connsiteY1" fmla="*/ 1443513 h 1850572"/>
              <a:gd name="connsiteX2" fmla="*/ 1127374 w 3385457"/>
              <a:gd name="connsiteY2" fmla="*/ 888790 h 1850572"/>
              <a:gd name="connsiteX3" fmla="*/ 1942001 w 3385457"/>
              <a:gd name="connsiteY3" fmla="*/ 399830 h 1850572"/>
              <a:gd name="connsiteX4" fmla="*/ 2810786 w 3385457"/>
              <a:gd name="connsiteY4" fmla="*/ 74319 h 1850572"/>
              <a:gd name="connsiteX5" fmla="*/ 3385457 w 3385457"/>
              <a:gd name="connsiteY5" fmla="*/ 0 h 1850572"/>
              <a:gd name="connsiteX0" fmla="*/ 0 w 3301313"/>
              <a:gd name="connsiteY0" fmla="*/ 1965292 h 1965292"/>
              <a:gd name="connsiteX1" fmla="*/ 409700 w 3301313"/>
              <a:gd name="connsiteY1" fmla="*/ 1558233 h 1965292"/>
              <a:gd name="connsiteX2" fmla="*/ 1127374 w 3301313"/>
              <a:gd name="connsiteY2" fmla="*/ 1003510 h 1965292"/>
              <a:gd name="connsiteX3" fmla="*/ 1942001 w 3301313"/>
              <a:gd name="connsiteY3" fmla="*/ 514550 h 1965292"/>
              <a:gd name="connsiteX4" fmla="*/ 2810786 w 3301313"/>
              <a:gd name="connsiteY4" fmla="*/ 189039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42001 w 3301313"/>
              <a:gd name="connsiteY3" fmla="*/ 514550 h 1965292"/>
              <a:gd name="connsiteX4" fmla="*/ 2781723 w 3301313"/>
              <a:gd name="connsiteY4" fmla="*/ 142717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42001 w 3301313"/>
              <a:gd name="connsiteY3" fmla="*/ 514550 h 1965292"/>
              <a:gd name="connsiteX4" fmla="*/ 2781723 w 3301313"/>
              <a:gd name="connsiteY4" fmla="*/ 142717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57942 w 3301313"/>
              <a:gd name="connsiteY3" fmla="*/ 532646 h 1965292"/>
              <a:gd name="connsiteX4" fmla="*/ 2781723 w 3301313"/>
              <a:gd name="connsiteY4" fmla="*/ 142717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57942 w 3301313"/>
              <a:gd name="connsiteY3" fmla="*/ 532646 h 1965292"/>
              <a:gd name="connsiteX4" fmla="*/ 2803665 w 3301313"/>
              <a:gd name="connsiteY4" fmla="*/ 174926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57942 w 3301313"/>
              <a:gd name="connsiteY3" fmla="*/ 532646 h 1965292"/>
              <a:gd name="connsiteX4" fmla="*/ 2803665 w 3301313"/>
              <a:gd name="connsiteY4" fmla="*/ 174926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57942 w 3301313"/>
              <a:gd name="connsiteY3" fmla="*/ 532646 h 1965292"/>
              <a:gd name="connsiteX4" fmla="*/ 2812955 w 3301313"/>
              <a:gd name="connsiteY4" fmla="*/ 120288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57942 w 3301313"/>
              <a:gd name="connsiteY3" fmla="*/ 532646 h 1965292"/>
              <a:gd name="connsiteX4" fmla="*/ 2828744 w 3301313"/>
              <a:gd name="connsiteY4" fmla="*/ 138382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39157 w 3301313"/>
              <a:gd name="connsiteY3" fmla="*/ 490307 h 1965292"/>
              <a:gd name="connsiteX4" fmla="*/ 2828744 w 3301313"/>
              <a:gd name="connsiteY4" fmla="*/ 138382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71376 w 3301313"/>
              <a:gd name="connsiteY3" fmla="*/ 526497 h 1965292"/>
              <a:gd name="connsiteX4" fmla="*/ 2828744 w 3301313"/>
              <a:gd name="connsiteY4" fmla="*/ 138382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44627 w 3301313"/>
              <a:gd name="connsiteY3" fmla="*/ 504420 h 1965292"/>
              <a:gd name="connsiteX4" fmla="*/ 2828744 w 3301313"/>
              <a:gd name="connsiteY4" fmla="*/ 138382 h 1965292"/>
              <a:gd name="connsiteX5" fmla="*/ 3301313 w 3301313"/>
              <a:gd name="connsiteY5" fmla="*/ 0 h 1965292"/>
              <a:gd name="connsiteX0" fmla="*/ 0 w 3301313"/>
              <a:gd name="connsiteY0" fmla="*/ 1965292 h 1965292"/>
              <a:gd name="connsiteX1" fmla="*/ 409700 w 3301313"/>
              <a:gd name="connsiteY1" fmla="*/ 1558233 h 1965292"/>
              <a:gd name="connsiteX2" fmla="*/ 1127374 w 3301313"/>
              <a:gd name="connsiteY2" fmla="*/ 1003510 h 1965292"/>
              <a:gd name="connsiteX3" fmla="*/ 1974677 w 3301313"/>
              <a:gd name="connsiteY3" fmla="*/ 516365 h 1965292"/>
              <a:gd name="connsiteX4" fmla="*/ 2828744 w 3301313"/>
              <a:gd name="connsiteY4" fmla="*/ 138382 h 1965292"/>
              <a:gd name="connsiteX5" fmla="*/ 3301313 w 3301313"/>
              <a:gd name="connsiteY5" fmla="*/ 0 h 196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313" h="1965292">
                <a:moveTo>
                  <a:pt x="0" y="1965292"/>
                </a:moveTo>
                <a:cubicBezTo>
                  <a:pt x="124278" y="1850085"/>
                  <a:pt x="221804" y="1718530"/>
                  <a:pt x="409700" y="1558233"/>
                </a:cubicBezTo>
                <a:cubicBezTo>
                  <a:pt x="597596" y="1397936"/>
                  <a:pt x="866545" y="1177155"/>
                  <a:pt x="1127374" y="1003510"/>
                </a:cubicBezTo>
                <a:cubicBezTo>
                  <a:pt x="1388204" y="829865"/>
                  <a:pt x="1691115" y="660553"/>
                  <a:pt x="1974677" y="516365"/>
                </a:cubicBezTo>
                <a:cubicBezTo>
                  <a:pt x="2258239" y="372177"/>
                  <a:pt x="2569659" y="247373"/>
                  <a:pt x="2828744" y="138382"/>
                </a:cubicBezTo>
                <a:cubicBezTo>
                  <a:pt x="3065487" y="45146"/>
                  <a:pt x="3162520" y="48985"/>
                  <a:pt x="3301313" y="0"/>
                </a:cubicBezTo>
              </a:path>
            </a:pathLst>
          </a:cu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5" name="Forme libre 8"/>
          <p:cNvSpPr/>
          <p:nvPr/>
        </p:nvSpPr>
        <p:spPr>
          <a:xfrm rot="20312606">
            <a:off x="2904392" y="2135509"/>
            <a:ext cx="2123291" cy="1479303"/>
          </a:xfrm>
          <a:custGeom>
            <a:avLst/>
            <a:gdLst>
              <a:gd name="connsiteX0" fmla="*/ 0 w 3559629"/>
              <a:gd name="connsiteY0" fmla="*/ 2492829 h 2492829"/>
              <a:gd name="connsiteX1" fmla="*/ 511629 w 3559629"/>
              <a:gd name="connsiteY1" fmla="*/ 1981200 h 2492829"/>
              <a:gd name="connsiteX2" fmla="*/ 1600200 w 3559629"/>
              <a:gd name="connsiteY2" fmla="*/ 1045029 h 2492829"/>
              <a:gd name="connsiteX3" fmla="*/ 2710543 w 3559629"/>
              <a:gd name="connsiteY3" fmla="*/ 370114 h 2492829"/>
              <a:gd name="connsiteX4" fmla="*/ 2710543 w 3559629"/>
              <a:gd name="connsiteY4" fmla="*/ 370114 h 2492829"/>
              <a:gd name="connsiteX5" fmla="*/ 3559629 w 3559629"/>
              <a:gd name="connsiteY5" fmla="*/ 0 h 249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629" h="2492829">
                <a:moveTo>
                  <a:pt x="0" y="2492829"/>
                </a:moveTo>
                <a:cubicBezTo>
                  <a:pt x="122464" y="2357664"/>
                  <a:pt x="244929" y="2222500"/>
                  <a:pt x="511629" y="1981200"/>
                </a:cubicBezTo>
                <a:cubicBezTo>
                  <a:pt x="778329" y="1739900"/>
                  <a:pt x="1233714" y="1313543"/>
                  <a:pt x="1600200" y="1045029"/>
                </a:cubicBezTo>
                <a:cubicBezTo>
                  <a:pt x="1966686" y="776515"/>
                  <a:pt x="2710543" y="370114"/>
                  <a:pt x="2710543" y="370114"/>
                </a:cubicBezTo>
                <a:lnTo>
                  <a:pt x="2710543" y="370114"/>
                </a:lnTo>
                <a:lnTo>
                  <a:pt x="3559629" y="0"/>
                </a:lnTo>
              </a:path>
            </a:pathLst>
          </a:cu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6" name="Ellipse 25"/>
          <p:cNvSpPr/>
          <p:nvPr/>
        </p:nvSpPr>
        <p:spPr>
          <a:xfrm>
            <a:off x="3866917" y="2637382"/>
            <a:ext cx="103619" cy="862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01" name="Picture 100"/>
          <p:cNvPicPr>
            <a:picLocks noChangeAspect="1"/>
          </p:cNvPicPr>
          <p:nvPr/>
        </p:nvPicPr>
        <p:blipFill>
          <a:blip r:embed="rId13"/>
          <a:stretch>
            <a:fillRect/>
          </a:stretch>
        </p:blipFill>
        <p:spPr>
          <a:xfrm>
            <a:off x="6513427" y="1092614"/>
            <a:ext cx="1600200" cy="180975"/>
          </a:xfrm>
          <a:prstGeom prst="rect">
            <a:avLst/>
          </a:prstGeom>
          <a:ln w="22225">
            <a:solidFill>
              <a:srgbClr val="00AFD7"/>
            </a:solidFill>
          </a:ln>
          <a:effectLst/>
        </p:spPr>
      </p:pic>
      <p:grpSp>
        <p:nvGrpSpPr>
          <p:cNvPr id="104" name="Group 103"/>
          <p:cNvGrpSpPr/>
          <p:nvPr/>
        </p:nvGrpSpPr>
        <p:grpSpPr>
          <a:xfrm>
            <a:off x="5949779" y="1555225"/>
            <a:ext cx="3145000" cy="2061310"/>
            <a:chOff x="7933038" y="2073633"/>
            <a:chExt cx="4193333" cy="2748413"/>
          </a:xfrm>
        </p:grpSpPr>
        <p:sp>
          <p:nvSpPr>
            <p:cNvPr id="7" name="TextBox 6"/>
            <p:cNvSpPr txBox="1"/>
            <p:nvPr/>
          </p:nvSpPr>
          <p:spPr>
            <a:xfrm>
              <a:off x="7933038" y="2073633"/>
              <a:ext cx="3636662" cy="2339101"/>
            </a:xfrm>
            <a:prstGeom prst="rect">
              <a:avLst/>
            </a:prstGeom>
            <a:noFill/>
          </p:spPr>
          <p:txBody>
            <a:bodyPr wrap="square" rtlCol="0">
              <a:spAutoFit/>
            </a:bodyPr>
            <a:lstStyle/>
            <a:p>
              <a:pPr marL="214313" indent="-214313">
                <a:buFontTx/>
                <a:buChar char="-"/>
              </a:pPr>
              <a:r>
                <a:rPr lang="en-US" sz="1350" dirty="0"/>
                <a:t>           canonical metric</a:t>
              </a:r>
            </a:p>
            <a:p>
              <a:pPr marL="214313" indent="-214313">
                <a:buFontTx/>
                <a:buChar char="-"/>
              </a:pPr>
              <a:endParaRPr lang="en-US" sz="1350" dirty="0"/>
            </a:p>
            <a:p>
              <a:pPr marL="214313" indent="-214313">
                <a:buFontTx/>
                <a:buChar char="-"/>
              </a:pPr>
              <a:endParaRPr lang="en-US" sz="1350" dirty="0"/>
            </a:p>
            <a:p>
              <a:pPr marL="214313" indent="-214313">
                <a:buFontTx/>
                <a:buChar char="-"/>
              </a:pPr>
              <a:endParaRPr lang="en-US" sz="1350" dirty="0"/>
            </a:p>
            <a:p>
              <a:pPr marL="214313" indent="-214313">
                <a:buFontTx/>
                <a:buChar char="-"/>
              </a:pPr>
              <a:endParaRPr lang="en-US" sz="1350" dirty="0"/>
            </a:p>
            <a:p>
              <a:pPr marL="214313" indent="-214313">
                <a:buFontTx/>
                <a:buChar char="-"/>
              </a:pPr>
              <a:r>
                <a:rPr lang="en-US" sz="1350" dirty="0"/>
                <a:t> </a:t>
              </a:r>
            </a:p>
            <a:p>
              <a:pPr marL="214313" indent="-214313">
                <a:buFontTx/>
                <a:buChar char="-"/>
              </a:pPr>
              <a:endParaRPr lang="en-US" sz="1350" dirty="0"/>
            </a:p>
            <a:p>
              <a:pPr marL="214313" indent="-214313">
                <a:buFontTx/>
                <a:buChar char="-"/>
              </a:pPr>
              <a:endParaRPr lang="en-US" sz="1350" dirty="0"/>
            </a:p>
          </p:txBody>
        </p:sp>
        <p:pic>
          <p:nvPicPr>
            <p:cNvPr id="8" name="Picture 7"/>
            <p:cNvPicPr>
              <a:picLocks noChangeAspect="1"/>
            </p:cNvPicPr>
            <p:nvPr/>
          </p:nvPicPr>
          <p:blipFill>
            <a:blip r:embed="rId14"/>
            <a:stretch>
              <a:fillRect/>
            </a:stretch>
          </p:blipFill>
          <p:spPr>
            <a:xfrm>
              <a:off x="8157519" y="2192800"/>
              <a:ext cx="685800" cy="165100"/>
            </a:xfrm>
            <a:prstGeom prst="rect">
              <a:avLst/>
            </a:prstGeom>
          </p:spPr>
        </p:pic>
        <p:pic>
          <p:nvPicPr>
            <p:cNvPr id="9" name="Picture 8"/>
            <p:cNvPicPr>
              <a:picLocks noChangeAspect="1"/>
            </p:cNvPicPr>
            <p:nvPr/>
          </p:nvPicPr>
          <p:blipFill>
            <a:blip r:embed="rId15"/>
            <a:stretch>
              <a:fillRect/>
            </a:stretch>
          </p:blipFill>
          <p:spPr>
            <a:xfrm>
              <a:off x="8157519" y="3436411"/>
              <a:ext cx="3187700" cy="482600"/>
            </a:xfrm>
            <a:prstGeom prst="rect">
              <a:avLst/>
            </a:prstGeom>
          </p:spPr>
        </p:pic>
        <p:pic>
          <p:nvPicPr>
            <p:cNvPr id="102" name="Picture 101"/>
            <p:cNvPicPr>
              <a:picLocks noChangeAspect="1"/>
            </p:cNvPicPr>
            <p:nvPr/>
          </p:nvPicPr>
          <p:blipFill>
            <a:blip r:embed="rId16"/>
            <a:stretch>
              <a:fillRect/>
            </a:stretch>
          </p:blipFill>
          <p:spPr>
            <a:xfrm>
              <a:off x="8354471" y="2755022"/>
              <a:ext cx="2197100" cy="241300"/>
            </a:xfrm>
            <a:prstGeom prst="rect">
              <a:avLst/>
            </a:prstGeom>
          </p:spPr>
        </p:pic>
        <p:pic>
          <p:nvPicPr>
            <p:cNvPr id="103" name="Picture 102"/>
            <p:cNvPicPr>
              <a:picLocks noChangeAspect="1"/>
            </p:cNvPicPr>
            <p:nvPr/>
          </p:nvPicPr>
          <p:blipFill>
            <a:blip r:embed="rId17"/>
            <a:stretch>
              <a:fillRect/>
            </a:stretch>
          </p:blipFill>
          <p:spPr>
            <a:xfrm>
              <a:off x="8354471" y="4110846"/>
              <a:ext cx="3771900" cy="711200"/>
            </a:xfrm>
            <a:prstGeom prst="rect">
              <a:avLst/>
            </a:prstGeom>
          </p:spPr>
        </p:pic>
      </p:grpSp>
      <p:sp>
        <p:nvSpPr>
          <p:cNvPr id="2" name="Espace réservé du numéro de diapositive 1">
            <a:extLst>
              <a:ext uri="{FF2B5EF4-FFF2-40B4-BE49-F238E27FC236}">
                <a16:creationId xmlns:a16="http://schemas.microsoft.com/office/drawing/2014/main" id="{CC5CAEF1-DF91-8B0B-DDB5-ADFFC0C9604B}"/>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20</a:t>
            </a:fld>
            <a:endParaRPr lang="fr-FR"/>
          </a:p>
        </p:txBody>
      </p:sp>
    </p:spTree>
    <p:extLst>
      <p:ext uri="{BB962C8B-B14F-4D97-AF65-F5344CB8AC3E}">
        <p14:creationId xmlns:p14="http://schemas.microsoft.com/office/powerpoint/2010/main" val="1392809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19138" y="738813"/>
            <a:ext cx="6010275" cy="369743"/>
          </a:xfrm>
        </p:spPr>
        <p:txBody>
          <a:bodyPr>
            <a:normAutofit fontScale="92500" lnSpcReduction="10000"/>
          </a:bodyPr>
          <a:lstStyle/>
          <a:p>
            <a:r>
              <a:rPr lang="en-US" sz="1500" dirty="0"/>
              <a:t>Univariate: straight-line model</a:t>
            </a:r>
          </a:p>
        </p:txBody>
      </p:sp>
      <p:sp>
        <p:nvSpPr>
          <p:cNvPr id="13" name="TextBox 12"/>
          <p:cNvSpPr txBox="1"/>
          <p:nvPr/>
        </p:nvSpPr>
        <p:spPr>
          <a:xfrm>
            <a:off x="1872049" y="630194"/>
            <a:ext cx="184731" cy="300082"/>
          </a:xfrm>
          <a:prstGeom prst="rect">
            <a:avLst/>
          </a:prstGeom>
          <a:noFill/>
        </p:spPr>
        <p:txBody>
          <a:bodyPr wrap="none" rtlCol="0">
            <a:spAutoFit/>
          </a:bodyPr>
          <a:lstStyle/>
          <a:p>
            <a:endParaRPr lang="en-US" sz="1350" dirty="0"/>
          </a:p>
        </p:txBody>
      </p:sp>
      <p:grpSp>
        <p:nvGrpSpPr>
          <p:cNvPr id="7" name="Grouper 4"/>
          <p:cNvGrpSpPr/>
          <p:nvPr/>
        </p:nvGrpSpPr>
        <p:grpSpPr>
          <a:xfrm>
            <a:off x="5034985" y="1250279"/>
            <a:ext cx="3016958" cy="3900220"/>
            <a:chOff x="266700" y="1665485"/>
            <a:chExt cx="4022610" cy="5200294"/>
          </a:xfrm>
        </p:grpSpPr>
        <p:grpSp>
          <p:nvGrpSpPr>
            <p:cNvPr id="8" name="Group 46"/>
            <p:cNvGrpSpPr/>
            <p:nvPr/>
          </p:nvGrpSpPr>
          <p:grpSpPr>
            <a:xfrm>
              <a:off x="266700" y="1665485"/>
              <a:ext cx="3922232" cy="3323825"/>
              <a:chOff x="1458794" y="1114434"/>
              <a:chExt cx="5164651" cy="5003392"/>
            </a:xfrm>
          </p:grpSpPr>
          <p:sp>
            <p:nvSpPr>
              <p:cNvPr id="12" name="TextBox 54"/>
              <p:cNvSpPr txBox="1"/>
              <p:nvPr/>
            </p:nvSpPr>
            <p:spPr>
              <a:xfrm>
                <a:off x="1842860" y="1114434"/>
                <a:ext cx="376765" cy="602289"/>
              </a:xfrm>
              <a:prstGeom prst="rect">
                <a:avLst/>
              </a:prstGeom>
              <a:noFill/>
            </p:spPr>
            <p:txBody>
              <a:bodyPr wrap="square" rtlCol="0">
                <a:spAutoFit/>
              </a:bodyPr>
              <a:lstStyle/>
              <a:p>
                <a:r>
                  <a:rPr lang="en-US" sz="1350" dirty="0" err="1"/>
                  <a:t>y</a:t>
                </a:r>
                <a:endParaRPr lang="en-US" sz="1350" dirty="0"/>
              </a:p>
            </p:txBody>
          </p:sp>
          <p:grpSp>
            <p:nvGrpSpPr>
              <p:cNvPr id="14" name="Group 45"/>
              <p:cNvGrpSpPr/>
              <p:nvPr/>
            </p:nvGrpSpPr>
            <p:grpSpPr>
              <a:xfrm>
                <a:off x="1458794" y="1253862"/>
                <a:ext cx="5164651" cy="4863964"/>
                <a:chOff x="1458794" y="1253862"/>
                <a:chExt cx="5164651" cy="4863964"/>
              </a:xfrm>
            </p:grpSpPr>
            <p:cxnSp>
              <p:nvCxnSpPr>
                <p:cNvPr id="15" name="Straight Connector 75"/>
                <p:cNvCxnSpPr/>
                <p:nvPr/>
              </p:nvCxnSpPr>
              <p:spPr>
                <a:xfrm flipV="1">
                  <a:off x="1962047" y="3310469"/>
                  <a:ext cx="4315976" cy="2787649"/>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grpSp>
              <p:nvGrpSpPr>
                <p:cNvPr id="16" name="Group 44"/>
                <p:cNvGrpSpPr/>
                <p:nvPr/>
              </p:nvGrpSpPr>
              <p:grpSpPr>
                <a:xfrm>
                  <a:off x="1458794" y="1253862"/>
                  <a:ext cx="5164651" cy="4863964"/>
                  <a:chOff x="1458794" y="1253862"/>
                  <a:chExt cx="5164651" cy="4863964"/>
                </a:xfrm>
              </p:grpSpPr>
              <p:cxnSp>
                <p:nvCxnSpPr>
                  <p:cNvPr id="17" name="Straight Arrow Connector 4"/>
                  <p:cNvCxnSpPr/>
                  <p:nvPr/>
                </p:nvCxnSpPr>
                <p:spPr>
                  <a:xfrm flipV="1">
                    <a:off x="1458794" y="5095344"/>
                    <a:ext cx="5164651" cy="145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18" name="Group 27"/>
                  <p:cNvGrpSpPr/>
                  <p:nvPr/>
                </p:nvGrpSpPr>
                <p:grpSpPr>
                  <a:xfrm>
                    <a:off x="2853251" y="1837268"/>
                    <a:ext cx="2683932" cy="1896533"/>
                    <a:chOff x="3259667" y="1837268"/>
                    <a:chExt cx="2683932" cy="1896533"/>
                  </a:xfrm>
                </p:grpSpPr>
                <p:cxnSp>
                  <p:nvCxnSpPr>
                    <p:cNvPr id="36" name="Straight Arrow Connector 25"/>
                    <p:cNvCxnSpPr/>
                    <p:nvPr/>
                  </p:nvCxnSpPr>
                  <p:spPr>
                    <a:xfrm rot="5400000" flipH="1" flipV="1">
                      <a:off x="5420386" y="1860948"/>
                      <a:ext cx="546893" cy="499533"/>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37" name="Straight Arrow Connector 19"/>
                    <p:cNvCxnSpPr/>
                    <p:nvPr/>
                  </p:nvCxnSpPr>
                  <p:spPr>
                    <a:xfrm flipV="1">
                      <a:off x="3568700" y="2954866"/>
                      <a:ext cx="486834" cy="321736"/>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23"/>
                    <p:cNvCxnSpPr/>
                    <p:nvPr/>
                  </p:nvCxnSpPr>
                  <p:spPr>
                    <a:xfrm flipV="1">
                      <a:off x="4749800" y="2396067"/>
                      <a:ext cx="685799" cy="397934"/>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21"/>
                    <p:cNvCxnSpPr/>
                    <p:nvPr/>
                  </p:nvCxnSpPr>
                  <p:spPr>
                    <a:xfrm flipV="1">
                      <a:off x="4064001" y="2794000"/>
                      <a:ext cx="685799" cy="152399"/>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40" name="Straight Arrow Connector 10"/>
                    <p:cNvCxnSpPr/>
                    <p:nvPr/>
                  </p:nvCxnSpPr>
                  <p:spPr>
                    <a:xfrm rot="5400000" flipH="1" flipV="1">
                      <a:off x="3183467" y="3361268"/>
                      <a:ext cx="448733" cy="296333"/>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grpSp>
              <p:grpSp>
                <p:nvGrpSpPr>
                  <p:cNvPr id="19" name="Group 42"/>
                  <p:cNvGrpSpPr/>
                  <p:nvPr/>
                </p:nvGrpSpPr>
                <p:grpSpPr>
                  <a:xfrm>
                    <a:off x="3979325" y="3310469"/>
                    <a:ext cx="2175932" cy="1566331"/>
                    <a:chOff x="4207934" y="3285068"/>
                    <a:chExt cx="2175932" cy="1566331"/>
                  </a:xfrm>
                </p:grpSpPr>
                <p:cxnSp>
                  <p:nvCxnSpPr>
                    <p:cNvPr id="33" name="Straight Arrow Connector 30"/>
                    <p:cNvCxnSpPr/>
                    <p:nvPr/>
                  </p:nvCxnSpPr>
                  <p:spPr>
                    <a:xfrm flipV="1">
                      <a:off x="4516967" y="3911599"/>
                      <a:ext cx="1181100" cy="48260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1"/>
                    <p:cNvCxnSpPr/>
                    <p:nvPr/>
                  </p:nvCxnSpPr>
                  <p:spPr>
                    <a:xfrm flipV="1">
                      <a:off x="5698067" y="3285068"/>
                      <a:ext cx="685799" cy="62653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3"/>
                    <p:cNvCxnSpPr/>
                    <p:nvPr/>
                  </p:nvCxnSpPr>
                  <p:spPr>
                    <a:xfrm rot="5400000" flipH="1" flipV="1">
                      <a:off x="4131734" y="4478866"/>
                      <a:ext cx="448733" cy="296333"/>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grpSp>
              <p:cxnSp>
                <p:nvCxnSpPr>
                  <p:cNvPr id="20" name="Straight Arrow Connector 37"/>
                  <p:cNvCxnSpPr/>
                  <p:nvPr/>
                </p:nvCxnSpPr>
                <p:spPr>
                  <a:xfrm flipV="1">
                    <a:off x="5037650" y="2946399"/>
                    <a:ext cx="651933" cy="330204"/>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38"/>
                  <p:cNvCxnSpPr/>
                  <p:nvPr/>
                </p:nvCxnSpPr>
                <p:spPr>
                  <a:xfrm>
                    <a:off x="3314685" y="3894665"/>
                    <a:ext cx="795866" cy="211667"/>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40"/>
                  <p:cNvCxnSpPr/>
                  <p:nvPr/>
                </p:nvCxnSpPr>
                <p:spPr>
                  <a:xfrm flipV="1">
                    <a:off x="4110551" y="3276602"/>
                    <a:ext cx="927099" cy="82973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41"/>
                  <p:cNvCxnSpPr/>
                  <p:nvPr/>
                </p:nvCxnSpPr>
                <p:spPr>
                  <a:xfrm flipV="1">
                    <a:off x="2666992" y="3894667"/>
                    <a:ext cx="647692" cy="509608"/>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sp>
                <p:nvSpPr>
                  <p:cNvPr id="24" name="TextBox 53"/>
                  <p:cNvSpPr txBox="1"/>
                  <p:nvPr/>
                </p:nvSpPr>
                <p:spPr>
                  <a:xfrm>
                    <a:off x="5734744" y="5095344"/>
                    <a:ext cx="888701" cy="602289"/>
                  </a:xfrm>
                  <a:prstGeom prst="rect">
                    <a:avLst/>
                  </a:prstGeom>
                  <a:noFill/>
                </p:spPr>
                <p:txBody>
                  <a:bodyPr wrap="square" rtlCol="0">
                    <a:spAutoFit/>
                  </a:bodyPr>
                  <a:lstStyle/>
                  <a:p>
                    <a:r>
                      <a:rPr lang="en-US" sz="1350" dirty="0"/>
                      <a:t>time</a:t>
                    </a:r>
                  </a:p>
                </p:txBody>
              </p:sp>
              <p:cxnSp>
                <p:nvCxnSpPr>
                  <p:cNvPr id="25" name="Straight Connector 71"/>
                  <p:cNvCxnSpPr/>
                  <p:nvPr/>
                </p:nvCxnSpPr>
                <p:spPr>
                  <a:xfrm flipV="1">
                    <a:off x="1962047" y="1417638"/>
                    <a:ext cx="4315975" cy="2807229"/>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72"/>
                  <p:cNvCxnSpPr/>
                  <p:nvPr/>
                </p:nvCxnSpPr>
                <p:spPr>
                  <a:xfrm flipV="1">
                    <a:off x="1962047" y="2728669"/>
                    <a:ext cx="4315976" cy="2019536"/>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86"/>
                  <p:cNvCxnSpPr/>
                  <p:nvPr/>
                </p:nvCxnSpPr>
                <p:spPr>
                  <a:xfrm rot="10800000" flipV="1">
                    <a:off x="1962047" y="2409034"/>
                    <a:ext cx="4315976" cy="2632599"/>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pic>
                <p:nvPicPr>
                  <p:cNvPr id="28" name="Picture 90" descr="latex-image-1.pdf"/>
                  <p:cNvPicPr>
                    <a:picLocks noChangeAspect="1"/>
                  </p:cNvPicPr>
                  <p:nvPr/>
                </p:nvPicPr>
                <p:blipFill>
                  <a:blip r:embed="rId2"/>
                  <a:stretch>
                    <a:fillRect/>
                  </a:stretch>
                </p:blipFill>
                <p:spPr>
                  <a:xfrm>
                    <a:off x="1842860" y="4664911"/>
                    <a:ext cx="176338" cy="313490"/>
                  </a:xfrm>
                  <a:prstGeom prst="rect">
                    <a:avLst/>
                  </a:prstGeom>
                </p:spPr>
              </p:pic>
              <p:sp>
                <p:nvSpPr>
                  <p:cNvPr id="29" name="TextBox 69"/>
                  <p:cNvSpPr txBox="1"/>
                  <p:nvPr/>
                </p:nvSpPr>
                <p:spPr>
                  <a:xfrm>
                    <a:off x="1698879" y="5033695"/>
                    <a:ext cx="500899" cy="880270"/>
                  </a:xfrm>
                  <a:prstGeom prst="rect">
                    <a:avLst/>
                  </a:prstGeom>
                  <a:noFill/>
                </p:spPr>
                <p:txBody>
                  <a:bodyPr wrap="square" rtlCol="0">
                    <a:spAutoFit/>
                  </a:bodyPr>
                  <a:lstStyle/>
                  <a:p>
                    <a:r>
                      <a:rPr lang="en-US" sz="1350" dirty="0"/>
                      <a:t>t</a:t>
                    </a:r>
                    <a:r>
                      <a:rPr lang="en-US" sz="1350" baseline="-25000" dirty="0"/>
                      <a:t>0</a:t>
                    </a:r>
                  </a:p>
                </p:txBody>
              </p:sp>
              <p:grpSp>
                <p:nvGrpSpPr>
                  <p:cNvPr id="30" name="Group 44"/>
                  <p:cNvGrpSpPr/>
                  <p:nvPr/>
                </p:nvGrpSpPr>
                <p:grpSpPr>
                  <a:xfrm>
                    <a:off x="2124113" y="1253862"/>
                    <a:ext cx="21397" cy="4863964"/>
                    <a:chOff x="2124113" y="1253862"/>
                    <a:chExt cx="21397" cy="4863964"/>
                  </a:xfrm>
                </p:grpSpPr>
                <p:cxnSp>
                  <p:nvCxnSpPr>
                    <p:cNvPr id="31" name="Straight Arrow Connector 5"/>
                    <p:cNvCxnSpPr/>
                    <p:nvPr/>
                  </p:nvCxnSpPr>
                  <p:spPr>
                    <a:xfrm rot="5400000" flipH="1" flipV="1">
                      <a:off x="-283354" y="3669256"/>
                      <a:ext cx="4844258" cy="134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2"/>
                    <p:cNvCxnSpPr/>
                    <p:nvPr/>
                  </p:nvCxnSpPr>
                  <p:spPr>
                    <a:xfrm rot="5400000">
                      <a:off x="992613" y="4970473"/>
                      <a:ext cx="2278853" cy="15853"/>
                    </a:xfrm>
                    <a:prstGeom prst="straightConnector1">
                      <a:avLst/>
                    </a:prstGeom>
                    <a:ln w="25400">
                      <a:solidFill>
                        <a:schemeClr val="accent2"/>
                      </a:solidFill>
                      <a:headEnd type="arrow"/>
                      <a:tailEnd type="arrow"/>
                    </a:ln>
                  </p:spPr>
                  <p:style>
                    <a:lnRef idx="2">
                      <a:schemeClr val="accent1"/>
                    </a:lnRef>
                    <a:fillRef idx="0">
                      <a:schemeClr val="accent1"/>
                    </a:fillRef>
                    <a:effectRef idx="1">
                      <a:schemeClr val="accent1"/>
                    </a:effectRef>
                    <a:fontRef idx="minor">
                      <a:schemeClr val="tx1"/>
                    </a:fontRef>
                  </p:style>
                </p:cxnSp>
              </p:grpSp>
            </p:grpSp>
          </p:grpSp>
        </p:grpSp>
        <p:pic>
          <p:nvPicPr>
            <p:cNvPr id="9" name="Picture 110" descr="latex-image-1.pdf"/>
            <p:cNvPicPr>
              <a:picLocks noChangeAspect="1"/>
            </p:cNvPicPr>
            <p:nvPr/>
          </p:nvPicPr>
          <p:blipFill>
            <a:blip r:embed="rId3"/>
            <a:stretch>
              <a:fillRect/>
            </a:stretch>
          </p:blipFill>
          <p:spPr>
            <a:xfrm>
              <a:off x="470795" y="5108611"/>
              <a:ext cx="3619500" cy="381000"/>
            </a:xfrm>
            <a:prstGeom prst="rect">
              <a:avLst/>
            </a:prstGeom>
          </p:spPr>
        </p:pic>
        <p:sp>
          <p:nvSpPr>
            <p:cNvPr id="10" name="TextBox 111"/>
            <p:cNvSpPr txBox="1"/>
            <p:nvPr/>
          </p:nvSpPr>
          <p:spPr>
            <a:xfrm>
              <a:off x="2335792" y="5489611"/>
              <a:ext cx="1953518" cy="553997"/>
            </a:xfrm>
            <a:prstGeom prst="rect">
              <a:avLst/>
            </a:prstGeom>
            <a:noFill/>
          </p:spPr>
          <p:txBody>
            <a:bodyPr wrap="square" rtlCol="0">
              <a:spAutoFit/>
            </a:bodyPr>
            <a:lstStyle/>
            <a:p>
              <a:pPr algn="ctr"/>
              <a:r>
                <a:rPr lang="en-US" sz="1050" dirty="0"/>
                <a:t>Measurement of the </a:t>
              </a:r>
              <a:r>
                <a:rPr lang="en-US" sz="1050" dirty="0" err="1"/>
                <a:t>i</a:t>
              </a:r>
              <a:r>
                <a:rPr lang="en-US" sz="1050" baseline="30000" dirty="0" err="1"/>
                <a:t>th</a:t>
              </a:r>
              <a:r>
                <a:rPr lang="en-US" sz="1050" dirty="0"/>
                <a:t> subject at time t</a:t>
              </a:r>
              <a:r>
                <a:rPr lang="en-US" sz="1050" baseline="-25000" dirty="0"/>
                <a:t>0</a:t>
              </a:r>
            </a:p>
          </p:txBody>
        </p:sp>
        <p:sp>
          <p:nvSpPr>
            <p:cNvPr id="11" name="TextBox 8"/>
            <p:cNvSpPr txBox="1"/>
            <p:nvPr/>
          </p:nvSpPr>
          <p:spPr>
            <a:xfrm>
              <a:off x="1169636" y="6527224"/>
              <a:ext cx="2575464" cy="338555"/>
            </a:xfrm>
            <a:prstGeom prst="rect">
              <a:avLst/>
            </a:prstGeom>
            <a:noFill/>
          </p:spPr>
          <p:txBody>
            <a:bodyPr wrap="square" rtlCol="0">
              <a:spAutoFit/>
            </a:bodyPr>
            <a:lstStyle/>
            <a:p>
              <a:pPr algn="ctr"/>
              <a:r>
                <a:rPr lang="en-US" sz="1050" dirty="0"/>
                <a:t>Laird &amp; Ware (1982)</a:t>
              </a:r>
            </a:p>
          </p:txBody>
        </p:sp>
      </p:grpSp>
      <p:grpSp>
        <p:nvGrpSpPr>
          <p:cNvPr id="41" name="Grouper 9"/>
          <p:cNvGrpSpPr/>
          <p:nvPr/>
        </p:nvGrpSpPr>
        <p:grpSpPr>
          <a:xfrm>
            <a:off x="1092057" y="1319746"/>
            <a:ext cx="3021180" cy="3830752"/>
            <a:chOff x="4904692" y="1758110"/>
            <a:chExt cx="4028240" cy="5107669"/>
          </a:xfrm>
        </p:grpSpPr>
        <p:cxnSp>
          <p:nvCxnSpPr>
            <p:cNvPr id="42" name="Straight Connector 99"/>
            <p:cNvCxnSpPr/>
            <p:nvPr/>
          </p:nvCxnSpPr>
          <p:spPr>
            <a:xfrm rot="5400000">
              <a:off x="6457398" y="3860133"/>
              <a:ext cx="914161" cy="158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nvGrpSpPr>
            <p:cNvPr id="43" name="Grouper 7"/>
            <p:cNvGrpSpPr/>
            <p:nvPr/>
          </p:nvGrpSpPr>
          <p:grpSpPr>
            <a:xfrm>
              <a:off x="4904692" y="1758110"/>
              <a:ext cx="4028240" cy="5107669"/>
              <a:chOff x="4904692" y="1758110"/>
              <a:chExt cx="4028240" cy="5107669"/>
            </a:xfrm>
          </p:grpSpPr>
          <p:grpSp>
            <p:nvGrpSpPr>
              <p:cNvPr id="44" name="Grouper 5"/>
              <p:cNvGrpSpPr/>
              <p:nvPr/>
            </p:nvGrpSpPr>
            <p:grpSpPr>
              <a:xfrm>
                <a:off x="4904692" y="1758110"/>
                <a:ext cx="3922232" cy="5107669"/>
                <a:chOff x="4917265" y="1758110"/>
                <a:chExt cx="3922232" cy="5107669"/>
              </a:xfrm>
            </p:grpSpPr>
            <p:sp>
              <p:nvSpPr>
                <p:cNvPr id="47" name="TextBox 46"/>
                <p:cNvSpPr txBox="1"/>
                <p:nvPr/>
              </p:nvSpPr>
              <p:spPr>
                <a:xfrm>
                  <a:off x="6001705" y="6527224"/>
                  <a:ext cx="2575464" cy="338555"/>
                </a:xfrm>
                <a:prstGeom prst="rect">
                  <a:avLst/>
                </a:prstGeom>
                <a:noFill/>
              </p:spPr>
              <p:txBody>
                <a:bodyPr wrap="square" rtlCol="0">
                  <a:spAutoFit/>
                </a:bodyPr>
                <a:lstStyle/>
                <a:p>
                  <a:pPr algn="ctr"/>
                  <a:r>
                    <a:rPr lang="en-US" sz="1050" dirty="0" err="1"/>
                    <a:t>Schiratti</a:t>
                  </a:r>
                  <a:r>
                    <a:rPr lang="en-US" sz="1050" dirty="0"/>
                    <a:t> et al. (2015)</a:t>
                  </a:r>
                </a:p>
              </p:txBody>
            </p:sp>
            <p:grpSp>
              <p:nvGrpSpPr>
                <p:cNvPr id="48" name="Group 45"/>
                <p:cNvGrpSpPr/>
                <p:nvPr/>
              </p:nvGrpSpPr>
              <p:grpSpPr>
                <a:xfrm>
                  <a:off x="4917265" y="1758110"/>
                  <a:ext cx="3922232" cy="3218110"/>
                  <a:chOff x="1458794" y="1253862"/>
                  <a:chExt cx="5164651" cy="4844258"/>
                </a:xfrm>
              </p:grpSpPr>
              <p:cxnSp>
                <p:nvCxnSpPr>
                  <p:cNvPr id="51" name="Straight Connector 50"/>
                  <p:cNvCxnSpPr/>
                  <p:nvPr/>
                </p:nvCxnSpPr>
                <p:spPr>
                  <a:xfrm flipV="1">
                    <a:off x="1962047" y="3310469"/>
                    <a:ext cx="4315976" cy="2787649"/>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grpSp>
                <p:nvGrpSpPr>
                  <p:cNvPr id="52" name="Group 44"/>
                  <p:cNvGrpSpPr/>
                  <p:nvPr/>
                </p:nvGrpSpPr>
                <p:grpSpPr>
                  <a:xfrm>
                    <a:off x="1458794" y="1253862"/>
                    <a:ext cx="5164651" cy="4844258"/>
                    <a:chOff x="1458794" y="1253862"/>
                    <a:chExt cx="5164651" cy="4844258"/>
                  </a:xfrm>
                </p:grpSpPr>
                <p:cxnSp>
                  <p:nvCxnSpPr>
                    <p:cNvPr id="53" name="Straight Arrow Connector 52"/>
                    <p:cNvCxnSpPr/>
                    <p:nvPr/>
                  </p:nvCxnSpPr>
                  <p:spPr>
                    <a:xfrm flipV="1">
                      <a:off x="1458794" y="5095344"/>
                      <a:ext cx="5164651" cy="145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54" name="Group 27"/>
                    <p:cNvGrpSpPr/>
                    <p:nvPr/>
                  </p:nvGrpSpPr>
                  <p:grpSpPr>
                    <a:xfrm>
                      <a:off x="2853251" y="1837268"/>
                      <a:ext cx="2683932" cy="1896533"/>
                      <a:chOff x="3259667" y="1837268"/>
                      <a:chExt cx="2683932" cy="1896533"/>
                    </a:xfrm>
                  </p:grpSpPr>
                  <p:cxnSp>
                    <p:nvCxnSpPr>
                      <p:cNvPr id="70" name="Straight Arrow Connector 85"/>
                      <p:cNvCxnSpPr/>
                      <p:nvPr/>
                    </p:nvCxnSpPr>
                    <p:spPr>
                      <a:xfrm rot="5400000" flipH="1" flipV="1">
                        <a:off x="5420386" y="1860948"/>
                        <a:ext cx="546893" cy="499533"/>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71" name="Straight Arrow Connector 19"/>
                      <p:cNvCxnSpPr/>
                      <p:nvPr/>
                    </p:nvCxnSpPr>
                    <p:spPr>
                      <a:xfrm flipV="1">
                        <a:off x="3568700" y="2954866"/>
                        <a:ext cx="486834" cy="321736"/>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72" name="Straight Arrow Connector 91"/>
                      <p:cNvCxnSpPr/>
                      <p:nvPr/>
                    </p:nvCxnSpPr>
                    <p:spPr>
                      <a:xfrm flipV="1">
                        <a:off x="4749800" y="2396067"/>
                        <a:ext cx="685799" cy="397934"/>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73" name="Straight Arrow Connector 93"/>
                      <p:cNvCxnSpPr/>
                      <p:nvPr/>
                    </p:nvCxnSpPr>
                    <p:spPr>
                      <a:xfrm flipV="1">
                        <a:off x="4064001" y="2794000"/>
                        <a:ext cx="685799" cy="152399"/>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74" name="Straight Arrow Connector 94"/>
                      <p:cNvCxnSpPr/>
                      <p:nvPr/>
                    </p:nvCxnSpPr>
                    <p:spPr>
                      <a:xfrm rot="5400000" flipH="1" flipV="1">
                        <a:off x="3183467" y="3361268"/>
                        <a:ext cx="448733" cy="296333"/>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grpSp>
                <p:grpSp>
                  <p:nvGrpSpPr>
                    <p:cNvPr id="55" name="Group 42"/>
                    <p:cNvGrpSpPr/>
                    <p:nvPr/>
                  </p:nvGrpSpPr>
                  <p:grpSpPr>
                    <a:xfrm>
                      <a:off x="3979325" y="3310469"/>
                      <a:ext cx="2175932" cy="1566331"/>
                      <a:chOff x="4207934" y="3285068"/>
                      <a:chExt cx="2175932" cy="1566331"/>
                    </a:xfrm>
                  </p:grpSpPr>
                  <p:cxnSp>
                    <p:nvCxnSpPr>
                      <p:cNvPr id="67" name="Straight Arrow Connector 82"/>
                      <p:cNvCxnSpPr/>
                      <p:nvPr/>
                    </p:nvCxnSpPr>
                    <p:spPr>
                      <a:xfrm flipV="1">
                        <a:off x="4516967" y="3911599"/>
                        <a:ext cx="1181100" cy="48260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68" name="Straight Arrow Connector 83"/>
                      <p:cNvCxnSpPr/>
                      <p:nvPr/>
                    </p:nvCxnSpPr>
                    <p:spPr>
                      <a:xfrm flipV="1">
                        <a:off x="5698067" y="3285068"/>
                        <a:ext cx="685799" cy="62653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69" name="Straight Arrow Connector 84"/>
                      <p:cNvCxnSpPr/>
                      <p:nvPr/>
                    </p:nvCxnSpPr>
                    <p:spPr>
                      <a:xfrm rot="5400000" flipH="1" flipV="1">
                        <a:off x="4131734" y="4478866"/>
                        <a:ext cx="448733" cy="296333"/>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grpSp>
                <p:cxnSp>
                  <p:nvCxnSpPr>
                    <p:cNvPr id="56" name="Straight Arrow Connector 64"/>
                    <p:cNvCxnSpPr/>
                    <p:nvPr/>
                  </p:nvCxnSpPr>
                  <p:spPr>
                    <a:xfrm flipV="1">
                      <a:off x="5037650" y="2946399"/>
                      <a:ext cx="651933" cy="330204"/>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66"/>
                    <p:cNvCxnSpPr/>
                    <p:nvPr/>
                  </p:nvCxnSpPr>
                  <p:spPr>
                    <a:xfrm>
                      <a:off x="3314685" y="3894665"/>
                      <a:ext cx="795866" cy="211667"/>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58" name="Straight Arrow Connector 67"/>
                    <p:cNvCxnSpPr/>
                    <p:nvPr/>
                  </p:nvCxnSpPr>
                  <p:spPr>
                    <a:xfrm flipV="1">
                      <a:off x="4110551" y="3276602"/>
                      <a:ext cx="927099" cy="829731"/>
                    </a:xfrm>
                    <a:prstGeom prst="straightConnector1">
                      <a:avLst/>
                    </a:prstGeom>
                    <a:ln>
                      <a:bevel/>
                      <a:headEnd type="none" w="lg" len="lg"/>
                      <a:tailEnd type="diamond" w="lg" len="lg"/>
                    </a:ln>
                  </p:spPr>
                  <p:style>
                    <a:lnRef idx="2">
                      <a:schemeClr val="accent1"/>
                    </a:lnRef>
                    <a:fillRef idx="0">
                      <a:schemeClr val="accent1"/>
                    </a:fillRef>
                    <a:effectRef idx="1">
                      <a:schemeClr val="accent1"/>
                    </a:effectRef>
                    <a:fontRef idx="minor">
                      <a:schemeClr val="tx1"/>
                    </a:fontRef>
                  </p:style>
                </p:cxnSp>
                <p:cxnSp>
                  <p:nvCxnSpPr>
                    <p:cNvPr id="59" name="Straight Arrow Connector 68"/>
                    <p:cNvCxnSpPr/>
                    <p:nvPr/>
                  </p:nvCxnSpPr>
                  <p:spPr>
                    <a:xfrm flipV="1">
                      <a:off x="2666992" y="3894667"/>
                      <a:ext cx="647692" cy="509608"/>
                    </a:xfrm>
                    <a:prstGeom prst="straightConnector1">
                      <a:avLst/>
                    </a:prstGeom>
                    <a:ln>
                      <a:bevel/>
                      <a:headEnd type="diamond" w="lg" len="lg"/>
                      <a:tailEnd type="diamond" w="lg" len="lg"/>
                    </a:ln>
                  </p:spPr>
                  <p:style>
                    <a:lnRef idx="2">
                      <a:schemeClr val="accent1"/>
                    </a:lnRef>
                    <a:fillRef idx="0">
                      <a:schemeClr val="accent1"/>
                    </a:fillRef>
                    <a:effectRef idx="1">
                      <a:schemeClr val="accent1"/>
                    </a:effectRef>
                    <a:fontRef idx="minor">
                      <a:schemeClr val="tx1"/>
                    </a:fontRef>
                  </p:style>
                </p:cxnSp>
                <p:sp>
                  <p:nvSpPr>
                    <p:cNvPr id="60" name="TextBox 70"/>
                    <p:cNvSpPr txBox="1"/>
                    <p:nvPr/>
                  </p:nvSpPr>
                  <p:spPr>
                    <a:xfrm>
                      <a:off x="5734744" y="5095346"/>
                      <a:ext cx="888701" cy="602289"/>
                    </a:xfrm>
                    <a:prstGeom prst="rect">
                      <a:avLst/>
                    </a:prstGeom>
                    <a:noFill/>
                  </p:spPr>
                  <p:txBody>
                    <a:bodyPr wrap="square" rtlCol="0">
                      <a:spAutoFit/>
                    </a:bodyPr>
                    <a:lstStyle/>
                    <a:p>
                      <a:r>
                        <a:rPr lang="en-US" sz="1350" dirty="0"/>
                        <a:t>time</a:t>
                      </a:r>
                    </a:p>
                  </p:txBody>
                </p:sp>
                <p:cxnSp>
                  <p:nvCxnSpPr>
                    <p:cNvPr id="61" name="Straight Connector 73"/>
                    <p:cNvCxnSpPr/>
                    <p:nvPr/>
                  </p:nvCxnSpPr>
                  <p:spPr>
                    <a:xfrm flipV="1">
                      <a:off x="1962047" y="1417638"/>
                      <a:ext cx="4315975" cy="2807229"/>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62" name="Straight Connector 74"/>
                    <p:cNvCxnSpPr/>
                    <p:nvPr/>
                  </p:nvCxnSpPr>
                  <p:spPr>
                    <a:xfrm flipV="1">
                      <a:off x="1962047" y="2728669"/>
                      <a:ext cx="4315976" cy="2019536"/>
                    </a:xfrm>
                    <a:prstGeom prst="line">
                      <a:avLst/>
                    </a:prstGeom>
                    <a:ln>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63" name="Straight Connector 76"/>
                    <p:cNvCxnSpPr/>
                    <p:nvPr/>
                  </p:nvCxnSpPr>
                  <p:spPr>
                    <a:xfrm rot="10800000" flipV="1">
                      <a:off x="1962047" y="2409034"/>
                      <a:ext cx="4315976" cy="2632599"/>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pic>
                  <p:nvPicPr>
                    <p:cNvPr id="64" name="Picture 77" descr="latex-image-1.pdf"/>
                    <p:cNvPicPr>
                      <a:picLocks noChangeAspect="1"/>
                    </p:cNvPicPr>
                    <p:nvPr/>
                  </p:nvPicPr>
                  <p:blipFill>
                    <a:blip r:embed="rId2"/>
                    <a:stretch>
                      <a:fillRect/>
                    </a:stretch>
                  </p:blipFill>
                  <p:spPr>
                    <a:xfrm>
                      <a:off x="1754690" y="3525481"/>
                      <a:ext cx="176338" cy="313490"/>
                    </a:xfrm>
                    <a:prstGeom prst="rect">
                      <a:avLst/>
                    </a:prstGeom>
                  </p:spPr>
                </p:pic>
                <p:sp>
                  <p:nvSpPr>
                    <p:cNvPr id="65" name="TextBox 78"/>
                    <p:cNvSpPr txBox="1"/>
                    <p:nvPr/>
                  </p:nvSpPr>
                  <p:spPr>
                    <a:xfrm>
                      <a:off x="3901283" y="4993037"/>
                      <a:ext cx="500899" cy="880270"/>
                    </a:xfrm>
                    <a:prstGeom prst="rect">
                      <a:avLst/>
                    </a:prstGeom>
                    <a:noFill/>
                  </p:spPr>
                  <p:txBody>
                    <a:bodyPr wrap="square" rtlCol="0">
                      <a:spAutoFit/>
                    </a:bodyPr>
                    <a:lstStyle/>
                    <a:p>
                      <a:r>
                        <a:rPr lang="en-US" sz="1350" dirty="0"/>
                        <a:t>t</a:t>
                      </a:r>
                      <a:r>
                        <a:rPr lang="en-US" sz="1350" baseline="-25000" dirty="0"/>
                        <a:t>0</a:t>
                      </a:r>
                    </a:p>
                  </p:txBody>
                </p:sp>
                <p:cxnSp>
                  <p:nvCxnSpPr>
                    <p:cNvPr id="66" name="Straight Arrow Connector 5"/>
                    <p:cNvCxnSpPr/>
                    <p:nvPr/>
                  </p:nvCxnSpPr>
                  <p:spPr>
                    <a:xfrm rot="5400000" flipH="1" flipV="1">
                      <a:off x="-283353" y="3669256"/>
                      <a:ext cx="4844258" cy="134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pic>
              <p:nvPicPr>
                <p:cNvPr id="49" name="Picture 10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2314" y="5108611"/>
                  <a:ext cx="3175000" cy="381000"/>
                </a:xfrm>
                <a:prstGeom prst="rect">
                  <a:avLst/>
                </a:prstGeom>
              </p:spPr>
            </p:pic>
            <p:sp>
              <p:nvSpPr>
                <p:cNvPr id="50" name="TextBox 112"/>
                <p:cNvSpPr txBox="1"/>
                <p:nvPr/>
              </p:nvSpPr>
              <p:spPr>
                <a:xfrm>
                  <a:off x="6326698" y="5476106"/>
                  <a:ext cx="1953519" cy="769441"/>
                </a:xfrm>
                <a:prstGeom prst="rect">
                  <a:avLst/>
                </a:prstGeom>
                <a:noFill/>
              </p:spPr>
              <p:txBody>
                <a:bodyPr wrap="square" rtlCol="0">
                  <a:spAutoFit/>
                </a:bodyPr>
                <a:lstStyle/>
                <a:p>
                  <a:pPr algn="ctr"/>
                  <a:r>
                    <a:rPr lang="en-US" sz="1050" dirty="0"/>
                    <a:t>Time at which measurement of the </a:t>
                  </a:r>
                  <a:r>
                    <a:rPr lang="en-US" sz="1050" dirty="0" err="1"/>
                    <a:t>i</a:t>
                  </a:r>
                  <a:r>
                    <a:rPr lang="en-US" sz="1050" baseline="30000" dirty="0" err="1"/>
                    <a:t>th</a:t>
                  </a:r>
                  <a:r>
                    <a:rPr lang="en-US" sz="1050" dirty="0"/>
                    <a:t> subject reaches b</a:t>
                  </a:r>
                  <a:endParaRPr lang="en-US" sz="1050" baseline="-25000" dirty="0"/>
                </a:p>
              </p:txBody>
            </p:sp>
          </p:grpSp>
          <p:cxnSp>
            <p:nvCxnSpPr>
              <p:cNvPr id="45" name="Straight Connector 96"/>
              <p:cNvCxnSpPr/>
              <p:nvPr/>
            </p:nvCxnSpPr>
            <p:spPr>
              <a:xfrm flipV="1">
                <a:off x="5326225" y="3403053"/>
                <a:ext cx="3606707" cy="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Arrow Connector 102"/>
              <p:cNvCxnSpPr/>
              <p:nvPr/>
            </p:nvCxnSpPr>
            <p:spPr>
              <a:xfrm rot="10800000" flipV="1">
                <a:off x="5818185" y="4307544"/>
                <a:ext cx="2295473" cy="10464"/>
              </a:xfrm>
              <a:prstGeom prst="straightConnector1">
                <a:avLst/>
              </a:prstGeom>
              <a:ln w="25400">
                <a:solidFill>
                  <a:schemeClr val="accent2"/>
                </a:solidFill>
                <a:headEnd type="arrow"/>
                <a:tailEnd type="arrow"/>
              </a:ln>
            </p:spPr>
            <p:style>
              <a:lnRef idx="2">
                <a:schemeClr val="accent1"/>
              </a:lnRef>
              <a:fillRef idx="0">
                <a:schemeClr val="accent1"/>
              </a:fillRef>
              <a:effectRef idx="1">
                <a:schemeClr val="accent1"/>
              </a:effectRef>
              <a:fontRef idx="minor">
                <a:schemeClr val="tx1"/>
              </a:fontRef>
            </p:style>
          </p:cxnSp>
        </p:grpSp>
      </p:grpSp>
      <p:pic>
        <p:nvPicPr>
          <p:cNvPr id="77" name="Picture 76">
            <a:extLst>
              <a:ext uri="{FF2B5EF4-FFF2-40B4-BE49-F238E27FC236}">
                <a16:creationId xmlns:a16="http://schemas.microsoft.com/office/drawing/2014/main" id="{4200CAF4-2C2C-524A-A233-37D987316C6D}"/>
              </a:ext>
            </a:extLst>
          </p:cNvPr>
          <p:cNvPicPr>
            <a:picLocks noChangeAspect="1"/>
          </p:cNvPicPr>
          <p:nvPr/>
        </p:nvPicPr>
        <p:blipFill>
          <a:blip r:embed="rId5"/>
          <a:stretch>
            <a:fillRect/>
          </a:stretch>
        </p:blipFill>
        <p:spPr>
          <a:xfrm>
            <a:off x="3614271" y="910035"/>
            <a:ext cx="514350" cy="123825"/>
          </a:xfrm>
          <a:prstGeom prst="rect">
            <a:avLst/>
          </a:prstGeom>
        </p:spPr>
      </p:pic>
      <p:sp>
        <p:nvSpPr>
          <p:cNvPr id="2" name="Espace réservé du numéro de diapositive 1">
            <a:extLst>
              <a:ext uri="{FF2B5EF4-FFF2-40B4-BE49-F238E27FC236}">
                <a16:creationId xmlns:a16="http://schemas.microsoft.com/office/drawing/2014/main" id="{1C8B047D-5540-620A-87A8-2B60CFB16AE4}"/>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21</a:t>
            </a:fld>
            <a:endParaRPr lang="fr-FR"/>
          </a:p>
        </p:txBody>
      </p:sp>
    </p:spTree>
    <p:extLst>
      <p:ext uri="{BB962C8B-B14F-4D97-AF65-F5344CB8AC3E}">
        <p14:creationId xmlns:p14="http://schemas.microsoft.com/office/powerpoint/2010/main" val="166234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19137" y="738813"/>
            <a:ext cx="7111958" cy="369743"/>
          </a:xfrm>
        </p:spPr>
        <p:txBody>
          <a:bodyPr>
            <a:normAutofit fontScale="92500" lnSpcReduction="10000"/>
          </a:bodyPr>
          <a:lstStyle/>
          <a:p>
            <a:r>
              <a:rPr lang="en-US" sz="1500" dirty="0"/>
              <a:t>Univariate logistic model</a:t>
            </a:r>
          </a:p>
        </p:txBody>
      </p:sp>
      <p:sp>
        <p:nvSpPr>
          <p:cNvPr id="13" name="TextBox 12"/>
          <p:cNvSpPr txBox="1"/>
          <p:nvPr/>
        </p:nvSpPr>
        <p:spPr>
          <a:xfrm>
            <a:off x="1872049" y="630194"/>
            <a:ext cx="184731" cy="300082"/>
          </a:xfrm>
          <a:prstGeom prst="rect">
            <a:avLst/>
          </a:prstGeom>
          <a:noFill/>
        </p:spPr>
        <p:txBody>
          <a:bodyPr wrap="none" rtlCol="0">
            <a:spAutoFit/>
          </a:bodyPr>
          <a:lstStyle/>
          <a:p>
            <a:endParaRPr lang="en-US" sz="1350" dirty="0"/>
          </a:p>
        </p:txBody>
      </p:sp>
      <p:sp>
        <p:nvSpPr>
          <p:cNvPr id="6" name="TextBox 5"/>
          <p:cNvSpPr txBox="1"/>
          <p:nvPr/>
        </p:nvSpPr>
        <p:spPr>
          <a:xfrm>
            <a:off x="719137" y="1167149"/>
            <a:ext cx="4203770" cy="276999"/>
          </a:xfrm>
          <a:prstGeom prst="rect">
            <a:avLst/>
          </a:prstGeom>
          <a:noFill/>
        </p:spPr>
        <p:txBody>
          <a:bodyPr wrap="square" rtlCol="0">
            <a:spAutoFit/>
          </a:bodyPr>
          <a:lstStyle/>
          <a:p>
            <a:r>
              <a:rPr lang="en-US" sz="1200" dirty="0"/>
              <a:t>1393 individuals, 5 time-points on average, ADAS-Cog13</a:t>
            </a:r>
          </a:p>
        </p:txBody>
      </p:sp>
      <p:pic>
        <p:nvPicPr>
          <p:cNvPr id="77" name="Image 2"/>
          <p:cNvPicPr>
            <a:picLocks noChangeAspect="1"/>
          </p:cNvPicPr>
          <p:nvPr/>
        </p:nvPicPr>
        <p:blipFill>
          <a:blip r:embed="rId3"/>
          <a:stretch>
            <a:fillRect/>
          </a:stretch>
        </p:blipFill>
        <p:spPr>
          <a:xfrm>
            <a:off x="138157" y="1633933"/>
            <a:ext cx="4474738" cy="3495568"/>
          </a:xfrm>
          <a:prstGeom prst="rect">
            <a:avLst/>
          </a:prstGeom>
        </p:spPr>
      </p:pic>
      <p:pic>
        <p:nvPicPr>
          <p:cNvPr id="78" name="Image 9"/>
          <p:cNvPicPr>
            <a:picLocks noChangeAspect="1"/>
          </p:cNvPicPr>
          <p:nvPr/>
        </p:nvPicPr>
        <p:blipFill>
          <a:blip r:embed="rId4"/>
          <a:stretch>
            <a:fillRect/>
          </a:stretch>
        </p:blipFill>
        <p:spPr>
          <a:xfrm>
            <a:off x="4645337" y="1628299"/>
            <a:ext cx="4454212" cy="3498129"/>
          </a:xfrm>
          <a:prstGeom prst="rect">
            <a:avLst/>
          </a:prstGeom>
        </p:spPr>
      </p:pic>
      <p:sp>
        <p:nvSpPr>
          <p:cNvPr id="16" name="Freeform 15">
            <a:extLst>
              <a:ext uri="{FF2B5EF4-FFF2-40B4-BE49-F238E27FC236}">
                <a16:creationId xmlns:a16="http://schemas.microsoft.com/office/drawing/2014/main" id="{B33F9717-3DBF-974D-85EC-2FF6F4B6B308}"/>
              </a:ext>
            </a:extLst>
          </p:cNvPr>
          <p:cNvSpPr/>
          <p:nvPr/>
        </p:nvSpPr>
        <p:spPr>
          <a:xfrm>
            <a:off x="692916" y="1847821"/>
            <a:ext cx="3692769" cy="2726360"/>
          </a:xfrm>
          <a:custGeom>
            <a:avLst/>
            <a:gdLst>
              <a:gd name="connsiteX0" fmla="*/ 0 w 4923692"/>
              <a:gd name="connsiteY0" fmla="*/ 4065563 h 4065563"/>
              <a:gd name="connsiteX1" fmla="*/ 2124221 w 4923692"/>
              <a:gd name="connsiteY1" fmla="*/ 3404382 h 4065563"/>
              <a:gd name="connsiteX2" fmla="*/ 2940147 w 4923692"/>
              <a:gd name="connsiteY2" fmla="*/ 787791 h 4065563"/>
              <a:gd name="connsiteX3" fmla="*/ 4923692 w 4923692"/>
              <a:gd name="connsiteY3" fmla="*/ 0 h 4065563"/>
            </a:gdLst>
            <a:ahLst/>
            <a:cxnLst>
              <a:cxn ang="0">
                <a:pos x="connsiteX0" y="connsiteY0"/>
              </a:cxn>
              <a:cxn ang="0">
                <a:pos x="connsiteX1" y="connsiteY1"/>
              </a:cxn>
              <a:cxn ang="0">
                <a:pos x="connsiteX2" y="connsiteY2"/>
              </a:cxn>
              <a:cxn ang="0">
                <a:pos x="connsiteX3" y="connsiteY3"/>
              </a:cxn>
            </a:cxnLst>
            <a:rect l="l" t="t" r="r" b="b"/>
            <a:pathLst>
              <a:path w="4923692" h="4065563">
                <a:moveTo>
                  <a:pt x="0" y="4065563"/>
                </a:moveTo>
                <a:cubicBezTo>
                  <a:pt x="817098" y="4008120"/>
                  <a:pt x="1634197" y="3950677"/>
                  <a:pt x="2124221" y="3404382"/>
                </a:cubicBezTo>
                <a:cubicBezTo>
                  <a:pt x="2614245" y="2858087"/>
                  <a:pt x="2473569" y="1355188"/>
                  <a:pt x="2940147" y="787791"/>
                </a:cubicBezTo>
                <a:cubicBezTo>
                  <a:pt x="3406725" y="220394"/>
                  <a:pt x="4165208" y="110197"/>
                  <a:pt x="4923692" y="0"/>
                </a:cubicBezTo>
              </a:path>
            </a:pathLst>
          </a:cu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12" name="Picture 11">
            <a:extLst>
              <a:ext uri="{FF2B5EF4-FFF2-40B4-BE49-F238E27FC236}">
                <a16:creationId xmlns:a16="http://schemas.microsoft.com/office/drawing/2014/main" id="{1AD74C45-2DA1-634D-B407-DBB5B83DD6AB}"/>
              </a:ext>
            </a:extLst>
          </p:cNvPr>
          <p:cNvPicPr>
            <a:picLocks noChangeAspect="1"/>
          </p:cNvPicPr>
          <p:nvPr/>
        </p:nvPicPr>
        <p:blipFill>
          <a:blip r:embed="rId5"/>
          <a:stretch>
            <a:fillRect/>
          </a:stretch>
        </p:blipFill>
        <p:spPr>
          <a:xfrm>
            <a:off x="3163508" y="843407"/>
            <a:ext cx="2390775" cy="361950"/>
          </a:xfrm>
          <a:prstGeom prst="rect">
            <a:avLst/>
          </a:prstGeom>
        </p:spPr>
      </p:pic>
      <p:pic>
        <p:nvPicPr>
          <p:cNvPr id="14" name="Picture 13">
            <a:extLst>
              <a:ext uri="{FF2B5EF4-FFF2-40B4-BE49-F238E27FC236}">
                <a16:creationId xmlns:a16="http://schemas.microsoft.com/office/drawing/2014/main" id="{B4E7AB91-D77E-3F41-A1E8-D0FE693ABDBD}"/>
              </a:ext>
            </a:extLst>
          </p:cNvPr>
          <p:cNvPicPr>
            <a:picLocks noChangeAspect="1"/>
          </p:cNvPicPr>
          <p:nvPr/>
        </p:nvPicPr>
        <p:blipFill>
          <a:blip r:embed="rId6"/>
          <a:stretch>
            <a:fillRect/>
          </a:stretch>
        </p:blipFill>
        <p:spPr>
          <a:xfrm>
            <a:off x="5898170" y="815289"/>
            <a:ext cx="2828925" cy="533400"/>
          </a:xfrm>
          <a:prstGeom prst="rect">
            <a:avLst/>
          </a:prstGeom>
        </p:spPr>
      </p:pic>
      <p:sp>
        <p:nvSpPr>
          <p:cNvPr id="2" name="Espace réservé du numéro de diapositive 1">
            <a:extLst>
              <a:ext uri="{FF2B5EF4-FFF2-40B4-BE49-F238E27FC236}">
                <a16:creationId xmlns:a16="http://schemas.microsoft.com/office/drawing/2014/main" id="{C153B517-5A27-7499-CAE0-8AED8B7B02CC}"/>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22</a:t>
            </a:fld>
            <a:endParaRPr lang="fr-FR"/>
          </a:p>
        </p:txBody>
      </p:sp>
    </p:spTree>
    <p:extLst>
      <p:ext uri="{BB962C8B-B14F-4D97-AF65-F5344CB8AC3E}">
        <p14:creationId xmlns:p14="http://schemas.microsoft.com/office/powerpoint/2010/main" val="376565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4.375E-6 4.44444E-6 L -0.11875 0.00509 " pathEditMode="relative" rAng="0" ptsTypes="AA">
                                      <p:cBhvr>
                                        <p:cTn id="10" dur="2000" fill="hold"/>
                                        <p:tgtEl>
                                          <p:spTgt spid="16"/>
                                        </p:tgtEl>
                                        <p:attrNameLst>
                                          <p:attrName>ppt_x</p:attrName>
                                          <p:attrName>ppt_y</p:attrName>
                                        </p:attrNameLst>
                                      </p:cBhvr>
                                      <p:rCtr x="-5937" y="255"/>
                                    </p:animMotion>
                                  </p:childTnLst>
                                </p:cTn>
                              </p:par>
                              <p:par>
                                <p:cTn id="11" presetID="6" presetClass="emph" presetSubtype="0" fill="hold" grpId="4" nodeType="withEffect">
                                  <p:stCondLst>
                                    <p:cond delay="0"/>
                                  </p:stCondLst>
                                  <p:childTnLst>
                                    <p:animScale>
                                      <p:cBhvr>
                                        <p:cTn id="12" dur="2000" fill="hold"/>
                                        <p:tgtEl>
                                          <p:spTgt spid="16"/>
                                        </p:tgtEl>
                                      </p:cBhvr>
                                      <p:by x="80000" y="100000"/>
                                    </p:animScale>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2" nodeType="clickEffect">
                                  <p:stCondLst>
                                    <p:cond delay="0"/>
                                  </p:stCondLst>
                                  <p:childTnLst>
                                    <p:animMotion origin="layout" path="M -4.375E-6 4.44444E-6 L 0.09571 0.00231 " pathEditMode="relative" rAng="0" ptsTypes="AA">
                                      <p:cBhvr>
                                        <p:cTn id="16" dur="2000" fill="hold"/>
                                        <p:tgtEl>
                                          <p:spTgt spid="16"/>
                                        </p:tgtEl>
                                        <p:attrNameLst>
                                          <p:attrName>ppt_x</p:attrName>
                                          <p:attrName>ppt_y</p:attrName>
                                        </p:attrNameLst>
                                      </p:cBhvr>
                                      <p:rCtr x="4779" y="116"/>
                                    </p:animMotion>
                                  </p:childTnLst>
                                </p:cTn>
                              </p:par>
                              <p:par>
                                <p:cTn id="17" presetID="6" presetClass="emph" presetSubtype="0" fill="hold" grpId="3" nodeType="withEffect">
                                  <p:stCondLst>
                                    <p:cond delay="0"/>
                                  </p:stCondLst>
                                  <p:childTnLst>
                                    <p:animScale>
                                      <p:cBhvr>
                                        <p:cTn id="18" dur="2000" fill="hold"/>
                                        <p:tgtEl>
                                          <p:spTgt spid="16"/>
                                        </p:tgtEl>
                                      </p:cBhvr>
                                      <p:by x="200000" y="100000"/>
                                    </p:animScale>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animBg="1"/>
      <p:bldP spid="16" grpId="3" animBg="1"/>
      <p:bldP spid="16" grpId="4"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1872049" y="630194"/>
            <a:ext cx="184731" cy="300082"/>
          </a:xfrm>
          <a:prstGeom prst="rect">
            <a:avLst/>
          </a:prstGeom>
          <a:noFill/>
        </p:spPr>
        <p:txBody>
          <a:bodyPr wrap="none" rtlCol="0">
            <a:spAutoFit/>
          </a:bodyPr>
          <a:lstStyle/>
          <a:p>
            <a:endParaRPr lang="en-US" sz="1350" dirty="0"/>
          </a:p>
        </p:txBody>
      </p:sp>
      <p:pic>
        <p:nvPicPr>
          <p:cNvPr id="10" name="Image 9"/>
          <p:cNvPicPr>
            <a:picLocks noChangeAspect="1"/>
          </p:cNvPicPr>
          <p:nvPr/>
        </p:nvPicPr>
        <p:blipFill>
          <a:blip r:embed="rId2"/>
          <a:stretch>
            <a:fillRect/>
          </a:stretch>
        </p:blipFill>
        <p:spPr>
          <a:xfrm>
            <a:off x="983973" y="712438"/>
            <a:ext cx="6551308" cy="4396472"/>
          </a:xfrm>
          <a:prstGeom prst="rect">
            <a:avLst/>
          </a:prstGeom>
        </p:spPr>
      </p:pic>
      <p:pic>
        <p:nvPicPr>
          <p:cNvPr id="11" name="Image 2"/>
          <p:cNvPicPr>
            <a:picLocks noChangeAspect="1"/>
          </p:cNvPicPr>
          <p:nvPr/>
        </p:nvPicPr>
        <p:blipFill>
          <a:blip r:embed="rId3"/>
          <a:stretch>
            <a:fillRect/>
          </a:stretch>
        </p:blipFill>
        <p:spPr>
          <a:xfrm>
            <a:off x="6369160" y="630195"/>
            <a:ext cx="1734474" cy="1131899"/>
          </a:xfrm>
          <a:prstGeom prst="rect">
            <a:avLst/>
          </a:prstGeom>
        </p:spPr>
      </p:pic>
      <p:grpSp>
        <p:nvGrpSpPr>
          <p:cNvPr id="14" name="Group 13"/>
          <p:cNvGrpSpPr/>
          <p:nvPr/>
        </p:nvGrpSpPr>
        <p:grpSpPr>
          <a:xfrm rot="16200000">
            <a:off x="702115" y="1127977"/>
            <a:ext cx="1343798" cy="300082"/>
            <a:chOff x="395415" y="1479780"/>
            <a:chExt cx="1791730" cy="400109"/>
          </a:xfrm>
        </p:grpSpPr>
        <p:sp>
          <p:nvSpPr>
            <p:cNvPr id="8" name="TextBox 7"/>
            <p:cNvSpPr txBox="1"/>
            <p:nvPr/>
          </p:nvSpPr>
          <p:spPr>
            <a:xfrm>
              <a:off x="395415" y="1479780"/>
              <a:ext cx="1791730" cy="400109"/>
            </a:xfrm>
            <a:prstGeom prst="rect">
              <a:avLst/>
            </a:prstGeom>
            <a:noFill/>
          </p:spPr>
          <p:txBody>
            <a:bodyPr wrap="square" rtlCol="0">
              <a:spAutoFit/>
            </a:bodyPr>
            <a:lstStyle/>
            <a:p>
              <a:pPr algn="ctr"/>
              <a:r>
                <a:rPr lang="en-US" sz="1350" b="1" dirty="0"/>
                <a:t>Fast</a:t>
              </a:r>
              <a:r>
                <a:rPr lang="en-US" sz="1350" dirty="0"/>
                <a:t> </a:t>
              </a:r>
              <a:r>
                <a:rPr lang="en-US" sz="1350" dirty="0" err="1"/>
                <a:t>progressers</a:t>
              </a:r>
              <a:endParaRPr lang="en-US" sz="1350" dirty="0"/>
            </a:p>
          </p:txBody>
        </p:sp>
        <p:cxnSp>
          <p:nvCxnSpPr>
            <p:cNvPr id="12" name="Straight Arrow Connector 11"/>
            <p:cNvCxnSpPr/>
            <p:nvPr/>
          </p:nvCxnSpPr>
          <p:spPr>
            <a:xfrm>
              <a:off x="554160" y="1865870"/>
              <a:ext cx="1509418" cy="12357"/>
            </a:xfrm>
            <a:prstGeom prst="straightConnector1">
              <a:avLst/>
            </a:prstGeom>
            <a:ln w="25400">
              <a:solidFill>
                <a:srgbClr val="00AFD7"/>
              </a:solidFill>
              <a:round/>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rot="16200000">
            <a:off x="651796" y="3760101"/>
            <a:ext cx="1437529" cy="304497"/>
            <a:chOff x="395416" y="1479780"/>
            <a:chExt cx="1916705" cy="405996"/>
          </a:xfrm>
        </p:grpSpPr>
        <p:sp>
          <p:nvSpPr>
            <p:cNvPr id="18" name="TextBox 17"/>
            <p:cNvSpPr txBox="1"/>
            <p:nvPr/>
          </p:nvSpPr>
          <p:spPr>
            <a:xfrm>
              <a:off x="395416" y="1479780"/>
              <a:ext cx="1916705" cy="400110"/>
            </a:xfrm>
            <a:prstGeom prst="rect">
              <a:avLst/>
            </a:prstGeom>
            <a:noFill/>
          </p:spPr>
          <p:txBody>
            <a:bodyPr wrap="square" rtlCol="0">
              <a:spAutoFit/>
            </a:bodyPr>
            <a:lstStyle/>
            <a:p>
              <a:pPr algn="ctr"/>
              <a:r>
                <a:rPr lang="en-US" sz="1350" b="1" dirty="0"/>
                <a:t>Slow</a:t>
              </a:r>
              <a:r>
                <a:rPr lang="en-US" sz="1350" dirty="0"/>
                <a:t> </a:t>
              </a:r>
              <a:r>
                <a:rPr lang="en-US" sz="1350" dirty="0" err="1"/>
                <a:t>progressers</a:t>
              </a:r>
              <a:endParaRPr lang="en-US" sz="1350" dirty="0"/>
            </a:p>
          </p:txBody>
        </p:sp>
        <p:cxnSp>
          <p:nvCxnSpPr>
            <p:cNvPr id="19" name="Straight Arrow Connector 18"/>
            <p:cNvCxnSpPr/>
            <p:nvPr/>
          </p:nvCxnSpPr>
          <p:spPr>
            <a:xfrm rot="5400000" flipH="1">
              <a:off x="1266391" y="1096663"/>
              <a:ext cx="21275" cy="1556951"/>
            </a:xfrm>
            <a:prstGeom prst="straightConnector1">
              <a:avLst/>
            </a:prstGeom>
            <a:ln w="25400">
              <a:solidFill>
                <a:srgbClr val="00AFD7"/>
              </a:solidFill>
              <a:round/>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1368351" y="4354116"/>
            <a:ext cx="1343798" cy="300082"/>
            <a:chOff x="395416" y="1495168"/>
            <a:chExt cx="1791730" cy="400109"/>
          </a:xfrm>
        </p:grpSpPr>
        <p:sp>
          <p:nvSpPr>
            <p:cNvPr id="21" name="TextBox 20"/>
            <p:cNvSpPr txBox="1"/>
            <p:nvPr/>
          </p:nvSpPr>
          <p:spPr>
            <a:xfrm>
              <a:off x="395416" y="1495168"/>
              <a:ext cx="1791730" cy="400109"/>
            </a:xfrm>
            <a:prstGeom prst="rect">
              <a:avLst/>
            </a:prstGeom>
            <a:noFill/>
          </p:spPr>
          <p:txBody>
            <a:bodyPr wrap="square" rtlCol="0">
              <a:spAutoFit/>
            </a:bodyPr>
            <a:lstStyle/>
            <a:p>
              <a:pPr algn="ctr"/>
              <a:r>
                <a:rPr lang="en-US" sz="1350" b="1" dirty="0"/>
                <a:t>Early</a:t>
              </a:r>
              <a:r>
                <a:rPr lang="en-US" sz="1350" dirty="0"/>
                <a:t> onset</a:t>
              </a:r>
            </a:p>
          </p:txBody>
        </p:sp>
        <p:cxnSp>
          <p:nvCxnSpPr>
            <p:cNvPr id="22" name="Straight Arrow Connector 21"/>
            <p:cNvCxnSpPr/>
            <p:nvPr/>
          </p:nvCxnSpPr>
          <p:spPr>
            <a:xfrm flipH="1">
              <a:off x="755657" y="1864500"/>
              <a:ext cx="1092887" cy="0"/>
            </a:xfrm>
            <a:prstGeom prst="straightConnector1">
              <a:avLst/>
            </a:prstGeom>
            <a:ln w="25400">
              <a:solidFill>
                <a:srgbClr val="00AFD7"/>
              </a:solidFill>
              <a:round/>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6191483" y="4354116"/>
            <a:ext cx="1343798" cy="300082"/>
            <a:chOff x="395416" y="1495168"/>
            <a:chExt cx="1791730" cy="400109"/>
          </a:xfrm>
        </p:grpSpPr>
        <p:sp>
          <p:nvSpPr>
            <p:cNvPr id="26" name="TextBox 25"/>
            <p:cNvSpPr txBox="1"/>
            <p:nvPr/>
          </p:nvSpPr>
          <p:spPr>
            <a:xfrm>
              <a:off x="395416" y="1495168"/>
              <a:ext cx="1791730" cy="400109"/>
            </a:xfrm>
            <a:prstGeom prst="rect">
              <a:avLst/>
            </a:prstGeom>
            <a:noFill/>
          </p:spPr>
          <p:txBody>
            <a:bodyPr wrap="square" rtlCol="0">
              <a:spAutoFit/>
            </a:bodyPr>
            <a:lstStyle/>
            <a:p>
              <a:pPr algn="ctr"/>
              <a:r>
                <a:rPr lang="en-US" sz="1350" b="1" dirty="0"/>
                <a:t>Late</a:t>
              </a:r>
              <a:r>
                <a:rPr lang="en-US" sz="1350" dirty="0"/>
                <a:t> onset</a:t>
              </a:r>
            </a:p>
          </p:txBody>
        </p:sp>
        <p:cxnSp>
          <p:nvCxnSpPr>
            <p:cNvPr id="27" name="Straight Arrow Connector 26"/>
            <p:cNvCxnSpPr/>
            <p:nvPr/>
          </p:nvCxnSpPr>
          <p:spPr>
            <a:xfrm>
              <a:off x="755656" y="1864500"/>
              <a:ext cx="1149178" cy="0"/>
            </a:xfrm>
            <a:prstGeom prst="straightConnector1">
              <a:avLst/>
            </a:prstGeom>
            <a:ln w="25400">
              <a:solidFill>
                <a:srgbClr val="00AFD7"/>
              </a:solidFill>
              <a:round/>
              <a:headEnd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2" name="Espace réservé du numéro de diapositive 1">
            <a:extLst>
              <a:ext uri="{FF2B5EF4-FFF2-40B4-BE49-F238E27FC236}">
                <a16:creationId xmlns:a16="http://schemas.microsoft.com/office/drawing/2014/main" id="{B97929C5-4B4B-D0E6-0F6D-5E8F4F911C4D}"/>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23</a:t>
            </a:fld>
            <a:endParaRPr lang="fr-FR"/>
          </a:p>
        </p:txBody>
      </p:sp>
    </p:spTree>
    <p:extLst>
      <p:ext uri="{BB962C8B-B14F-4D97-AF65-F5344CB8AC3E}">
        <p14:creationId xmlns:p14="http://schemas.microsoft.com/office/powerpoint/2010/main" val="1681103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p:cNvSpPr txBox="1"/>
          <p:nvPr/>
        </p:nvSpPr>
        <p:spPr>
          <a:xfrm>
            <a:off x="1906625" y="1564750"/>
            <a:ext cx="6364539" cy="1325106"/>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 3. Multi-</a:t>
            </a:r>
            <a:r>
              <a:rPr lang="fr-FR" sz="2100" i="1" dirty="0" err="1">
                <a:latin typeface="Arial"/>
                <a:cs typeface="Arial"/>
              </a:rPr>
              <a:t>variate</a:t>
            </a:r>
            <a:r>
              <a:rPr lang="fr-FR" sz="2100" i="1" dirty="0">
                <a:latin typeface="Arial"/>
                <a:cs typeface="Arial"/>
              </a:rPr>
              <a:t> case</a:t>
            </a:r>
            <a:endParaRPr lang="fr-FR" sz="2100" dirty="0">
              <a:latin typeface="Arial"/>
              <a:cs typeface="Arial"/>
            </a:endParaRPr>
          </a:p>
        </p:txBody>
      </p:sp>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01E76BC0-FADF-68EC-F59E-647C3FCCBA45}"/>
              </a:ext>
            </a:extLst>
          </p:cNvPr>
          <p:cNvSpPr>
            <a:spLocks noGrp="1"/>
          </p:cNvSpPr>
          <p:nvPr>
            <p:ph type="sldNum" sz="quarter" idx="12"/>
          </p:nvPr>
        </p:nvSpPr>
        <p:spPr/>
        <p:txBody>
          <a:bodyPr/>
          <a:lstStyle/>
          <a:p>
            <a:fld id="{B6E69D5D-3C54-E347-B3D4-70BDFA7C6521}" type="slidenum">
              <a:rPr lang="fr-FR" smtClean="0"/>
              <a:t>24</a:t>
            </a:fld>
            <a:endParaRPr lang="fr-FR"/>
          </a:p>
        </p:txBody>
      </p:sp>
    </p:spTree>
    <p:extLst>
      <p:ext uri="{BB962C8B-B14F-4D97-AF65-F5344CB8AC3E}">
        <p14:creationId xmlns:p14="http://schemas.microsoft.com/office/powerpoint/2010/main" val="3340630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19138" y="238125"/>
            <a:ext cx="6010275" cy="401099"/>
          </a:xfrm>
        </p:spPr>
        <p:txBody>
          <a:bodyPr>
            <a:normAutofit/>
          </a:bodyPr>
          <a:lstStyle/>
          <a:p>
            <a:r>
              <a:rPr lang="en-US" sz="1500" dirty="0"/>
              <a:t>Multivariate data: the propagation model</a:t>
            </a:r>
          </a:p>
        </p:txBody>
      </p:sp>
      <p:sp>
        <p:nvSpPr>
          <p:cNvPr id="13" name="TextBox 12"/>
          <p:cNvSpPr txBox="1"/>
          <p:nvPr/>
        </p:nvSpPr>
        <p:spPr>
          <a:xfrm>
            <a:off x="1872049" y="129506"/>
            <a:ext cx="184731" cy="300082"/>
          </a:xfrm>
          <a:prstGeom prst="rect">
            <a:avLst/>
          </a:prstGeom>
          <a:noFill/>
        </p:spPr>
        <p:txBody>
          <a:bodyPr wrap="none" rtlCol="0">
            <a:spAutoFit/>
          </a:bodyPr>
          <a:lstStyle/>
          <a:p>
            <a:endParaRPr lang="en-US" sz="1350" dirty="0"/>
          </a:p>
        </p:txBody>
      </p:sp>
      <p:sp>
        <p:nvSpPr>
          <p:cNvPr id="6" name="TextBox 5"/>
          <p:cNvSpPr txBox="1"/>
          <p:nvPr/>
        </p:nvSpPr>
        <p:spPr>
          <a:xfrm>
            <a:off x="815546" y="880180"/>
            <a:ext cx="7109253" cy="1338828"/>
          </a:xfrm>
          <a:prstGeom prst="rect">
            <a:avLst/>
          </a:prstGeom>
          <a:noFill/>
        </p:spPr>
        <p:txBody>
          <a:bodyPr wrap="square" rtlCol="0">
            <a:spAutoFit/>
          </a:bodyPr>
          <a:lstStyle/>
          <a:p>
            <a:pPr marL="214313" indent="-214313">
              <a:buFontTx/>
              <a:buChar char="-"/>
            </a:pPr>
            <a:r>
              <a:rPr lang="en-US" sz="1350" dirty="0"/>
              <a:t>Product manifold with product metric:</a:t>
            </a:r>
          </a:p>
          <a:p>
            <a:pPr marL="214313" indent="-214313">
              <a:buFontTx/>
              <a:buChar char="-"/>
            </a:pPr>
            <a:endParaRPr lang="en-US" sz="1350" dirty="0"/>
          </a:p>
          <a:p>
            <a:pPr marL="214313" indent="-214313">
              <a:buFontTx/>
              <a:buChar char="-"/>
            </a:pPr>
            <a:r>
              <a:rPr lang="en-US" sz="1350" dirty="0"/>
              <a:t>Exp-parallelization in the direction w:</a:t>
            </a:r>
          </a:p>
          <a:p>
            <a:pPr marL="214313" indent="-214313">
              <a:buFontTx/>
              <a:buChar char="-"/>
            </a:pPr>
            <a:endParaRPr lang="en-US" sz="1350" dirty="0"/>
          </a:p>
          <a:p>
            <a:pPr marL="214313" indent="-214313">
              <a:buFontTx/>
              <a:buChar char="-"/>
            </a:pPr>
            <a:r>
              <a:rPr lang="en-US" sz="1350" dirty="0"/>
              <a:t>Adding orthogonality in the exp-parallelization ensures unique decomposition between time-reparameterization and  appearance change</a:t>
            </a:r>
          </a:p>
        </p:txBody>
      </p:sp>
      <p:pic>
        <p:nvPicPr>
          <p:cNvPr id="7" name="Picture 6"/>
          <p:cNvPicPr>
            <a:picLocks noChangeAspect="1"/>
          </p:cNvPicPr>
          <p:nvPr/>
        </p:nvPicPr>
        <p:blipFill>
          <a:blip r:embed="rId2"/>
          <a:stretch>
            <a:fillRect/>
          </a:stretch>
        </p:blipFill>
        <p:spPr>
          <a:xfrm>
            <a:off x="3835486" y="918924"/>
            <a:ext cx="695325" cy="161925"/>
          </a:xfrm>
          <a:prstGeom prst="rect">
            <a:avLst/>
          </a:prstGeom>
        </p:spPr>
      </p:pic>
      <p:pic>
        <p:nvPicPr>
          <p:cNvPr id="8" name="Picture 7"/>
          <p:cNvPicPr>
            <a:picLocks noChangeAspect="1"/>
          </p:cNvPicPr>
          <p:nvPr/>
        </p:nvPicPr>
        <p:blipFill>
          <a:blip r:embed="rId3"/>
          <a:stretch>
            <a:fillRect/>
          </a:stretch>
        </p:blipFill>
        <p:spPr>
          <a:xfrm>
            <a:off x="4977842" y="928192"/>
            <a:ext cx="1857375" cy="180975"/>
          </a:xfrm>
          <a:prstGeom prst="rect">
            <a:avLst/>
          </a:prstGeom>
        </p:spPr>
      </p:pic>
      <p:pic>
        <p:nvPicPr>
          <p:cNvPr id="10" name="Picture 9"/>
          <p:cNvPicPr>
            <a:picLocks noChangeAspect="1"/>
          </p:cNvPicPr>
          <p:nvPr/>
        </p:nvPicPr>
        <p:blipFill>
          <a:blip r:embed="rId4"/>
          <a:stretch>
            <a:fillRect/>
          </a:stretch>
        </p:blipFill>
        <p:spPr>
          <a:xfrm>
            <a:off x="3835486" y="1207604"/>
            <a:ext cx="2847975" cy="419100"/>
          </a:xfrm>
          <a:prstGeom prst="rect">
            <a:avLst/>
          </a:prstGeom>
        </p:spPr>
      </p:pic>
      <p:pic>
        <p:nvPicPr>
          <p:cNvPr id="12" name="Image 17"/>
          <p:cNvPicPr>
            <a:picLocks/>
          </p:cNvPicPr>
          <p:nvPr/>
        </p:nvPicPr>
        <p:blipFill>
          <a:blip r:embed="rId5"/>
          <a:stretch>
            <a:fillRect/>
          </a:stretch>
        </p:blipFill>
        <p:spPr>
          <a:xfrm>
            <a:off x="4977842" y="2546432"/>
            <a:ext cx="2700000" cy="2100600"/>
          </a:xfrm>
          <a:prstGeom prst="rect">
            <a:avLst/>
          </a:prstGeom>
        </p:spPr>
      </p:pic>
      <p:pic>
        <p:nvPicPr>
          <p:cNvPr id="14" name="Image 18"/>
          <p:cNvPicPr>
            <a:picLocks/>
          </p:cNvPicPr>
          <p:nvPr/>
        </p:nvPicPr>
        <p:blipFill>
          <a:blip r:embed="rId6"/>
          <a:stretch>
            <a:fillRect/>
          </a:stretch>
        </p:blipFill>
        <p:spPr>
          <a:xfrm>
            <a:off x="1483148" y="2546432"/>
            <a:ext cx="2700000" cy="2100600"/>
          </a:xfrm>
          <a:prstGeom prst="rect">
            <a:avLst/>
          </a:prstGeom>
        </p:spPr>
      </p:pic>
      <p:sp>
        <p:nvSpPr>
          <p:cNvPr id="15" name="TextBox 14"/>
          <p:cNvSpPr txBox="1"/>
          <p:nvPr/>
        </p:nvSpPr>
        <p:spPr>
          <a:xfrm>
            <a:off x="6090595" y="4889584"/>
            <a:ext cx="3053405" cy="253916"/>
          </a:xfrm>
          <a:prstGeom prst="rect">
            <a:avLst/>
          </a:prstGeom>
          <a:noFill/>
        </p:spPr>
        <p:txBody>
          <a:bodyPr wrap="square" rtlCol="0">
            <a:spAutoFit/>
          </a:bodyPr>
          <a:lstStyle/>
          <a:p>
            <a:pPr algn="r"/>
            <a:r>
              <a:rPr lang="en-US" sz="1050" dirty="0"/>
              <a:t>[</a:t>
            </a:r>
            <a:r>
              <a:rPr lang="en-US" sz="1050" dirty="0" err="1"/>
              <a:t>Schiratti</a:t>
            </a:r>
            <a:r>
              <a:rPr lang="en-US" sz="1050" dirty="0"/>
              <a:t> et al. IPMI’15, NIPS’15, PhD’17, JMLR’17]</a:t>
            </a:r>
          </a:p>
        </p:txBody>
      </p:sp>
      <p:sp>
        <p:nvSpPr>
          <p:cNvPr id="11" name="TextBox 10"/>
          <p:cNvSpPr txBox="1"/>
          <p:nvPr/>
        </p:nvSpPr>
        <p:spPr>
          <a:xfrm>
            <a:off x="6284794" y="4207789"/>
            <a:ext cx="194481" cy="300082"/>
          </a:xfrm>
          <a:prstGeom prst="rect">
            <a:avLst/>
          </a:prstGeom>
          <a:noFill/>
        </p:spPr>
        <p:txBody>
          <a:bodyPr wrap="square" rtlCol="0">
            <a:spAutoFit/>
          </a:bodyPr>
          <a:lstStyle/>
          <a:p>
            <a:r>
              <a:rPr lang="en-US" sz="1350" dirty="0"/>
              <a:t>x</a:t>
            </a:r>
          </a:p>
        </p:txBody>
      </p:sp>
      <p:sp>
        <p:nvSpPr>
          <p:cNvPr id="16" name="TextBox 15"/>
          <p:cNvSpPr txBox="1"/>
          <p:nvPr/>
        </p:nvSpPr>
        <p:spPr>
          <a:xfrm>
            <a:off x="4763914" y="3151621"/>
            <a:ext cx="213929" cy="300082"/>
          </a:xfrm>
          <a:prstGeom prst="rect">
            <a:avLst/>
          </a:prstGeom>
          <a:noFill/>
        </p:spPr>
        <p:txBody>
          <a:bodyPr wrap="square" rtlCol="0">
            <a:spAutoFit/>
          </a:bodyPr>
          <a:lstStyle/>
          <a:p>
            <a:r>
              <a:rPr lang="en-US" sz="1350" dirty="0"/>
              <a:t>y</a:t>
            </a:r>
          </a:p>
        </p:txBody>
      </p:sp>
      <p:sp>
        <p:nvSpPr>
          <p:cNvPr id="17" name="TextBox 16"/>
          <p:cNvSpPr txBox="1"/>
          <p:nvPr/>
        </p:nvSpPr>
        <p:spPr>
          <a:xfrm>
            <a:off x="2735908" y="4294161"/>
            <a:ext cx="194481" cy="300082"/>
          </a:xfrm>
          <a:prstGeom prst="rect">
            <a:avLst/>
          </a:prstGeom>
          <a:noFill/>
        </p:spPr>
        <p:txBody>
          <a:bodyPr wrap="square" rtlCol="0">
            <a:spAutoFit/>
          </a:bodyPr>
          <a:lstStyle/>
          <a:p>
            <a:r>
              <a:rPr lang="en-US" sz="1350" dirty="0"/>
              <a:t>t</a:t>
            </a:r>
          </a:p>
        </p:txBody>
      </p:sp>
      <p:sp>
        <p:nvSpPr>
          <p:cNvPr id="18" name="TextBox 17"/>
          <p:cNvSpPr txBox="1"/>
          <p:nvPr/>
        </p:nvSpPr>
        <p:spPr>
          <a:xfrm rot="16200000">
            <a:off x="1022239" y="3446691"/>
            <a:ext cx="587756" cy="300082"/>
          </a:xfrm>
          <a:prstGeom prst="rect">
            <a:avLst/>
          </a:prstGeom>
          <a:noFill/>
        </p:spPr>
        <p:txBody>
          <a:bodyPr wrap="square" rtlCol="0">
            <a:spAutoFit/>
          </a:bodyPr>
          <a:lstStyle/>
          <a:p>
            <a:r>
              <a:rPr lang="en-US" sz="1350" dirty="0"/>
              <a:t>x or y</a:t>
            </a:r>
          </a:p>
        </p:txBody>
      </p:sp>
      <p:sp>
        <p:nvSpPr>
          <p:cNvPr id="2" name="Espace réservé du numéro de diapositive 1">
            <a:extLst>
              <a:ext uri="{FF2B5EF4-FFF2-40B4-BE49-F238E27FC236}">
                <a16:creationId xmlns:a16="http://schemas.microsoft.com/office/drawing/2014/main" id="{F9A690BD-77F2-5D3E-E917-796E3D468D03}"/>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25</a:t>
            </a:fld>
            <a:endParaRPr lang="fr-FR"/>
          </a:p>
        </p:txBody>
      </p:sp>
    </p:spTree>
    <p:extLst>
      <p:ext uri="{BB962C8B-B14F-4D97-AF65-F5344CB8AC3E}">
        <p14:creationId xmlns:p14="http://schemas.microsoft.com/office/powerpoint/2010/main" val="26500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719138" y="738813"/>
            <a:ext cx="6010275" cy="401099"/>
          </a:xfrm>
        </p:spPr>
        <p:txBody>
          <a:bodyPr>
            <a:normAutofit/>
          </a:bodyPr>
          <a:lstStyle/>
          <a:p>
            <a:r>
              <a:rPr lang="en-US" sz="1500" dirty="0"/>
              <a:t>Model of cognitive decline in Alzheimer’s Disease</a:t>
            </a:r>
          </a:p>
        </p:txBody>
      </p:sp>
      <p:sp>
        <p:nvSpPr>
          <p:cNvPr id="13" name="TextBox 12"/>
          <p:cNvSpPr txBox="1"/>
          <p:nvPr/>
        </p:nvSpPr>
        <p:spPr>
          <a:xfrm>
            <a:off x="1872049" y="630194"/>
            <a:ext cx="184731" cy="300082"/>
          </a:xfrm>
          <a:prstGeom prst="rect">
            <a:avLst/>
          </a:prstGeom>
          <a:noFill/>
        </p:spPr>
        <p:txBody>
          <a:bodyPr wrap="none" rtlCol="0">
            <a:spAutoFit/>
          </a:bodyPr>
          <a:lstStyle/>
          <a:p>
            <a:endParaRPr lang="en-US" sz="1350" dirty="0"/>
          </a:p>
        </p:txBody>
      </p:sp>
      <p:sp>
        <p:nvSpPr>
          <p:cNvPr id="16" name="TextBox 37"/>
          <p:cNvSpPr txBox="1"/>
          <p:nvPr/>
        </p:nvSpPr>
        <p:spPr>
          <a:xfrm>
            <a:off x="4610248" y="1218832"/>
            <a:ext cx="3079835" cy="300082"/>
          </a:xfrm>
          <a:prstGeom prst="rect">
            <a:avLst/>
          </a:prstGeom>
          <a:noFill/>
        </p:spPr>
        <p:txBody>
          <a:bodyPr wrap="square" rtlCol="0">
            <a:spAutoFit/>
          </a:bodyPr>
          <a:lstStyle/>
          <a:p>
            <a:pPr algn="ctr"/>
            <a:r>
              <a:rPr lang="en-US" sz="1350" b="1" dirty="0"/>
              <a:t>The average trajectory of data changes</a:t>
            </a:r>
          </a:p>
        </p:txBody>
      </p:sp>
      <p:grpSp>
        <p:nvGrpSpPr>
          <p:cNvPr id="17" name="Group 9"/>
          <p:cNvGrpSpPr>
            <a:grpSpLocks noChangeAspect="1"/>
          </p:cNvGrpSpPr>
          <p:nvPr/>
        </p:nvGrpSpPr>
        <p:grpSpPr>
          <a:xfrm>
            <a:off x="3951987" y="1785277"/>
            <a:ext cx="4185388" cy="3052106"/>
            <a:chOff x="127843" y="1512461"/>
            <a:chExt cx="4188298" cy="3758256"/>
          </a:xfrm>
        </p:grpSpPr>
        <p:pic>
          <p:nvPicPr>
            <p:cNvPr id="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960" y="1512461"/>
              <a:ext cx="3977181" cy="311636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43" y="1976146"/>
              <a:ext cx="134478" cy="224770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9265" y="4705398"/>
              <a:ext cx="1161479" cy="15092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7534" y="4950560"/>
              <a:ext cx="922732" cy="1476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800" y="4931080"/>
              <a:ext cx="1080120" cy="1743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3"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5105473"/>
              <a:ext cx="826218" cy="16524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4"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534" y="5105473"/>
              <a:ext cx="1429137" cy="1476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grpSp>
      <p:grpSp>
        <p:nvGrpSpPr>
          <p:cNvPr id="25" name="Grouper 1"/>
          <p:cNvGrpSpPr/>
          <p:nvPr/>
        </p:nvGrpSpPr>
        <p:grpSpPr>
          <a:xfrm>
            <a:off x="769784" y="1684962"/>
            <a:ext cx="2481627" cy="2377574"/>
            <a:chOff x="206563" y="2006826"/>
            <a:chExt cx="3308836" cy="3170098"/>
          </a:xfrm>
        </p:grpSpPr>
        <p:sp>
          <p:nvSpPr>
            <p:cNvPr id="26" name="TextBox 37"/>
            <p:cNvSpPr txBox="1"/>
            <p:nvPr/>
          </p:nvSpPr>
          <p:spPr>
            <a:xfrm>
              <a:off x="206563" y="2006826"/>
              <a:ext cx="3308836" cy="3170098"/>
            </a:xfrm>
            <a:prstGeom prst="rect">
              <a:avLst/>
            </a:prstGeom>
            <a:noFill/>
          </p:spPr>
          <p:txBody>
            <a:bodyPr wrap="square" rtlCol="0">
              <a:spAutoFit/>
            </a:bodyPr>
            <a:lstStyle/>
            <a:p>
              <a:pPr>
                <a:buFont typeface="Arial"/>
                <a:buChar char="•"/>
              </a:pPr>
              <a:r>
                <a:rPr lang="en-US" sz="1350" dirty="0"/>
                <a:t>Neuropsychological tests ADAS-Gog from ADNI</a:t>
              </a:r>
            </a:p>
            <a:p>
              <a:pPr>
                <a:buFont typeface="Arial"/>
                <a:buChar char="•"/>
              </a:pPr>
              <a:endParaRPr lang="en-US" sz="1350" dirty="0"/>
            </a:p>
            <a:p>
              <a:pPr>
                <a:buFont typeface="Arial"/>
                <a:buChar char="•"/>
              </a:pPr>
              <a:r>
                <a:rPr lang="en-US" sz="1350" dirty="0"/>
                <a:t>248 subjects who converted from MCI to AD</a:t>
              </a:r>
            </a:p>
            <a:p>
              <a:pPr>
                <a:buFont typeface="Arial"/>
                <a:buChar char="•"/>
              </a:pPr>
              <a:endParaRPr lang="en-US" sz="1350" dirty="0"/>
            </a:p>
            <a:p>
              <a:pPr>
                <a:buFont typeface="Arial"/>
                <a:buChar char="•"/>
              </a:pPr>
              <a:r>
                <a:rPr lang="en-US" sz="1350" dirty="0"/>
                <a:t>6 time-points per subjects on average (min 3, max 11)</a:t>
              </a:r>
            </a:p>
            <a:p>
              <a:pPr>
                <a:buFont typeface="Arial"/>
                <a:buChar char="•"/>
              </a:pPr>
              <a:endParaRPr lang="en-US" sz="1350" dirty="0"/>
            </a:p>
            <a:p>
              <a:pPr>
                <a:buFont typeface="Arial"/>
                <a:buChar char="•"/>
              </a:pPr>
              <a:r>
                <a:rPr lang="en-US" sz="1350" dirty="0"/>
                <a:t>Data points</a:t>
              </a:r>
            </a:p>
            <a:p>
              <a:r>
                <a:rPr lang="en-US" sz="1350" dirty="0"/>
                <a:t>  with propagation logistic model </a:t>
              </a:r>
            </a:p>
          </p:txBody>
        </p:sp>
        <p:pic>
          <p:nvPicPr>
            <p:cNvPr id="27" name="Image 20" descr="latex-image-1.pdf"/>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34540" y="4507275"/>
              <a:ext cx="1028700" cy="279400"/>
            </a:xfrm>
            <a:prstGeom prst="rect">
              <a:avLst/>
            </a:prstGeom>
          </p:spPr>
        </p:pic>
      </p:grpSp>
      <p:sp>
        <p:nvSpPr>
          <p:cNvPr id="28" name="TextBox 27"/>
          <p:cNvSpPr txBox="1"/>
          <p:nvPr/>
        </p:nvSpPr>
        <p:spPr>
          <a:xfrm>
            <a:off x="6090595" y="4912667"/>
            <a:ext cx="3053405" cy="253916"/>
          </a:xfrm>
          <a:prstGeom prst="rect">
            <a:avLst/>
          </a:prstGeom>
          <a:noFill/>
        </p:spPr>
        <p:txBody>
          <a:bodyPr wrap="square" rtlCol="0">
            <a:spAutoFit/>
          </a:bodyPr>
          <a:lstStyle/>
          <a:p>
            <a:pPr algn="r"/>
            <a:r>
              <a:rPr lang="en-US" sz="1050" dirty="0"/>
              <a:t>[</a:t>
            </a:r>
            <a:r>
              <a:rPr lang="en-US" sz="1050" dirty="0" err="1"/>
              <a:t>Schiratti</a:t>
            </a:r>
            <a:r>
              <a:rPr lang="en-US" sz="1050" dirty="0"/>
              <a:t> et al. IPMI’15, NIPS’15, PhD’17, JMLR’17]</a:t>
            </a:r>
          </a:p>
        </p:txBody>
      </p:sp>
      <p:sp>
        <p:nvSpPr>
          <p:cNvPr id="2" name="Espace réservé du numéro de diapositive 1">
            <a:extLst>
              <a:ext uri="{FF2B5EF4-FFF2-40B4-BE49-F238E27FC236}">
                <a16:creationId xmlns:a16="http://schemas.microsoft.com/office/drawing/2014/main" id="{47F2B9AA-E76A-C399-6945-6CE7085F458E}"/>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26</a:t>
            </a:fld>
            <a:endParaRPr lang="fr-FR"/>
          </a:p>
        </p:txBody>
      </p:sp>
    </p:spTree>
    <p:extLst>
      <p:ext uri="{BB962C8B-B14F-4D97-AF65-F5344CB8AC3E}">
        <p14:creationId xmlns:p14="http://schemas.microsoft.com/office/powerpoint/2010/main" val="93258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51853B0C-3E37-CF4A-872A-BEC7F4C495AC}"/>
              </a:ext>
            </a:extLst>
          </p:cNvPr>
          <p:cNvSpPr>
            <a:spLocks noGrp="1"/>
          </p:cNvSpPr>
          <p:nvPr>
            <p:ph type="sldNum" sz="quarter" idx="12"/>
          </p:nvPr>
        </p:nvSpPr>
        <p:spPr/>
        <p:txBody>
          <a:bodyPr/>
          <a:lstStyle/>
          <a:p>
            <a:fld id="{5870DCD9-4C62-064A-8D36-1100C85C30D4}" type="slidenum">
              <a:rPr lang="en-FR" smtClean="0"/>
              <a:t>27</a:t>
            </a:fld>
            <a:endParaRPr lang="en-FR"/>
          </a:p>
        </p:txBody>
      </p:sp>
      <p:sp>
        <p:nvSpPr>
          <p:cNvPr id="19" name="Rectangle 18">
            <a:extLst>
              <a:ext uri="{FF2B5EF4-FFF2-40B4-BE49-F238E27FC236}">
                <a16:creationId xmlns:a16="http://schemas.microsoft.com/office/drawing/2014/main" id="{8150133D-0467-8B4A-A18C-B20456BD9F69}"/>
              </a:ext>
            </a:extLst>
          </p:cNvPr>
          <p:cNvSpPr/>
          <p:nvPr/>
        </p:nvSpPr>
        <p:spPr>
          <a:xfrm>
            <a:off x="1490394" y="4089868"/>
            <a:ext cx="2995432" cy="923330"/>
          </a:xfrm>
          <a:prstGeom prst="rect">
            <a:avLst/>
          </a:prstGeom>
        </p:spPr>
        <p:txBody>
          <a:bodyPr wrap="square">
            <a:spAutoFit/>
          </a:bodyPr>
          <a:lstStyle/>
          <a:p>
            <a:pPr algn="ctr" defTabSz="685800">
              <a:defRPr/>
            </a:pPr>
            <a:r>
              <a:rPr lang="fr-FR" altLang="x-none" dirty="0" err="1">
                <a:ea typeface="ＭＳ Ｐゴシック" charset="-128"/>
              </a:rPr>
              <a:t>We</a:t>
            </a:r>
            <a:r>
              <a:rPr lang="fr-FR" altLang="x-none" dirty="0">
                <a:ea typeface="ＭＳ Ｐゴシック" charset="-128"/>
              </a:rPr>
              <a:t> </a:t>
            </a:r>
            <a:r>
              <a:rPr lang="fr-FR" altLang="x-none" dirty="0" err="1">
                <a:ea typeface="ＭＳ Ｐゴシック" charset="-128"/>
              </a:rPr>
              <a:t>learn</a:t>
            </a:r>
            <a:r>
              <a:rPr lang="fr-FR" altLang="x-none" dirty="0">
                <a:ea typeface="ＭＳ Ｐゴシック" charset="-128"/>
              </a:rPr>
              <a:t> the distribution of </a:t>
            </a:r>
            <a:r>
              <a:rPr lang="fr-FR" altLang="x-none" dirty="0" err="1">
                <a:ea typeface="ＭＳ Ｐゴシック" charset="-128"/>
              </a:rPr>
              <a:t>parameters</a:t>
            </a:r>
            <a:r>
              <a:rPr lang="fr-FR" altLang="x-none" dirty="0">
                <a:ea typeface="ＭＳ Ｐゴシック" charset="-128"/>
              </a:rPr>
              <a:t> </a:t>
            </a:r>
            <a:r>
              <a:rPr lang="fr-FR" altLang="x-none" dirty="0" err="1">
                <a:ea typeface="ＭＳ Ｐゴシック" charset="-128"/>
              </a:rPr>
              <a:t>generating</a:t>
            </a:r>
            <a:r>
              <a:rPr lang="fr-FR" altLang="x-none" dirty="0">
                <a:ea typeface="ＭＳ Ｐゴシック" charset="-128"/>
              </a:rPr>
              <a:t> </a:t>
            </a:r>
            <a:r>
              <a:rPr lang="fr-FR" altLang="x-none" dirty="0" err="1">
                <a:ea typeface="ＭＳ Ｐゴシック" charset="-128"/>
              </a:rPr>
              <a:t>disease</a:t>
            </a:r>
            <a:r>
              <a:rPr lang="fr-FR" altLang="x-none" dirty="0">
                <a:ea typeface="ＭＳ Ｐゴシック" charset="-128"/>
              </a:rPr>
              <a:t> </a:t>
            </a:r>
            <a:r>
              <a:rPr lang="fr-FR" altLang="x-none" dirty="0" err="1">
                <a:ea typeface="ＭＳ Ｐゴシック" charset="-128"/>
              </a:rPr>
              <a:t>trajectories</a:t>
            </a:r>
            <a:endParaRPr lang="fr-FR" altLang="x-none" dirty="0">
              <a:ea typeface="ＭＳ Ｐゴシック" charset="-128"/>
            </a:endParaRPr>
          </a:p>
        </p:txBody>
      </p:sp>
      <p:pic>
        <p:nvPicPr>
          <p:cNvPr id="3" name="digital-brain-1" descr="digital-brain-1">
            <a:hlinkClick r:id="" action="ppaction://media"/>
            <a:extLst>
              <a:ext uri="{FF2B5EF4-FFF2-40B4-BE49-F238E27FC236}">
                <a16:creationId xmlns:a16="http://schemas.microsoft.com/office/drawing/2014/main" id="{E6ADD4C2-5E2F-9641-916A-3E2BDB2B885C}"/>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1216" t="2" r="2013" b="32807"/>
          <a:stretch/>
        </p:blipFill>
        <p:spPr>
          <a:xfrm>
            <a:off x="0" y="1164819"/>
            <a:ext cx="7272362" cy="2884904"/>
          </a:xfrm>
          <a:prstGeom prst="rect">
            <a:avLst/>
          </a:prstGeom>
        </p:spPr>
      </p:pic>
      <p:sp>
        <p:nvSpPr>
          <p:cNvPr id="20" name="Rectangle 19">
            <a:extLst>
              <a:ext uri="{FF2B5EF4-FFF2-40B4-BE49-F238E27FC236}">
                <a16:creationId xmlns:a16="http://schemas.microsoft.com/office/drawing/2014/main" id="{11292112-86ED-6F4D-9EAE-0FAA516F1BF8}"/>
              </a:ext>
            </a:extLst>
          </p:cNvPr>
          <p:cNvSpPr/>
          <p:nvPr/>
        </p:nvSpPr>
        <p:spPr>
          <a:xfrm>
            <a:off x="7124595" y="918343"/>
            <a:ext cx="2019405" cy="369332"/>
          </a:xfrm>
          <a:prstGeom prst="rect">
            <a:avLst/>
          </a:prstGeom>
        </p:spPr>
        <p:txBody>
          <a:bodyPr wrap="square">
            <a:spAutoFit/>
          </a:bodyPr>
          <a:lstStyle/>
          <a:p>
            <a:pPr algn="ctr" defTabSz="685800">
              <a:defRPr/>
            </a:pPr>
            <a:r>
              <a:rPr lang="fr-FR" altLang="x-none" b="1" dirty="0" err="1">
                <a:ea typeface="ＭＳ Ｐゴシック" charset="-128"/>
              </a:rPr>
              <a:t>adjusting</a:t>
            </a:r>
            <a:r>
              <a:rPr lang="fr-FR" altLang="x-none" b="1" dirty="0">
                <a:ea typeface="ＭＳ Ｐゴシック" charset="-128"/>
              </a:rPr>
              <a:t> for:</a:t>
            </a:r>
            <a:endParaRPr lang="en-FR" b="1" dirty="0"/>
          </a:p>
        </p:txBody>
      </p:sp>
      <p:sp>
        <p:nvSpPr>
          <p:cNvPr id="21" name="Rectangle 20">
            <a:extLst>
              <a:ext uri="{FF2B5EF4-FFF2-40B4-BE49-F238E27FC236}">
                <a16:creationId xmlns:a16="http://schemas.microsoft.com/office/drawing/2014/main" id="{5D63778D-0A13-7341-8AEE-9D3302AB044B}"/>
              </a:ext>
            </a:extLst>
          </p:cNvPr>
          <p:cNvSpPr/>
          <p:nvPr/>
        </p:nvSpPr>
        <p:spPr>
          <a:xfrm>
            <a:off x="7272363" y="1305314"/>
            <a:ext cx="2019405" cy="369332"/>
          </a:xfrm>
          <a:prstGeom prst="rect">
            <a:avLst/>
          </a:prstGeom>
        </p:spPr>
        <p:txBody>
          <a:bodyPr wrap="square">
            <a:spAutoFit/>
          </a:bodyPr>
          <a:lstStyle/>
          <a:p>
            <a:pPr defTabSz="685800">
              <a:defRPr/>
            </a:pPr>
            <a:r>
              <a:rPr lang="fr-FR" altLang="x-none" dirty="0" err="1">
                <a:ea typeface="ＭＳ Ｐゴシック" charset="-128"/>
              </a:rPr>
              <a:t>age</a:t>
            </a:r>
            <a:r>
              <a:rPr lang="fr-FR" altLang="x-none" dirty="0">
                <a:ea typeface="ＭＳ Ｐゴシック" charset="-128"/>
              </a:rPr>
              <a:t> at </a:t>
            </a:r>
            <a:r>
              <a:rPr lang="fr-FR" altLang="x-none" dirty="0" err="1">
                <a:ea typeface="ＭＳ Ｐゴシック" charset="-128"/>
              </a:rPr>
              <a:t>onset</a:t>
            </a:r>
            <a:endParaRPr lang="en-FR" dirty="0"/>
          </a:p>
        </p:txBody>
      </p:sp>
      <p:sp>
        <p:nvSpPr>
          <p:cNvPr id="22" name="Rectangle 21">
            <a:extLst>
              <a:ext uri="{FF2B5EF4-FFF2-40B4-BE49-F238E27FC236}">
                <a16:creationId xmlns:a16="http://schemas.microsoft.com/office/drawing/2014/main" id="{AA73AE83-49BC-E540-A33D-D583D08EA12A}"/>
              </a:ext>
            </a:extLst>
          </p:cNvPr>
          <p:cNvSpPr/>
          <p:nvPr/>
        </p:nvSpPr>
        <p:spPr>
          <a:xfrm>
            <a:off x="7272363" y="1847389"/>
            <a:ext cx="2019405" cy="369332"/>
          </a:xfrm>
          <a:prstGeom prst="rect">
            <a:avLst/>
          </a:prstGeom>
        </p:spPr>
        <p:txBody>
          <a:bodyPr wrap="square">
            <a:spAutoFit/>
          </a:bodyPr>
          <a:lstStyle/>
          <a:p>
            <a:pPr defTabSz="685800">
              <a:defRPr/>
            </a:pPr>
            <a:r>
              <a:rPr lang="fr-FR" altLang="x-none" dirty="0">
                <a:ea typeface="ＭＳ Ｐゴシック" charset="-128"/>
              </a:rPr>
              <a:t>pace of progression</a:t>
            </a:r>
            <a:endParaRPr lang="en-FR" dirty="0"/>
          </a:p>
        </p:txBody>
      </p:sp>
      <p:sp>
        <p:nvSpPr>
          <p:cNvPr id="23" name="Rectangle 22">
            <a:extLst>
              <a:ext uri="{FF2B5EF4-FFF2-40B4-BE49-F238E27FC236}">
                <a16:creationId xmlns:a16="http://schemas.microsoft.com/office/drawing/2014/main" id="{BFB1353F-5241-CC48-A166-F9D6466BDA30}"/>
              </a:ext>
            </a:extLst>
          </p:cNvPr>
          <p:cNvSpPr/>
          <p:nvPr/>
        </p:nvSpPr>
        <p:spPr>
          <a:xfrm>
            <a:off x="7272362" y="2285020"/>
            <a:ext cx="2019405" cy="1754326"/>
          </a:xfrm>
          <a:prstGeom prst="rect">
            <a:avLst/>
          </a:prstGeom>
        </p:spPr>
        <p:txBody>
          <a:bodyPr wrap="square">
            <a:spAutoFit/>
          </a:bodyPr>
          <a:lstStyle/>
          <a:p>
            <a:pPr defTabSz="685800">
              <a:defRPr/>
            </a:pPr>
            <a:r>
              <a:rPr lang="fr-FR" altLang="x-none" dirty="0" err="1">
                <a:ea typeface="ＭＳ Ｐゴシック" charset="-128"/>
              </a:rPr>
              <a:t>disease</a:t>
            </a:r>
            <a:r>
              <a:rPr lang="fr-FR" altLang="x-none" dirty="0">
                <a:ea typeface="ＭＳ Ｐゴシック" charset="-128"/>
              </a:rPr>
              <a:t> </a:t>
            </a:r>
            <a:r>
              <a:rPr lang="fr-FR" altLang="x-none" dirty="0" err="1">
                <a:ea typeface="ＭＳ Ｐゴシック" charset="-128"/>
              </a:rPr>
              <a:t>presentation</a:t>
            </a:r>
            <a:r>
              <a:rPr lang="fr-FR" altLang="x-none" dirty="0">
                <a:ea typeface="ＭＳ Ｐゴシック" charset="-128"/>
              </a:rPr>
              <a:t>, i.e. </a:t>
            </a:r>
          </a:p>
          <a:p>
            <a:pPr marL="285750" indent="-285750" defTabSz="685800">
              <a:buFontTx/>
              <a:buChar char="-"/>
              <a:defRPr/>
            </a:pPr>
            <a:r>
              <a:rPr lang="fr-FR" altLang="x-none" dirty="0">
                <a:ea typeface="ＭＳ Ｐゴシック" charset="-128"/>
              </a:rPr>
              <a:t>timing of </a:t>
            </a:r>
            <a:r>
              <a:rPr lang="fr-FR" altLang="x-none" dirty="0" err="1">
                <a:ea typeface="ＭＳ Ｐゴシック" charset="-128"/>
              </a:rPr>
              <a:t>symptom</a:t>
            </a:r>
            <a:r>
              <a:rPr lang="fr-FR" altLang="x-none" dirty="0">
                <a:ea typeface="ＭＳ Ｐゴシック" charset="-128"/>
              </a:rPr>
              <a:t> </a:t>
            </a:r>
            <a:r>
              <a:rPr lang="fr-FR" altLang="x-none" dirty="0" err="1">
                <a:ea typeface="ＭＳ Ｐゴシック" charset="-128"/>
              </a:rPr>
              <a:t>onset</a:t>
            </a:r>
            <a:endParaRPr lang="fr-FR" altLang="x-none" dirty="0">
              <a:ea typeface="ＭＳ Ｐゴシック" charset="-128"/>
            </a:endParaRPr>
          </a:p>
          <a:p>
            <a:pPr marL="285750" indent="-285750" defTabSz="685800">
              <a:buFontTx/>
              <a:buChar char="-"/>
              <a:defRPr/>
            </a:pPr>
            <a:r>
              <a:rPr lang="fr-FR" altLang="x-none" i="1" dirty="0" err="1">
                <a:ea typeface="ＭＳ Ｐゴシック" charset="-128"/>
              </a:rPr>
              <a:t>appearance</a:t>
            </a:r>
            <a:r>
              <a:rPr lang="fr-FR" altLang="x-none" i="1" dirty="0">
                <a:ea typeface="ＭＳ Ｐゴシック" charset="-128"/>
              </a:rPr>
              <a:t> of image data</a:t>
            </a:r>
            <a:endParaRPr lang="en-FR" i="1" dirty="0"/>
          </a:p>
        </p:txBody>
      </p:sp>
      <p:sp>
        <p:nvSpPr>
          <p:cNvPr id="18" name="Right Brace 17">
            <a:extLst>
              <a:ext uri="{FF2B5EF4-FFF2-40B4-BE49-F238E27FC236}">
                <a16:creationId xmlns:a16="http://schemas.microsoft.com/office/drawing/2014/main" id="{F23880F5-DB93-6C44-8028-BD4F171A449A}"/>
              </a:ext>
            </a:extLst>
          </p:cNvPr>
          <p:cNvSpPr/>
          <p:nvPr/>
        </p:nvSpPr>
        <p:spPr>
          <a:xfrm>
            <a:off x="7198478" y="2330824"/>
            <a:ext cx="147767" cy="759258"/>
          </a:xfrm>
          <a:prstGeom prst="rightBrace">
            <a:avLst>
              <a:gd name="adj1" fmla="val 44734"/>
              <a:gd name="adj2" fmla="val 50000"/>
            </a:avLst>
          </a:prstGeom>
          <a:noFill/>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R"/>
          </a:p>
        </p:txBody>
      </p:sp>
    </p:spTree>
    <p:extLst>
      <p:ext uri="{BB962C8B-B14F-4D97-AF65-F5344CB8AC3E}">
        <p14:creationId xmlns:p14="http://schemas.microsoft.com/office/powerpoint/2010/main" val="421127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9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1846647" y="302149"/>
            <a:ext cx="184731" cy="300082"/>
          </a:xfrm>
          <a:prstGeom prst="rect">
            <a:avLst/>
          </a:prstGeom>
          <a:noFill/>
        </p:spPr>
        <p:txBody>
          <a:bodyPr wrap="none" rtlCol="0">
            <a:spAutoFit/>
          </a:bodyPr>
          <a:lstStyle/>
          <a:p>
            <a:endParaRPr lang="en-US" sz="1350" dirty="0"/>
          </a:p>
        </p:txBody>
      </p:sp>
      <p:sp>
        <p:nvSpPr>
          <p:cNvPr id="29" name="TextBox 70"/>
          <p:cNvSpPr txBox="1"/>
          <p:nvPr/>
        </p:nvSpPr>
        <p:spPr>
          <a:xfrm>
            <a:off x="1028697" y="365380"/>
            <a:ext cx="1739902" cy="507831"/>
          </a:xfrm>
          <a:prstGeom prst="rect">
            <a:avLst/>
          </a:prstGeom>
          <a:noFill/>
          <a:ln w="12700">
            <a:solidFill>
              <a:schemeClr val="accent2"/>
            </a:solidFill>
          </a:ln>
        </p:spPr>
        <p:txBody>
          <a:bodyPr wrap="square" rtlCol="0">
            <a:spAutoFit/>
          </a:bodyPr>
          <a:lstStyle/>
          <a:p>
            <a:pPr algn="ctr"/>
            <a:r>
              <a:rPr lang="en-US" sz="1350" dirty="0"/>
              <a:t>Distinguish </a:t>
            </a:r>
            <a:r>
              <a:rPr lang="en-US" sz="1350" b="1" dirty="0"/>
              <a:t>fast</a:t>
            </a:r>
            <a:r>
              <a:rPr lang="en-US" sz="1350" dirty="0"/>
              <a:t> vs. </a:t>
            </a:r>
            <a:r>
              <a:rPr lang="en-US" sz="1350" b="1" dirty="0"/>
              <a:t>slow</a:t>
            </a:r>
            <a:r>
              <a:rPr lang="en-US" sz="1350" dirty="0"/>
              <a:t> </a:t>
            </a:r>
            <a:r>
              <a:rPr lang="en-US" sz="1350" dirty="0" err="1"/>
              <a:t>progressers</a:t>
            </a:r>
            <a:endParaRPr lang="en-US" sz="1350" dirty="0"/>
          </a:p>
        </p:txBody>
      </p:sp>
      <p:sp>
        <p:nvSpPr>
          <p:cNvPr id="30" name="TextBox 71"/>
          <p:cNvSpPr txBox="1"/>
          <p:nvPr/>
        </p:nvSpPr>
        <p:spPr>
          <a:xfrm>
            <a:off x="2908299" y="365380"/>
            <a:ext cx="1727198" cy="507831"/>
          </a:xfrm>
          <a:prstGeom prst="rect">
            <a:avLst/>
          </a:prstGeom>
          <a:noFill/>
          <a:ln w="12700">
            <a:solidFill>
              <a:schemeClr val="accent2"/>
            </a:solidFill>
          </a:ln>
        </p:spPr>
        <p:txBody>
          <a:bodyPr wrap="square" rtlCol="0">
            <a:spAutoFit/>
          </a:bodyPr>
          <a:lstStyle/>
          <a:p>
            <a:pPr algn="ctr"/>
            <a:r>
              <a:rPr lang="en-US" sz="1350" dirty="0"/>
              <a:t>Distinguish </a:t>
            </a:r>
            <a:r>
              <a:rPr lang="en-US" sz="1350" b="1" dirty="0"/>
              <a:t>early</a:t>
            </a:r>
            <a:r>
              <a:rPr lang="en-US" sz="1350" dirty="0"/>
              <a:t> vs. </a:t>
            </a:r>
            <a:r>
              <a:rPr lang="en-US" sz="1350" b="1" dirty="0"/>
              <a:t>late</a:t>
            </a:r>
            <a:r>
              <a:rPr lang="en-US" sz="1350" dirty="0"/>
              <a:t> onset individuals</a:t>
            </a:r>
          </a:p>
        </p:txBody>
      </p:sp>
      <p:sp>
        <p:nvSpPr>
          <p:cNvPr id="31" name="TextBox 71"/>
          <p:cNvSpPr txBox="1"/>
          <p:nvPr/>
        </p:nvSpPr>
        <p:spPr>
          <a:xfrm>
            <a:off x="5195243" y="365380"/>
            <a:ext cx="2715913" cy="507831"/>
          </a:xfrm>
          <a:prstGeom prst="rect">
            <a:avLst/>
          </a:prstGeom>
          <a:noFill/>
          <a:ln w="12700">
            <a:solidFill>
              <a:schemeClr val="accent2"/>
            </a:solidFill>
          </a:ln>
        </p:spPr>
        <p:txBody>
          <a:bodyPr wrap="square" rtlCol="0">
            <a:spAutoFit/>
          </a:bodyPr>
          <a:lstStyle/>
          <a:p>
            <a:pPr algn="ctr"/>
            <a:r>
              <a:rPr lang="en-US" sz="1350" dirty="0"/>
              <a:t>Variability in the </a:t>
            </a:r>
            <a:r>
              <a:rPr lang="en-US" sz="1350" b="1" dirty="0"/>
              <a:t>relative timing</a:t>
            </a:r>
            <a:r>
              <a:rPr lang="en-US" sz="1350" dirty="0"/>
              <a:t> and </a:t>
            </a:r>
            <a:r>
              <a:rPr lang="en-US" sz="1350" b="1" dirty="0"/>
              <a:t>ordering</a:t>
            </a:r>
            <a:r>
              <a:rPr lang="en-US" sz="1350" dirty="0"/>
              <a:t> of the events</a:t>
            </a:r>
          </a:p>
        </p:txBody>
      </p:sp>
      <p:sp>
        <p:nvSpPr>
          <p:cNvPr id="2" name="Espace réservé du numéro de diapositive 1">
            <a:extLst>
              <a:ext uri="{FF2B5EF4-FFF2-40B4-BE49-F238E27FC236}">
                <a16:creationId xmlns:a16="http://schemas.microsoft.com/office/drawing/2014/main" id="{15F3D1E0-6548-5D28-7FE4-01A1E7C7BA96}"/>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28</a:t>
            </a:fld>
            <a:endParaRPr lang="fr-FR"/>
          </a:p>
        </p:txBody>
      </p:sp>
      <p:pic>
        <p:nvPicPr>
          <p:cNvPr id="3" name="Image 6">
            <a:extLst>
              <a:ext uri="{FF2B5EF4-FFF2-40B4-BE49-F238E27FC236}">
                <a16:creationId xmlns:a16="http://schemas.microsoft.com/office/drawing/2014/main" id="{6B59DD14-FA55-B501-83D5-3472F37F3778}"/>
              </a:ext>
            </a:extLst>
          </p:cNvPr>
          <p:cNvPicPr>
            <a:picLocks noChangeAspect="1"/>
          </p:cNvPicPr>
          <p:nvPr/>
        </p:nvPicPr>
        <p:blipFill rotWithShape="1">
          <a:blip r:embed="rId2"/>
          <a:srcRect l="52222"/>
          <a:stretch/>
        </p:blipFill>
        <p:spPr>
          <a:xfrm>
            <a:off x="4686302" y="1025611"/>
            <a:ext cx="3705923" cy="4003250"/>
          </a:xfrm>
          <a:prstGeom prst="rect">
            <a:avLst/>
          </a:prstGeom>
        </p:spPr>
      </p:pic>
      <p:pic>
        <p:nvPicPr>
          <p:cNvPr id="5" name="Image 6">
            <a:extLst>
              <a:ext uri="{FF2B5EF4-FFF2-40B4-BE49-F238E27FC236}">
                <a16:creationId xmlns:a16="http://schemas.microsoft.com/office/drawing/2014/main" id="{5D1320A2-D22E-CFF7-3EF9-9ED255232DB9}"/>
              </a:ext>
            </a:extLst>
          </p:cNvPr>
          <p:cNvPicPr>
            <a:picLocks noChangeAspect="1"/>
          </p:cNvPicPr>
          <p:nvPr/>
        </p:nvPicPr>
        <p:blipFill rotWithShape="1">
          <a:blip r:embed="rId2"/>
          <a:srcRect l="28002" r="47980"/>
          <a:stretch/>
        </p:blipFill>
        <p:spPr>
          <a:xfrm>
            <a:off x="2772514" y="1025611"/>
            <a:ext cx="1862983" cy="4003250"/>
          </a:xfrm>
          <a:prstGeom prst="rect">
            <a:avLst/>
          </a:prstGeom>
        </p:spPr>
      </p:pic>
      <p:pic>
        <p:nvPicPr>
          <p:cNvPr id="6" name="Image 6">
            <a:extLst>
              <a:ext uri="{FF2B5EF4-FFF2-40B4-BE49-F238E27FC236}">
                <a16:creationId xmlns:a16="http://schemas.microsoft.com/office/drawing/2014/main" id="{4EF415C1-8CD1-FB3A-0F8D-C7A049CA200D}"/>
              </a:ext>
            </a:extLst>
          </p:cNvPr>
          <p:cNvPicPr>
            <a:picLocks noChangeAspect="1"/>
          </p:cNvPicPr>
          <p:nvPr/>
        </p:nvPicPr>
        <p:blipFill rotWithShape="1">
          <a:blip r:embed="rId2"/>
          <a:srcRect r="72493"/>
          <a:stretch/>
        </p:blipFill>
        <p:spPr>
          <a:xfrm>
            <a:off x="634999" y="1025611"/>
            <a:ext cx="2133600" cy="4003250"/>
          </a:xfrm>
          <a:prstGeom prst="rect">
            <a:avLst/>
          </a:prstGeom>
        </p:spPr>
      </p:pic>
      <p:pic>
        <p:nvPicPr>
          <p:cNvPr id="7" name="Image 6">
            <a:extLst>
              <a:ext uri="{FF2B5EF4-FFF2-40B4-BE49-F238E27FC236}">
                <a16:creationId xmlns:a16="http://schemas.microsoft.com/office/drawing/2014/main" id="{BAA0163A-07F8-DE7F-4B2B-39FD5057E847}"/>
              </a:ext>
            </a:extLst>
          </p:cNvPr>
          <p:cNvPicPr>
            <a:picLocks noChangeAspect="1"/>
          </p:cNvPicPr>
          <p:nvPr/>
        </p:nvPicPr>
        <p:blipFill rotWithShape="1">
          <a:blip r:embed="rId2"/>
          <a:srcRect t="96193"/>
          <a:stretch/>
        </p:blipFill>
        <p:spPr>
          <a:xfrm>
            <a:off x="1002460" y="4869164"/>
            <a:ext cx="7756525" cy="152400"/>
          </a:xfrm>
          <a:prstGeom prst="rect">
            <a:avLst/>
          </a:prstGeom>
        </p:spPr>
      </p:pic>
    </p:spTree>
    <p:extLst>
      <p:ext uri="{BB962C8B-B14F-4D97-AF65-F5344CB8AC3E}">
        <p14:creationId xmlns:p14="http://schemas.microsoft.com/office/powerpoint/2010/main" val="142398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p:cNvSpPr txBox="1"/>
          <p:nvPr/>
        </p:nvSpPr>
        <p:spPr>
          <a:xfrm>
            <a:off x="1906625" y="1564750"/>
            <a:ext cx="6364539" cy="1325106"/>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 4. Shape data</a:t>
            </a:r>
            <a:endParaRPr lang="fr-FR" sz="2100" dirty="0">
              <a:latin typeface="Arial"/>
              <a:cs typeface="Arial"/>
            </a:endParaRPr>
          </a:p>
        </p:txBody>
      </p:sp>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2E854F3F-E800-EA01-F3EA-7B67AF69E30D}"/>
              </a:ext>
            </a:extLst>
          </p:cNvPr>
          <p:cNvSpPr>
            <a:spLocks noGrp="1"/>
          </p:cNvSpPr>
          <p:nvPr>
            <p:ph type="sldNum" sz="quarter" idx="12"/>
          </p:nvPr>
        </p:nvSpPr>
        <p:spPr/>
        <p:txBody>
          <a:bodyPr/>
          <a:lstStyle/>
          <a:p>
            <a:fld id="{B6E69D5D-3C54-E347-B3D4-70BDFA7C6521}" type="slidenum">
              <a:rPr lang="fr-FR" smtClean="0"/>
              <a:t>29</a:t>
            </a:fld>
            <a:endParaRPr lang="fr-FR"/>
          </a:p>
        </p:txBody>
      </p:sp>
    </p:spTree>
    <p:extLst>
      <p:ext uri="{BB962C8B-B14F-4D97-AF65-F5344CB8AC3E}">
        <p14:creationId xmlns:p14="http://schemas.microsoft.com/office/powerpoint/2010/main" val="2693858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4"/>
          <p:cNvSpPr txBox="1">
            <a:spLocks/>
          </p:cNvSpPr>
          <p:nvPr/>
        </p:nvSpPr>
        <p:spPr>
          <a:xfrm>
            <a:off x="719137" y="407887"/>
            <a:ext cx="6010275" cy="401099"/>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702082"/>
                </a:solidFill>
                <a:latin typeface="Nexa Bold" charset="0"/>
                <a:ea typeface="Nexa Bold" charset="0"/>
                <a:cs typeface="Nexa Bold" charset="0"/>
              </a:defRPr>
            </a:lvl1pPr>
            <a:lvl2pPr marL="457200" indent="0" algn="l" defTabSz="914400" rtl="0" eaLnBrk="1" latinLnBrk="0" hangingPunct="1">
              <a:lnSpc>
                <a:spcPct val="80000"/>
              </a:lnSpc>
              <a:spcBef>
                <a:spcPts val="500"/>
              </a:spcBef>
              <a:buFontTx/>
              <a:buNone/>
              <a:defRPr sz="1500" kern="1200">
                <a:solidFill>
                  <a:schemeClr val="tx1"/>
                </a:solidFill>
                <a:latin typeface="Nexa Light" charset="0"/>
                <a:ea typeface="Nexa Light" charset="0"/>
                <a:cs typeface="Nexa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err="1"/>
              <a:t>Exp</a:t>
            </a:r>
            <a:r>
              <a:rPr lang="en-US" sz="1500" dirty="0"/>
              <a:t>-parallelization in deformable shape spaces</a:t>
            </a:r>
          </a:p>
        </p:txBody>
      </p:sp>
      <p:pic>
        <p:nvPicPr>
          <p:cNvPr id="6" name="Pictur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8718" y="1169262"/>
            <a:ext cx="8206563" cy="3418284"/>
          </a:xfrm>
          <a:prstGeom prst="rect">
            <a:avLst/>
          </a:prstGeom>
        </p:spPr>
      </p:pic>
      <p:sp>
        <p:nvSpPr>
          <p:cNvPr id="64" name="TextBox 63"/>
          <p:cNvSpPr txBox="1"/>
          <p:nvPr/>
        </p:nvSpPr>
        <p:spPr>
          <a:xfrm>
            <a:off x="6729412" y="4612976"/>
            <a:ext cx="2424824" cy="253916"/>
          </a:xfrm>
          <a:prstGeom prst="rect">
            <a:avLst/>
          </a:prstGeom>
          <a:noFill/>
        </p:spPr>
        <p:txBody>
          <a:bodyPr wrap="square" rtlCol="0">
            <a:spAutoFit/>
          </a:bodyPr>
          <a:lstStyle/>
          <a:p>
            <a:pPr algn="r"/>
            <a:r>
              <a:rPr lang="en-US" sz="1050" dirty="0"/>
              <a:t>[</a:t>
            </a:r>
            <a:r>
              <a:rPr lang="en-US" sz="1050" dirty="0" err="1"/>
              <a:t>Bône</a:t>
            </a:r>
            <a:r>
              <a:rPr lang="en-US" sz="1050" dirty="0"/>
              <a:t> et al. MFCA’17, CVPR’18]</a:t>
            </a:r>
          </a:p>
        </p:txBody>
      </p:sp>
      <p:sp>
        <p:nvSpPr>
          <p:cNvPr id="2" name="Espace réservé du numéro de diapositive 1">
            <a:extLst>
              <a:ext uri="{FF2B5EF4-FFF2-40B4-BE49-F238E27FC236}">
                <a16:creationId xmlns:a16="http://schemas.microsoft.com/office/drawing/2014/main" id="{1FA5BA11-F330-F1C6-6B8F-9B2714A0DDDB}"/>
              </a:ext>
            </a:extLst>
          </p:cNvPr>
          <p:cNvSpPr>
            <a:spLocks noGrp="1"/>
          </p:cNvSpPr>
          <p:nvPr>
            <p:ph type="sldNum" sz="quarter" idx="12"/>
          </p:nvPr>
        </p:nvSpPr>
        <p:spPr/>
        <p:txBody>
          <a:bodyPr/>
          <a:lstStyle/>
          <a:p>
            <a:fld id="{B6E69D5D-3C54-E347-B3D4-70BDFA7C6521}" type="slidenum">
              <a:rPr lang="fr-FR" smtClean="0"/>
              <a:t>30</a:t>
            </a:fld>
            <a:endParaRPr lang="fr-FR"/>
          </a:p>
        </p:txBody>
      </p:sp>
    </p:spTree>
    <p:extLst>
      <p:ext uri="{BB962C8B-B14F-4D97-AF65-F5344CB8AC3E}">
        <p14:creationId xmlns:p14="http://schemas.microsoft.com/office/powerpoint/2010/main" val="333327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8001000" y="4232450"/>
            <a:ext cx="1042250" cy="577081"/>
          </a:xfrm>
          <a:prstGeom prst="rect">
            <a:avLst/>
          </a:prstGeom>
          <a:noFill/>
        </p:spPr>
        <p:txBody>
          <a:bodyPr wrap="square" rtlCol="0">
            <a:spAutoFit/>
          </a:bodyPr>
          <a:lstStyle/>
          <a:p>
            <a:pPr algn="r"/>
            <a:r>
              <a:rPr lang="en-US" sz="1050" dirty="0"/>
              <a:t>[</a:t>
            </a:r>
            <a:r>
              <a:rPr lang="en-US" sz="1050" dirty="0" err="1"/>
              <a:t>Bône</a:t>
            </a:r>
            <a:r>
              <a:rPr lang="en-US" sz="1050" dirty="0"/>
              <a:t> et al. MFCA’17, CVPR’18]</a:t>
            </a:r>
          </a:p>
        </p:txBody>
      </p:sp>
      <p:pic>
        <p:nvPicPr>
          <p:cNvPr id="7" name="Image 4">
            <a:extLst>
              <a:ext uri="{FF2B5EF4-FFF2-40B4-BE49-F238E27FC236}">
                <a16:creationId xmlns:a16="http://schemas.microsoft.com/office/drawing/2014/main" id="{6BF849C8-9239-EC4A-B7E8-45E72F65108E}"/>
              </a:ext>
            </a:extLst>
          </p:cNvPr>
          <p:cNvPicPr>
            <a:picLocks noChangeAspect="1"/>
          </p:cNvPicPr>
          <p:nvPr/>
        </p:nvPicPr>
        <p:blipFill>
          <a:blip r:embed="rId2" cstate="screen">
            <a:alphaModFix/>
            <a:extLst>
              <a:ext uri="{28A0092B-C50C-407E-A947-70E740481C1C}">
                <a14:useLocalDpi xmlns:a14="http://schemas.microsoft.com/office/drawing/2010/main"/>
              </a:ext>
            </a:extLst>
          </a:blip>
          <a:stretch>
            <a:fillRect/>
          </a:stretch>
        </p:blipFill>
        <p:spPr>
          <a:xfrm>
            <a:off x="1143000" y="2649751"/>
            <a:ext cx="6858000" cy="907390"/>
          </a:xfrm>
          <a:prstGeom prst="rect">
            <a:avLst/>
          </a:prstGeom>
        </p:spPr>
      </p:pic>
      <p:pic>
        <p:nvPicPr>
          <p:cNvPr id="8" name="Image 5">
            <a:extLst>
              <a:ext uri="{FF2B5EF4-FFF2-40B4-BE49-F238E27FC236}">
                <a16:creationId xmlns:a16="http://schemas.microsoft.com/office/drawing/2014/main" id="{27EF1BD8-63AB-724E-8041-D1E4B75D562E}"/>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a:off x="1143000" y="1506489"/>
            <a:ext cx="6858000" cy="915179"/>
          </a:xfrm>
          <a:prstGeom prst="rect">
            <a:avLst/>
          </a:prstGeom>
        </p:spPr>
      </p:pic>
      <p:pic>
        <p:nvPicPr>
          <p:cNvPr id="10" name="Image 6">
            <a:extLst>
              <a:ext uri="{FF2B5EF4-FFF2-40B4-BE49-F238E27FC236}">
                <a16:creationId xmlns:a16="http://schemas.microsoft.com/office/drawing/2014/main" id="{31F196E9-2564-3744-AE4A-E434C528F151}"/>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a:off x="1143000" y="381762"/>
            <a:ext cx="6858000" cy="919073"/>
          </a:xfrm>
          <a:prstGeom prst="rect">
            <a:avLst/>
          </a:prstGeom>
        </p:spPr>
      </p:pic>
      <p:pic>
        <p:nvPicPr>
          <p:cNvPr id="11" name="Image 7">
            <a:extLst>
              <a:ext uri="{FF2B5EF4-FFF2-40B4-BE49-F238E27FC236}">
                <a16:creationId xmlns:a16="http://schemas.microsoft.com/office/drawing/2014/main" id="{62A2FBAE-BA73-B744-941B-84E79BC9C2F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43000" y="3772783"/>
            <a:ext cx="6858000" cy="922968"/>
          </a:xfrm>
          <a:prstGeom prst="rect">
            <a:avLst/>
          </a:prstGeom>
          <a:effectLst>
            <a:glow rad="317500">
              <a:srgbClr val="7030A0">
                <a:alpha val="77000"/>
              </a:srgbClr>
            </a:glow>
          </a:effectLst>
        </p:spPr>
      </p:pic>
      <p:sp>
        <p:nvSpPr>
          <p:cNvPr id="2" name="Espace réservé du numéro de diapositive 1">
            <a:extLst>
              <a:ext uri="{FF2B5EF4-FFF2-40B4-BE49-F238E27FC236}">
                <a16:creationId xmlns:a16="http://schemas.microsoft.com/office/drawing/2014/main" id="{DF7BC5EB-599C-7C72-3622-8FBF531EDAA6}"/>
              </a:ext>
            </a:extLst>
          </p:cNvPr>
          <p:cNvSpPr>
            <a:spLocks noGrp="1"/>
          </p:cNvSpPr>
          <p:nvPr>
            <p:ph type="sldNum" sz="quarter" idx="12"/>
          </p:nvPr>
        </p:nvSpPr>
        <p:spPr/>
        <p:txBody>
          <a:bodyPr/>
          <a:lstStyle/>
          <a:p>
            <a:fld id="{B6E69D5D-3C54-E347-B3D4-70BDFA7C6521}" type="slidenum">
              <a:rPr lang="fr-FR" smtClean="0"/>
              <a:t>31</a:t>
            </a:fld>
            <a:endParaRPr lang="fr-FR"/>
          </a:p>
        </p:txBody>
      </p:sp>
    </p:spTree>
    <p:extLst>
      <p:ext uri="{BB962C8B-B14F-4D97-AF65-F5344CB8AC3E}">
        <p14:creationId xmlns:p14="http://schemas.microsoft.com/office/powerpoint/2010/main" val="337124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p:cNvSpPr txBox="1"/>
          <p:nvPr/>
        </p:nvSpPr>
        <p:spPr>
          <a:xfrm>
            <a:off x="1906625" y="1564750"/>
            <a:ext cx="6364539" cy="1325106"/>
          </a:xfrm>
          <a:prstGeom prst="rect">
            <a:avLst/>
          </a:prstGeom>
          <a:noFill/>
        </p:spPr>
        <p:txBody>
          <a:bodyPr wrap="square" rtlCol="0">
            <a:spAutoFit/>
          </a:bodyPr>
          <a:lstStyle/>
          <a:p>
            <a:pPr algn="r">
              <a:lnSpc>
                <a:spcPct val="70000"/>
              </a:lnSpc>
            </a:pPr>
            <a:r>
              <a:rPr lang="fr-FR" sz="2400" b="1" dirty="0">
                <a:latin typeface="Arial"/>
                <a:cs typeface="Arial"/>
              </a:rPr>
              <a:t>Part I: </a:t>
            </a:r>
            <a:r>
              <a:rPr lang="fr-FR" sz="2400" b="1" dirty="0" err="1">
                <a:latin typeface="Arial"/>
                <a:cs typeface="Arial"/>
              </a:rPr>
              <a:t>Disease</a:t>
            </a:r>
            <a:r>
              <a:rPr lang="fr-FR" sz="2400" b="1" dirty="0">
                <a:latin typeface="Arial"/>
                <a:cs typeface="Arial"/>
              </a:rPr>
              <a:t> course mapping</a:t>
            </a: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Non-</a:t>
            </a:r>
            <a:r>
              <a:rPr lang="fr-FR" sz="2100" i="1" dirty="0" err="1">
                <a:latin typeface="Arial"/>
                <a:cs typeface="Arial"/>
              </a:rPr>
              <a:t>linear</a:t>
            </a:r>
            <a:r>
              <a:rPr lang="fr-FR" sz="2100" i="1" dirty="0">
                <a:latin typeface="Arial"/>
                <a:cs typeface="Arial"/>
              </a:rPr>
              <a:t> mixed-</a:t>
            </a:r>
            <a:r>
              <a:rPr lang="fr-FR" sz="2100" i="1" dirty="0" err="1">
                <a:latin typeface="Arial"/>
                <a:cs typeface="Arial"/>
              </a:rPr>
              <a:t>effect</a:t>
            </a:r>
            <a:r>
              <a:rPr lang="fr-FR" sz="2100" i="1" dirty="0">
                <a:latin typeface="Arial"/>
                <a:cs typeface="Arial"/>
              </a:rPr>
              <a:t> model for longitudinal data</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 5. Learning the </a:t>
            </a:r>
            <a:r>
              <a:rPr lang="fr-FR" sz="2100" i="1" dirty="0" err="1">
                <a:latin typeface="Arial"/>
                <a:cs typeface="Arial"/>
              </a:rPr>
              <a:t>metric</a:t>
            </a:r>
            <a:endParaRPr lang="fr-FR" sz="2100" dirty="0">
              <a:latin typeface="Arial"/>
              <a:cs typeface="Arial"/>
            </a:endParaRPr>
          </a:p>
        </p:txBody>
      </p:sp>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B80543CC-D8B4-5A28-919F-07A9FD12E11C}"/>
              </a:ext>
            </a:extLst>
          </p:cNvPr>
          <p:cNvSpPr>
            <a:spLocks noGrp="1"/>
          </p:cNvSpPr>
          <p:nvPr>
            <p:ph type="sldNum" sz="quarter" idx="12"/>
          </p:nvPr>
        </p:nvSpPr>
        <p:spPr/>
        <p:txBody>
          <a:bodyPr/>
          <a:lstStyle/>
          <a:p>
            <a:fld id="{B6E69D5D-3C54-E347-B3D4-70BDFA7C6521}" type="slidenum">
              <a:rPr lang="fr-FR" smtClean="0"/>
              <a:t>32</a:t>
            </a:fld>
            <a:endParaRPr lang="fr-FR"/>
          </a:p>
        </p:txBody>
      </p:sp>
    </p:spTree>
    <p:extLst>
      <p:ext uri="{BB962C8B-B14F-4D97-AF65-F5344CB8AC3E}">
        <p14:creationId xmlns:p14="http://schemas.microsoft.com/office/powerpoint/2010/main" val="1330273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EE743968-A763-4D35-843F-2C59446FAB7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31184"/>
          <a:stretch/>
        </p:blipFill>
        <p:spPr>
          <a:xfrm>
            <a:off x="1717762" y="1012994"/>
            <a:ext cx="6060137" cy="2888940"/>
          </a:xfrm>
        </p:spPr>
      </p:pic>
      <p:sp>
        <p:nvSpPr>
          <p:cNvPr id="6" name="Titre 1">
            <a:extLst>
              <a:ext uri="{FF2B5EF4-FFF2-40B4-BE49-F238E27FC236}">
                <a16:creationId xmlns:a16="http://schemas.microsoft.com/office/drawing/2014/main" id="{9059554D-9299-4D63-A737-931662E4357F}"/>
              </a:ext>
            </a:extLst>
          </p:cNvPr>
          <p:cNvSpPr txBox="1">
            <a:spLocks/>
          </p:cNvSpPr>
          <p:nvPr/>
        </p:nvSpPr>
        <p:spPr>
          <a:xfrm>
            <a:off x="628650" y="125701"/>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100" u="sng" dirty="0" err="1">
                <a:latin typeface="+mn-lt"/>
              </a:rPr>
              <a:t>Geodesic</a:t>
            </a:r>
            <a:r>
              <a:rPr lang="fr-FR" sz="2100" u="sng" dirty="0">
                <a:latin typeface="+mn-lt"/>
              </a:rPr>
              <a:t> </a:t>
            </a:r>
            <a:r>
              <a:rPr lang="fr-FR" sz="2100" u="sng" dirty="0" err="1">
                <a:latin typeface="+mn-lt"/>
              </a:rPr>
              <a:t>bending</a:t>
            </a:r>
            <a:r>
              <a:rPr lang="fr-FR" sz="2100" u="sng" dirty="0">
                <a:latin typeface="+mn-lt"/>
              </a:rPr>
              <a:t> vs. </a:t>
            </a:r>
            <a:r>
              <a:rPr lang="fr-FR" sz="2100" u="sng" dirty="0" err="1">
                <a:latin typeface="+mn-lt"/>
              </a:rPr>
              <a:t>Disease</a:t>
            </a:r>
            <a:r>
              <a:rPr lang="fr-FR" sz="2100" u="sng" dirty="0">
                <a:latin typeface="+mn-lt"/>
              </a:rPr>
              <a:t> Course </a:t>
            </a:r>
            <a:r>
              <a:rPr lang="fr-FR" sz="2100" u="sng" dirty="0" err="1">
                <a:latin typeface="+mn-lt"/>
              </a:rPr>
              <a:t>Map</a:t>
            </a:r>
            <a:endParaRPr lang="fr-FR" sz="2100" u="sng" dirty="0">
              <a:latin typeface="+mn-lt"/>
            </a:endParaRP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1A68FEFA-82A2-4CC5-AA8D-3FEECEBCAC8E}"/>
                  </a:ext>
                </a:extLst>
              </p:cNvPr>
              <p:cNvSpPr txBox="1"/>
              <p:nvPr/>
            </p:nvSpPr>
            <p:spPr>
              <a:xfrm>
                <a:off x="661800" y="4102325"/>
                <a:ext cx="8310208" cy="732252"/>
              </a:xfrm>
              <a:prstGeom prst="rect">
                <a:avLst/>
              </a:prstGeom>
              <a:noFill/>
            </p:spPr>
            <p:txBody>
              <a:bodyPr wrap="square" rtlCol="0">
                <a:spAutoFit/>
              </a:bodyPr>
              <a:lstStyle/>
              <a:p>
                <a:r>
                  <a:rPr lang="en-US" sz="1350" dirty="0"/>
                  <a:t>(a, b) The estimated bundle of trajectories is shown for the hippocampus volume and Mini Mental State Examination (MMSE) scores, showing the distribution of the spatial variability around the average geodesics in red by changing the space-shifts </a:t>
                </a:r>
                <a14:m>
                  <m:oMath xmlns:m="http://schemas.openxmlformats.org/officeDocument/2006/math">
                    <m:sSub>
                      <m:sSubPr>
                        <m:ctrlPr>
                          <a:rPr lang="en-US" sz="1350" i="1">
                            <a:latin typeface="Cambria Math" panose="02040503050406030204" pitchFamily="18" charset="0"/>
                          </a:rPr>
                        </m:ctrlPr>
                      </m:sSubPr>
                      <m:e>
                        <m:r>
                          <a:rPr lang="fr-FR" sz="1350" i="1">
                            <a:latin typeface="Cambria Math" panose="02040503050406030204" pitchFamily="18" charset="0"/>
                          </a:rPr>
                          <m:t>𝑤</m:t>
                        </m:r>
                      </m:e>
                      <m:sub>
                        <m:r>
                          <a:rPr lang="fr-FR" sz="1350" i="1">
                            <a:latin typeface="Cambria Math" panose="02040503050406030204" pitchFamily="18" charset="0"/>
                          </a:rPr>
                          <m:t>𝑖</m:t>
                        </m:r>
                      </m:sub>
                    </m:sSub>
                  </m:oMath>
                </a14:m>
                <a:r>
                  <a:rPr lang="en-US" sz="1350" dirty="0"/>
                  <a:t> on a principal direction. 60 and 87 years are the 0.05 and 0.95  quantiles for the ages </a:t>
                </a:r>
                <a14:m>
                  <m:oMath xmlns:m="http://schemas.openxmlformats.org/officeDocument/2006/math">
                    <m:r>
                      <a:rPr lang="fr-FR" sz="1350">
                        <a:latin typeface="Cambria Math" panose="02040503050406030204" pitchFamily="18" charset="0"/>
                      </a:rPr>
                      <m:t>(</m:t>
                    </m:r>
                    <m:sSub>
                      <m:sSubPr>
                        <m:ctrlPr>
                          <a:rPr lang="en-US" sz="1350" i="1">
                            <a:latin typeface="Cambria Math" panose="02040503050406030204" pitchFamily="18" charset="0"/>
                          </a:rPr>
                        </m:ctrlPr>
                      </m:sSubPr>
                      <m:e>
                        <m:r>
                          <a:rPr lang="en-US" sz="1350" b="1" i="1">
                            <a:latin typeface="Cambria Math" panose="02040503050406030204" pitchFamily="18" charset="0"/>
                          </a:rPr>
                          <m:t>𝒕</m:t>
                        </m:r>
                      </m:e>
                      <m:sub>
                        <m:r>
                          <a:rPr lang="en-US" sz="1350" i="1">
                            <a:latin typeface="Cambria Math" panose="02040503050406030204" pitchFamily="18" charset="0"/>
                          </a:rPr>
                          <m:t>𝑖𝑗</m:t>
                        </m:r>
                      </m:sub>
                    </m:sSub>
                  </m:oMath>
                </a14:m>
                <a:r>
                  <a:rPr lang="fr-FR" sz="1350" dirty="0"/>
                  <a:t>).</a:t>
                </a:r>
                <a:endParaRPr lang="en-US" sz="1350" dirty="0"/>
              </a:p>
            </p:txBody>
          </p:sp>
        </mc:Choice>
        <mc:Fallback xmlns="">
          <p:sp>
            <p:nvSpPr>
              <p:cNvPr id="7" name="ZoneTexte 6">
                <a:extLst>
                  <a:ext uri="{FF2B5EF4-FFF2-40B4-BE49-F238E27FC236}">
                    <a16:creationId xmlns:a16="http://schemas.microsoft.com/office/drawing/2014/main" id="{1A68FEFA-82A2-4CC5-AA8D-3FEECEBCAC8E}"/>
                  </a:ext>
                </a:extLst>
              </p:cNvPr>
              <p:cNvSpPr txBox="1">
                <a:spLocks noRot="1" noChangeAspect="1" noMove="1" noResize="1" noEditPoints="1" noAdjustHandles="1" noChangeArrowheads="1" noChangeShapeType="1" noTextEdit="1"/>
              </p:cNvSpPr>
              <p:nvPr/>
            </p:nvSpPr>
            <p:spPr>
              <a:xfrm>
                <a:off x="661800" y="4102325"/>
                <a:ext cx="8310208" cy="732252"/>
              </a:xfrm>
              <a:prstGeom prst="rect">
                <a:avLst/>
              </a:prstGeom>
              <a:blipFill>
                <a:blip r:embed="rId3"/>
                <a:stretch>
                  <a:fillRect l="-305" t="-1724" r="-305" b="-5172"/>
                </a:stretch>
              </a:blipFill>
            </p:spPr>
            <p:txBody>
              <a:bodyPr/>
              <a:lstStyle/>
              <a:p>
                <a:r>
                  <a:rPr lang="en-FR">
                    <a:noFill/>
                  </a:rPr>
                  <a:t> </a:t>
                </a:r>
              </a:p>
            </p:txBody>
          </p:sp>
        </mc:Fallback>
      </mc:AlternateContent>
      <p:sp>
        <p:nvSpPr>
          <p:cNvPr id="2" name="Rectangle 1">
            <a:extLst>
              <a:ext uri="{FF2B5EF4-FFF2-40B4-BE49-F238E27FC236}">
                <a16:creationId xmlns:a16="http://schemas.microsoft.com/office/drawing/2014/main" id="{DCF5B878-3422-664B-AE30-A77443CE258E}"/>
              </a:ext>
            </a:extLst>
          </p:cNvPr>
          <p:cNvSpPr/>
          <p:nvPr/>
        </p:nvSpPr>
        <p:spPr>
          <a:xfrm>
            <a:off x="1629888" y="2208811"/>
            <a:ext cx="222663" cy="48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Rectangle 7">
            <a:extLst>
              <a:ext uri="{FF2B5EF4-FFF2-40B4-BE49-F238E27FC236}">
                <a16:creationId xmlns:a16="http://schemas.microsoft.com/office/drawing/2014/main" id="{0C465552-AAA5-DB43-B793-17EB3F45E4DF}"/>
              </a:ext>
            </a:extLst>
          </p:cNvPr>
          <p:cNvSpPr/>
          <p:nvPr/>
        </p:nvSpPr>
        <p:spPr>
          <a:xfrm>
            <a:off x="4703893" y="2268202"/>
            <a:ext cx="222663" cy="48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 name="Rectangle 8">
            <a:extLst>
              <a:ext uri="{FF2B5EF4-FFF2-40B4-BE49-F238E27FC236}">
                <a16:creationId xmlns:a16="http://schemas.microsoft.com/office/drawing/2014/main" id="{474B23BC-BCE0-2043-9D05-0E4DD2EA3C72}"/>
              </a:ext>
            </a:extLst>
          </p:cNvPr>
          <p:cNvSpPr/>
          <p:nvPr/>
        </p:nvSpPr>
        <p:spPr>
          <a:xfrm>
            <a:off x="3134865" y="3758540"/>
            <a:ext cx="694927" cy="1433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Rectangle 9">
            <a:extLst>
              <a:ext uri="{FF2B5EF4-FFF2-40B4-BE49-F238E27FC236}">
                <a16:creationId xmlns:a16="http://schemas.microsoft.com/office/drawing/2014/main" id="{1CB7F0B4-0B02-8546-B81E-2661372884CE}"/>
              </a:ext>
            </a:extLst>
          </p:cNvPr>
          <p:cNvSpPr/>
          <p:nvPr/>
        </p:nvSpPr>
        <p:spPr>
          <a:xfrm>
            <a:off x="6099243" y="3758540"/>
            <a:ext cx="694927" cy="1433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 name="ZoneTexte 2">
            <a:extLst>
              <a:ext uri="{FF2B5EF4-FFF2-40B4-BE49-F238E27FC236}">
                <a16:creationId xmlns:a16="http://schemas.microsoft.com/office/drawing/2014/main" id="{7023ED80-43B4-784F-8040-A202698363DB}"/>
              </a:ext>
            </a:extLst>
          </p:cNvPr>
          <p:cNvSpPr txBox="1">
            <a:spLocks noChangeAspect="1"/>
          </p:cNvSpPr>
          <p:nvPr/>
        </p:nvSpPr>
        <p:spPr>
          <a:xfrm rot="16200000">
            <a:off x="773628" y="2307423"/>
            <a:ext cx="1712520" cy="300082"/>
          </a:xfrm>
          <a:prstGeom prst="rect">
            <a:avLst/>
          </a:prstGeom>
          <a:noFill/>
        </p:spPr>
        <p:txBody>
          <a:bodyPr wrap="square" rtlCol="0">
            <a:spAutoFit/>
          </a:bodyPr>
          <a:lstStyle/>
          <a:p>
            <a:r>
              <a:rPr lang="fr-FR" sz="1350" dirty="0" err="1"/>
              <a:t>Hippocampus</a:t>
            </a:r>
            <a:r>
              <a:rPr lang="fr-FR" sz="1350" dirty="0"/>
              <a:t> volume</a:t>
            </a:r>
          </a:p>
        </p:txBody>
      </p:sp>
      <p:sp>
        <p:nvSpPr>
          <p:cNvPr id="11" name="ZoneTexte 10">
            <a:extLst>
              <a:ext uri="{FF2B5EF4-FFF2-40B4-BE49-F238E27FC236}">
                <a16:creationId xmlns:a16="http://schemas.microsoft.com/office/drawing/2014/main" id="{240103A8-AEDA-BF43-A951-319E70888EAD}"/>
              </a:ext>
            </a:extLst>
          </p:cNvPr>
          <p:cNvSpPr txBox="1">
            <a:spLocks noChangeAspect="1"/>
          </p:cNvSpPr>
          <p:nvPr/>
        </p:nvSpPr>
        <p:spPr>
          <a:xfrm rot="16200000">
            <a:off x="3958964" y="2276067"/>
            <a:ext cx="1712520" cy="300082"/>
          </a:xfrm>
          <a:prstGeom prst="rect">
            <a:avLst/>
          </a:prstGeom>
          <a:noFill/>
        </p:spPr>
        <p:txBody>
          <a:bodyPr wrap="square" rtlCol="0">
            <a:spAutoFit/>
          </a:bodyPr>
          <a:lstStyle/>
          <a:p>
            <a:r>
              <a:rPr lang="fr-FR" sz="1350" dirty="0" err="1"/>
              <a:t>Hippocampus</a:t>
            </a:r>
            <a:r>
              <a:rPr lang="fr-FR" sz="1350" dirty="0"/>
              <a:t> volume</a:t>
            </a:r>
          </a:p>
        </p:txBody>
      </p:sp>
      <p:sp>
        <p:nvSpPr>
          <p:cNvPr id="4" name="ZoneTexte 3">
            <a:extLst>
              <a:ext uri="{FF2B5EF4-FFF2-40B4-BE49-F238E27FC236}">
                <a16:creationId xmlns:a16="http://schemas.microsoft.com/office/drawing/2014/main" id="{66C2684D-FC69-4F4F-9817-4D67CDAE30D5}"/>
              </a:ext>
            </a:extLst>
          </p:cNvPr>
          <p:cNvSpPr txBox="1">
            <a:spLocks noChangeAspect="1"/>
          </p:cNvSpPr>
          <p:nvPr/>
        </p:nvSpPr>
        <p:spPr>
          <a:xfrm>
            <a:off x="5293409" y="3722907"/>
            <a:ext cx="2353914" cy="300082"/>
          </a:xfrm>
          <a:prstGeom prst="rect">
            <a:avLst/>
          </a:prstGeom>
          <a:noFill/>
        </p:spPr>
        <p:txBody>
          <a:bodyPr wrap="square" rtlCol="0">
            <a:spAutoFit/>
          </a:bodyPr>
          <a:lstStyle/>
          <a:p>
            <a:r>
              <a:rPr lang="fr-FR" sz="1350" dirty="0"/>
              <a:t>Mini Mental State </a:t>
            </a:r>
            <a:r>
              <a:rPr lang="fr-FR" sz="1350" dirty="0" err="1"/>
              <a:t>Examination</a:t>
            </a:r>
            <a:endParaRPr lang="fr-FR" sz="1350" dirty="0"/>
          </a:p>
        </p:txBody>
      </p:sp>
      <p:sp>
        <p:nvSpPr>
          <p:cNvPr id="12" name="ZoneTexte 11">
            <a:extLst>
              <a:ext uri="{FF2B5EF4-FFF2-40B4-BE49-F238E27FC236}">
                <a16:creationId xmlns:a16="http://schemas.microsoft.com/office/drawing/2014/main" id="{E7C7D97D-CD11-6D44-82AD-1145D5A332AA}"/>
              </a:ext>
            </a:extLst>
          </p:cNvPr>
          <p:cNvSpPr txBox="1">
            <a:spLocks noChangeAspect="1"/>
          </p:cNvSpPr>
          <p:nvPr/>
        </p:nvSpPr>
        <p:spPr>
          <a:xfrm>
            <a:off x="2265407" y="3723566"/>
            <a:ext cx="2353914" cy="300082"/>
          </a:xfrm>
          <a:prstGeom prst="rect">
            <a:avLst/>
          </a:prstGeom>
          <a:noFill/>
        </p:spPr>
        <p:txBody>
          <a:bodyPr wrap="square" rtlCol="0">
            <a:spAutoFit/>
          </a:bodyPr>
          <a:lstStyle/>
          <a:p>
            <a:r>
              <a:rPr lang="fr-FR" sz="1350" dirty="0"/>
              <a:t>Mini Mental State </a:t>
            </a:r>
            <a:r>
              <a:rPr lang="fr-FR" sz="1350" dirty="0" err="1"/>
              <a:t>Examination</a:t>
            </a:r>
            <a:endParaRPr lang="fr-FR" sz="1350" dirty="0"/>
          </a:p>
        </p:txBody>
      </p:sp>
      <p:sp>
        <p:nvSpPr>
          <p:cNvPr id="13" name="Espace réservé du numéro de diapositive 12">
            <a:extLst>
              <a:ext uri="{FF2B5EF4-FFF2-40B4-BE49-F238E27FC236}">
                <a16:creationId xmlns:a16="http://schemas.microsoft.com/office/drawing/2014/main" id="{21E2D599-B2F6-6547-BAE2-BF66BC768659}"/>
              </a:ext>
            </a:extLst>
          </p:cNvPr>
          <p:cNvSpPr>
            <a:spLocks noGrp="1"/>
          </p:cNvSpPr>
          <p:nvPr>
            <p:ph type="sldNum" sz="quarter" idx="12"/>
          </p:nvPr>
        </p:nvSpPr>
        <p:spPr/>
        <p:txBody>
          <a:bodyPr/>
          <a:lstStyle/>
          <a:p>
            <a:fld id="{4267560A-18FD-40F4-AA7B-EF7FBF7D6991}" type="slidenum">
              <a:rPr lang="fr-FR" smtClean="0"/>
              <a:t>33</a:t>
            </a:fld>
            <a:endParaRPr lang="fr-FR"/>
          </a:p>
        </p:txBody>
      </p:sp>
      <p:sp>
        <p:nvSpPr>
          <p:cNvPr id="14" name="TextBox 13">
            <a:extLst>
              <a:ext uri="{FF2B5EF4-FFF2-40B4-BE49-F238E27FC236}">
                <a16:creationId xmlns:a16="http://schemas.microsoft.com/office/drawing/2014/main" id="{036FC050-2E6C-6443-8821-7DDB1BE1E964}"/>
              </a:ext>
            </a:extLst>
          </p:cNvPr>
          <p:cNvSpPr txBox="1"/>
          <p:nvPr/>
        </p:nvSpPr>
        <p:spPr>
          <a:xfrm>
            <a:off x="6893416" y="4863311"/>
            <a:ext cx="2271453" cy="307777"/>
          </a:xfrm>
          <a:prstGeom prst="rect">
            <a:avLst/>
          </a:prstGeom>
          <a:noFill/>
        </p:spPr>
        <p:txBody>
          <a:bodyPr wrap="square" rtlCol="0">
            <a:spAutoFit/>
          </a:bodyPr>
          <a:lstStyle/>
          <a:p>
            <a:r>
              <a:rPr lang="en-FR" sz="1400" dirty="0"/>
              <a:t>Gruffaz et al. NeurIPS 2021</a:t>
            </a:r>
          </a:p>
        </p:txBody>
      </p:sp>
    </p:spTree>
    <p:extLst>
      <p:ext uri="{BB962C8B-B14F-4D97-AF65-F5344CB8AC3E}">
        <p14:creationId xmlns:p14="http://schemas.microsoft.com/office/powerpoint/2010/main" val="1101417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58B4225-976D-ACD4-E3DA-827C612ADC5F}"/>
              </a:ext>
            </a:extLst>
          </p:cNvPr>
          <p:cNvSpPr>
            <a:spLocks noGrp="1"/>
          </p:cNvSpPr>
          <p:nvPr>
            <p:ph type="sldNum" sz="quarter" idx="12"/>
          </p:nvPr>
        </p:nvSpPr>
        <p:spPr/>
        <p:txBody>
          <a:bodyPr/>
          <a:lstStyle/>
          <a:p>
            <a:fld id="{B6E69D5D-3C54-E347-B3D4-70BDFA7C6521}" type="slidenum">
              <a:rPr lang="fr-FR" smtClean="0"/>
              <a:t>34</a:t>
            </a:fld>
            <a:endParaRPr lang="fr-FR"/>
          </a:p>
        </p:txBody>
      </p:sp>
      <p:sp>
        <p:nvSpPr>
          <p:cNvPr id="4" name="ZoneTexte 3">
            <a:extLst>
              <a:ext uri="{FF2B5EF4-FFF2-40B4-BE49-F238E27FC236}">
                <a16:creationId xmlns:a16="http://schemas.microsoft.com/office/drawing/2014/main" id="{03DA2872-41DD-E6E0-CA0A-F9C3D61AE3AA}"/>
              </a:ext>
            </a:extLst>
          </p:cNvPr>
          <p:cNvSpPr txBox="1"/>
          <p:nvPr/>
        </p:nvSpPr>
        <p:spPr>
          <a:xfrm>
            <a:off x="1316052" y="2135412"/>
            <a:ext cx="7297653" cy="872675"/>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p:txBody>
      </p:sp>
    </p:spTree>
    <p:extLst>
      <p:ext uri="{BB962C8B-B14F-4D97-AF65-F5344CB8AC3E}">
        <p14:creationId xmlns:p14="http://schemas.microsoft.com/office/powerpoint/2010/main" val="1085254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58B4225-976D-ACD4-E3DA-827C612ADC5F}"/>
              </a:ext>
            </a:extLst>
          </p:cNvPr>
          <p:cNvSpPr>
            <a:spLocks noGrp="1"/>
          </p:cNvSpPr>
          <p:nvPr>
            <p:ph type="sldNum" sz="quarter" idx="12"/>
          </p:nvPr>
        </p:nvSpPr>
        <p:spPr/>
        <p:txBody>
          <a:bodyPr/>
          <a:lstStyle/>
          <a:p>
            <a:fld id="{B6E69D5D-3C54-E347-B3D4-70BDFA7C6521}" type="slidenum">
              <a:rPr lang="fr-FR" smtClean="0"/>
              <a:t>35</a:t>
            </a:fld>
            <a:endParaRPr lang="fr-FR"/>
          </a:p>
        </p:txBody>
      </p:sp>
      <p:sp>
        <p:nvSpPr>
          <p:cNvPr id="6" name="ZoneTexte 5">
            <a:extLst>
              <a:ext uri="{FF2B5EF4-FFF2-40B4-BE49-F238E27FC236}">
                <a16:creationId xmlns:a16="http://schemas.microsoft.com/office/drawing/2014/main" id="{0F43EBBE-2FB4-9AD5-F0FB-1E1E90CBB9F1}"/>
              </a:ext>
            </a:extLst>
          </p:cNvPr>
          <p:cNvSpPr txBox="1"/>
          <p:nvPr/>
        </p:nvSpPr>
        <p:spPr>
          <a:xfrm>
            <a:off x="1290416" y="1836499"/>
            <a:ext cx="6999005" cy="2229265"/>
          </a:xfrm>
          <a:prstGeom prst="rect">
            <a:avLst/>
          </a:prstGeom>
          <a:noFill/>
        </p:spPr>
        <p:txBody>
          <a:bodyPr wrap="square" rtlCol="0">
            <a:spAutoFit/>
          </a:bodyPr>
          <a:lstStyle/>
          <a:p>
            <a:pPr marL="457200" indent="-457200">
              <a:lnSpc>
                <a:spcPct val="70000"/>
              </a:lnSpc>
              <a:buAutoNum type="arabicPeriod"/>
            </a:pPr>
            <a:r>
              <a:rPr lang="fr-FR" dirty="0">
                <a:latin typeface="Arial"/>
                <a:cs typeface="Arial"/>
              </a:rPr>
              <a:t>Model computation </a:t>
            </a:r>
            <a:r>
              <a:rPr lang="fr-FR" dirty="0" err="1">
                <a:latin typeface="Arial"/>
                <a:cs typeface="Arial"/>
              </a:rPr>
              <a:t>steps</a:t>
            </a:r>
            <a:endParaRPr lang="fr-FR" dirty="0">
              <a:latin typeface="Arial"/>
              <a:cs typeface="Arial"/>
            </a:endParaRPr>
          </a:p>
          <a:p>
            <a:pPr marL="457200" indent="-457200">
              <a:lnSpc>
                <a:spcPct val="70000"/>
              </a:lnSpc>
              <a:buAutoNum type="arabicPeriod"/>
            </a:pPr>
            <a:endParaRPr lang="fr-FR" dirty="0">
              <a:latin typeface="Arial"/>
              <a:cs typeface="Arial"/>
            </a:endParaRPr>
          </a:p>
          <a:p>
            <a:pPr marL="457200" indent="-457200">
              <a:lnSpc>
                <a:spcPct val="70000"/>
              </a:lnSpc>
              <a:buAutoNum type="arabicPeriod"/>
            </a:pPr>
            <a:r>
              <a:rPr lang="fr-FR" dirty="0">
                <a:latin typeface="Arial"/>
                <a:cs typeface="Arial"/>
              </a:rPr>
              <a:t>Data description</a:t>
            </a:r>
          </a:p>
          <a:p>
            <a:pPr marL="457200" indent="-457200">
              <a:lnSpc>
                <a:spcPct val="70000"/>
              </a:lnSpc>
              <a:buAutoNum type="arabicPeriod"/>
            </a:pPr>
            <a:endParaRPr lang="fr-FR" dirty="0">
              <a:latin typeface="Arial"/>
              <a:cs typeface="Arial"/>
            </a:endParaRPr>
          </a:p>
          <a:p>
            <a:pPr marL="457200" indent="-457200">
              <a:lnSpc>
                <a:spcPct val="70000"/>
              </a:lnSpc>
              <a:buAutoNum type="arabicPeriod"/>
            </a:pPr>
            <a:r>
              <a:rPr lang="fr-FR" dirty="0" err="1">
                <a:latin typeface="Arial"/>
                <a:cs typeface="Arial"/>
              </a:rPr>
              <a:t>Summarizes</a:t>
            </a:r>
            <a:r>
              <a:rPr lang="fr-FR" dirty="0">
                <a:latin typeface="Arial"/>
                <a:cs typeface="Arial"/>
              </a:rPr>
              <a:t> the range of </a:t>
            </a:r>
            <a:r>
              <a:rPr lang="fr-FR" dirty="0" err="1">
                <a:latin typeface="Arial"/>
                <a:cs typeface="Arial"/>
              </a:rPr>
              <a:t>likely</a:t>
            </a:r>
            <a:r>
              <a:rPr lang="fr-FR" dirty="0">
                <a:latin typeface="Arial"/>
                <a:cs typeface="Arial"/>
              </a:rPr>
              <a:t> </a:t>
            </a:r>
            <a:r>
              <a:rPr lang="fr-FR" dirty="0" err="1">
                <a:latin typeface="Arial"/>
                <a:cs typeface="Arial"/>
              </a:rPr>
              <a:t>disease</a:t>
            </a:r>
            <a:r>
              <a:rPr lang="fr-FR" dirty="0">
                <a:latin typeface="Arial"/>
                <a:cs typeface="Arial"/>
              </a:rPr>
              <a:t> </a:t>
            </a:r>
            <a:r>
              <a:rPr lang="fr-FR" dirty="0" err="1">
                <a:latin typeface="Arial"/>
                <a:cs typeface="Arial"/>
              </a:rPr>
              <a:t>trajectories</a:t>
            </a:r>
            <a:endParaRPr lang="fr-FR" dirty="0">
              <a:latin typeface="Arial"/>
              <a:cs typeface="Arial"/>
            </a:endParaRPr>
          </a:p>
          <a:p>
            <a:pPr marL="457200" indent="-457200">
              <a:lnSpc>
                <a:spcPct val="70000"/>
              </a:lnSpc>
              <a:buAutoNum type="arabicPeriod"/>
            </a:pPr>
            <a:endParaRPr lang="fr-FR" sz="1800" i="1" dirty="0">
              <a:latin typeface="Arial"/>
              <a:cs typeface="Arial"/>
            </a:endParaRPr>
          </a:p>
          <a:p>
            <a:pPr marL="457200" indent="-457200">
              <a:lnSpc>
                <a:spcPct val="70000"/>
              </a:lnSpc>
              <a:buAutoNum type="arabicPeriod"/>
            </a:pPr>
            <a:r>
              <a:rPr lang="fr-FR" sz="1800" dirty="0" err="1">
                <a:latin typeface="Arial"/>
                <a:cs typeface="Arial"/>
              </a:rPr>
              <a:t>Forecast</a:t>
            </a:r>
            <a:r>
              <a:rPr lang="fr-FR" sz="1800" dirty="0">
                <a:latin typeface="Arial"/>
                <a:cs typeface="Arial"/>
              </a:rPr>
              <a:t> </a:t>
            </a:r>
            <a:r>
              <a:rPr lang="fr-FR" sz="1800" dirty="0" err="1">
                <a:latin typeface="Arial"/>
                <a:cs typeface="Arial"/>
              </a:rPr>
              <a:t>disease</a:t>
            </a:r>
            <a:r>
              <a:rPr lang="fr-FR" sz="1800" dirty="0">
                <a:latin typeface="Arial"/>
                <a:cs typeface="Arial"/>
              </a:rPr>
              <a:t> progression up to 5 </a:t>
            </a:r>
            <a:r>
              <a:rPr lang="fr-FR" sz="1800" dirty="0" err="1">
                <a:latin typeface="Arial"/>
                <a:cs typeface="Arial"/>
              </a:rPr>
              <a:t>years</a:t>
            </a:r>
            <a:r>
              <a:rPr lang="fr-FR" sz="1800" dirty="0">
                <a:latin typeface="Arial"/>
                <a:cs typeface="Arial"/>
              </a:rPr>
              <a:t> in </a:t>
            </a:r>
            <a:r>
              <a:rPr lang="fr-FR" sz="1800" dirty="0" err="1">
                <a:latin typeface="Arial"/>
                <a:cs typeface="Arial"/>
              </a:rPr>
              <a:t>advance</a:t>
            </a:r>
            <a:endParaRPr lang="fr-FR" sz="2800" b="1" dirty="0">
              <a:solidFill>
                <a:schemeClr val="bg1"/>
              </a:solidFill>
              <a:latin typeface="Arial"/>
              <a:cs typeface="Arial"/>
            </a:endParaRPr>
          </a:p>
          <a:p>
            <a:pPr marL="457200" indent="-457200">
              <a:lnSpc>
                <a:spcPct val="70000"/>
              </a:lnSpc>
              <a:buAutoNum type="arabicPeriod"/>
            </a:pPr>
            <a:endParaRPr lang="fr-FR" sz="1800" i="1" dirty="0">
              <a:latin typeface="Arial"/>
              <a:cs typeface="Arial"/>
            </a:endParaRPr>
          </a:p>
          <a:p>
            <a:pPr marL="457200" indent="-457200">
              <a:lnSpc>
                <a:spcPct val="70000"/>
              </a:lnSpc>
              <a:buAutoNum type="arabicPeriod"/>
            </a:pPr>
            <a:r>
              <a:rPr lang="fr-FR" sz="1800" dirty="0" err="1">
                <a:latin typeface="Arial"/>
                <a:cs typeface="Arial"/>
              </a:rPr>
              <a:t>Generates</a:t>
            </a:r>
            <a:r>
              <a:rPr lang="fr-FR" sz="1800" dirty="0">
                <a:latin typeface="Arial"/>
                <a:cs typeface="Arial"/>
              </a:rPr>
              <a:t> </a:t>
            </a:r>
            <a:r>
              <a:rPr lang="fr-FR" sz="1800" dirty="0" err="1">
                <a:latin typeface="Arial"/>
                <a:cs typeface="Arial"/>
              </a:rPr>
              <a:t>virtual</a:t>
            </a:r>
            <a:r>
              <a:rPr lang="fr-FR" sz="1800" dirty="0">
                <a:latin typeface="Arial"/>
                <a:cs typeface="Arial"/>
              </a:rPr>
              <a:t> </a:t>
            </a:r>
            <a:r>
              <a:rPr lang="fr-FR" sz="1800" dirty="0" err="1">
                <a:latin typeface="Arial"/>
                <a:cs typeface="Arial"/>
              </a:rPr>
              <a:t>cohorts</a:t>
            </a:r>
            <a:r>
              <a:rPr lang="fr-FR" sz="1800" dirty="0">
                <a:latin typeface="Arial"/>
                <a:cs typeface="Arial"/>
              </a:rPr>
              <a:t> of patients</a:t>
            </a:r>
            <a:endParaRPr lang="fr-FR" dirty="0">
              <a:latin typeface="Arial"/>
              <a:cs typeface="Arial"/>
            </a:endParaRPr>
          </a:p>
          <a:p>
            <a:pPr marL="457200" indent="-457200">
              <a:lnSpc>
                <a:spcPct val="70000"/>
              </a:lnSpc>
              <a:buAutoNum type="arabicPeriod"/>
            </a:pPr>
            <a:endParaRPr lang="fr-FR" dirty="0">
              <a:latin typeface="Arial"/>
              <a:cs typeface="Arial"/>
            </a:endParaRPr>
          </a:p>
          <a:p>
            <a:pPr marL="457200" indent="-457200">
              <a:lnSpc>
                <a:spcPct val="70000"/>
              </a:lnSpc>
              <a:buAutoNum type="arabicPeriod"/>
            </a:pPr>
            <a:r>
              <a:rPr lang="fr-FR" sz="1800" dirty="0">
                <a:latin typeface="Arial"/>
                <a:cs typeface="Arial"/>
              </a:rPr>
              <a:t>Selects participants at entry of a trial</a:t>
            </a:r>
          </a:p>
        </p:txBody>
      </p:sp>
      <p:sp>
        <p:nvSpPr>
          <p:cNvPr id="7" name="ZoneTexte 6">
            <a:extLst>
              <a:ext uri="{FF2B5EF4-FFF2-40B4-BE49-F238E27FC236}">
                <a16:creationId xmlns:a16="http://schemas.microsoft.com/office/drawing/2014/main" id="{FE193EFA-D015-0842-7DA3-826A96C67BB7}"/>
              </a:ext>
            </a:extLst>
          </p:cNvPr>
          <p:cNvSpPr txBox="1"/>
          <p:nvPr/>
        </p:nvSpPr>
        <p:spPr>
          <a:xfrm>
            <a:off x="599829" y="456223"/>
            <a:ext cx="7689592" cy="872675"/>
          </a:xfrm>
          <a:prstGeom prst="rect">
            <a:avLst/>
          </a:prstGeom>
          <a:noFill/>
        </p:spPr>
        <p:txBody>
          <a:bodyPr wrap="square" rtlCol="0">
            <a:spAutoFit/>
          </a:bodyPr>
          <a:lstStyle/>
          <a:p>
            <a:pP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nSpc>
                <a:spcPct val="70000"/>
              </a:lnSpc>
            </a:pPr>
            <a:endParaRPr lang="fr-FR" sz="2700" b="1" dirty="0">
              <a:solidFill>
                <a:schemeClr val="bg1"/>
              </a:solidFill>
              <a:latin typeface="Arial"/>
              <a:cs typeface="Arial"/>
            </a:endParaRPr>
          </a:p>
          <a:p>
            <a:pP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p:txBody>
      </p:sp>
    </p:spTree>
    <p:extLst>
      <p:ext uri="{BB962C8B-B14F-4D97-AF65-F5344CB8AC3E}">
        <p14:creationId xmlns:p14="http://schemas.microsoft.com/office/powerpoint/2010/main" val="1562912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84CFCE1F-1C8D-F5FE-A725-F62C4941A4A2}"/>
              </a:ext>
            </a:extLst>
          </p:cNvPr>
          <p:cNvSpPr>
            <a:spLocks noGrp="1"/>
          </p:cNvSpPr>
          <p:nvPr>
            <p:ph type="sldNum" sz="quarter" idx="12"/>
          </p:nvPr>
        </p:nvSpPr>
        <p:spPr/>
        <p:txBody>
          <a:bodyPr/>
          <a:lstStyle/>
          <a:p>
            <a:fld id="{B6E69D5D-3C54-E347-B3D4-70BDFA7C6521}" type="slidenum">
              <a:rPr lang="fr-FR" smtClean="0"/>
              <a:t>36</a:t>
            </a:fld>
            <a:endParaRPr lang="fr-FR"/>
          </a:p>
        </p:txBody>
      </p:sp>
      <p:sp>
        <p:nvSpPr>
          <p:cNvPr id="3" name="ZoneTexte 2">
            <a:extLst>
              <a:ext uri="{FF2B5EF4-FFF2-40B4-BE49-F238E27FC236}">
                <a16:creationId xmlns:a16="http://schemas.microsoft.com/office/drawing/2014/main" id="{5BBA131E-BC3F-8FA3-685A-AA1AB90F30FD}"/>
              </a:ext>
            </a:extLst>
          </p:cNvPr>
          <p:cNvSpPr txBox="1"/>
          <p:nvPr/>
        </p:nvSpPr>
        <p:spPr>
          <a:xfrm>
            <a:off x="1136600" y="2135412"/>
            <a:ext cx="7203642" cy="1325106"/>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1. Model computation </a:t>
            </a:r>
            <a:r>
              <a:rPr lang="fr-FR" sz="2100" i="1" dirty="0" err="1">
                <a:latin typeface="Arial"/>
                <a:cs typeface="Arial"/>
              </a:rPr>
              <a:t>steps</a:t>
            </a:r>
            <a:endParaRPr lang="fr-FR" sz="2100" i="1" dirty="0">
              <a:latin typeface="Arial"/>
              <a:cs typeface="Arial"/>
            </a:endParaRPr>
          </a:p>
        </p:txBody>
      </p:sp>
    </p:spTree>
    <p:extLst>
      <p:ext uri="{BB962C8B-B14F-4D97-AF65-F5344CB8AC3E}">
        <p14:creationId xmlns:p14="http://schemas.microsoft.com/office/powerpoint/2010/main" val="41369149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E938F4-76ED-ED42-9BB6-BA95A24EEEE3}"/>
              </a:ext>
            </a:extLst>
          </p:cNvPr>
          <p:cNvPicPr>
            <a:picLocks noChangeAspect="1"/>
          </p:cNvPicPr>
          <p:nvPr/>
        </p:nvPicPr>
        <p:blipFill>
          <a:blip r:embed="rId2"/>
          <a:stretch>
            <a:fillRect/>
          </a:stretch>
        </p:blipFill>
        <p:spPr>
          <a:xfrm>
            <a:off x="2485077" y="420601"/>
            <a:ext cx="3880097" cy="436224"/>
          </a:xfrm>
          <a:prstGeom prst="rect">
            <a:avLst/>
          </a:prstGeom>
        </p:spPr>
      </p:pic>
      <p:sp>
        <p:nvSpPr>
          <p:cNvPr id="5" name="TextBox 4">
            <a:extLst>
              <a:ext uri="{FF2B5EF4-FFF2-40B4-BE49-F238E27FC236}">
                <a16:creationId xmlns:a16="http://schemas.microsoft.com/office/drawing/2014/main" id="{064A6174-9D5A-B041-899B-97A5519036CA}"/>
              </a:ext>
            </a:extLst>
          </p:cNvPr>
          <p:cNvSpPr txBox="1"/>
          <p:nvPr/>
        </p:nvSpPr>
        <p:spPr>
          <a:xfrm>
            <a:off x="533201" y="1453540"/>
            <a:ext cx="8321040" cy="3139321"/>
          </a:xfrm>
          <a:prstGeom prst="rect">
            <a:avLst/>
          </a:prstGeom>
          <a:noFill/>
        </p:spPr>
        <p:txBody>
          <a:bodyPr wrap="square" rtlCol="0">
            <a:spAutoFit/>
          </a:bodyPr>
          <a:lstStyle/>
          <a:p>
            <a:r>
              <a:rPr lang="en-FR" b="1" dirty="0"/>
              <a:t>Calibration</a:t>
            </a:r>
            <a:r>
              <a:rPr lang="en-FR" dirty="0"/>
              <a:t>: given a longitudinal data set {y</a:t>
            </a:r>
            <a:r>
              <a:rPr lang="en-FR" baseline="-25000" dirty="0"/>
              <a:t>ij</a:t>
            </a:r>
            <a:r>
              <a:rPr lang="en-FR" dirty="0"/>
              <a:t>,t</a:t>
            </a:r>
            <a:r>
              <a:rPr lang="en-FR" baseline="-25000" dirty="0"/>
              <a:t>ij</a:t>
            </a:r>
            <a:r>
              <a:rPr lang="en-FR" dirty="0"/>
              <a:t>}, find the parameters   maximizing</a:t>
            </a:r>
          </a:p>
          <a:p>
            <a:endParaRPr lang="en-FR" dirty="0"/>
          </a:p>
          <a:p>
            <a:endParaRPr lang="en-FR" dirty="0"/>
          </a:p>
          <a:p>
            <a:r>
              <a:rPr lang="en-FR" b="1" dirty="0"/>
              <a:t>Personalisation</a:t>
            </a:r>
            <a:r>
              <a:rPr lang="en-FR" dirty="0"/>
              <a:t>: for the optimal parameter value   , find z maximizing the conditional likelihood                            for a new subject data {y</a:t>
            </a:r>
            <a:r>
              <a:rPr lang="en-FR" baseline="-25000" dirty="0"/>
              <a:t>testj</a:t>
            </a:r>
            <a:r>
              <a:rPr lang="en-FR" dirty="0"/>
              <a:t> t</a:t>
            </a:r>
            <a:r>
              <a:rPr lang="en-FR" baseline="-25000" dirty="0"/>
              <a:t>j</a:t>
            </a:r>
            <a:r>
              <a:rPr lang="en-FR" dirty="0"/>
              <a:t>}</a:t>
            </a:r>
          </a:p>
          <a:p>
            <a:endParaRPr lang="en-FR" dirty="0"/>
          </a:p>
          <a:p>
            <a:r>
              <a:rPr lang="en-FR" b="1" dirty="0"/>
              <a:t>Prediction / forecast</a:t>
            </a:r>
            <a:r>
              <a:rPr lang="en-FR" dirty="0"/>
              <a:t>: personalize the model to the first visits of the test subject, and predict values at future time-points.</a:t>
            </a:r>
          </a:p>
          <a:p>
            <a:endParaRPr lang="en-FR" dirty="0"/>
          </a:p>
          <a:p>
            <a:r>
              <a:rPr lang="en-FR" b="1" dirty="0"/>
              <a:t>Simulation</a:t>
            </a:r>
            <a:r>
              <a:rPr lang="en-FR" dirty="0"/>
              <a:t>: for the optimal parameter, simulate random effects z and generate synthetic data at user-defined time-point t: </a:t>
            </a:r>
          </a:p>
        </p:txBody>
      </p:sp>
      <p:pic>
        <p:nvPicPr>
          <p:cNvPr id="6" name="Picture 5">
            <a:extLst>
              <a:ext uri="{FF2B5EF4-FFF2-40B4-BE49-F238E27FC236}">
                <a16:creationId xmlns:a16="http://schemas.microsoft.com/office/drawing/2014/main" id="{6D4CA487-5457-3F4C-8460-92C3DCC7C551}"/>
              </a:ext>
            </a:extLst>
          </p:cNvPr>
          <p:cNvPicPr>
            <a:picLocks noChangeAspect="1"/>
          </p:cNvPicPr>
          <p:nvPr/>
        </p:nvPicPr>
        <p:blipFill>
          <a:blip r:embed="rId3"/>
          <a:stretch>
            <a:fillRect/>
          </a:stretch>
        </p:blipFill>
        <p:spPr>
          <a:xfrm>
            <a:off x="6925541" y="1556575"/>
            <a:ext cx="114300" cy="177800"/>
          </a:xfrm>
          <a:prstGeom prst="rect">
            <a:avLst/>
          </a:prstGeom>
        </p:spPr>
      </p:pic>
      <p:pic>
        <p:nvPicPr>
          <p:cNvPr id="7" name="Picture 6">
            <a:extLst>
              <a:ext uri="{FF2B5EF4-FFF2-40B4-BE49-F238E27FC236}">
                <a16:creationId xmlns:a16="http://schemas.microsoft.com/office/drawing/2014/main" id="{87FA7DBC-FCC9-E141-BF9A-7F173F399696}"/>
              </a:ext>
            </a:extLst>
          </p:cNvPr>
          <p:cNvPicPr>
            <a:picLocks noChangeAspect="1"/>
          </p:cNvPicPr>
          <p:nvPr/>
        </p:nvPicPr>
        <p:blipFill>
          <a:blip r:embed="rId4"/>
          <a:stretch>
            <a:fillRect/>
          </a:stretch>
        </p:blipFill>
        <p:spPr>
          <a:xfrm>
            <a:off x="626506" y="1788556"/>
            <a:ext cx="1003300" cy="241300"/>
          </a:xfrm>
          <a:prstGeom prst="rect">
            <a:avLst/>
          </a:prstGeom>
        </p:spPr>
      </p:pic>
      <p:pic>
        <p:nvPicPr>
          <p:cNvPr id="8" name="Picture 7">
            <a:extLst>
              <a:ext uri="{FF2B5EF4-FFF2-40B4-BE49-F238E27FC236}">
                <a16:creationId xmlns:a16="http://schemas.microsoft.com/office/drawing/2014/main" id="{2FFC759C-73F5-6B4D-B6D6-E609B59ABD77}"/>
              </a:ext>
            </a:extLst>
          </p:cNvPr>
          <p:cNvPicPr>
            <a:picLocks noChangeAspect="1"/>
          </p:cNvPicPr>
          <p:nvPr/>
        </p:nvPicPr>
        <p:blipFill>
          <a:blip r:embed="rId5"/>
          <a:stretch>
            <a:fillRect/>
          </a:stretch>
        </p:blipFill>
        <p:spPr>
          <a:xfrm>
            <a:off x="5203619" y="2293422"/>
            <a:ext cx="114300" cy="228600"/>
          </a:xfrm>
          <a:prstGeom prst="rect">
            <a:avLst/>
          </a:prstGeom>
        </p:spPr>
      </p:pic>
      <p:pic>
        <p:nvPicPr>
          <p:cNvPr id="9" name="Picture 8">
            <a:extLst>
              <a:ext uri="{FF2B5EF4-FFF2-40B4-BE49-F238E27FC236}">
                <a16:creationId xmlns:a16="http://schemas.microsoft.com/office/drawing/2014/main" id="{0E760938-7F6A-8C4A-8396-D0525D1827ED}"/>
              </a:ext>
            </a:extLst>
          </p:cNvPr>
          <p:cNvPicPr>
            <a:picLocks noChangeAspect="1"/>
          </p:cNvPicPr>
          <p:nvPr/>
        </p:nvPicPr>
        <p:blipFill>
          <a:blip r:embed="rId6"/>
          <a:stretch>
            <a:fillRect/>
          </a:stretch>
        </p:blipFill>
        <p:spPr>
          <a:xfrm>
            <a:off x="1594181" y="2563784"/>
            <a:ext cx="1295400" cy="292100"/>
          </a:xfrm>
          <a:prstGeom prst="rect">
            <a:avLst/>
          </a:prstGeom>
        </p:spPr>
      </p:pic>
      <p:pic>
        <p:nvPicPr>
          <p:cNvPr id="10" name="Picture 9">
            <a:extLst>
              <a:ext uri="{FF2B5EF4-FFF2-40B4-BE49-F238E27FC236}">
                <a16:creationId xmlns:a16="http://schemas.microsoft.com/office/drawing/2014/main" id="{7A74B61D-E492-DB4D-8778-5D099943E21B}"/>
              </a:ext>
            </a:extLst>
          </p:cNvPr>
          <p:cNvPicPr>
            <a:picLocks noChangeAspect="1"/>
          </p:cNvPicPr>
          <p:nvPr/>
        </p:nvPicPr>
        <p:blipFill>
          <a:blip r:embed="rId7"/>
          <a:stretch>
            <a:fillRect/>
          </a:stretch>
        </p:blipFill>
        <p:spPr>
          <a:xfrm>
            <a:off x="4658096" y="4238816"/>
            <a:ext cx="800100" cy="279400"/>
          </a:xfrm>
          <a:prstGeom prst="rect">
            <a:avLst/>
          </a:prstGeom>
        </p:spPr>
      </p:pic>
      <p:sp>
        <p:nvSpPr>
          <p:cNvPr id="2" name="Espace réservé du numéro de diapositive 1">
            <a:extLst>
              <a:ext uri="{FF2B5EF4-FFF2-40B4-BE49-F238E27FC236}">
                <a16:creationId xmlns:a16="http://schemas.microsoft.com/office/drawing/2014/main" id="{4CFFE4B0-2548-7270-003F-593D5966C5AA}"/>
              </a:ext>
            </a:extLst>
          </p:cNvPr>
          <p:cNvSpPr>
            <a:spLocks noGrp="1"/>
          </p:cNvSpPr>
          <p:nvPr>
            <p:ph type="sldNum" sz="quarter" idx="12"/>
          </p:nvPr>
        </p:nvSpPr>
        <p:spPr/>
        <p:txBody>
          <a:bodyPr/>
          <a:lstStyle/>
          <a:p>
            <a:fld id="{B6E69D5D-3C54-E347-B3D4-70BDFA7C6521}" type="slidenum">
              <a:rPr lang="fr-FR" smtClean="0"/>
              <a:t>37</a:t>
            </a:fld>
            <a:endParaRPr lang="fr-FR"/>
          </a:p>
        </p:txBody>
      </p:sp>
    </p:spTree>
    <p:extLst>
      <p:ext uri="{BB962C8B-B14F-4D97-AF65-F5344CB8AC3E}">
        <p14:creationId xmlns:p14="http://schemas.microsoft.com/office/powerpoint/2010/main" val="2663770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F7F1FF3A-E957-72D9-8E9B-2F28E93FADB4}"/>
              </a:ext>
            </a:extLst>
          </p:cNvPr>
          <p:cNvSpPr>
            <a:spLocks noGrp="1"/>
          </p:cNvSpPr>
          <p:nvPr>
            <p:ph type="sldNum" sz="quarter" idx="12"/>
          </p:nvPr>
        </p:nvSpPr>
        <p:spPr/>
        <p:txBody>
          <a:bodyPr/>
          <a:lstStyle/>
          <a:p>
            <a:fld id="{B6E69D5D-3C54-E347-B3D4-70BDFA7C6521}" type="slidenum">
              <a:rPr lang="fr-FR" smtClean="0"/>
              <a:t>38</a:t>
            </a:fld>
            <a:endParaRPr lang="fr-FR"/>
          </a:p>
        </p:txBody>
      </p:sp>
      <p:sp>
        <p:nvSpPr>
          <p:cNvPr id="3" name="ZoneTexte 2">
            <a:extLst>
              <a:ext uri="{FF2B5EF4-FFF2-40B4-BE49-F238E27FC236}">
                <a16:creationId xmlns:a16="http://schemas.microsoft.com/office/drawing/2014/main" id="{3C739F02-080C-CD9F-27B8-7B568699B5BC}"/>
              </a:ext>
            </a:extLst>
          </p:cNvPr>
          <p:cNvSpPr txBox="1"/>
          <p:nvPr/>
        </p:nvSpPr>
        <p:spPr>
          <a:xfrm>
            <a:off x="1298971" y="2061958"/>
            <a:ext cx="6972194" cy="1325106"/>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2. Data description</a:t>
            </a:r>
          </a:p>
        </p:txBody>
      </p:sp>
    </p:spTree>
    <p:extLst>
      <p:ext uri="{BB962C8B-B14F-4D97-AF65-F5344CB8AC3E}">
        <p14:creationId xmlns:p14="http://schemas.microsoft.com/office/powerpoint/2010/main" val="2382818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F241D495-7E78-834D-8524-3909DB5A68A5}"/>
              </a:ext>
            </a:extLst>
          </p:cNvPr>
          <p:cNvGraphicFramePr>
            <a:graphicFrameLocks noGrp="1"/>
          </p:cNvGraphicFramePr>
          <p:nvPr/>
        </p:nvGraphicFramePr>
        <p:xfrm>
          <a:off x="407963" y="70339"/>
          <a:ext cx="8328074" cy="5002822"/>
        </p:xfrm>
        <a:graphic>
          <a:graphicData uri="http://schemas.openxmlformats.org/drawingml/2006/table">
            <a:tbl>
              <a:tblPr firstRow="1" firstCol="1" bandRow="1">
                <a:noFill/>
                <a:tableStyleId>{5C22544A-7EE6-4342-B048-85BDC9FD1C3A}</a:tableStyleId>
              </a:tblPr>
              <a:tblGrid>
                <a:gridCol w="1370323">
                  <a:extLst>
                    <a:ext uri="{9D8B030D-6E8A-4147-A177-3AD203B41FA5}">
                      <a16:colId xmlns:a16="http://schemas.microsoft.com/office/drawing/2014/main" val="267900894"/>
                    </a:ext>
                  </a:extLst>
                </a:gridCol>
                <a:gridCol w="1455659">
                  <a:extLst>
                    <a:ext uri="{9D8B030D-6E8A-4147-A177-3AD203B41FA5}">
                      <a16:colId xmlns:a16="http://schemas.microsoft.com/office/drawing/2014/main" val="2676485399"/>
                    </a:ext>
                  </a:extLst>
                </a:gridCol>
                <a:gridCol w="1242951">
                  <a:extLst>
                    <a:ext uri="{9D8B030D-6E8A-4147-A177-3AD203B41FA5}">
                      <a16:colId xmlns:a16="http://schemas.microsoft.com/office/drawing/2014/main" val="2886340304"/>
                    </a:ext>
                  </a:extLst>
                </a:gridCol>
                <a:gridCol w="1663488">
                  <a:extLst>
                    <a:ext uri="{9D8B030D-6E8A-4147-A177-3AD203B41FA5}">
                      <a16:colId xmlns:a16="http://schemas.microsoft.com/office/drawing/2014/main" val="1351847442"/>
                    </a:ext>
                  </a:extLst>
                </a:gridCol>
                <a:gridCol w="1206486">
                  <a:extLst>
                    <a:ext uri="{9D8B030D-6E8A-4147-A177-3AD203B41FA5}">
                      <a16:colId xmlns:a16="http://schemas.microsoft.com/office/drawing/2014/main" val="808239551"/>
                    </a:ext>
                  </a:extLst>
                </a:gridCol>
                <a:gridCol w="1389167">
                  <a:extLst>
                    <a:ext uri="{9D8B030D-6E8A-4147-A177-3AD203B41FA5}">
                      <a16:colId xmlns:a16="http://schemas.microsoft.com/office/drawing/2014/main" val="3735602328"/>
                    </a:ext>
                  </a:extLst>
                </a:gridCol>
              </a:tblGrid>
              <a:tr h="844534">
                <a:tc>
                  <a:txBody>
                    <a:bodyPr/>
                    <a:lstStyle/>
                    <a:p>
                      <a:endParaRPr lang="en-FR" sz="1700" b="1" cap="none" spc="0" dirty="0">
                        <a:solidFill>
                          <a:schemeClr val="tx1"/>
                        </a:solidFill>
                        <a:effectLst/>
                        <a:latin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tc>
                  <a:txBody>
                    <a:bodyPr/>
                    <a:lstStyle/>
                    <a:p>
                      <a:r>
                        <a:rPr lang="en-US" sz="1700" b="1" cap="none" spc="0" dirty="0">
                          <a:solidFill>
                            <a:schemeClr val="tx1"/>
                          </a:solidFill>
                          <a:effectLst/>
                        </a:rPr>
                        <a:t>ADNI</a:t>
                      </a:r>
                    </a:p>
                    <a:p>
                      <a:r>
                        <a:rPr lang="en-US"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USA</a:t>
                      </a:r>
                      <a:endParaRPr lang="en-FR" sz="17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tc>
                  <a:txBody>
                    <a:bodyPr/>
                    <a:lstStyle/>
                    <a:p>
                      <a:r>
                        <a:rPr lang="en-US" sz="1700" b="1" cap="none" spc="0" dirty="0">
                          <a:solidFill>
                            <a:schemeClr val="tx1"/>
                          </a:solidFill>
                          <a:effectLst/>
                        </a:rPr>
                        <a:t>AIBL</a:t>
                      </a:r>
                    </a:p>
                    <a:p>
                      <a:r>
                        <a:rPr lang="en-US"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Australia</a:t>
                      </a:r>
                      <a:endParaRPr lang="en-FR"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tc>
                  <a:txBody>
                    <a:bodyPr/>
                    <a:lstStyle/>
                    <a:p>
                      <a:r>
                        <a:rPr lang="en-US" sz="1700" b="1" cap="none" spc="0" dirty="0">
                          <a:solidFill>
                            <a:schemeClr val="tx1"/>
                          </a:solidFill>
                          <a:effectLst/>
                        </a:rPr>
                        <a:t>PHARMACOG</a:t>
                      </a:r>
                    </a:p>
                    <a:p>
                      <a:r>
                        <a:rPr lang="en-US"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Europe</a:t>
                      </a:r>
                      <a:endParaRPr lang="en-FR"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tc>
                  <a:txBody>
                    <a:bodyPr/>
                    <a:lstStyle/>
                    <a:p>
                      <a:r>
                        <a:rPr lang="en-US" sz="1700" b="1" cap="none" spc="0" dirty="0">
                          <a:solidFill>
                            <a:schemeClr val="tx1"/>
                          </a:solidFill>
                          <a:effectLst/>
                        </a:rPr>
                        <a:t>J-ADNI</a:t>
                      </a:r>
                    </a:p>
                    <a:p>
                      <a:r>
                        <a:rPr lang="en-US"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Japan</a:t>
                      </a:r>
                      <a:endParaRPr lang="en-FR"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tc>
                  <a:txBody>
                    <a:bodyPr/>
                    <a:lstStyle/>
                    <a:p>
                      <a:r>
                        <a:rPr lang="en-US" sz="1700" b="1" cap="none" spc="0" dirty="0">
                          <a:solidFill>
                            <a:schemeClr val="tx1"/>
                          </a:solidFill>
                          <a:effectLst/>
                        </a:rPr>
                        <a:t>MEMENTO</a:t>
                      </a:r>
                    </a:p>
                    <a:p>
                      <a:r>
                        <a:rPr lang="en-US"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France</a:t>
                      </a:r>
                      <a:endParaRPr lang="en-FR" sz="14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129579653"/>
                  </a:ext>
                </a:extLst>
              </a:tr>
              <a:tr h="693048">
                <a:tc>
                  <a:txBody>
                    <a:bodyPr/>
                    <a:lstStyle/>
                    <a:p>
                      <a:pPr algn="l"/>
                      <a:r>
                        <a:rPr lang="en-US" sz="1200" b="1" cap="none" spc="0">
                          <a:solidFill>
                            <a:schemeClr val="tx1"/>
                          </a:solidFill>
                          <a:effectLst/>
                        </a:rPr>
                        <a:t>Number of subjects</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r>
                        <a:rPr lang="en-US" sz="1200" cap="none" spc="0" dirty="0">
                          <a:solidFill>
                            <a:schemeClr val="tx1"/>
                          </a:solidFill>
                          <a:effectLst/>
                        </a:rPr>
                        <a:t>1,599</a:t>
                      </a:r>
                      <a:endParaRPr lang="en-FR"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38100" cmpd="sng">
                      <a:noFill/>
                    </a:lnT>
                    <a:lnB w="9525" cap="flat" cmpd="sng" algn="ctr">
                      <a:noFill/>
                      <a:prstDash val="solid"/>
                    </a:lnB>
                    <a:noFill/>
                  </a:tcPr>
                </a:tc>
                <a:tc>
                  <a:txBody>
                    <a:bodyPr/>
                    <a:lstStyle/>
                    <a:p>
                      <a:r>
                        <a:rPr lang="en-US" sz="1200" cap="none" spc="0">
                          <a:solidFill>
                            <a:schemeClr val="tx1"/>
                          </a:solidFill>
                          <a:effectLst/>
                        </a:rPr>
                        <a:t>460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38100" cmpd="sng">
                      <a:noFill/>
                    </a:lnT>
                    <a:lnB w="9525" cap="flat" cmpd="sng" algn="ctr">
                      <a:noFill/>
                      <a:prstDash val="solid"/>
                    </a:lnB>
                    <a:noFill/>
                  </a:tcPr>
                </a:tc>
                <a:tc>
                  <a:txBody>
                    <a:bodyPr/>
                    <a:lstStyle/>
                    <a:p>
                      <a:r>
                        <a:rPr lang="en-US" sz="1200" cap="none" spc="0">
                          <a:solidFill>
                            <a:schemeClr val="tx1"/>
                          </a:solidFill>
                          <a:effectLst/>
                        </a:rPr>
                        <a:t>111</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38100" cmpd="sng">
                      <a:noFill/>
                    </a:lnT>
                    <a:lnB w="9525" cap="flat" cmpd="sng" algn="ctr">
                      <a:noFill/>
                      <a:prstDash val="solid"/>
                    </a:lnB>
                    <a:noFill/>
                  </a:tcPr>
                </a:tc>
                <a:tc>
                  <a:txBody>
                    <a:bodyPr/>
                    <a:lstStyle/>
                    <a:p>
                      <a:r>
                        <a:rPr lang="en-US" sz="1200" cap="none" spc="0">
                          <a:solidFill>
                            <a:schemeClr val="tx1"/>
                          </a:solidFill>
                          <a:effectLst/>
                        </a:rPr>
                        <a:t>469</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38100" cmpd="sng">
                      <a:noFill/>
                    </a:lnT>
                    <a:lnB w="9525" cap="flat" cmpd="sng" algn="ctr">
                      <a:noFill/>
                      <a:prstDash val="solid"/>
                    </a:lnB>
                    <a:noFill/>
                  </a:tcPr>
                </a:tc>
                <a:tc>
                  <a:txBody>
                    <a:bodyPr/>
                    <a:lstStyle/>
                    <a:p>
                      <a:r>
                        <a:rPr lang="en-US" sz="1200" cap="none" spc="0" dirty="0">
                          <a:solidFill>
                            <a:schemeClr val="tx1"/>
                          </a:solidFill>
                          <a:effectLst/>
                        </a:rPr>
                        <a:t>1,995</a:t>
                      </a:r>
                      <a:endParaRPr lang="en-FR"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360829561"/>
                  </a:ext>
                </a:extLst>
              </a:tr>
              <a:tr h="693048">
                <a:tc>
                  <a:txBody>
                    <a:bodyPr/>
                    <a:lstStyle/>
                    <a:p>
                      <a:pPr algn="l"/>
                      <a:r>
                        <a:rPr lang="en-US" sz="1200" b="1" cap="none" spc="0">
                          <a:solidFill>
                            <a:schemeClr val="tx1"/>
                          </a:solidFill>
                          <a:effectLst/>
                        </a:rPr>
                        <a:t>Number of visits</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6.1 ± 2.8 </a:t>
                      </a:r>
                      <a:endParaRPr lang="en-FR" sz="1200" cap="none" spc="0">
                        <a:solidFill>
                          <a:schemeClr val="tx1"/>
                        </a:solidFill>
                        <a:effectLst/>
                      </a:endParaRPr>
                    </a:p>
                    <a:p>
                      <a:r>
                        <a:rPr lang="en-US" sz="1200" cap="none" spc="0">
                          <a:solidFill>
                            <a:schemeClr val="tx1"/>
                          </a:solidFill>
                          <a:effectLst/>
                        </a:rPr>
                        <a:t>[2, 17]</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3.7 ± 0.7 </a:t>
                      </a:r>
                      <a:endParaRPr lang="en-FR" sz="1200" cap="none" spc="0">
                        <a:solidFill>
                          <a:schemeClr val="tx1"/>
                        </a:solidFill>
                        <a:effectLst/>
                      </a:endParaRPr>
                    </a:p>
                    <a:p>
                      <a:r>
                        <a:rPr lang="en-US" sz="1200" cap="none" spc="0">
                          <a:solidFill>
                            <a:schemeClr val="tx1"/>
                          </a:solidFill>
                          <a:effectLst/>
                        </a:rPr>
                        <a:t>[2, 4]</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5.1 ± 0.6 </a:t>
                      </a:r>
                      <a:endParaRPr lang="en-FR" sz="1200" cap="none" spc="0">
                        <a:solidFill>
                          <a:schemeClr val="tx1"/>
                        </a:solidFill>
                        <a:effectLst/>
                      </a:endParaRPr>
                    </a:p>
                    <a:p>
                      <a:r>
                        <a:rPr lang="en-US" sz="1200" cap="none" spc="0">
                          <a:solidFill>
                            <a:schemeClr val="tx1"/>
                          </a:solidFill>
                          <a:effectLst/>
                        </a:rPr>
                        <a:t>[3, 7]</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5.1 ± 0.8 </a:t>
                      </a:r>
                      <a:endParaRPr lang="en-FR" sz="1200" cap="none" spc="0">
                        <a:solidFill>
                          <a:schemeClr val="tx1"/>
                        </a:solidFill>
                        <a:effectLst/>
                      </a:endParaRPr>
                    </a:p>
                    <a:p>
                      <a:r>
                        <a:rPr lang="en-US" sz="1200" cap="none" spc="0">
                          <a:solidFill>
                            <a:schemeClr val="tx1"/>
                          </a:solidFill>
                          <a:effectLst/>
                        </a:rPr>
                        <a:t>[4, 6]</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6.8 ± 1.8 </a:t>
                      </a:r>
                      <a:endParaRPr lang="en-FR" sz="1200" cap="none" spc="0">
                        <a:solidFill>
                          <a:schemeClr val="tx1"/>
                        </a:solidFill>
                        <a:effectLst/>
                      </a:endParaRPr>
                    </a:p>
                    <a:p>
                      <a:r>
                        <a:rPr lang="en-US" sz="1200" cap="none" spc="0">
                          <a:solidFill>
                            <a:schemeClr val="tx1"/>
                          </a:solidFill>
                          <a:effectLst/>
                        </a:rPr>
                        <a:t>[2, 9]</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572120786"/>
                  </a:ext>
                </a:extLst>
              </a:tr>
              <a:tr h="693048">
                <a:tc>
                  <a:txBody>
                    <a:bodyPr/>
                    <a:lstStyle/>
                    <a:p>
                      <a:pPr algn="l"/>
                      <a:r>
                        <a:rPr lang="en-US" sz="1200" b="1" cap="none" spc="0">
                          <a:solidFill>
                            <a:schemeClr val="tx1"/>
                          </a:solidFill>
                          <a:effectLst/>
                        </a:rPr>
                        <a:t>Follow-up duration (y)</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4.7 ± 3.0 </a:t>
                      </a:r>
                      <a:br>
                        <a:rPr lang="en-US" sz="1200" cap="none" spc="0">
                          <a:solidFill>
                            <a:schemeClr val="tx1"/>
                          </a:solidFill>
                          <a:effectLst/>
                        </a:rPr>
                      </a:br>
                      <a:r>
                        <a:rPr lang="en-US" sz="1200" cap="none" spc="0">
                          <a:solidFill>
                            <a:schemeClr val="tx1"/>
                          </a:solidFill>
                          <a:effectLst/>
                        </a:rPr>
                        <a:t>[1.4, 15.2]</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4.1 ± 1.0 </a:t>
                      </a:r>
                      <a:endParaRPr lang="en-FR" sz="1200" cap="none" spc="0">
                        <a:solidFill>
                          <a:schemeClr val="tx1"/>
                        </a:solidFill>
                        <a:effectLst/>
                      </a:endParaRPr>
                    </a:p>
                    <a:p>
                      <a:r>
                        <a:rPr lang="en-US" sz="1200" cap="none" spc="0">
                          <a:solidFill>
                            <a:schemeClr val="tx1"/>
                          </a:solidFill>
                          <a:effectLst/>
                        </a:rPr>
                        <a:t>[1.5, 4.5]</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2.0 ± 0.3 </a:t>
                      </a:r>
                      <a:endParaRPr lang="en-FR" sz="1200" cap="none" spc="0">
                        <a:solidFill>
                          <a:schemeClr val="tx1"/>
                        </a:solidFill>
                        <a:effectLst/>
                      </a:endParaRPr>
                    </a:p>
                    <a:p>
                      <a:r>
                        <a:rPr lang="en-US" sz="1200" cap="none" spc="0">
                          <a:solidFill>
                            <a:schemeClr val="tx1"/>
                          </a:solidFill>
                          <a:effectLst/>
                        </a:rPr>
                        <a:t>[1.5, 3.0]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2.7 ± 0.5 </a:t>
                      </a:r>
                      <a:endParaRPr lang="en-FR" sz="1200" cap="none" spc="0">
                        <a:solidFill>
                          <a:schemeClr val="tx1"/>
                        </a:solidFill>
                        <a:effectLst/>
                      </a:endParaRPr>
                    </a:p>
                    <a:p>
                      <a:r>
                        <a:rPr lang="en-US" sz="1200" cap="none" spc="0">
                          <a:solidFill>
                            <a:schemeClr val="tx1"/>
                          </a:solidFill>
                          <a:effectLst/>
                        </a:rPr>
                        <a:t>[1.5, 3.0]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3.7 ± 0.7 </a:t>
                      </a:r>
                      <a:endParaRPr lang="en-FR" sz="1200" cap="none" spc="0">
                        <a:solidFill>
                          <a:schemeClr val="tx1"/>
                        </a:solidFill>
                        <a:effectLst/>
                      </a:endParaRPr>
                    </a:p>
                    <a:p>
                      <a:r>
                        <a:rPr lang="en-US" sz="1200" cap="none" spc="0">
                          <a:solidFill>
                            <a:schemeClr val="tx1"/>
                          </a:solidFill>
                          <a:effectLst/>
                        </a:rPr>
                        <a:t>[1.4, 5.2]</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688611600"/>
                  </a:ext>
                </a:extLst>
              </a:tr>
              <a:tr h="920277">
                <a:tc>
                  <a:txBody>
                    <a:bodyPr/>
                    <a:lstStyle/>
                    <a:p>
                      <a:pPr algn="l"/>
                      <a:r>
                        <a:rPr lang="en-US" sz="1200" b="1" cap="none" spc="0">
                          <a:solidFill>
                            <a:schemeClr val="tx1"/>
                          </a:solidFill>
                          <a:effectLst/>
                        </a:rPr>
                        <a:t>Delay between visits (m)</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11.1 ± 6.3 </a:t>
                      </a:r>
                      <a:endParaRPr lang="en-FR" sz="1200" cap="none" spc="0">
                        <a:solidFill>
                          <a:schemeClr val="tx1"/>
                        </a:solidFill>
                        <a:effectLst/>
                      </a:endParaRPr>
                    </a:p>
                    <a:p>
                      <a:r>
                        <a:rPr lang="en-US" sz="1200" cap="none" spc="0">
                          <a:solidFill>
                            <a:schemeClr val="tx1"/>
                          </a:solidFill>
                          <a:effectLst/>
                        </a:rPr>
                        <a:t>[1.8, 62.8]</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18.2 ± 2.0 </a:t>
                      </a:r>
                      <a:endParaRPr lang="en-FR" sz="1200" cap="none" spc="0">
                        <a:solidFill>
                          <a:schemeClr val="tx1"/>
                        </a:solidFill>
                        <a:effectLst/>
                      </a:endParaRPr>
                    </a:p>
                    <a:p>
                      <a:r>
                        <a:rPr lang="en-US" sz="1200" cap="none" spc="0">
                          <a:solidFill>
                            <a:schemeClr val="tx1"/>
                          </a:solidFill>
                          <a:effectLst/>
                        </a:rPr>
                        <a:t>[18.0, 54.0]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6.0 ± 0.6 [</a:t>
                      </a:r>
                      <a:endParaRPr lang="en-FR" sz="1200" cap="none" spc="0">
                        <a:solidFill>
                          <a:schemeClr val="tx1"/>
                        </a:solidFill>
                        <a:effectLst/>
                      </a:endParaRPr>
                    </a:p>
                    <a:p>
                      <a:r>
                        <a:rPr lang="en-US" sz="1200" cap="none" spc="0">
                          <a:solidFill>
                            <a:schemeClr val="tx1"/>
                          </a:solidFill>
                          <a:effectLst/>
                        </a:rPr>
                        <a:t>6.0, 18.0]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7.8 ± 2.8 </a:t>
                      </a:r>
                      <a:endParaRPr lang="en-FR" sz="1200" cap="none" spc="0">
                        <a:solidFill>
                          <a:schemeClr val="tx1"/>
                        </a:solidFill>
                        <a:effectLst/>
                      </a:endParaRPr>
                    </a:p>
                    <a:p>
                      <a:r>
                        <a:rPr lang="en-US" sz="1200" cap="none" spc="0">
                          <a:solidFill>
                            <a:schemeClr val="tx1"/>
                          </a:solidFill>
                          <a:effectLst/>
                        </a:rPr>
                        <a:t>[6.0, 24.0]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7.7 ± 3.4 </a:t>
                      </a:r>
                      <a:endParaRPr lang="en-FR" sz="1200" cap="none" spc="0">
                        <a:solidFill>
                          <a:schemeClr val="tx1"/>
                        </a:solidFill>
                        <a:effectLst/>
                      </a:endParaRPr>
                    </a:p>
                    <a:p>
                      <a:r>
                        <a:rPr lang="en-US" sz="1200" cap="none" spc="0">
                          <a:solidFill>
                            <a:schemeClr val="tx1"/>
                          </a:solidFill>
                          <a:effectLst/>
                        </a:rPr>
                        <a:t>[1.5, 53.7]</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194518829"/>
                  </a:ext>
                </a:extLst>
              </a:tr>
              <a:tr h="693048">
                <a:tc>
                  <a:txBody>
                    <a:bodyPr/>
                    <a:lstStyle/>
                    <a:p>
                      <a:pPr algn="l"/>
                      <a:r>
                        <a:rPr lang="en-US" sz="1200" b="1" cap="none" spc="0">
                          <a:solidFill>
                            <a:schemeClr val="tx1"/>
                          </a:solidFill>
                          <a:effectLst/>
                        </a:rPr>
                        <a:t>Age at baseline (y)</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73.4 ± 7.1 </a:t>
                      </a:r>
                      <a:endParaRPr lang="en-FR" sz="1200" cap="none" spc="0">
                        <a:solidFill>
                          <a:schemeClr val="tx1"/>
                        </a:solidFill>
                        <a:effectLst/>
                      </a:endParaRPr>
                    </a:p>
                    <a:p>
                      <a:r>
                        <a:rPr lang="en-US" sz="1200" cap="none" spc="0">
                          <a:solidFill>
                            <a:schemeClr val="tx1"/>
                          </a:solidFill>
                          <a:effectLst/>
                        </a:rPr>
                        <a:t>[55.1, 91.5]</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71.5 ± 7.1 </a:t>
                      </a:r>
                      <a:endParaRPr lang="en-FR" sz="1200" cap="none" spc="0">
                        <a:solidFill>
                          <a:schemeClr val="tx1"/>
                        </a:solidFill>
                        <a:effectLst/>
                      </a:endParaRPr>
                    </a:p>
                    <a:p>
                      <a:r>
                        <a:rPr lang="en-US" sz="1200" cap="none" spc="0">
                          <a:solidFill>
                            <a:schemeClr val="tx1"/>
                          </a:solidFill>
                          <a:effectLst/>
                        </a:rPr>
                        <a:t>[55.3, 92.1]</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69.8 ± 7.4 </a:t>
                      </a:r>
                      <a:endParaRPr lang="en-FR" sz="1200" cap="none" spc="0">
                        <a:solidFill>
                          <a:schemeClr val="tx1"/>
                        </a:solidFill>
                        <a:effectLst/>
                      </a:endParaRPr>
                    </a:p>
                    <a:p>
                      <a:r>
                        <a:rPr lang="en-US" sz="1200" cap="none" spc="0">
                          <a:solidFill>
                            <a:schemeClr val="tx1"/>
                          </a:solidFill>
                          <a:effectLst/>
                        </a:rPr>
                        <a:t>[50.5, 84.5]</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71.8 ± 6.7 </a:t>
                      </a:r>
                      <a:endParaRPr lang="en-FR" sz="1200" cap="none" spc="0">
                        <a:solidFill>
                          <a:schemeClr val="tx1"/>
                        </a:solidFill>
                        <a:effectLst/>
                      </a:endParaRPr>
                    </a:p>
                    <a:p>
                      <a:r>
                        <a:rPr lang="en-US" sz="1200" cap="none" spc="0">
                          <a:solidFill>
                            <a:schemeClr val="tx1"/>
                          </a:solidFill>
                          <a:effectLst/>
                        </a:rPr>
                        <a:t>[30.0, 85.0]</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200" cap="none" spc="0">
                          <a:solidFill>
                            <a:schemeClr val="tx1"/>
                          </a:solidFill>
                          <a:effectLst/>
                        </a:rPr>
                        <a:t>70.6 ± 8.6 </a:t>
                      </a:r>
                      <a:endParaRPr lang="en-FR" sz="1200" cap="none" spc="0">
                        <a:solidFill>
                          <a:schemeClr val="tx1"/>
                        </a:solidFill>
                        <a:effectLst/>
                      </a:endParaRPr>
                    </a:p>
                    <a:p>
                      <a:r>
                        <a:rPr lang="en-US" sz="1200" cap="none" spc="0">
                          <a:solidFill>
                            <a:schemeClr val="tx1"/>
                          </a:solidFill>
                          <a:effectLst/>
                        </a:rPr>
                        <a:t>[32.5, 92.6]</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554388938"/>
                  </a:ext>
                </a:extLst>
              </a:tr>
              <a:tr h="465819">
                <a:tc>
                  <a:txBody>
                    <a:bodyPr/>
                    <a:lstStyle/>
                    <a:p>
                      <a:pPr algn="l"/>
                      <a:r>
                        <a:rPr lang="en-US" sz="1200" b="1" cap="none" spc="0">
                          <a:solidFill>
                            <a:schemeClr val="tx1"/>
                          </a:solidFill>
                          <a:effectLst/>
                        </a:rPr>
                        <a:t>Female</a:t>
                      </a:r>
                      <a:endParaRPr lang="en-FR" sz="12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744 (46.5 %)</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247 (53.7 %)</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63 (56.8 %)</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a:solidFill>
                            <a:schemeClr val="tx1"/>
                          </a:solidFill>
                          <a:effectLst/>
                        </a:rPr>
                        <a:t>246 (52.5 %)</a:t>
                      </a:r>
                      <a:endParaRPr lang="en-FR"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200" cap="none" spc="0" dirty="0">
                          <a:solidFill>
                            <a:schemeClr val="tx1"/>
                          </a:solidFill>
                          <a:effectLst/>
                        </a:rPr>
                        <a:t>1216 (61.0 %)</a:t>
                      </a:r>
                      <a:endParaRPr lang="en-FR"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6423" marR="71167" marT="18978" marB="142334"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96014770"/>
                  </a:ext>
                </a:extLst>
              </a:tr>
            </a:tbl>
          </a:graphicData>
        </a:graphic>
      </p:graphicFrame>
      <p:sp>
        <p:nvSpPr>
          <p:cNvPr id="2" name="Espace réservé du numéro de diapositive 1">
            <a:extLst>
              <a:ext uri="{FF2B5EF4-FFF2-40B4-BE49-F238E27FC236}">
                <a16:creationId xmlns:a16="http://schemas.microsoft.com/office/drawing/2014/main" id="{012DA3DE-AA83-C5C9-FAD2-1D93671411C4}"/>
              </a:ext>
            </a:extLst>
          </p:cNvPr>
          <p:cNvSpPr>
            <a:spLocks noGrp="1"/>
          </p:cNvSpPr>
          <p:nvPr>
            <p:ph type="sldNum" sz="quarter" idx="12"/>
          </p:nvPr>
        </p:nvSpPr>
        <p:spPr/>
        <p:txBody>
          <a:bodyPr/>
          <a:lstStyle/>
          <a:p>
            <a:fld id="{B6E69D5D-3C54-E347-B3D4-70BDFA7C6521}" type="slidenum">
              <a:rPr lang="fr-FR" smtClean="0"/>
              <a:t>39</a:t>
            </a:fld>
            <a:endParaRPr lang="fr-FR"/>
          </a:p>
        </p:txBody>
      </p:sp>
    </p:spTree>
    <p:extLst>
      <p:ext uri="{BB962C8B-B14F-4D97-AF65-F5344CB8AC3E}">
        <p14:creationId xmlns:p14="http://schemas.microsoft.com/office/powerpoint/2010/main" val="21084320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40</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1247701" y="1905502"/>
            <a:ext cx="7023464" cy="1325106"/>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3. </a:t>
            </a:r>
            <a:r>
              <a:rPr lang="fr-FR" sz="2100" i="1" dirty="0" err="1">
                <a:latin typeface="Arial"/>
                <a:cs typeface="Arial"/>
              </a:rPr>
              <a:t>Summarize</a:t>
            </a:r>
            <a:r>
              <a:rPr lang="fr-FR" sz="2100" i="1" dirty="0">
                <a:latin typeface="Arial"/>
                <a:cs typeface="Arial"/>
              </a:rPr>
              <a:t> the range of </a:t>
            </a:r>
            <a:r>
              <a:rPr lang="fr-FR" sz="2100" i="1" dirty="0" err="1">
                <a:latin typeface="Arial"/>
                <a:cs typeface="Arial"/>
              </a:rPr>
              <a:t>likely</a:t>
            </a:r>
            <a:r>
              <a:rPr lang="fr-FR" sz="2100" i="1" dirty="0">
                <a:latin typeface="Arial"/>
                <a:cs typeface="Arial"/>
              </a:rPr>
              <a:t> </a:t>
            </a:r>
            <a:r>
              <a:rPr lang="fr-FR" sz="2100" i="1" dirty="0" err="1">
                <a:latin typeface="Arial"/>
                <a:cs typeface="Arial"/>
              </a:rPr>
              <a:t>disease</a:t>
            </a:r>
            <a:r>
              <a:rPr lang="fr-FR" sz="2100" i="1" dirty="0">
                <a:latin typeface="Arial"/>
                <a:cs typeface="Arial"/>
              </a:rPr>
              <a:t> </a:t>
            </a:r>
            <a:r>
              <a:rPr lang="fr-FR" sz="2100" i="1" dirty="0" err="1">
                <a:latin typeface="Arial"/>
                <a:cs typeface="Arial"/>
              </a:rPr>
              <a:t>trajectories</a:t>
            </a:r>
            <a:endParaRPr lang="fr-FR" sz="2100" i="1" dirty="0">
              <a:latin typeface="Arial"/>
              <a:cs typeface="Arial"/>
            </a:endParaRPr>
          </a:p>
        </p:txBody>
      </p:sp>
    </p:spTree>
    <p:extLst>
      <p:ext uri="{BB962C8B-B14F-4D97-AF65-F5344CB8AC3E}">
        <p14:creationId xmlns:p14="http://schemas.microsoft.com/office/powerpoint/2010/main" val="2315093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4">
            <a:extLst>
              <a:ext uri="{FF2B5EF4-FFF2-40B4-BE49-F238E27FC236}">
                <a16:creationId xmlns:a16="http://schemas.microsoft.com/office/drawing/2014/main" id="{0D5AA02F-FDC0-FF46-9CFD-097AB7C6A379}"/>
              </a:ext>
            </a:extLst>
          </p:cNvPr>
          <p:cNvSpPr txBox="1">
            <a:spLocks/>
          </p:cNvSpPr>
          <p:nvPr/>
        </p:nvSpPr>
        <p:spPr>
          <a:xfrm>
            <a:off x="613403" y="414019"/>
            <a:ext cx="7917194" cy="401099"/>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702082"/>
                </a:solidFill>
                <a:latin typeface="Nexa Bold" charset="0"/>
                <a:ea typeface="Nexa Bold" charset="0"/>
                <a:cs typeface="Nexa Bold" charset="0"/>
              </a:defRPr>
            </a:lvl1pPr>
            <a:lvl2pPr marL="457200" indent="0" algn="l" defTabSz="914400" rtl="0" eaLnBrk="1" latinLnBrk="0" hangingPunct="1">
              <a:lnSpc>
                <a:spcPct val="80000"/>
              </a:lnSpc>
              <a:spcBef>
                <a:spcPts val="500"/>
              </a:spcBef>
              <a:buFontTx/>
              <a:buNone/>
              <a:defRPr sz="1500" kern="1200">
                <a:solidFill>
                  <a:schemeClr val="tx1"/>
                </a:solidFill>
                <a:latin typeface="Nexa Light" charset="0"/>
                <a:ea typeface="Nexa Light" charset="0"/>
                <a:cs typeface="Nexa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chemeClr val="tx1"/>
                </a:solidFill>
                <a:latin typeface="+mn-lt"/>
              </a:rPr>
              <a:t>1</a:t>
            </a:r>
            <a:r>
              <a:rPr lang="en-US" sz="2000" b="1" baseline="30000" dirty="0">
                <a:solidFill>
                  <a:schemeClr val="tx1"/>
                </a:solidFill>
                <a:latin typeface="+mn-lt"/>
              </a:rPr>
              <a:t>st</a:t>
            </a:r>
            <a:r>
              <a:rPr lang="en-US" sz="2000" b="1" dirty="0">
                <a:solidFill>
                  <a:schemeClr val="tx1"/>
                </a:solidFill>
                <a:latin typeface="+mn-lt"/>
              </a:rPr>
              <a:t> model: natural AD progression from prodromal to clinical stages</a:t>
            </a:r>
          </a:p>
        </p:txBody>
      </p:sp>
      <p:sp>
        <p:nvSpPr>
          <p:cNvPr id="23" name="TextBox 22">
            <a:extLst>
              <a:ext uri="{FF2B5EF4-FFF2-40B4-BE49-F238E27FC236}">
                <a16:creationId xmlns:a16="http://schemas.microsoft.com/office/drawing/2014/main" id="{E9586B35-5C71-AC4E-B97C-ED9FF6227C99}"/>
              </a:ext>
            </a:extLst>
          </p:cNvPr>
          <p:cNvSpPr txBox="1"/>
          <p:nvPr/>
        </p:nvSpPr>
        <p:spPr>
          <a:xfrm>
            <a:off x="613403" y="1226449"/>
            <a:ext cx="4067042" cy="1785104"/>
          </a:xfrm>
          <a:prstGeom prst="rect">
            <a:avLst/>
          </a:prstGeom>
          <a:noFill/>
        </p:spPr>
        <p:txBody>
          <a:bodyPr wrap="square" rtlCol="0">
            <a:spAutoFit/>
          </a:bodyPr>
          <a:lstStyle/>
          <a:p>
            <a:pPr marL="214313" indent="-214313">
              <a:buFont typeface="Arial" panose="020B0604020202020204" pitchFamily="34" charset="0"/>
              <a:buChar char="•"/>
            </a:pPr>
            <a:r>
              <a:rPr lang="en-US" sz="1400" b="1" dirty="0"/>
              <a:t>Neuropsychological assessments</a:t>
            </a:r>
            <a:r>
              <a:rPr lang="en-US" sz="1400" dirty="0"/>
              <a:t>:</a:t>
            </a:r>
          </a:p>
          <a:p>
            <a:pPr marL="557213" lvl="1" indent="-214313">
              <a:buFont typeface="Arial" panose="020B0604020202020204" pitchFamily="34" charset="0"/>
              <a:buChar char="•"/>
            </a:pPr>
            <a:r>
              <a:rPr lang="en-US" sz="1400" dirty="0"/>
              <a:t>ADAS-Cog (break down in 4 cognitive categories)</a:t>
            </a:r>
          </a:p>
          <a:p>
            <a:pPr marL="557213" lvl="1" indent="-214313">
              <a:buFont typeface="Arial" panose="020B0604020202020204" pitchFamily="34" charset="0"/>
              <a:buChar char="•"/>
            </a:pPr>
            <a:r>
              <a:rPr lang="en-US" sz="1400" dirty="0"/>
              <a:t>MMSE</a:t>
            </a:r>
          </a:p>
          <a:p>
            <a:pPr marL="557213" lvl="1" indent="-214313">
              <a:buFont typeface="Arial" panose="020B0604020202020204" pitchFamily="34" charset="0"/>
              <a:buChar char="•"/>
            </a:pPr>
            <a:endParaRPr lang="en-US" sz="1400" dirty="0"/>
          </a:p>
          <a:p>
            <a:pPr marL="167587" indent="-214313">
              <a:buFont typeface="Arial" panose="020B0604020202020204" pitchFamily="34" charset="0"/>
              <a:buChar char="•"/>
            </a:pPr>
            <a:r>
              <a:rPr lang="en-US" sz="1400" b="1" dirty="0" err="1"/>
              <a:t>Flurodesoxyglucose</a:t>
            </a:r>
            <a:r>
              <a:rPr lang="en-US" sz="1400" b="1" dirty="0"/>
              <a:t> (FDG) PET</a:t>
            </a:r>
            <a:r>
              <a:rPr lang="en-US" sz="1400" dirty="0"/>
              <a:t>:</a:t>
            </a:r>
          </a:p>
          <a:p>
            <a:pPr marL="557213" lvl="1" indent="-214313">
              <a:buFont typeface="Arial" panose="020B0604020202020204" pitchFamily="34" charset="0"/>
              <a:buChar char="•"/>
            </a:pPr>
            <a:r>
              <a:rPr lang="en-US" sz="1400" dirty="0"/>
              <a:t>Regional brain metabolism</a:t>
            </a:r>
          </a:p>
          <a:p>
            <a:endParaRPr lang="en-US" sz="1200" dirty="0"/>
          </a:p>
        </p:txBody>
      </p:sp>
      <p:pic>
        <p:nvPicPr>
          <p:cNvPr id="24" name="Picture 23">
            <a:extLst>
              <a:ext uri="{FF2B5EF4-FFF2-40B4-BE49-F238E27FC236}">
                <a16:creationId xmlns:a16="http://schemas.microsoft.com/office/drawing/2014/main" id="{6148A5F1-7AEC-B340-93F9-33F3B8DCA96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93016" y="3571990"/>
            <a:ext cx="8357968" cy="1008112"/>
          </a:xfrm>
          <a:prstGeom prst="rect">
            <a:avLst/>
          </a:prstGeom>
        </p:spPr>
      </p:pic>
      <p:sp>
        <p:nvSpPr>
          <p:cNvPr id="25" name="Rectangle 24">
            <a:extLst>
              <a:ext uri="{FF2B5EF4-FFF2-40B4-BE49-F238E27FC236}">
                <a16:creationId xmlns:a16="http://schemas.microsoft.com/office/drawing/2014/main" id="{8C8A879B-52FD-4944-849B-F68794750914}"/>
              </a:ext>
            </a:extLst>
          </p:cNvPr>
          <p:cNvSpPr/>
          <p:nvPr/>
        </p:nvSpPr>
        <p:spPr>
          <a:xfrm>
            <a:off x="5281441" y="1226449"/>
            <a:ext cx="3249156" cy="738664"/>
          </a:xfrm>
          <a:prstGeom prst="rect">
            <a:avLst/>
          </a:prstGeom>
        </p:spPr>
        <p:txBody>
          <a:bodyPr wrap="square">
            <a:spAutoFit/>
          </a:bodyPr>
          <a:lstStyle/>
          <a:p>
            <a:pPr marL="214313" indent="-214313">
              <a:buFont typeface="Arial" panose="020B0604020202020204" pitchFamily="34" charset="0"/>
              <a:buChar char="•"/>
            </a:pPr>
            <a:r>
              <a:rPr lang="en-US" sz="1400" b="1" dirty="0"/>
              <a:t>MRI data:</a:t>
            </a:r>
          </a:p>
          <a:p>
            <a:pPr marL="557213" lvl="1" indent="-214313">
              <a:buFont typeface="Arial" panose="020B0604020202020204" pitchFamily="34" charset="0"/>
              <a:buChar char="•"/>
            </a:pPr>
            <a:r>
              <a:rPr lang="en-US" sz="1400" dirty="0"/>
              <a:t>Cortical thickness maps</a:t>
            </a:r>
          </a:p>
          <a:p>
            <a:pPr marL="557213" lvl="1" indent="-214313">
              <a:buFont typeface="Arial" panose="020B0604020202020204" pitchFamily="34" charset="0"/>
              <a:buChar char="•"/>
            </a:pPr>
            <a:r>
              <a:rPr lang="en-US" sz="1400" dirty="0"/>
              <a:t>Hippocampal atrophy</a:t>
            </a:r>
            <a:endParaRPr lang="en-US" sz="1200" dirty="0"/>
          </a:p>
        </p:txBody>
      </p:sp>
      <p:sp>
        <p:nvSpPr>
          <p:cNvPr id="6" name="TextBox 5">
            <a:extLst>
              <a:ext uri="{FF2B5EF4-FFF2-40B4-BE49-F238E27FC236}">
                <a16:creationId xmlns:a16="http://schemas.microsoft.com/office/drawing/2014/main" id="{A2E19406-F25D-FF48-8D11-FA1D2FDE2AB7}"/>
              </a:ext>
            </a:extLst>
          </p:cNvPr>
          <p:cNvSpPr txBox="1"/>
          <p:nvPr/>
        </p:nvSpPr>
        <p:spPr>
          <a:xfrm>
            <a:off x="393015" y="3284384"/>
            <a:ext cx="5263866" cy="338554"/>
          </a:xfrm>
          <a:prstGeom prst="rect">
            <a:avLst/>
          </a:prstGeom>
          <a:noFill/>
        </p:spPr>
        <p:txBody>
          <a:bodyPr wrap="square" rtlCol="0">
            <a:spAutoFit/>
          </a:bodyPr>
          <a:lstStyle/>
          <a:p>
            <a:r>
              <a:rPr lang="en-US" sz="1600" b="1" dirty="0"/>
              <a:t>All ADNI-1, GO, 2 with at least one Dx of Alzheimer’s disease</a:t>
            </a:r>
          </a:p>
        </p:txBody>
      </p:sp>
      <p:sp>
        <p:nvSpPr>
          <p:cNvPr id="2" name="Espace réservé du numéro de diapositive 1">
            <a:extLst>
              <a:ext uri="{FF2B5EF4-FFF2-40B4-BE49-F238E27FC236}">
                <a16:creationId xmlns:a16="http://schemas.microsoft.com/office/drawing/2014/main" id="{766CE7C6-43A0-97D2-B226-57159E4AD47A}"/>
              </a:ext>
            </a:extLst>
          </p:cNvPr>
          <p:cNvSpPr>
            <a:spLocks noGrp="1"/>
          </p:cNvSpPr>
          <p:nvPr>
            <p:ph type="sldNum" sz="quarter" idx="12"/>
          </p:nvPr>
        </p:nvSpPr>
        <p:spPr>
          <a:xfrm>
            <a:off x="6553200" y="4767264"/>
            <a:ext cx="2133600" cy="273844"/>
          </a:xfrm>
        </p:spPr>
        <p:txBody>
          <a:bodyPr/>
          <a:lstStyle/>
          <a:p>
            <a:fld id="{B6E69D5D-3C54-E347-B3D4-70BDFA7C6521}" type="slidenum">
              <a:rPr lang="fr-FR" smtClean="0"/>
              <a:t>41</a:t>
            </a:fld>
            <a:endParaRPr lang="fr-FR"/>
          </a:p>
        </p:txBody>
      </p:sp>
    </p:spTree>
    <p:extLst>
      <p:ext uri="{BB962C8B-B14F-4D97-AF65-F5344CB8AC3E}">
        <p14:creationId xmlns:p14="http://schemas.microsoft.com/office/powerpoint/2010/main" val="2052777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nline Media 2" descr="Digital-Brain-short">
            <a:hlinkClick r:id="" action="ppaction://media"/>
            <a:extLst>
              <a:ext uri="{FF2B5EF4-FFF2-40B4-BE49-F238E27FC236}">
                <a16:creationId xmlns:a16="http://schemas.microsoft.com/office/drawing/2014/main" id="{F2B54161-8A51-9F49-9C5B-A6703928D20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763" y="3175"/>
            <a:ext cx="9144000" cy="4803775"/>
          </a:xfrm>
          <a:prstGeom prst="rect">
            <a:avLst/>
          </a:prstGeom>
        </p:spPr>
      </p:pic>
      <p:sp>
        <p:nvSpPr>
          <p:cNvPr id="11" name="TextBox 10">
            <a:extLst>
              <a:ext uri="{FF2B5EF4-FFF2-40B4-BE49-F238E27FC236}">
                <a16:creationId xmlns:a16="http://schemas.microsoft.com/office/drawing/2014/main" id="{DFC517E7-7912-D94C-9BD7-0E4A024AD177}"/>
              </a:ext>
            </a:extLst>
          </p:cNvPr>
          <p:cNvSpPr txBox="1"/>
          <p:nvPr/>
        </p:nvSpPr>
        <p:spPr>
          <a:xfrm>
            <a:off x="2921430" y="1943397"/>
            <a:ext cx="3301139" cy="461665"/>
          </a:xfrm>
          <a:prstGeom prst="rect">
            <a:avLst/>
          </a:prstGeom>
          <a:noFill/>
        </p:spPr>
        <p:txBody>
          <a:bodyPr wrap="square" rtlCol="0">
            <a:spAutoFit/>
          </a:bodyPr>
          <a:lstStyle/>
          <a:p>
            <a:pPr algn="ctr"/>
            <a:r>
              <a:rPr lang="fr-FR" sz="2400" i="1" dirty="0" err="1">
                <a:solidFill>
                  <a:srgbClr val="FF0000"/>
                </a:solidFill>
              </a:rPr>
              <a:t>www.digital-brain.org</a:t>
            </a:r>
            <a:endParaRPr lang="fr-FR" sz="2400" i="1" dirty="0">
              <a:solidFill>
                <a:srgbClr val="FF0000"/>
              </a:solidFill>
            </a:endParaRPr>
          </a:p>
        </p:txBody>
      </p:sp>
      <p:sp>
        <p:nvSpPr>
          <p:cNvPr id="2" name="Espace réservé du numéro de diapositive 1">
            <a:extLst>
              <a:ext uri="{FF2B5EF4-FFF2-40B4-BE49-F238E27FC236}">
                <a16:creationId xmlns:a16="http://schemas.microsoft.com/office/drawing/2014/main" id="{7F5B5FA8-9D7C-B8A3-A196-A52B6732BA06}"/>
              </a:ext>
            </a:extLst>
          </p:cNvPr>
          <p:cNvSpPr>
            <a:spLocks noGrp="1"/>
          </p:cNvSpPr>
          <p:nvPr>
            <p:ph type="sldNum" sz="quarter" idx="12"/>
          </p:nvPr>
        </p:nvSpPr>
        <p:spPr/>
        <p:txBody>
          <a:bodyPr/>
          <a:lstStyle/>
          <a:p>
            <a:fld id="{B6E69D5D-3C54-E347-B3D4-70BDFA7C6521}" type="slidenum">
              <a:rPr lang="fr-FR" smtClean="0"/>
              <a:t>42</a:t>
            </a:fld>
            <a:endParaRPr lang="fr-FR"/>
          </a:p>
        </p:txBody>
      </p:sp>
    </p:spTree>
    <p:extLst>
      <p:ext uri="{BB962C8B-B14F-4D97-AF65-F5344CB8AC3E}">
        <p14:creationId xmlns:p14="http://schemas.microsoft.com/office/powerpoint/2010/main" val="50043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64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0"/>
                </p:tgtEl>
              </p:cMediaNode>
            </p:vide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3"/>
          <p:cNvSpPr>
            <a:spLocks noGrp="1"/>
          </p:cNvSpPr>
          <p:nvPr>
            <p:ph type="body" sz="quarter" idx="4294967295"/>
          </p:nvPr>
        </p:nvSpPr>
        <p:spPr>
          <a:xfrm>
            <a:off x="8291015" y="238125"/>
            <a:ext cx="345317" cy="285750"/>
          </a:xfrm>
        </p:spPr>
        <p:txBody>
          <a:bodyPr>
            <a:normAutofit fontScale="25000" lnSpcReduction="20000"/>
          </a:bodyPr>
          <a:lstStyle/>
          <a:p>
            <a:fld id="{6A411C7E-A0FD-724D-940A-04190F31ED98}" type="slidenum">
              <a:rPr lang="en-US" smtClean="0"/>
              <a:t>43</a:t>
            </a:fld>
            <a:endParaRPr lang="en-US"/>
          </a:p>
        </p:txBody>
      </p:sp>
      <p:pic>
        <p:nvPicPr>
          <p:cNvPr id="4" name="Picture 3">
            <a:extLst>
              <a:ext uri="{FF2B5EF4-FFF2-40B4-BE49-F238E27FC236}">
                <a16:creationId xmlns:a16="http://schemas.microsoft.com/office/drawing/2014/main" id="{D9E20610-ADA9-FF4A-9983-55A6E035B71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913" y="890265"/>
            <a:ext cx="9012377" cy="2905619"/>
          </a:xfrm>
          <a:prstGeom prst="rect">
            <a:avLst/>
          </a:prstGeom>
        </p:spPr>
      </p:pic>
      <p:sp>
        <p:nvSpPr>
          <p:cNvPr id="9" name="Rounded Rectangle 8">
            <a:extLst>
              <a:ext uri="{FF2B5EF4-FFF2-40B4-BE49-F238E27FC236}">
                <a16:creationId xmlns:a16="http://schemas.microsoft.com/office/drawing/2014/main" id="{480C0AE4-C5C7-874C-A455-301B2B2BBF17}"/>
              </a:ext>
            </a:extLst>
          </p:cNvPr>
          <p:cNvSpPr/>
          <p:nvPr/>
        </p:nvSpPr>
        <p:spPr>
          <a:xfrm rot="5400000">
            <a:off x="-678686" y="2289616"/>
            <a:ext cx="2194340" cy="818200"/>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4"/>
          </a:p>
        </p:txBody>
      </p:sp>
      <p:sp>
        <p:nvSpPr>
          <p:cNvPr id="19" name="Oval 18">
            <a:extLst>
              <a:ext uri="{FF2B5EF4-FFF2-40B4-BE49-F238E27FC236}">
                <a16:creationId xmlns:a16="http://schemas.microsoft.com/office/drawing/2014/main" id="{E21BFB78-9B99-D246-B56E-4FF579EFED29}"/>
              </a:ext>
            </a:extLst>
          </p:cNvPr>
          <p:cNvSpPr/>
          <p:nvPr/>
        </p:nvSpPr>
        <p:spPr bwMode="auto">
          <a:xfrm>
            <a:off x="3347864" y="2709176"/>
            <a:ext cx="691712" cy="270983"/>
          </a:xfrm>
          <a:prstGeom prst="ellipse">
            <a:avLst/>
          </a:prstGeom>
          <a:solidFill>
            <a:srgbClr val="C00000">
              <a:alpha val="31000"/>
            </a:srgbClr>
          </a:solidFill>
          <a:ln w="25400" cap="flat" cmpd="sng" algn="ctr">
            <a:solidFill>
              <a:srgbClr val="C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a:endParaRPr lang="en-US" sz="1800"/>
          </a:p>
        </p:txBody>
      </p:sp>
      <p:sp>
        <p:nvSpPr>
          <p:cNvPr id="20" name="Oval 19">
            <a:extLst>
              <a:ext uri="{FF2B5EF4-FFF2-40B4-BE49-F238E27FC236}">
                <a16:creationId xmlns:a16="http://schemas.microsoft.com/office/drawing/2014/main" id="{78301484-3C48-4246-8EBA-6B84CEF3491F}"/>
              </a:ext>
            </a:extLst>
          </p:cNvPr>
          <p:cNvSpPr/>
          <p:nvPr/>
        </p:nvSpPr>
        <p:spPr bwMode="auto">
          <a:xfrm>
            <a:off x="3330696" y="3041704"/>
            <a:ext cx="691712" cy="303487"/>
          </a:xfrm>
          <a:prstGeom prst="ellipse">
            <a:avLst/>
          </a:prstGeom>
          <a:solidFill>
            <a:srgbClr val="C00000">
              <a:alpha val="31000"/>
            </a:srgbClr>
          </a:solidFill>
          <a:ln w="25400" cap="flat" cmpd="sng" algn="ctr">
            <a:solidFill>
              <a:srgbClr val="C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a:endParaRPr lang="en-US" sz="1800"/>
          </a:p>
        </p:txBody>
      </p:sp>
      <p:sp>
        <p:nvSpPr>
          <p:cNvPr id="21" name="Oval 20">
            <a:extLst>
              <a:ext uri="{FF2B5EF4-FFF2-40B4-BE49-F238E27FC236}">
                <a16:creationId xmlns:a16="http://schemas.microsoft.com/office/drawing/2014/main" id="{E12D9987-B9F8-C941-8849-7296D7A2C1FE}"/>
              </a:ext>
            </a:extLst>
          </p:cNvPr>
          <p:cNvSpPr/>
          <p:nvPr/>
        </p:nvSpPr>
        <p:spPr bwMode="auto">
          <a:xfrm>
            <a:off x="7621737" y="2753673"/>
            <a:ext cx="622671" cy="270983"/>
          </a:xfrm>
          <a:prstGeom prst="ellipse">
            <a:avLst/>
          </a:prstGeom>
          <a:solidFill>
            <a:srgbClr val="C00000">
              <a:alpha val="31000"/>
            </a:srgbClr>
          </a:solidFill>
          <a:ln w="25400" cap="flat" cmpd="sng" algn="ctr">
            <a:solidFill>
              <a:srgbClr val="C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a:endParaRPr lang="en-US" sz="1800"/>
          </a:p>
        </p:txBody>
      </p:sp>
      <p:sp>
        <p:nvSpPr>
          <p:cNvPr id="10" name="Rounded Rectangle 9">
            <a:extLst>
              <a:ext uri="{FF2B5EF4-FFF2-40B4-BE49-F238E27FC236}">
                <a16:creationId xmlns:a16="http://schemas.microsoft.com/office/drawing/2014/main" id="{20FE8108-0957-8A4E-84C8-E47CCEF561DD}"/>
              </a:ext>
            </a:extLst>
          </p:cNvPr>
          <p:cNvSpPr/>
          <p:nvPr/>
        </p:nvSpPr>
        <p:spPr>
          <a:xfrm rot="10800000">
            <a:off x="1835696" y="890264"/>
            <a:ext cx="7308302" cy="711282"/>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4"/>
          </a:p>
        </p:txBody>
      </p:sp>
      <p:sp>
        <p:nvSpPr>
          <p:cNvPr id="11" name="TextBox 10">
            <a:extLst>
              <a:ext uri="{FF2B5EF4-FFF2-40B4-BE49-F238E27FC236}">
                <a16:creationId xmlns:a16="http://schemas.microsoft.com/office/drawing/2014/main" id="{360508A6-9F99-214C-B84A-512A36B0893D}"/>
              </a:ext>
            </a:extLst>
          </p:cNvPr>
          <p:cNvSpPr txBox="1"/>
          <p:nvPr/>
        </p:nvSpPr>
        <p:spPr>
          <a:xfrm>
            <a:off x="26643" y="4144513"/>
            <a:ext cx="7804974" cy="900246"/>
          </a:xfrm>
          <a:prstGeom prst="rect">
            <a:avLst/>
          </a:prstGeom>
          <a:noFill/>
        </p:spPr>
        <p:txBody>
          <a:bodyPr wrap="square" rtlCol="0">
            <a:spAutoFit/>
          </a:bodyPr>
          <a:lstStyle/>
          <a:p>
            <a:r>
              <a:rPr lang="en-US" sz="1400" dirty="0"/>
              <a:t>We also show that biological and environmental factors also modulate disease progression</a:t>
            </a:r>
          </a:p>
          <a:p>
            <a:endParaRPr lang="en-US" sz="1400" dirty="0"/>
          </a:p>
          <a:p>
            <a:r>
              <a:rPr lang="en-US" sz="1400" dirty="0"/>
              <a:t>AD Course map charts Alzheimer’s disease progression, </a:t>
            </a:r>
            <a:r>
              <a:rPr lang="en-US" sz="1400" dirty="0" err="1"/>
              <a:t>Koval</a:t>
            </a:r>
            <a:r>
              <a:rPr lang="en-US" sz="1400" dirty="0"/>
              <a:t> et al. Scientific Reports, 2021</a:t>
            </a:r>
          </a:p>
          <a:p>
            <a:r>
              <a:rPr lang="en-US" sz="1050" i="1" dirty="0">
                <a:solidFill>
                  <a:schemeClr val="bg1"/>
                </a:solidFill>
              </a:rPr>
              <a:t>https://</a:t>
            </a:r>
            <a:r>
              <a:rPr lang="en-US" sz="1050" i="1" dirty="0" err="1">
                <a:solidFill>
                  <a:schemeClr val="bg1"/>
                </a:solidFill>
              </a:rPr>
              <a:t>hal.inria.fr</a:t>
            </a:r>
            <a:r>
              <a:rPr lang="en-US" sz="1050" i="1" dirty="0">
                <a:solidFill>
                  <a:schemeClr val="bg1"/>
                </a:solidFill>
              </a:rPr>
              <a:t>/hal-01964821</a:t>
            </a:r>
            <a:endParaRPr lang="en-US" sz="1400" i="1" dirty="0">
              <a:solidFill>
                <a:schemeClr val="bg1"/>
              </a:solidFill>
            </a:endParaRPr>
          </a:p>
        </p:txBody>
      </p:sp>
      <p:sp>
        <p:nvSpPr>
          <p:cNvPr id="12" name="TextBox 11">
            <a:extLst>
              <a:ext uri="{FF2B5EF4-FFF2-40B4-BE49-F238E27FC236}">
                <a16:creationId xmlns:a16="http://schemas.microsoft.com/office/drawing/2014/main" id="{0C967D75-4237-3D4F-9948-9921A3FE102B}"/>
              </a:ext>
            </a:extLst>
          </p:cNvPr>
          <p:cNvSpPr txBox="1"/>
          <p:nvPr/>
        </p:nvSpPr>
        <p:spPr>
          <a:xfrm>
            <a:off x="507668" y="123478"/>
            <a:ext cx="7736739" cy="400110"/>
          </a:xfrm>
          <a:prstGeom prst="rect">
            <a:avLst/>
          </a:prstGeom>
          <a:noFill/>
        </p:spPr>
        <p:txBody>
          <a:bodyPr wrap="square" rtlCol="0">
            <a:spAutoFit/>
          </a:bodyPr>
          <a:lstStyle/>
          <a:p>
            <a:pPr algn="ctr"/>
            <a:r>
              <a:rPr lang="fr-FR" sz="2000" b="1" dirty="0" err="1"/>
              <a:t>Explaining</a:t>
            </a:r>
            <a:r>
              <a:rPr lang="fr-FR" sz="2000" b="1" dirty="0"/>
              <a:t> </a:t>
            </a:r>
            <a:r>
              <a:rPr lang="fr-FR" sz="2000" b="1" dirty="0" err="1"/>
              <a:t>heterogeneity</a:t>
            </a:r>
            <a:r>
              <a:rPr lang="fr-FR" sz="2000" b="1" dirty="0"/>
              <a:t> in </a:t>
            </a:r>
            <a:r>
              <a:rPr lang="fr-FR" sz="2000" b="1" dirty="0" err="1"/>
              <a:t>disease</a:t>
            </a:r>
            <a:r>
              <a:rPr lang="fr-FR" sz="2000" b="1" dirty="0"/>
              <a:t> progression profiles</a:t>
            </a:r>
          </a:p>
        </p:txBody>
      </p:sp>
      <p:sp>
        <p:nvSpPr>
          <p:cNvPr id="2" name="Espace réservé du numéro de diapositive 1">
            <a:extLst>
              <a:ext uri="{FF2B5EF4-FFF2-40B4-BE49-F238E27FC236}">
                <a16:creationId xmlns:a16="http://schemas.microsoft.com/office/drawing/2014/main" id="{451471F6-0DD2-721E-0BAF-935A4F70146F}"/>
              </a:ext>
            </a:extLst>
          </p:cNvPr>
          <p:cNvSpPr>
            <a:spLocks noGrp="1"/>
          </p:cNvSpPr>
          <p:nvPr>
            <p:ph type="sldNum" sz="quarter" idx="12"/>
          </p:nvPr>
        </p:nvSpPr>
        <p:spPr/>
        <p:txBody>
          <a:bodyPr/>
          <a:lstStyle/>
          <a:p>
            <a:fld id="{B6E69D5D-3C54-E347-B3D4-70BDFA7C6521}" type="slidenum">
              <a:rPr lang="fr-FR" smtClean="0"/>
              <a:t>43</a:t>
            </a:fld>
            <a:endParaRPr lang="fr-FR"/>
          </a:p>
        </p:txBody>
      </p:sp>
    </p:spTree>
    <p:extLst>
      <p:ext uri="{BB962C8B-B14F-4D97-AF65-F5344CB8AC3E}">
        <p14:creationId xmlns:p14="http://schemas.microsoft.com/office/powerpoint/2010/main" val="357883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2993F180-1056-341E-D858-79325FFDB158}"/>
              </a:ext>
            </a:extLst>
          </p:cNvPr>
          <p:cNvSpPr>
            <a:spLocks noGrp="1"/>
          </p:cNvSpPr>
          <p:nvPr>
            <p:ph type="sldNum" sz="quarter" idx="12"/>
          </p:nvPr>
        </p:nvSpPr>
        <p:spPr/>
        <p:txBody>
          <a:bodyPr/>
          <a:lstStyle/>
          <a:p>
            <a:fld id="{B6E69D5D-3C54-E347-B3D4-70BDFA7C6521}" type="slidenum">
              <a:rPr lang="fr-FR" smtClean="0"/>
              <a:t>44</a:t>
            </a:fld>
            <a:endParaRPr lang="fr-FR"/>
          </a:p>
        </p:txBody>
      </p:sp>
      <p:sp>
        <p:nvSpPr>
          <p:cNvPr id="3" name="ZoneTexte 2">
            <a:extLst>
              <a:ext uri="{FF2B5EF4-FFF2-40B4-BE49-F238E27FC236}">
                <a16:creationId xmlns:a16="http://schemas.microsoft.com/office/drawing/2014/main" id="{30197292-2DA3-BE77-19B5-F00A24559F7E}"/>
              </a:ext>
            </a:extLst>
          </p:cNvPr>
          <p:cNvSpPr txBox="1"/>
          <p:nvPr/>
        </p:nvSpPr>
        <p:spPr>
          <a:xfrm>
            <a:off x="1570162" y="1790901"/>
            <a:ext cx="7116638" cy="1551322"/>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4. </a:t>
            </a:r>
            <a:r>
              <a:rPr lang="fr-FR" sz="2100" i="1" dirty="0" err="1">
                <a:latin typeface="Arial"/>
                <a:cs typeface="Arial"/>
              </a:rPr>
              <a:t>Forecast</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 up to 5 </a:t>
            </a:r>
            <a:r>
              <a:rPr lang="fr-FR" sz="2100" i="1" dirty="0" err="1">
                <a:latin typeface="Arial"/>
                <a:cs typeface="Arial"/>
              </a:rPr>
              <a:t>years</a:t>
            </a:r>
            <a:r>
              <a:rPr lang="fr-FR" sz="2100" i="1" dirty="0">
                <a:latin typeface="Arial"/>
                <a:cs typeface="Arial"/>
              </a:rPr>
              <a:t> in </a:t>
            </a:r>
            <a:r>
              <a:rPr lang="fr-FR" sz="2100" i="1" dirty="0" err="1">
                <a:latin typeface="Arial"/>
                <a:cs typeface="Arial"/>
              </a:rPr>
              <a:t>advance</a:t>
            </a:r>
            <a:endParaRPr lang="fr-FR" sz="3300" b="1" dirty="0">
              <a:solidFill>
                <a:schemeClr val="bg1"/>
              </a:solidFill>
              <a:latin typeface="Arial"/>
              <a:cs typeface="Arial"/>
            </a:endParaRP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2922226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3" descr="meanCurves.png">
            <a:extLst>
              <a:ext uri="{FF2B5EF4-FFF2-40B4-BE49-F238E27FC236}">
                <a16:creationId xmlns:a16="http://schemas.microsoft.com/office/drawing/2014/main" id="{2BD5E473-ABA8-4547-B924-3B3457117D8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485109"/>
          </a:xfrm>
          <a:prstGeom prst="rect">
            <a:avLst/>
          </a:prstGeom>
        </p:spPr>
      </p:pic>
      <p:sp>
        <p:nvSpPr>
          <p:cNvPr id="2" name="TextBox 1">
            <a:extLst>
              <a:ext uri="{FF2B5EF4-FFF2-40B4-BE49-F238E27FC236}">
                <a16:creationId xmlns:a16="http://schemas.microsoft.com/office/drawing/2014/main" id="{D83A1D33-5EBA-EB46-BB2E-AE6B2E18D986}"/>
              </a:ext>
            </a:extLst>
          </p:cNvPr>
          <p:cNvSpPr txBox="1"/>
          <p:nvPr/>
        </p:nvSpPr>
        <p:spPr>
          <a:xfrm>
            <a:off x="180622" y="2592211"/>
            <a:ext cx="2810934" cy="1477328"/>
          </a:xfrm>
          <a:prstGeom prst="rect">
            <a:avLst/>
          </a:prstGeom>
          <a:solidFill>
            <a:schemeClr val="bg1"/>
          </a:solidFill>
        </p:spPr>
        <p:txBody>
          <a:bodyPr wrap="square" rtlCol="0">
            <a:spAutoFit/>
          </a:bodyPr>
          <a:lstStyle/>
          <a:p>
            <a:r>
              <a:rPr lang="en-FR" b="1" dirty="0"/>
              <a:t>Step 0 (off-line): </a:t>
            </a:r>
          </a:p>
          <a:p>
            <a:r>
              <a:rPr lang="en-FR" dirty="0"/>
              <a:t>The model was trained on observational longitudinal data set.</a:t>
            </a:r>
          </a:p>
          <a:p>
            <a:endParaRPr lang="en-FR" dirty="0"/>
          </a:p>
        </p:txBody>
      </p:sp>
      <p:sp>
        <p:nvSpPr>
          <p:cNvPr id="3" name="Espace réservé du numéro de diapositive 2">
            <a:extLst>
              <a:ext uri="{FF2B5EF4-FFF2-40B4-BE49-F238E27FC236}">
                <a16:creationId xmlns:a16="http://schemas.microsoft.com/office/drawing/2014/main" id="{CA4C6A74-4FB2-43C5-7714-63DA0105B365}"/>
              </a:ext>
            </a:extLst>
          </p:cNvPr>
          <p:cNvSpPr>
            <a:spLocks noGrp="1"/>
          </p:cNvSpPr>
          <p:nvPr>
            <p:ph type="sldNum" sz="quarter" idx="12"/>
          </p:nvPr>
        </p:nvSpPr>
        <p:spPr/>
        <p:txBody>
          <a:bodyPr/>
          <a:lstStyle/>
          <a:p>
            <a:fld id="{B6E69D5D-3C54-E347-B3D4-70BDFA7C6521}" type="slidenum">
              <a:rPr lang="fr-FR" smtClean="0"/>
              <a:t>45</a:t>
            </a:fld>
            <a:endParaRPr lang="fr-FR"/>
          </a:p>
        </p:txBody>
      </p:sp>
      <p:sp>
        <p:nvSpPr>
          <p:cNvPr id="4" name="Espace réservé du numéro de diapositive 1">
            <a:extLst>
              <a:ext uri="{FF2B5EF4-FFF2-40B4-BE49-F238E27FC236}">
                <a16:creationId xmlns:a16="http://schemas.microsoft.com/office/drawing/2014/main" id="{AF826CC3-72BF-9690-5342-0AB194FF8F18}"/>
              </a:ext>
            </a:extLst>
          </p:cNvPr>
          <p:cNvSpPr txBox="1">
            <a:spLocks/>
          </p:cNvSpPr>
          <p:nvPr/>
        </p:nvSpPr>
        <p:spPr>
          <a:xfrm>
            <a:off x="6705600" y="4919664"/>
            <a:ext cx="2133600" cy="273844"/>
          </a:xfrm>
          <a:prstGeom prst="rect">
            <a:avLst/>
          </a:prstGeom>
        </p:spPr>
        <p:txBody>
          <a:bodyPr vert="horz" lIns="91440" tIns="45720" rIns="91440" bIns="4572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mtClean="0"/>
              <a:pPr/>
              <a:t>45</a:t>
            </a:fld>
            <a:endParaRPr lang="fr-FR"/>
          </a:p>
        </p:txBody>
      </p:sp>
    </p:spTree>
    <p:extLst>
      <p:ext uri="{BB962C8B-B14F-4D97-AF65-F5344CB8AC3E}">
        <p14:creationId xmlns:p14="http://schemas.microsoft.com/office/powerpoint/2010/main" val="3765485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4" descr="30visits.png">
            <a:extLst>
              <a:ext uri="{FF2B5EF4-FFF2-40B4-BE49-F238E27FC236}">
                <a16:creationId xmlns:a16="http://schemas.microsoft.com/office/drawing/2014/main" id="{0AB40E90-8D71-3A4E-A115-B7C3A98B819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485109"/>
          </a:xfrm>
          <a:prstGeom prst="rect">
            <a:avLst/>
          </a:prstGeom>
        </p:spPr>
      </p:pic>
      <p:sp>
        <p:nvSpPr>
          <p:cNvPr id="5" name="Oval 4">
            <a:extLst>
              <a:ext uri="{FF2B5EF4-FFF2-40B4-BE49-F238E27FC236}">
                <a16:creationId xmlns:a16="http://schemas.microsoft.com/office/drawing/2014/main" id="{FC40BE61-543D-7941-BEF1-1D07BA9F79D3}"/>
              </a:ext>
            </a:extLst>
          </p:cNvPr>
          <p:cNvSpPr>
            <a:spLocks noChangeAspect="1"/>
          </p:cNvSpPr>
          <p:nvPr/>
        </p:nvSpPr>
        <p:spPr>
          <a:xfrm>
            <a:off x="6264000" y="3240506"/>
            <a:ext cx="108000" cy="108000"/>
          </a:xfrm>
          <a:prstGeom prst="ellipse">
            <a:avLst/>
          </a:prstGeom>
          <a:solidFill>
            <a:srgbClr val="D03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6" name="Oval 5">
            <a:extLst>
              <a:ext uri="{FF2B5EF4-FFF2-40B4-BE49-F238E27FC236}">
                <a16:creationId xmlns:a16="http://schemas.microsoft.com/office/drawing/2014/main" id="{9122D010-DDF3-F949-9471-3FAAE6636242}"/>
              </a:ext>
            </a:extLst>
          </p:cNvPr>
          <p:cNvSpPr>
            <a:spLocks noChangeAspect="1"/>
          </p:cNvSpPr>
          <p:nvPr/>
        </p:nvSpPr>
        <p:spPr>
          <a:xfrm>
            <a:off x="6264000" y="3842082"/>
            <a:ext cx="108000" cy="108000"/>
          </a:xfrm>
          <a:prstGeom prst="ellipse">
            <a:avLst/>
          </a:prstGeom>
          <a:solidFill>
            <a:srgbClr val="3BC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7" name="Oval 6">
            <a:extLst>
              <a:ext uri="{FF2B5EF4-FFF2-40B4-BE49-F238E27FC236}">
                <a16:creationId xmlns:a16="http://schemas.microsoft.com/office/drawing/2014/main" id="{A113C1EC-66A1-B046-9F81-C2252C2A73D5}"/>
              </a:ext>
            </a:extLst>
          </p:cNvPr>
          <p:cNvSpPr>
            <a:spLocks noChangeAspect="1"/>
          </p:cNvSpPr>
          <p:nvPr/>
        </p:nvSpPr>
        <p:spPr>
          <a:xfrm>
            <a:off x="6264000" y="4547937"/>
            <a:ext cx="108000" cy="108000"/>
          </a:xfrm>
          <a:prstGeom prst="ellipse">
            <a:avLst/>
          </a:prstGeom>
          <a:solidFill>
            <a:srgbClr val="FD2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8" name="Oval 7">
            <a:extLst>
              <a:ext uri="{FF2B5EF4-FFF2-40B4-BE49-F238E27FC236}">
                <a16:creationId xmlns:a16="http://schemas.microsoft.com/office/drawing/2014/main" id="{2C3B44DE-6408-E744-8888-D7E67879465C}"/>
              </a:ext>
            </a:extLst>
          </p:cNvPr>
          <p:cNvSpPr>
            <a:spLocks noChangeAspect="1"/>
          </p:cNvSpPr>
          <p:nvPr/>
        </p:nvSpPr>
        <p:spPr>
          <a:xfrm>
            <a:off x="6264000" y="4708354"/>
            <a:ext cx="108000" cy="108000"/>
          </a:xfrm>
          <a:prstGeom prst="ellipse">
            <a:avLst/>
          </a:prstGeom>
          <a:solidFill>
            <a:srgbClr val="60D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9" name="TextBox 8">
            <a:extLst>
              <a:ext uri="{FF2B5EF4-FFF2-40B4-BE49-F238E27FC236}">
                <a16:creationId xmlns:a16="http://schemas.microsoft.com/office/drawing/2014/main" id="{DFF289D5-477C-7649-869B-7559F3A9C62D}"/>
              </a:ext>
            </a:extLst>
          </p:cNvPr>
          <p:cNvSpPr txBox="1"/>
          <p:nvPr/>
        </p:nvSpPr>
        <p:spPr>
          <a:xfrm>
            <a:off x="180622" y="2592211"/>
            <a:ext cx="2810934" cy="2862322"/>
          </a:xfrm>
          <a:prstGeom prst="rect">
            <a:avLst/>
          </a:prstGeom>
          <a:solidFill>
            <a:schemeClr val="bg1"/>
          </a:solidFill>
        </p:spPr>
        <p:txBody>
          <a:bodyPr wrap="square" rtlCol="0">
            <a:spAutoFit/>
          </a:bodyPr>
          <a:lstStyle/>
          <a:p>
            <a:r>
              <a:rPr lang="en-FR" b="1" dirty="0"/>
              <a:t>Step 1: </a:t>
            </a:r>
          </a:p>
          <a:p>
            <a:pPr marL="285750" indent="-285750">
              <a:buFontTx/>
              <a:buChar char="-"/>
            </a:pPr>
            <a:r>
              <a:rPr lang="en-FR" dirty="0"/>
              <a:t>A new patient comes in.</a:t>
            </a:r>
          </a:p>
          <a:p>
            <a:pPr marL="285750" indent="-285750">
              <a:buFontTx/>
              <a:buChar char="-"/>
            </a:pPr>
            <a:r>
              <a:rPr lang="en-FR" dirty="0"/>
              <a:t>We report the endpoints of the patient at his corresponding age.</a:t>
            </a:r>
          </a:p>
          <a:p>
            <a:pPr marL="285750" indent="-285750">
              <a:buFontTx/>
              <a:buChar char="-"/>
            </a:pPr>
            <a:r>
              <a:rPr lang="en-FR" dirty="0"/>
              <a:t>We adjust the model parmeters to predict a progression curve of the patient.</a:t>
            </a:r>
          </a:p>
          <a:p>
            <a:endParaRPr lang="en-FR" dirty="0"/>
          </a:p>
        </p:txBody>
      </p:sp>
      <p:sp>
        <p:nvSpPr>
          <p:cNvPr id="2" name="Espace réservé du numéro de diapositive 1">
            <a:extLst>
              <a:ext uri="{FF2B5EF4-FFF2-40B4-BE49-F238E27FC236}">
                <a16:creationId xmlns:a16="http://schemas.microsoft.com/office/drawing/2014/main" id="{5E8C99ED-07AA-A86F-F402-108F36B97E29}"/>
              </a:ext>
            </a:extLst>
          </p:cNvPr>
          <p:cNvSpPr>
            <a:spLocks noGrp="1"/>
          </p:cNvSpPr>
          <p:nvPr>
            <p:ph type="sldNum" sz="quarter" idx="12"/>
          </p:nvPr>
        </p:nvSpPr>
        <p:spPr/>
        <p:txBody>
          <a:bodyPr/>
          <a:lstStyle/>
          <a:p>
            <a:fld id="{B6E69D5D-3C54-E347-B3D4-70BDFA7C6521}" type="slidenum">
              <a:rPr lang="fr-FR" smtClean="0"/>
              <a:t>46</a:t>
            </a:fld>
            <a:endParaRPr lang="fr-FR"/>
          </a:p>
        </p:txBody>
      </p:sp>
      <p:sp>
        <p:nvSpPr>
          <p:cNvPr id="3" name="Espace réservé du numéro de diapositive 1">
            <a:extLst>
              <a:ext uri="{FF2B5EF4-FFF2-40B4-BE49-F238E27FC236}">
                <a16:creationId xmlns:a16="http://schemas.microsoft.com/office/drawing/2014/main" id="{DF3FB221-069C-63F7-F288-EA23123FE16D}"/>
              </a:ext>
            </a:extLst>
          </p:cNvPr>
          <p:cNvSpPr txBox="1">
            <a:spLocks/>
          </p:cNvSpPr>
          <p:nvPr/>
        </p:nvSpPr>
        <p:spPr>
          <a:xfrm>
            <a:off x="6705600" y="4919664"/>
            <a:ext cx="2133600" cy="273844"/>
          </a:xfrm>
          <a:prstGeom prst="rect">
            <a:avLst/>
          </a:prstGeom>
        </p:spPr>
        <p:txBody>
          <a:bodyPr vert="horz" lIns="91440" tIns="45720" rIns="91440" bIns="4572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mtClean="0"/>
              <a:pPr/>
              <a:t>46</a:t>
            </a:fld>
            <a:endParaRPr lang="fr-FR"/>
          </a:p>
        </p:txBody>
      </p:sp>
    </p:spTree>
    <p:extLst>
      <p:ext uri="{BB962C8B-B14F-4D97-AF65-F5344CB8AC3E}">
        <p14:creationId xmlns:p14="http://schemas.microsoft.com/office/powerpoint/2010/main" val="15327708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34" descr="30visits.png">
            <a:extLst>
              <a:ext uri="{FF2B5EF4-FFF2-40B4-BE49-F238E27FC236}">
                <a16:creationId xmlns:a16="http://schemas.microsoft.com/office/drawing/2014/main" id="{ABE45446-8007-644C-B7F6-8B83613BD95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485109"/>
          </a:xfrm>
          <a:prstGeom prst="rect">
            <a:avLst/>
          </a:prstGeom>
        </p:spPr>
      </p:pic>
      <p:pic>
        <p:nvPicPr>
          <p:cNvPr id="4" name="Image 34" descr="30visits.png">
            <a:extLst>
              <a:ext uri="{FF2B5EF4-FFF2-40B4-BE49-F238E27FC236}">
                <a16:creationId xmlns:a16="http://schemas.microsoft.com/office/drawing/2014/main" id="{0AB40E90-8D71-3A4E-A115-B7C3A98B819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485109"/>
          </a:xfrm>
          <a:prstGeom prst="rect">
            <a:avLst/>
          </a:prstGeom>
        </p:spPr>
      </p:pic>
      <p:sp>
        <p:nvSpPr>
          <p:cNvPr id="9" name="Oval 8">
            <a:extLst>
              <a:ext uri="{FF2B5EF4-FFF2-40B4-BE49-F238E27FC236}">
                <a16:creationId xmlns:a16="http://schemas.microsoft.com/office/drawing/2014/main" id="{771EE5B3-0026-0040-99CC-CDC62EA2A8E1}"/>
              </a:ext>
            </a:extLst>
          </p:cNvPr>
          <p:cNvSpPr>
            <a:spLocks noChangeAspect="1"/>
          </p:cNvSpPr>
          <p:nvPr/>
        </p:nvSpPr>
        <p:spPr>
          <a:xfrm>
            <a:off x="6657030" y="2703100"/>
            <a:ext cx="108000" cy="108000"/>
          </a:xfrm>
          <a:prstGeom prst="ellipse">
            <a:avLst/>
          </a:prstGeom>
          <a:solidFill>
            <a:srgbClr val="D039EE"/>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0" name="Oval 9">
            <a:extLst>
              <a:ext uri="{FF2B5EF4-FFF2-40B4-BE49-F238E27FC236}">
                <a16:creationId xmlns:a16="http://schemas.microsoft.com/office/drawing/2014/main" id="{518F3A89-57A0-8744-BA1F-BA04AF64499A}"/>
              </a:ext>
            </a:extLst>
          </p:cNvPr>
          <p:cNvSpPr>
            <a:spLocks noChangeAspect="1"/>
          </p:cNvSpPr>
          <p:nvPr/>
        </p:nvSpPr>
        <p:spPr>
          <a:xfrm>
            <a:off x="6657030" y="3513222"/>
            <a:ext cx="108000" cy="108000"/>
          </a:xfrm>
          <a:prstGeom prst="ellipse">
            <a:avLst/>
          </a:prstGeom>
          <a:solidFill>
            <a:srgbClr val="3BC1E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1" name="Oval 10">
            <a:extLst>
              <a:ext uri="{FF2B5EF4-FFF2-40B4-BE49-F238E27FC236}">
                <a16:creationId xmlns:a16="http://schemas.microsoft.com/office/drawing/2014/main" id="{E8DA9FB8-167E-0843-8EAE-132DCE5006B1}"/>
              </a:ext>
            </a:extLst>
          </p:cNvPr>
          <p:cNvSpPr>
            <a:spLocks noChangeAspect="1"/>
          </p:cNvSpPr>
          <p:nvPr/>
        </p:nvSpPr>
        <p:spPr>
          <a:xfrm>
            <a:off x="6657030" y="4411581"/>
            <a:ext cx="108000" cy="108000"/>
          </a:xfrm>
          <a:prstGeom prst="ellipse">
            <a:avLst/>
          </a:prstGeom>
          <a:solidFill>
            <a:srgbClr val="FD293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2" name="Oval 11">
            <a:extLst>
              <a:ext uri="{FF2B5EF4-FFF2-40B4-BE49-F238E27FC236}">
                <a16:creationId xmlns:a16="http://schemas.microsoft.com/office/drawing/2014/main" id="{DBBB8640-09EE-484D-9C31-FBFDAE3A983B}"/>
              </a:ext>
            </a:extLst>
          </p:cNvPr>
          <p:cNvSpPr>
            <a:spLocks noChangeAspect="1"/>
          </p:cNvSpPr>
          <p:nvPr/>
        </p:nvSpPr>
        <p:spPr>
          <a:xfrm>
            <a:off x="6657030" y="4539914"/>
            <a:ext cx="108000" cy="108000"/>
          </a:xfrm>
          <a:prstGeom prst="ellipse">
            <a:avLst/>
          </a:prstGeom>
          <a:solidFill>
            <a:srgbClr val="60D45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2" name="Rectangle 1">
            <a:extLst>
              <a:ext uri="{FF2B5EF4-FFF2-40B4-BE49-F238E27FC236}">
                <a16:creationId xmlns:a16="http://schemas.microsoft.com/office/drawing/2014/main" id="{370EB8CC-3B69-A947-BDA7-25C00235F731}"/>
              </a:ext>
            </a:extLst>
          </p:cNvPr>
          <p:cNvSpPr/>
          <p:nvPr/>
        </p:nvSpPr>
        <p:spPr>
          <a:xfrm>
            <a:off x="6657030" y="2374232"/>
            <a:ext cx="108000" cy="2705100"/>
          </a:xfrm>
          <a:prstGeom prst="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4" name="Oval 13">
            <a:extLst>
              <a:ext uri="{FF2B5EF4-FFF2-40B4-BE49-F238E27FC236}">
                <a16:creationId xmlns:a16="http://schemas.microsoft.com/office/drawing/2014/main" id="{0D15CD31-8C33-264D-8C3D-F67018084517}"/>
              </a:ext>
            </a:extLst>
          </p:cNvPr>
          <p:cNvSpPr>
            <a:spLocks noChangeAspect="1"/>
          </p:cNvSpPr>
          <p:nvPr/>
        </p:nvSpPr>
        <p:spPr>
          <a:xfrm>
            <a:off x="6264000" y="3240506"/>
            <a:ext cx="108000" cy="108000"/>
          </a:xfrm>
          <a:prstGeom prst="ellipse">
            <a:avLst/>
          </a:prstGeom>
          <a:solidFill>
            <a:srgbClr val="D03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5" name="Oval 14">
            <a:extLst>
              <a:ext uri="{FF2B5EF4-FFF2-40B4-BE49-F238E27FC236}">
                <a16:creationId xmlns:a16="http://schemas.microsoft.com/office/drawing/2014/main" id="{ED630DE2-812E-7B4F-9990-A8E1A22E6B4E}"/>
              </a:ext>
            </a:extLst>
          </p:cNvPr>
          <p:cNvSpPr>
            <a:spLocks noChangeAspect="1"/>
          </p:cNvSpPr>
          <p:nvPr/>
        </p:nvSpPr>
        <p:spPr>
          <a:xfrm>
            <a:off x="6264000" y="3842082"/>
            <a:ext cx="108000" cy="108000"/>
          </a:xfrm>
          <a:prstGeom prst="ellipse">
            <a:avLst/>
          </a:prstGeom>
          <a:solidFill>
            <a:srgbClr val="3BC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6" name="Oval 15">
            <a:extLst>
              <a:ext uri="{FF2B5EF4-FFF2-40B4-BE49-F238E27FC236}">
                <a16:creationId xmlns:a16="http://schemas.microsoft.com/office/drawing/2014/main" id="{BC9CF9DE-6500-8E46-B2DE-703E68DDAE75}"/>
              </a:ext>
            </a:extLst>
          </p:cNvPr>
          <p:cNvSpPr>
            <a:spLocks noChangeAspect="1"/>
          </p:cNvSpPr>
          <p:nvPr/>
        </p:nvSpPr>
        <p:spPr>
          <a:xfrm>
            <a:off x="6264000" y="4547937"/>
            <a:ext cx="108000" cy="108000"/>
          </a:xfrm>
          <a:prstGeom prst="ellipse">
            <a:avLst/>
          </a:prstGeom>
          <a:solidFill>
            <a:srgbClr val="FD2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7" name="Oval 16">
            <a:extLst>
              <a:ext uri="{FF2B5EF4-FFF2-40B4-BE49-F238E27FC236}">
                <a16:creationId xmlns:a16="http://schemas.microsoft.com/office/drawing/2014/main" id="{DC72B071-83F6-EB41-997A-C7014DD25424}"/>
              </a:ext>
            </a:extLst>
          </p:cNvPr>
          <p:cNvSpPr>
            <a:spLocks noChangeAspect="1"/>
          </p:cNvSpPr>
          <p:nvPr/>
        </p:nvSpPr>
        <p:spPr>
          <a:xfrm>
            <a:off x="6264000" y="4708354"/>
            <a:ext cx="108000" cy="108000"/>
          </a:xfrm>
          <a:prstGeom prst="ellipse">
            <a:avLst/>
          </a:prstGeom>
          <a:solidFill>
            <a:srgbClr val="60D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a:p>
        </p:txBody>
      </p:sp>
      <p:sp>
        <p:nvSpPr>
          <p:cNvPr id="19" name="TextBox 18">
            <a:extLst>
              <a:ext uri="{FF2B5EF4-FFF2-40B4-BE49-F238E27FC236}">
                <a16:creationId xmlns:a16="http://schemas.microsoft.com/office/drawing/2014/main" id="{43D23FF4-FCD2-3440-B8D1-EE82E85E4D5D}"/>
              </a:ext>
            </a:extLst>
          </p:cNvPr>
          <p:cNvSpPr txBox="1"/>
          <p:nvPr/>
        </p:nvSpPr>
        <p:spPr>
          <a:xfrm>
            <a:off x="180622" y="2592211"/>
            <a:ext cx="2810934" cy="2308324"/>
          </a:xfrm>
          <a:prstGeom prst="rect">
            <a:avLst/>
          </a:prstGeom>
          <a:solidFill>
            <a:schemeClr val="bg1"/>
          </a:solidFill>
        </p:spPr>
        <p:txBody>
          <a:bodyPr wrap="square" rtlCol="0">
            <a:spAutoFit/>
          </a:bodyPr>
          <a:lstStyle/>
          <a:p>
            <a:r>
              <a:rPr lang="en-FR" b="1" dirty="0"/>
              <a:t>Step 2: </a:t>
            </a:r>
          </a:p>
          <a:p>
            <a:pPr marL="285750" indent="-285750">
              <a:buFontTx/>
              <a:buChar char="-"/>
            </a:pPr>
            <a:r>
              <a:rPr lang="en-GB" dirty="0"/>
              <a:t>W</a:t>
            </a:r>
            <a:r>
              <a:rPr lang="en-FR" dirty="0"/>
              <a:t>e forecast the endpoint values at follow-up visits</a:t>
            </a:r>
          </a:p>
          <a:p>
            <a:pPr marL="285750" indent="-285750">
              <a:buFontTx/>
              <a:buChar char="-"/>
            </a:pPr>
            <a:r>
              <a:rPr lang="en-FR" dirty="0"/>
              <a:t>We measure the discrepancy with the true hidden measurement</a:t>
            </a:r>
          </a:p>
        </p:txBody>
      </p:sp>
      <p:sp>
        <p:nvSpPr>
          <p:cNvPr id="3" name="Espace réservé du numéro de diapositive 2">
            <a:extLst>
              <a:ext uri="{FF2B5EF4-FFF2-40B4-BE49-F238E27FC236}">
                <a16:creationId xmlns:a16="http://schemas.microsoft.com/office/drawing/2014/main" id="{C5714AD7-A73A-E052-3079-7773376FE3EB}"/>
              </a:ext>
            </a:extLst>
          </p:cNvPr>
          <p:cNvSpPr>
            <a:spLocks noGrp="1"/>
          </p:cNvSpPr>
          <p:nvPr>
            <p:ph type="sldNum" sz="quarter" idx="12"/>
          </p:nvPr>
        </p:nvSpPr>
        <p:spPr/>
        <p:txBody>
          <a:bodyPr/>
          <a:lstStyle/>
          <a:p>
            <a:fld id="{B6E69D5D-3C54-E347-B3D4-70BDFA7C6521}" type="slidenum">
              <a:rPr lang="fr-FR" smtClean="0"/>
              <a:t>47</a:t>
            </a:fld>
            <a:endParaRPr lang="fr-FR"/>
          </a:p>
        </p:txBody>
      </p:sp>
      <p:sp>
        <p:nvSpPr>
          <p:cNvPr id="5" name="Espace réservé du numéro de diapositive 1">
            <a:extLst>
              <a:ext uri="{FF2B5EF4-FFF2-40B4-BE49-F238E27FC236}">
                <a16:creationId xmlns:a16="http://schemas.microsoft.com/office/drawing/2014/main" id="{CCBE3D20-3C18-F061-52B6-DF46E107C16D}"/>
              </a:ext>
            </a:extLst>
          </p:cNvPr>
          <p:cNvSpPr txBox="1">
            <a:spLocks/>
          </p:cNvSpPr>
          <p:nvPr/>
        </p:nvSpPr>
        <p:spPr>
          <a:xfrm>
            <a:off x="6705600" y="4919664"/>
            <a:ext cx="2133600" cy="273844"/>
          </a:xfrm>
          <a:prstGeom prst="rect">
            <a:avLst/>
          </a:prstGeom>
        </p:spPr>
        <p:txBody>
          <a:bodyPr vert="horz" lIns="91440" tIns="45720" rIns="91440" bIns="4572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mtClean="0"/>
              <a:pPr/>
              <a:t>47</a:t>
            </a:fld>
            <a:endParaRPr lang="fr-FR"/>
          </a:p>
        </p:txBody>
      </p:sp>
    </p:spTree>
    <p:extLst>
      <p:ext uri="{BB962C8B-B14F-4D97-AF65-F5344CB8AC3E}">
        <p14:creationId xmlns:p14="http://schemas.microsoft.com/office/powerpoint/2010/main" val="272923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D51860-650D-B545-A96F-0ED17D3F09B1}"/>
              </a:ext>
            </a:extLst>
          </p:cNvPr>
          <p:cNvPicPr>
            <a:picLocks noChangeAspect="1"/>
          </p:cNvPicPr>
          <p:nvPr/>
        </p:nvPicPr>
        <p:blipFill rotWithShape="1">
          <a:blip r:embed="rId2"/>
          <a:srcRect b="9549"/>
          <a:stretch/>
        </p:blipFill>
        <p:spPr>
          <a:xfrm>
            <a:off x="-1" y="-1"/>
            <a:ext cx="9152001" cy="4656407"/>
          </a:xfrm>
          <a:prstGeom prst="rect">
            <a:avLst/>
          </a:prstGeom>
        </p:spPr>
      </p:pic>
      <p:sp>
        <p:nvSpPr>
          <p:cNvPr id="2" name="TextBox 1">
            <a:extLst>
              <a:ext uri="{FF2B5EF4-FFF2-40B4-BE49-F238E27FC236}">
                <a16:creationId xmlns:a16="http://schemas.microsoft.com/office/drawing/2014/main" id="{9DD818BD-6E6F-1F40-9DDD-2E874705BDAD}"/>
              </a:ext>
            </a:extLst>
          </p:cNvPr>
          <p:cNvSpPr txBox="1"/>
          <p:nvPr/>
        </p:nvSpPr>
        <p:spPr>
          <a:xfrm>
            <a:off x="218049" y="4525304"/>
            <a:ext cx="8707901" cy="646331"/>
          </a:xfrm>
          <a:prstGeom prst="rect">
            <a:avLst/>
          </a:prstGeom>
          <a:noFill/>
        </p:spPr>
        <p:txBody>
          <a:bodyPr wrap="square" rtlCol="0">
            <a:spAutoFit/>
          </a:bodyPr>
          <a:lstStyle/>
          <a:p>
            <a:pPr algn="ctr"/>
            <a:r>
              <a:rPr lang="en-FR" b="1" dirty="0"/>
              <a:t>AD Course Map better predicts cognitive decline than 56 alternative methods from the TADPOLE Challenge</a:t>
            </a:r>
          </a:p>
        </p:txBody>
      </p:sp>
      <p:sp>
        <p:nvSpPr>
          <p:cNvPr id="3" name="Espace réservé du numéro de diapositive 2">
            <a:extLst>
              <a:ext uri="{FF2B5EF4-FFF2-40B4-BE49-F238E27FC236}">
                <a16:creationId xmlns:a16="http://schemas.microsoft.com/office/drawing/2014/main" id="{D25509A6-549B-DE6C-DCB3-5AC40BCCDF58}"/>
              </a:ext>
            </a:extLst>
          </p:cNvPr>
          <p:cNvSpPr>
            <a:spLocks noGrp="1"/>
          </p:cNvSpPr>
          <p:nvPr>
            <p:ph type="sldNum" sz="quarter" idx="12"/>
          </p:nvPr>
        </p:nvSpPr>
        <p:spPr/>
        <p:txBody>
          <a:bodyPr/>
          <a:lstStyle/>
          <a:p>
            <a:fld id="{B6E69D5D-3C54-E347-B3D4-70BDFA7C6521}" type="slidenum">
              <a:rPr lang="fr-FR" smtClean="0"/>
              <a:t>48</a:t>
            </a:fld>
            <a:endParaRPr lang="fr-FR"/>
          </a:p>
        </p:txBody>
      </p:sp>
    </p:spTree>
    <p:extLst>
      <p:ext uri="{BB962C8B-B14F-4D97-AF65-F5344CB8AC3E}">
        <p14:creationId xmlns:p14="http://schemas.microsoft.com/office/powerpoint/2010/main" val="19298558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1CE57821-F437-A645-B29B-45F53EC48FFA}"/>
              </a:ext>
            </a:extLst>
          </p:cNvPr>
          <p:cNvSpPr>
            <a:spLocks noGrp="1"/>
          </p:cNvSpPr>
          <p:nvPr>
            <p:ph type="sldNum" sz="quarter" idx="12"/>
          </p:nvPr>
        </p:nvSpPr>
        <p:spPr/>
        <p:txBody>
          <a:bodyPr/>
          <a:lstStyle/>
          <a:p>
            <a:fld id="{B6E69D5D-3C54-E347-B3D4-70BDFA7C6521}" type="slidenum">
              <a:rPr lang="fr-FR" smtClean="0"/>
              <a:t>49</a:t>
            </a:fld>
            <a:endParaRPr lang="fr-FR"/>
          </a:p>
        </p:txBody>
      </p:sp>
      <p:sp>
        <p:nvSpPr>
          <p:cNvPr id="5" name="ZoneTexte 4">
            <a:extLst>
              <a:ext uri="{FF2B5EF4-FFF2-40B4-BE49-F238E27FC236}">
                <a16:creationId xmlns:a16="http://schemas.microsoft.com/office/drawing/2014/main" id="{399A99C4-04F1-3999-1EDD-3D788343ABAD}"/>
              </a:ext>
            </a:extLst>
          </p:cNvPr>
          <p:cNvSpPr txBox="1"/>
          <p:nvPr/>
        </p:nvSpPr>
        <p:spPr>
          <a:xfrm>
            <a:off x="1570162" y="1790901"/>
            <a:ext cx="7116638" cy="1906804"/>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5. </a:t>
            </a:r>
            <a:r>
              <a:rPr lang="fr-FR" sz="2100" i="1" dirty="0" err="1">
                <a:latin typeface="Arial"/>
                <a:cs typeface="Arial"/>
              </a:rPr>
              <a:t>Generates</a:t>
            </a:r>
            <a:r>
              <a:rPr lang="fr-FR" sz="2100" i="1" dirty="0">
                <a:latin typeface="Arial"/>
                <a:cs typeface="Arial"/>
              </a:rPr>
              <a:t> </a:t>
            </a:r>
            <a:r>
              <a:rPr lang="fr-FR" sz="2100" i="1" dirty="0" err="1">
                <a:latin typeface="Arial"/>
                <a:cs typeface="Arial"/>
              </a:rPr>
              <a:t>virtual</a:t>
            </a:r>
            <a:r>
              <a:rPr lang="fr-FR" sz="2100" i="1" dirty="0">
                <a:latin typeface="Arial"/>
                <a:cs typeface="Arial"/>
              </a:rPr>
              <a:t> </a:t>
            </a:r>
            <a:r>
              <a:rPr lang="fr-FR" sz="2100" i="1" dirty="0" err="1">
                <a:latin typeface="Arial"/>
                <a:cs typeface="Arial"/>
              </a:rPr>
              <a:t>cohorts</a:t>
            </a:r>
            <a:r>
              <a:rPr lang="fr-FR" sz="2100" i="1" dirty="0">
                <a:latin typeface="Arial"/>
                <a:cs typeface="Arial"/>
              </a:rPr>
              <a:t> of patients</a:t>
            </a:r>
            <a:endParaRPr lang="fr-FR" sz="2100" dirty="0">
              <a:latin typeface="Arial"/>
              <a:cs typeface="Arial"/>
            </a:endParaRPr>
          </a:p>
          <a:p>
            <a:pPr algn="r">
              <a:lnSpc>
                <a:spcPct val="70000"/>
              </a:lnSpc>
            </a:pPr>
            <a:endParaRPr lang="fr-FR" sz="3300" b="1" dirty="0">
              <a:solidFill>
                <a:schemeClr val="bg1"/>
              </a:solidFill>
              <a:latin typeface="Arial"/>
              <a:cs typeface="Arial"/>
            </a:endParaRP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1530476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75ADDE-8154-1B46-9A08-95D103ADDF0B}"/>
              </a:ext>
            </a:extLst>
          </p:cNvPr>
          <p:cNvSpPr>
            <a:spLocks noGrp="1"/>
          </p:cNvSpPr>
          <p:nvPr>
            <p:ph idx="1"/>
          </p:nvPr>
        </p:nvSpPr>
        <p:spPr>
          <a:xfrm>
            <a:off x="457200" y="464949"/>
            <a:ext cx="8229600" cy="4324027"/>
          </a:xfrm>
        </p:spPr>
        <p:txBody>
          <a:bodyPr>
            <a:normAutofit fontScale="92500" lnSpcReduction="20000"/>
          </a:bodyPr>
          <a:lstStyle/>
          <a:p>
            <a:pPr marL="0" indent="0">
              <a:buNone/>
            </a:pPr>
            <a:r>
              <a:rPr lang="en-FR" b="1" dirty="0"/>
              <a:t>Input:</a:t>
            </a:r>
          </a:p>
          <a:p>
            <a:pPr>
              <a:buFontTx/>
              <a:buChar char="-"/>
            </a:pPr>
            <a:r>
              <a:rPr lang="en-FR" dirty="0"/>
              <a:t>parameter distribution in AD Course Map</a:t>
            </a:r>
          </a:p>
          <a:p>
            <a:pPr>
              <a:buFontTx/>
              <a:buChar char="-"/>
            </a:pPr>
            <a:r>
              <a:rPr lang="en-FR" dirty="0"/>
              <a:t>participants characteristics (taken as in ADNI in this experiment)</a:t>
            </a:r>
          </a:p>
          <a:p>
            <a:pPr lvl="1">
              <a:buFontTx/>
              <a:buChar char="-"/>
            </a:pPr>
            <a:r>
              <a:rPr lang="en-FR" dirty="0"/>
              <a:t>number of participants</a:t>
            </a:r>
          </a:p>
          <a:p>
            <a:pPr lvl="1">
              <a:buFontTx/>
              <a:buChar char="-"/>
            </a:pPr>
            <a:r>
              <a:rPr lang="en-FR" dirty="0"/>
              <a:t>sex ratio</a:t>
            </a:r>
          </a:p>
          <a:p>
            <a:pPr lvl="1">
              <a:buFontTx/>
              <a:buChar char="-"/>
            </a:pPr>
            <a:r>
              <a:rPr lang="en-FR" dirty="0"/>
              <a:t>average and std of number of visits per participant</a:t>
            </a:r>
          </a:p>
          <a:p>
            <a:pPr marL="0" indent="0">
              <a:buNone/>
            </a:pPr>
            <a:endParaRPr lang="en-FR" dirty="0"/>
          </a:p>
          <a:p>
            <a:pPr marL="0" indent="0">
              <a:buNone/>
            </a:pPr>
            <a:r>
              <a:rPr lang="en-FR" b="1" dirty="0"/>
              <a:t>Output: </a:t>
            </a:r>
            <a:r>
              <a:rPr lang="en-FR" dirty="0"/>
              <a:t>a simulated longitudinal data set, e.g. a virtual replicate of ADNI.</a:t>
            </a:r>
          </a:p>
          <a:p>
            <a:pPr marL="0" indent="0">
              <a:buNone/>
            </a:pPr>
            <a:r>
              <a:rPr lang="en-FR" dirty="0"/>
              <a:t>Download data of 1 million of such patients at </a:t>
            </a:r>
            <a:r>
              <a:rPr lang="en-FR" dirty="0">
                <a:hlinkClick r:id="rId2"/>
              </a:rPr>
              <a:t>www.digital-brain.org</a:t>
            </a:r>
            <a:r>
              <a:rPr lang="en-FR" dirty="0"/>
              <a:t> !</a:t>
            </a:r>
          </a:p>
          <a:p>
            <a:pPr marL="0" indent="0">
              <a:buNone/>
            </a:pPr>
            <a:endParaRPr lang="en-FR" dirty="0"/>
          </a:p>
          <a:p>
            <a:pPr marL="0" indent="0">
              <a:buNone/>
            </a:pPr>
            <a:r>
              <a:rPr lang="en-FR" b="1" dirty="0"/>
              <a:t>Perspective: </a:t>
            </a:r>
            <a:r>
              <a:rPr lang="en-FR" dirty="0"/>
              <a:t>change sex ratio, disease stage at inclusion, genetic or other factors to create other populations of reference</a:t>
            </a:r>
          </a:p>
          <a:p>
            <a:pPr lvl="1">
              <a:buFontTx/>
              <a:buChar char="-"/>
            </a:pPr>
            <a:endParaRPr lang="en-FR" dirty="0"/>
          </a:p>
          <a:p>
            <a:pPr marL="0" indent="0">
              <a:buNone/>
            </a:pPr>
            <a:endParaRPr lang="en-FR" dirty="0"/>
          </a:p>
        </p:txBody>
      </p:sp>
      <p:sp>
        <p:nvSpPr>
          <p:cNvPr id="2" name="Espace réservé du numéro de diapositive 1">
            <a:extLst>
              <a:ext uri="{FF2B5EF4-FFF2-40B4-BE49-F238E27FC236}">
                <a16:creationId xmlns:a16="http://schemas.microsoft.com/office/drawing/2014/main" id="{9E2D7567-DA8D-BB77-502B-8985140E165D}"/>
              </a:ext>
            </a:extLst>
          </p:cNvPr>
          <p:cNvSpPr>
            <a:spLocks noGrp="1"/>
          </p:cNvSpPr>
          <p:nvPr>
            <p:ph type="sldNum" sz="quarter" idx="12"/>
          </p:nvPr>
        </p:nvSpPr>
        <p:spPr/>
        <p:txBody>
          <a:bodyPr/>
          <a:lstStyle/>
          <a:p>
            <a:fld id="{B6E69D5D-3C54-E347-B3D4-70BDFA7C6521}" type="slidenum">
              <a:rPr lang="fr-FR" smtClean="0"/>
              <a:t>50</a:t>
            </a:fld>
            <a:endParaRPr lang="fr-FR"/>
          </a:p>
        </p:txBody>
      </p:sp>
    </p:spTree>
    <p:extLst>
      <p:ext uri="{BB962C8B-B14F-4D97-AF65-F5344CB8AC3E}">
        <p14:creationId xmlns:p14="http://schemas.microsoft.com/office/powerpoint/2010/main" val="29456120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8F58F16-6E8A-4144-B4CC-BDB42E26BE80}"/>
              </a:ext>
            </a:extLst>
          </p:cNvPr>
          <p:cNvPicPr>
            <a:picLocks noChangeAspect="1"/>
          </p:cNvPicPr>
          <p:nvPr/>
        </p:nvPicPr>
        <p:blipFill>
          <a:blip r:embed="rId2"/>
          <a:stretch>
            <a:fillRect/>
          </a:stretch>
        </p:blipFill>
        <p:spPr>
          <a:xfrm>
            <a:off x="0" y="0"/>
            <a:ext cx="7514481" cy="5143500"/>
          </a:xfrm>
          <a:prstGeom prst="rect">
            <a:avLst/>
          </a:prstGeom>
        </p:spPr>
      </p:pic>
      <p:sp>
        <p:nvSpPr>
          <p:cNvPr id="10" name="TextBox 9">
            <a:extLst>
              <a:ext uri="{FF2B5EF4-FFF2-40B4-BE49-F238E27FC236}">
                <a16:creationId xmlns:a16="http://schemas.microsoft.com/office/drawing/2014/main" id="{8B3E9645-4A9F-BF4D-B4CE-43BA573902AB}"/>
              </a:ext>
            </a:extLst>
          </p:cNvPr>
          <p:cNvSpPr txBox="1"/>
          <p:nvPr/>
        </p:nvSpPr>
        <p:spPr>
          <a:xfrm>
            <a:off x="7514481" y="863590"/>
            <a:ext cx="1629519" cy="3416320"/>
          </a:xfrm>
          <a:prstGeom prst="rect">
            <a:avLst/>
          </a:prstGeom>
          <a:noFill/>
        </p:spPr>
        <p:txBody>
          <a:bodyPr wrap="square" rtlCol="0">
            <a:spAutoFit/>
          </a:bodyPr>
          <a:lstStyle/>
          <a:p>
            <a:r>
              <a:rPr lang="en-FR" dirty="0"/>
              <a:t>distributions of:</a:t>
            </a:r>
          </a:p>
          <a:p>
            <a:endParaRPr lang="en-FR" dirty="0"/>
          </a:p>
          <a:p>
            <a:r>
              <a:rPr lang="en-FR" dirty="0">
                <a:solidFill>
                  <a:schemeClr val="tx2"/>
                </a:solidFill>
              </a:rPr>
              <a:t>simulated data (blue)</a:t>
            </a:r>
          </a:p>
          <a:p>
            <a:endParaRPr lang="en-FR" dirty="0"/>
          </a:p>
          <a:p>
            <a:r>
              <a:rPr lang="en-FR" dirty="0">
                <a:solidFill>
                  <a:schemeClr val="accent2"/>
                </a:solidFill>
              </a:rPr>
              <a:t>reconstructed training data (red)</a:t>
            </a:r>
          </a:p>
          <a:p>
            <a:endParaRPr lang="en-FR" dirty="0">
              <a:solidFill>
                <a:schemeClr val="accent6"/>
              </a:solidFill>
            </a:endParaRPr>
          </a:p>
          <a:p>
            <a:r>
              <a:rPr lang="en-FR" dirty="0">
                <a:solidFill>
                  <a:schemeClr val="accent6"/>
                </a:solidFill>
              </a:rPr>
              <a:t>primary raw data (orange)</a:t>
            </a:r>
          </a:p>
        </p:txBody>
      </p:sp>
      <p:sp>
        <p:nvSpPr>
          <p:cNvPr id="2" name="Espace réservé du numéro de diapositive 1">
            <a:extLst>
              <a:ext uri="{FF2B5EF4-FFF2-40B4-BE49-F238E27FC236}">
                <a16:creationId xmlns:a16="http://schemas.microsoft.com/office/drawing/2014/main" id="{60B09452-C2A4-1D84-A4AE-B1E042C011E7}"/>
              </a:ext>
            </a:extLst>
          </p:cNvPr>
          <p:cNvSpPr>
            <a:spLocks noGrp="1"/>
          </p:cNvSpPr>
          <p:nvPr>
            <p:ph type="sldNum" sz="quarter" idx="12"/>
          </p:nvPr>
        </p:nvSpPr>
        <p:spPr/>
        <p:txBody>
          <a:bodyPr/>
          <a:lstStyle/>
          <a:p>
            <a:fld id="{B6E69D5D-3C54-E347-B3D4-70BDFA7C6521}" type="slidenum">
              <a:rPr lang="fr-FR" smtClean="0"/>
              <a:t>51</a:t>
            </a:fld>
            <a:endParaRPr lang="fr-FR"/>
          </a:p>
        </p:txBody>
      </p:sp>
    </p:spTree>
    <p:extLst>
      <p:ext uri="{BB962C8B-B14F-4D97-AF65-F5344CB8AC3E}">
        <p14:creationId xmlns:p14="http://schemas.microsoft.com/office/powerpoint/2010/main" val="668879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2C698BCA-7601-DACF-8C83-D4FF3D5BB50A}"/>
              </a:ext>
            </a:extLst>
          </p:cNvPr>
          <p:cNvSpPr>
            <a:spLocks noGrp="1"/>
          </p:cNvSpPr>
          <p:nvPr>
            <p:ph type="sldNum" sz="quarter" idx="12"/>
          </p:nvPr>
        </p:nvSpPr>
        <p:spPr/>
        <p:txBody>
          <a:bodyPr/>
          <a:lstStyle/>
          <a:p>
            <a:fld id="{B6E69D5D-3C54-E347-B3D4-70BDFA7C6521}" type="slidenum">
              <a:rPr lang="fr-FR" smtClean="0"/>
              <a:t>52</a:t>
            </a:fld>
            <a:endParaRPr lang="fr-FR"/>
          </a:p>
        </p:txBody>
      </p:sp>
      <p:sp>
        <p:nvSpPr>
          <p:cNvPr id="3" name="ZoneTexte 2">
            <a:extLst>
              <a:ext uri="{FF2B5EF4-FFF2-40B4-BE49-F238E27FC236}">
                <a16:creationId xmlns:a16="http://schemas.microsoft.com/office/drawing/2014/main" id="{0CA9666F-1E47-422E-261A-0C2B9890C125}"/>
              </a:ext>
            </a:extLst>
          </p:cNvPr>
          <p:cNvSpPr txBox="1"/>
          <p:nvPr/>
        </p:nvSpPr>
        <p:spPr>
          <a:xfrm>
            <a:off x="1570162" y="1790901"/>
            <a:ext cx="7116638" cy="1906804"/>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6. Selects participants at entry of a trial</a:t>
            </a:r>
            <a:endParaRPr lang="fr-FR" sz="3300" b="1" dirty="0">
              <a:solidFill>
                <a:schemeClr val="bg1"/>
              </a:solidFill>
              <a:latin typeface="Arial"/>
              <a:cs typeface="Arial"/>
            </a:endParaRPr>
          </a:p>
          <a:p>
            <a:pPr algn="r">
              <a:lnSpc>
                <a:spcPct val="70000"/>
              </a:lnSpc>
            </a:pPr>
            <a:endParaRPr lang="fr-FR" sz="3300" b="1" dirty="0">
              <a:solidFill>
                <a:schemeClr val="bg1"/>
              </a:solidFill>
              <a:latin typeface="Arial"/>
              <a:cs typeface="Arial"/>
            </a:endParaRP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41291050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79">
            <a:extLst>
              <a:ext uri="{FF2B5EF4-FFF2-40B4-BE49-F238E27FC236}">
                <a16:creationId xmlns:a16="http://schemas.microsoft.com/office/drawing/2014/main" id="{62BFD28F-8480-9149-A936-8D12532EC17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2313" y="644334"/>
            <a:ext cx="511856" cy="511856"/>
          </a:xfrm>
          <a:prstGeom prst="rect">
            <a:avLst/>
          </a:prstGeom>
        </p:spPr>
      </p:pic>
      <p:pic>
        <p:nvPicPr>
          <p:cNvPr id="6" name="Image 79">
            <a:extLst>
              <a:ext uri="{FF2B5EF4-FFF2-40B4-BE49-F238E27FC236}">
                <a16:creationId xmlns:a16="http://schemas.microsoft.com/office/drawing/2014/main" id="{37FB7CA8-2758-0C4A-B428-7CD079EB4B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2313" y="1156191"/>
            <a:ext cx="511856" cy="511856"/>
          </a:xfrm>
          <a:prstGeom prst="rect">
            <a:avLst/>
          </a:prstGeom>
        </p:spPr>
      </p:pic>
      <p:pic>
        <p:nvPicPr>
          <p:cNvPr id="7" name="Image 79">
            <a:extLst>
              <a:ext uri="{FF2B5EF4-FFF2-40B4-BE49-F238E27FC236}">
                <a16:creationId xmlns:a16="http://schemas.microsoft.com/office/drawing/2014/main" id="{4A7AE3ED-08B8-8C40-99C9-98F3DA8BCE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2313" y="1668047"/>
            <a:ext cx="511856" cy="511856"/>
          </a:xfrm>
          <a:prstGeom prst="rect">
            <a:avLst/>
          </a:prstGeom>
        </p:spPr>
      </p:pic>
      <p:pic>
        <p:nvPicPr>
          <p:cNvPr id="8" name="Image 79">
            <a:extLst>
              <a:ext uri="{FF2B5EF4-FFF2-40B4-BE49-F238E27FC236}">
                <a16:creationId xmlns:a16="http://schemas.microsoft.com/office/drawing/2014/main" id="{93E2D904-BAA4-FA4A-89EA-1F8B0BE7DAF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2313" y="2179903"/>
            <a:ext cx="511856" cy="511856"/>
          </a:xfrm>
          <a:prstGeom prst="rect">
            <a:avLst/>
          </a:prstGeom>
        </p:spPr>
      </p:pic>
      <p:pic>
        <p:nvPicPr>
          <p:cNvPr id="10" name="Image 79">
            <a:extLst>
              <a:ext uri="{FF2B5EF4-FFF2-40B4-BE49-F238E27FC236}">
                <a16:creationId xmlns:a16="http://schemas.microsoft.com/office/drawing/2014/main" id="{AA682290-CB46-9D49-9246-AAA19F3DD1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6385" y="644334"/>
            <a:ext cx="511856" cy="511856"/>
          </a:xfrm>
          <a:prstGeom prst="rect">
            <a:avLst/>
          </a:prstGeom>
        </p:spPr>
      </p:pic>
      <p:pic>
        <p:nvPicPr>
          <p:cNvPr id="11" name="Image 79">
            <a:extLst>
              <a:ext uri="{FF2B5EF4-FFF2-40B4-BE49-F238E27FC236}">
                <a16:creationId xmlns:a16="http://schemas.microsoft.com/office/drawing/2014/main" id="{EF4EC600-1DFB-6E4E-A94C-F69078D4C2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6385" y="1156191"/>
            <a:ext cx="511856" cy="511856"/>
          </a:xfrm>
          <a:prstGeom prst="rect">
            <a:avLst/>
          </a:prstGeom>
        </p:spPr>
      </p:pic>
      <p:pic>
        <p:nvPicPr>
          <p:cNvPr id="12" name="Image 79">
            <a:extLst>
              <a:ext uri="{FF2B5EF4-FFF2-40B4-BE49-F238E27FC236}">
                <a16:creationId xmlns:a16="http://schemas.microsoft.com/office/drawing/2014/main" id="{41456B68-67C1-A040-82A0-CF85C15B80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6385" y="1668047"/>
            <a:ext cx="511856" cy="511856"/>
          </a:xfrm>
          <a:prstGeom prst="rect">
            <a:avLst/>
          </a:prstGeom>
        </p:spPr>
      </p:pic>
      <p:pic>
        <p:nvPicPr>
          <p:cNvPr id="13" name="Image 79">
            <a:extLst>
              <a:ext uri="{FF2B5EF4-FFF2-40B4-BE49-F238E27FC236}">
                <a16:creationId xmlns:a16="http://schemas.microsoft.com/office/drawing/2014/main" id="{1362923B-C23A-D445-B034-6525D041D45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6385" y="2179903"/>
            <a:ext cx="511856" cy="511856"/>
          </a:xfrm>
          <a:prstGeom prst="rect">
            <a:avLst/>
          </a:prstGeom>
        </p:spPr>
      </p:pic>
      <p:pic>
        <p:nvPicPr>
          <p:cNvPr id="15" name="Image 79">
            <a:extLst>
              <a:ext uri="{FF2B5EF4-FFF2-40B4-BE49-F238E27FC236}">
                <a16:creationId xmlns:a16="http://schemas.microsoft.com/office/drawing/2014/main" id="{6495C67F-79A1-4545-ACD5-3A5BE94671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0457" y="644334"/>
            <a:ext cx="511856" cy="511856"/>
          </a:xfrm>
          <a:prstGeom prst="rect">
            <a:avLst/>
          </a:prstGeom>
        </p:spPr>
      </p:pic>
      <p:pic>
        <p:nvPicPr>
          <p:cNvPr id="16" name="Image 79">
            <a:extLst>
              <a:ext uri="{FF2B5EF4-FFF2-40B4-BE49-F238E27FC236}">
                <a16:creationId xmlns:a16="http://schemas.microsoft.com/office/drawing/2014/main" id="{6439E445-00C0-DF45-95AD-28A6A1CCAF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0457" y="1156191"/>
            <a:ext cx="511856" cy="511856"/>
          </a:xfrm>
          <a:prstGeom prst="rect">
            <a:avLst/>
          </a:prstGeom>
        </p:spPr>
      </p:pic>
      <p:pic>
        <p:nvPicPr>
          <p:cNvPr id="17" name="Image 79">
            <a:extLst>
              <a:ext uri="{FF2B5EF4-FFF2-40B4-BE49-F238E27FC236}">
                <a16:creationId xmlns:a16="http://schemas.microsoft.com/office/drawing/2014/main" id="{D59362E5-0437-FF43-B9C5-9D024EABD7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0457" y="1668047"/>
            <a:ext cx="511856" cy="511856"/>
          </a:xfrm>
          <a:prstGeom prst="rect">
            <a:avLst/>
          </a:prstGeom>
        </p:spPr>
      </p:pic>
      <p:pic>
        <p:nvPicPr>
          <p:cNvPr id="18" name="Image 79">
            <a:extLst>
              <a:ext uri="{FF2B5EF4-FFF2-40B4-BE49-F238E27FC236}">
                <a16:creationId xmlns:a16="http://schemas.microsoft.com/office/drawing/2014/main" id="{FE4D85DC-02A2-944D-85CB-3D1C5B3E1FD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0457" y="2179903"/>
            <a:ext cx="511856" cy="511856"/>
          </a:xfrm>
          <a:prstGeom prst="rect">
            <a:avLst/>
          </a:prstGeom>
        </p:spPr>
      </p:pic>
      <p:sp>
        <p:nvSpPr>
          <p:cNvPr id="19" name="Trapezium 18">
            <a:extLst>
              <a:ext uri="{FF2B5EF4-FFF2-40B4-BE49-F238E27FC236}">
                <a16:creationId xmlns:a16="http://schemas.microsoft.com/office/drawing/2014/main" id="{34CC02C5-C788-7E4E-8238-211624DCEA86}"/>
              </a:ext>
            </a:extLst>
          </p:cNvPr>
          <p:cNvSpPr/>
          <p:nvPr/>
        </p:nvSpPr>
        <p:spPr>
          <a:xfrm rot="5400000">
            <a:off x="731448" y="896649"/>
            <a:ext cx="2538807" cy="1593731"/>
          </a:xfrm>
          <a:prstGeom prst="trapezoid">
            <a:avLst>
              <a:gd name="adj" fmla="val 15976"/>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0" name="Trapezium 19">
            <a:extLst>
              <a:ext uri="{FF2B5EF4-FFF2-40B4-BE49-F238E27FC236}">
                <a16:creationId xmlns:a16="http://schemas.microsoft.com/office/drawing/2014/main" id="{F032E9B1-D392-E449-A1E3-9A3465ADF42D}"/>
              </a:ext>
            </a:extLst>
          </p:cNvPr>
          <p:cNvSpPr/>
          <p:nvPr/>
        </p:nvSpPr>
        <p:spPr>
          <a:xfrm rot="5400000">
            <a:off x="3653328" y="722860"/>
            <a:ext cx="1837343" cy="1942617"/>
          </a:xfrm>
          <a:prstGeom prst="trapezoid">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23" name="Image 79">
            <a:extLst>
              <a:ext uri="{FF2B5EF4-FFF2-40B4-BE49-F238E27FC236}">
                <a16:creationId xmlns:a16="http://schemas.microsoft.com/office/drawing/2014/main" id="{477D2116-BEEE-464C-9D44-1E382DB83F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88837" y="669802"/>
            <a:ext cx="511856" cy="511856"/>
          </a:xfrm>
          <a:prstGeom prst="rect">
            <a:avLst/>
          </a:prstGeom>
        </p:spPr>
      </p:pic>
      <p:pic>
        <p:nvPicPr>
          <p:cNvPr id="24" name="Image 79">
            <a:extLst>
              <a:ext uri="{FF2B5EF4-FFF2-40B4-BE49-F238E27FC236}">
                <a16:creationId xmlns:a16="http://schemas.microsoft.com/office/drawing/2014/main" id="{9BC10534-F735-7B44-8CC2-2A21866C9C2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88837" y="1181658"/>
            <a:ext cx="511856" cy="511856"/>
          </a:xfrm>
          <a:prstGeom prst="rect">
            <a:avLst/>
          </a:prstGeom>
        </p:spPr>
      </p:pic>
      <p:pic>
        <p:nvPicPr>
          <p:cNvPr id="25" name="Image 79">
            <a:extLst>
              <a:ext uri="{FF2B5EF4-FFF2-40B4-BE49-F238E27FC236}">
                <a16:creationId xmlns:a16="http://schemas.microsoft.com/office/drawing/2014/main" id="{110493EA-529E-C445-A205-398B4F1A5F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88837" y="1693515"/>
            <a:ext cx="511856" cy="511856"/>
          </a:xfrm>
          <a:prstGeom prst="rect">
            <a:avLst/>
          </a:prstGeom>
        </p:spPr>
      </p:pic>
      <p:pic>
        <p:nvPicPr>
          <p:cNvPr id="26" name="Image 79">
            <a:extLst>
              <a:ext uri="{FF2B5EF4-FFF2-40B4-BE49-F238E27FC236}">
                <a16:creationId xmlns:a16="http://schemas.microsoft.com/office/drawing/2014/main" id="{837C5A9C-8D50-6445-B0F0-5E8699247E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88837" y="2205371"/>
            <a:ext cx="511856" cy="511856"/>
          </a:xfrm>
          <a:prstGeom prst="rect">
            <a:avLst/>
          </a:prstGeom>
        </p:spPr>
      </p:pic>
      <p:pic>
        <p:nvPicPr>
          <p:cNvPr id="28" name="Image 79">
            <a:extLst>
              <a:ext uri="{FF2B5EF4-FFF2-40B4-BE49-F238E27FC236}">
                <a16:creationId xmlns:a16="http://schemas.microsoft.com/office/drawing/2014/main" id="{9F127392-A193-5648-8916-D3D2C36AB7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77533" y="669802"/>
            <a:ext cx="511856" cy="511856"/>
          </a:xfrm>
          <a:prstGeom prst="rect">
            <a:avLst/>
          </a:prstGeom>
        </p:spPr>
      </p:pic>
      <p:pic>
        <p:nvPicPr>
          <p:cNvPr id="29" name="Image 79">
            <a:extLst>
              <a:ext uri="{FF2B5EF4-FFF2-40B4-BE49-F238E27FC236}">
                <a16:creationId xmlns:a16="http://schemas.microsoft.com/office/drawing/2014/main" id="{8A8BBCED-E98D-154A-8C6A-764595C3DF8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77533" y="1181658"/>
            <a:ext cx="511856" cy="511856"/>
          </a:xfrm>
          <a:prstGeom prst="rect">
            <a:avLst/>
          </a:prstGeom>
        </p:spPr>
      </p:pic>
      <p:pic>
        <p:nvPicPr>
          <p:cNvPr id="30" name="Image 79">
            <a:extLst>
              <a:ext uri="{FF2B5EF4-FFF2-40B4-BE49-F238E27FC236}">
                <a16:creationId xmlns:a16="http://schemas.microsoft.com/office/drawing/2014/main" id="{F64728B4-0B57-7D49-972A-8C1EA24058F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77533" y="1693515"/>
            <a:ext cx="511856" cy="511856"/>
          </a:xfrm>
          <a:prstGeom prst="rect">
            <a:avLst/>
          </a:prstGeom>
        </p:spPr>
      </p:pic>
      <p:pic>
        <p:nvPicPr>
          <p:cNvPr id="31" name="Image 79">
            <a:extLst>
              <a:ext uri="{FF2B5EF4-FFF2-40B4-BE49-F238E27FC236}">
                <a16:creationId xmlns:a16="http://schemas.microsoft.com/office/drawing/2014/main" id="{7389336E-B768-B94B-ACFF-888098B8D2B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77533" y="2205371"/>
            <a:ext cx="511856" cy="511856"/>
          </a:xfrm>
          <a:prstGeom prst="rect">
            <a:avLst/>
          </a:prstGeom>
        </p:spPr>
      </p:pic>
      <p:pic>
        <p:nvPicPr>
          <p:cNvPr id="33" name="Image 79">
            <a:extLst>
              <a:ext uri="{FF2B5EF4-FFF2-40B4-BE49-F238E27FC236}">
                <a16:creationId xmlns:a16="http://schemas.microsoft.com/office/drawing/2014/main" id="{A97F08D5-8D05-A24E-A6D6-3B1B80DEEC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7765" y="688194"/>
            <a:ext cx="511856" cy="511856"/>
          </a:xfrm>
          <a:prstGeom prst="rect">
            <a:avLst/>
          </a:prstGeom>
        </p:spPr>
      </p:pic>
      <p:pic>
        <p:nvPicPr>
          <p:cNvPr id="34" name="Image 79">
            <a:extLst>
              <a:ext uri="{FF2B5EF4-FFF2-40B4-BE49-F238E27FC236}">
                <a16:creationId xmlns:a16="http://schemas.microsoft.com/office/drawing/2014/main" id="{126CDB36-29D9-A341-9084-D54F79B5A77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7765" y="1200051"/>
            <a:ext cx="511856" cy="511856"/>
          </a:xfrm>
          <a:prstGeom prst="rect">
            <a:avLst/>
          </a:prstGeom>
        </p:spPr>
      </p:pic>
      <p:pic>
        <p:nvPicPr>
          <p:cNvPr id="35" name="Image 79">
            <a:extLst>
              <a:ext uri="{FF2B5EF4-FFF2-40B4-BE49-F238E27FC236}">
                <a16:creationId xmlns:a16="http://schemas.microsoft.com/office/drawing/2014/main" id="{A6110CA8-A0F7-F74A-AD12-23B3B67C9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7765" y="1711907"/>
            <a:ext cx="511856" cy="511856"/>
          </a:xfrm>
          <a:prstGeom prst="rect">
            <a:avLst/>
          </a:prstGeom>
        </p:spPr>
      </p:pic>
      <p:pic>
        <p:nvPicPr>
          <p:cNvPr id="36" name="Image 79">
            <a:extLst>
              <a:ext uri="{FF2B5EF4-FFF2-40B4-BE49-F238E27FC236}">
                <a16:creationId xmlns:a16="http://schemas.microsoft.com/office/drawing/2014/main" id="{5D0AB045-47FD-4745-9ED5-9776A6E1A03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7765" y="2223763"/>
            <a:ext cx="511856" cy="511856"/>
          </a:xfrm>
          <a:prstGeom prst="rect">
            <a:avLst/>
          </a:prstGeom>
        </p:spPr>
      </p:pic>
      <p:sp>
        <p:nvSpPr>
          <p:cNvPr id="37" name="Rectangle 36">
            <a:extLst>
              <a:ext uri="{FF2B5EF4-FFF2-40B4-BE49-F238E27FC236}">
                <a16:creationId xmlns:a16="http://schemas.microsoft.com/office/drawing/2014/main" id="{26E36FCF-2214-DD49-A374-7FACA2AB0919}"/>
              </a:ext>
            </a:extLst>
          </p:cNvPr>
          <p:cNvSpPr/>
          <p:nvPr/>
        </p:nvSpPr>
        <p:spPr>
          <a:xfrm>
            <a:off x="1215160" y="1000646"/>
            <a:ext cx="1573188" cy="1446550"/>
          </a:xfrm>
          <a:prstGeom prst="rect">
            <a:avLst/>
          </a:prstGeom>
        </p:spPr>
        <p:txBody>
          <a:bodyPr wrap="square">
            <a:spAutoFit/>
          </a:bodyPr>
          <a:lstStyle/>
          <a:p>
            <a:pPr algn="ctr"/>
            <a:r>
              <a:rPr lang="en-FR" sz="1600" b="1" dirty="0">
                <a:latin typeface="Arial" panose="020B0604020202020204" pitchFamily="34" charset="0"/>
                <a:cs typeface="Arial" panose="020B0604020202020204" pitchFamily="34" charset="0"/>
              </a:rPr>
              <a:t>Standard selection for </a:t>
            </a:r>
            <a:r>
              <a:rPr lang="en-FR" sz="1600" b="1" dirty="0">
                <a:solidFill>
                  <a:srgbClr val="C00000"/>
                </a:solidFill>
                <a:latin typeface="Arial" panose="020B0604020202020204" pitchFamily="34" charset="0"/>
                <a:cs typeface="Arial" panose="020B0604020202020204" pitchFamily="34" charset="0"/>
              </a:rPr>
              <a:t>early stage AD</a:t>
            </a:r>
          </a:p>
          <a:p>
            <a:pPr algn="ctr"/>
            <a:r>
              <a:rPr lang="en-FR" sz="1200" dirty="0">
                <a:solidFill>
                  <a:srgbClr val="C00000"/>
                </a:solidFill>
                <a:latin typeface="Arial" panose="020B0604020202020204" pitchFamily="34" charset="0"/>
                <a:cs typeface="Arial" panose="020B0604020202020204" pitchFamily="34" charset="0"/>
              </a:rPr>
              <a:t>age=50-85</a:t>
            </a:r>
          </a:p>
          <a:p>
            <a:pPr algn="ctr"/>
            <a:r>
              <a:rPr lang="en-FR" sz="1200" dirty="0">
                <a:solidFill>
                  <a:srgbClr val="C00000"/>
                </a:solidFill>
                <a:latin typeface="Arial" panose="020B0604020202020204" pitchFamily="34" charset="0"/>
                <a:cs typeface="Arial" panose="020B0604020202020204" pitchFamily="34" charset="0"/>
              </a:rPr>
              <a:t>CDR=0.5 or 1</a:t>
            </a:r>
          </a:p>
        </p:txBody>
      </p:sp>
      <p:sp>
        <p:nvSpPr>
          <p:cNvPr id="38" name="Rectangle 37">
            <a:extLst>
              <a:ext uri="{FF2B5EF4-FFF2-40B4-BE49-F238E27FC236}">
                <a16:creationId xmlns:a16="http://schemas.microsoft.com/office/drawing/2014/main" id="{1A03B4B6-4403-184A-8B03-5B1D2BED5E97}"/>
              </a:ext>
            </a:extLst>
          </p:cNvPr>
          <p:cNvSpPr/>
          <p:nvPr/>
        </p:nvSpPr>
        <p:spPr>
          <a:xfrm>
            <a:off x="3565148" y="1347277"/>
            <a:ext cx="1942617" cy="707886"/>
          </a:xfrm>
          <a:prstGeom prst="rect">
            <a:avLst/>
          </a:prstGeom>
        </p:spPr>
        <p:txBody>
          <a:bodyPr wrap="square">
            <a:spAutoFit/>
          </a:bodyPr>
          <a:lstStyle/>
          <a:p>
            <a:pPr algn="ctr"/>
            <a:r>
              <a:rPr lang="en-GB" sz="1400" b="1" dirty="0">
                <a:latin typeface="Arial" panose="020B0604020202020204" pitchFamily="34" charset="0"/>
                <a:cs typeface="Arial" panose="020B0604020202020204" pitchFamily="34" charset="0"/>
              </a:rPr>
              <a:t>S</a:t>
            </a:r>
            <a:r>
              <a:rPr lang="en-FR" sz="1400" b="1" dirty="0">
                <a:latin typeface="Arial" panose="020B0604020202020204" pitchFamily="34" charset="0"/>
                <a:cs typeface="Arial" panose="020B0604020202020204" pitchFamily="34" charset="0"/>
              </a:rPr>
              <a:t>election of progression profiles</a:t>
            </a:r>
          </a:p>
          <a:p>
            <a:pPr algn="ctr"/>
            <a:r>
              <a:rPr lang="en-GB" sz="1200" dirty="0">
                <a:latin typeface="Arial" panose="020B0604020202020204" pitchFamily="34" charset="0"/>
                <a:cs typeface="Arial" panose="020B0604020202020204" pitchFamily="34" charset="0"/>
              </a:rPr>
              <a:t>u</a:t>
            </a:r>
            <a:r>
              <a:rPr lang="en-FR" sz="1200" dirty="0">
                <a:latin typeface="Arial" panose="020B0604020202020204" pitchFamily="34" charset="0"/>
                <a:cs typeface="Arial" panose="020B0604020202020204" pitchFamily="34" charset="0"/>
              </a:rPr>
              <a:t>sing AD COURSE MAP</a:t>
            </a:r>
          </a:p>
        </p:txBody>
      </p:sp>
      <p:sp>
        <p:nvSpPr>
          <p:cNvPr id="40" name="Rectangle 39">
            <a:extLst>
              <a:ext uri="{FF2B5EF4-FFF2-40B4-BE49-F238E27FC236}">
                <a16:creationId xmlns:a16="http://schemas.microsoft.com/office/drawing/2014/main" id="{15256583-F146-534E-A396-1F7C657B9CED}"/>
              </a:ext>
            </a:extLst>
          </p:cNvPr>
          <p:cNvSpPr/>
          <p:nvPr/>
        </p:nvSpPr>
        <p:spPr>
          <a:xfrm>
            <a:off x="-74281" y="3003457"/>
            <a:ext cx="1573188" cy="471371"/>
          </a:xfrm>
          <a:prstGeom prst="rect">
            <a:avLst/>
          </a:prstGeom>
        </p:spPr>
        <p:txBody>
          <a:bodyPr wrap="square">
            <a:spAutoFit/>
          </a:bodyPr>
          <a:lstStyle/>
          <a:p>
            <a:pPr algn="ctr"/>
            <a:r>
              <a:rPr lang="fr-FR" sz="1600" dirty="0">
                <a:latin typeface="Arial" panose="020B0604020202020204" pitchFamily="34" charset="0"/>
                <a:cs typeface="Arial" panose="020B0604020202020204" pitchFamily="34" charset="0"/>
              </a:rPr>
              <a:t>All </a:t>
            </a:r>
            <a:r>
              <a:rPr lang="fr-FR" sz="1600" dirty="0" err="1">
                <a:latin typeface="Arial" panose="020B0604020202020204" pitchFamily="34" charset="0"/>
                <a:cs typeface="Arial" panose="020B0604020202020204" pitchFamily="34" charset="0"/>
              </a:rPr>
              <a:t>available</a:t>
            </a:r>
            <a:r>
              <a:rPr lang="fr-FR" sz="1600" dirty="0">
                <a:latin typeface="Arial" panose="020B0604020202020204" pitchFamily="34" charset="0"/>
                <a:cs typeface="Arial" panose="020B0604020202020204" pitchFamily="34" charset="0"/>
              </a:rPr>
              <a:t> </a:t>
            </a:r>
            <a:r>
              <a:rPr lang="fr-FR" sz="1600" dirty="0" err="1">
                <a:latin typeface="Arial" panose="020B0604020202020204" pitchFamily="34" charset="0"/>
                <a:cs typeface="Arial" panose="020B0604020202020204" pitchFamily="34" charset="0"/>
              </a:rPr>
              <a:t>subjects</a:t>
            </a:r>
            <a:endParaRPr lang="en-FR" sz="16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040A4294-E5C4-BF4C-B628-3B869CEDB186}"/>
              </a:ext>
            </a:extLst>
          </p:cNvPr>
          <p:cNvSpPr/>
          <p:nvPr/>
        </p:nvSpPr>
        <p:spPr>
          <a:xfrm>
            <a:off x="6040579" y="1192847"/>
            <a:ext cx="2483556" cy="984885"/>
          </a:xfrm>
          <a:prstGeom prst="rect">
            <a:avLst/>
          </a:prstGeom>
        </p:spPr>
        <p:txBody>
          <a:bodyPr wrap="square">
            <a:spAutoFit/>
          </a:bodyPr>
          <a:lstStyle/>
          <a:p>
            <a:pPr algn="ctr"/>
            <a:r>
              <a:rPr lang="fr-FR" sz="1600" dirty="0" err="1">
                <a:latin typeface="Arial" panose="020B0604020202020204" pitchFamily="34" charset="0"/>
                <a:cs typeface="Arial" panose="020B0604020202020204" pitchFamily="34" charset="0"/>
              </a:rPr>
              <a:t>Optimized</a:t>
            </a:r>
            <a:r>
              <a:rPr lang="fr-FR" sz="1600" dirty="0">
                <a:latin typeface="Arial" panose="020B0604020202020204" pitchFamily="34" charset="0"/>
                <a:cs typeface="Arial" panose="020B0604020202020204" pitchFamily="34" charset="0"/>
              </a:rPr>
              <a:t> </a:t>
            </a:r>
            <a:r>
              <a:rPr lang="fr-FR" sz="1600" dirty="0" err="1">
                <a:latin typeface="Arial" panose="020B0604020202020204" pitchFamily="34" charset="0"/>
                <a:cs typeface="Arial" panose="020B0604020202020204" pitchFamily="34" charset="0"/>
              </a:rPr>
              <a:t>cohort</a:t>
            </a:r>
            <a:endParaRPr lang="fr-FR" sz="1600" dirty="0">
              <a:latin typeface="Arial" panose="020B0604020202020204" pitchFamily="34" charset="0"/>
              <a:cs typeface="Arial" panose="020B0604020202020204" pitchFamily="34" charset="0"/>
            </a:endParaRPr>
          </a:p>
          <a:p>
            <a:pPr algn="ctr"/>
            <a:r>
              <a:rPr lang="fr-FR" sz="1400" i="1" dirty="0" err="1">
                <a:latin typeface="Arial" panose="020B0604020202020204" pitchFamily="34" charset="0"/>
                <a:cs typeface="Arial" panose="020B0604020202020204" pitchFamily="34" charset="0"/>
              </a:rPr>
              <a:t>only</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subjects</a:t>
            </a:r>
            <a:r>
              <a:rPr lang="fr-FR" sz="1400" i="1" dirty="0">
                <a:latin typeface="Arial" panose="020B0604020202020204" pitchFamily="34" charset="0"/>
                <a:cs typeface="Arial" panose="020B0604020202020204" pitchFamily="34" charset="0"/>
              </a:rPr>
              <a:t> for </a:t>
            </a:r>
            <a:r>
              <a:rPr lang="fr-FR" sz="1400" i="1" dirty="0" err="1">
                <a:latin typeface="Arial" panose="020B0604020202020204" pitchFamily="34" charset="0"/>
                <a:cs typeface="Arial" panose="020B0604020202020204" pitchFamily="34" charset="0"/>
              </a:rPr>
              <a:t>whom</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we</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predict</a:t>
            </a:r>
            <a:r>
              <a:rPr lang="fr-FR" sz="1400" i="1" dirty="0">
                <a:latin typeface="Arial" panose="020B0604020202020204" pitchFamily="34" charset="0"/>
                <a:cs typeface="Arial" panose="020B0604020202020204" pitchFamily="34" charset="0"/>
              </a:rPr>
              <a:t> a </a:t>
            </a:r>
            <a:r>
              <a:rPr lang="fr-FR" sz="1400" i="1" dirty="0" err="1">
                <a:latin typeface="Arial" panose="020B0604020202020204" pitchFamily="34" charset="0"/>
                <a:cs typeface="Arial" panose="020B0604020202020204" pitchFamily="34" charset="0"/>
              </a:rPr>
              <a:t>significant</a:t>
            </a:r>
            <a:r>
              <a:rPr lang="fr-FR" sz="1400" i="1" dirty="0">
                <a:latin typeface="Arial" panose="020B0604020202020204" pitchFamily="34" charset="0"/>
                <a:cs typeface="Arial" panose="020B0604020202020204" pitchFamily="34" charset="0"/>
              </a:rPr>
              <a:t> change of the </a:t>
            </a:r>
            <a:r>
              <a:rPr lang="fr-FR" sz="1400" i="1" dirty="0">
                <a:solidFill>
                  <a:srgbClr val="C00000"/>
                </a:solidFill>
                <a:latin typeface="Arial" panose="020B0604020202020204" pitchFamily="34" charset="0"/>
                <a:cs typeface="Arial" panose="020B0604020202020204" pitchFamily="34" charset="0"/>
              </a:rPr>
              <a:t>MMSE</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during</a:t>
            </a:r>
            <a:r>
              <a:rPr lang="fr-FR" sz="1400" i="1" dirty="0">
                <a:latin typeface="Arial" panose="020B0604020202020204" pitchFamily="34" charset="0"/>
                <a:cs typeface="Arial" panose="020B0604020202020204" pitchFamily="34" charset="0"/>
              </a:rPr>
              <a:t> trial</a:t>
            </a:r>
            <a:endParaRPr lang="en-FR" sz="1400" i="1" dirty="0">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5AE24B3C-D354-4941-9939-3448D591C87E}"/>
              </a:ext>
            </a:extLst>
          </p:cNvPr>
          <p:cNvSpPr/>
          <p:nvPr/>
        </p:nvSpPr>
        <p:spPr>
          <a:xfrm>
            <a:off x="8169" y="27063"/>
            <a:ext cx="9127662" cy="369332"/>
          </a:xfrm>
          <a:prstGeom prst="rect">
            <a:avLst/>
          </a:prstGeom>
        </p:spPr>
        <p:txBody>
          <a:bodyPr wrap="square">
            <a:spAutoFit/>
          </a:bodyPr>
          <a:lstStyle/>
          <a:p>
            <a:pPr algn="ctr"/>
            <a:r>
              <a:rPr lang="fr-FR" b="1" dirty="0">
                <a:latin typeface="Arial" panose="020B0604020202020204" pitchFamily="34" charset="0"/>
                <a:ea typeface="Arial" panose="020B0604020202020204" pitchFamily="34" charset="0"/>
                <a:cs typeface="Arial" panose="020B0604020202020204" pitchFamily="34" charset="0"/>
              </a:rPr>
              <a:t>Simulation of inclusion </a:t>
            </a:r>
            <a:r>
              <a:rPr lang="fr-FR" b="1" dirty="0" err="1">
                <a:latin typeface="Arial" panose="020B0604020202020204" pitchFamily="34" charset="0"/>
                <a:ea typeface="Arial" panose="020B0604020202020204" pitchFamily="34" charset="0"/>
                <a:cs typeface="Arial" panose="020B0604020202020204" pitchFamily="34" charset="0"/>
              </a:rPr>
              <a:t>procedures</a:t>
            </a:r>
            <a:r>
              <a:rPr lang="fr-FR" b="1" dirty="0">
                <a:latin typeface="Arial" panose="020B0604020202020204" pitchFamily="34" charset="0"/>
                <a:ea typeface="Arial" panose="020B0604020202020204" pitchFamily="34" charset="0"/>
                <a:cs typeface="Arial" panose="020B0604020202020204" pitchFamily="34" charset="0"/>
              </a:rPr>
              <a:t> for </a:t>
            </a:r>
            <a:r>
              <a:rPr lang="fr-FR" b="1" dirty="0" err="1">
                <a:latin typeface="Arial" panose="020B0604020202020204" pitchFamily="34" charset="0"/>
                <a:ea typeface="Arial" panose="020B0604020202020204" pitchFamily="34" charset="0"/>
                <a:cs typeface="Arial" panose="020B0604020202020204" pitchFamily="34" charset="0"/>
              </a:rPr>
              <a:t>early</a:t>
            </a:r>
            <a:r>
              <a:rPr lang="fr-FR" b="1" dirty="0">
                <a:latin typeface="Arial" panose="020B0604020202020204" pitchFamily="34" charset="0"/>
                <a:ea typeface="Arial" panose="020B0604020202020204" pitchFamily="34" charset="0"/>
                <a:cs typeface="Arial" panose="020B0604020202020204" pitchFamily="34" charset="0"/>
              </a:rPr>
              <a:t> stage </a:t>
            </a:r>
            <a:r>
              <a:rPr lang="fr-FR" b="1" dirty="0" err="1">
                <a:latin typeface="Arial" panose="020B0604020202020204" pitchFamily="34" charset="0"/>
                <a:ea typeface="Arial" panose="020B0604020202020204" pitchFamily="34" charset="0"/>
                <a:cs typeface="Arial" panose="020B0604020202020204" pitchFamily="34" charset="0"/>
              </a:rPr>
              <a:t>Alzheimer’s</a:t>
            </a:r>
            <a:r>
              <a:rPr lang="fr-FR" b="1" dirty="0">
                <a:latin typeface="Arial" panose="020B0604020202020204" pitchFamily="34" charset="0"/>
                <a:ea typeface="Arial" panose="020B0604020202020204" pitchFamily="34" charset="0"/>
                <a:cs typeface="Arial" panose="020B0604020202020204" pitchFamily="34" charset="0"/>
              </a:rPr>
              <a:t> </a:t>
            </a:r>
            <a:r>
              <a:rPr lang="fr-FR" b="1" dirty="0" err="1">
                <a:latin typeface="Arial" panose="020B0604020202020204" pitchFamily="34" charset="0"/>
                <a:ea typeface="Arial" panose="020B0604020202020204" pitchFamily="34" charset="0"/>
                <a:cs typeface="Arial" panose="020B0604020202020204" pitchFamily="34" charset="0"/>
              </a:rPr>
              <a:t>disease</a:t>
            </a:r>
            <a:r>
              <a:rPr lang="fr-FR" b="1" dirty="0">
                <a:latin typeface="Arial" panose="020B0604020202020204" pitchFamily="34" charset="0"/>
                <a:ea typeface="Arial" panose="020B0604020202020204" pitchFamily="34" charset="0"/>
                <a:cs typeface="Arial" panose="020B0604020202020204" pitchFamily="34" charset="0"/>
              </a:rPr>
              <a:t> </a:t>
            </a:r>
            <a:r>
              <a:rPr lang="fr-FR" b="1" dirty="0" err="1">
                <a:latin typeface="Arial" panose="020B0604020202020204" pitchFamily="34" charset="0"/>
                <a:ea typeface="Arial" panose="020B0604020202020204" pitchFamily="34" charset="0"/>
                <a:cs typeface="Arial" panose="020B0604020202020204" pitchFamily="34" charset="0"/>
              </a:rPr>
              <a:t>subjects</a:t>
            </a:r>
            <a:endParaRPr lang="en-FR"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2FCA52F4-8CE6-AE4C-A615-574C76D63955}"/>
              </a:ext>
            </a:extLst>
          </p:cNvPr>
          <p:cNvGrpSpPr>
            <a:grpSpLocks noChangeAspect="1"/>
          </p:cNvGrpSpPr>
          <p:nvPr/>
        </p:nvGrpSpPr>
        <p:grpSpPr>
          <a:xfrm>
            <a:off x="3088837" y="2867435"/>
            <a:ext cx="3538286" cy="2258820"/>
            <a:chOff x="8389610" y="2923603"/>
            <a:chExt cx="3462805" cy="2641169"/>
          </a:xfrm>
        </p:grpSpPr>
        <p:sp>
          <p:nvSpPr>
            <p:cNvPr id="45" name="Rectangle : coins arrondis 15">
              <a:extLst>
                <a:ext uri="{FF2B5EF4-FFF2-40B4-BE49-F238E27FC236}">
                  <a16:creationId xmlns:a16="http://schemas.microsoft.com/office/drawing/2014/main" id="{4F78B574-3849-264F-957C-C367A848EF5A}"/>
                </a:ext>
              </a:extLst>
            </p:cNvPr>
            <p:cNvSpPr/>
            <p:nvPr/>
          </p:nvSpPr>
          <p:spPr>
            <a:xfrm>
              <a:off x="8395807" y="2923603"/>
              <a:ext cx="3456608" cy="2610912"/>
            </a:xfrm>
            <a:prstGeom prst="roundRect">
              <a:avLst>
                <a:gd name="adj" fmla="val 7383"/>
              </a:avLst>
            </a:prstGeom>
            <a:solidFill>
              <a:schemeClr val="bg1">
                <a:lumMod val="85000"/>
              </a:schemeClr>
            </a:solidFill>
            <a:ln>
              <a:solidFill>
                <a:schemeClr val="bg1">
                  <a:lumMod val="85000"/>
                </a:schemeClr>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t"/>
            <a:lstStyle/>
            <a:p>
              <a:endParaRPr lang="en-US" sz="2000" b="1" i="1" u="sng" dirty="0">
                <a:solidFill>
                  <a:schemeClr val="tx1"/>
                </a:solidFill>
                <a:latin typeface="Arial" panose="020B0604020202020204" pitchFamily="34" charset="0"/>
                <a:cs typeface="Arial" panose="020B0604020202020204" pitchFamily="34" charset="0"/>
              </a:endParaRPr>
            </a:p>
          </p:txBody>
        </p:sp>
        <p:cxnSp>
          <p:nvCxnSpPr>
            <p:cNvPr id="46" name="Straight Arrow Connector 2">
              <a:extLst>
                <a:ext uri="{FF2B5EF4-FFF2-40B4-BE49-F238E27FC236}">
                  <a16:creationId xmlns:a16="http://schemas.microsoft.com/office/drawing/2014/main" id="{364EB866-4769-F344-90D2-E619CD8F3496}"/>
                </a:ext>
              </a:extLst>
            </p:cNvPr>
            <p:cNvCxnSpPr>
              <a:cxnSpLocks/>
            </p:cNvCxnSpPr>
            <p:nvPr/>
          </p:nvCxnSpPr>
          <p:spPr>
            <a:xfrm flipV="1">
              <a:off x="8742862" y="3066301"/>
              <a:ext cx="0" cy="2191925"/>
            </a:xfrm>
            <a:prstGeom prst="straightConnector1">
              <a:avLst/>
            </a:prstGeom>
            <a:ln w="25400">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9">
              <a:extLst>
                <a:ext uri="{FF2B5EF4-FFF2-40B4-BE49-F238E27FC236}">
                  <a16:creationId xmlns:a16="http://schemas.microsoft.com/office/drawing/2014/main" id="{4E17C163-FBFC-0D4F-AD8F-8950448CE1DC}"/>
                </a:ext>
              </a:extLst>
            </p:cNvPr>
            <p:cNvCxnSpPr>
              <a:cxnSpLocks/>
            </p:cNvCxnSpPr>
            <p:nvPr/>
          </p:nvCxnSpPr>
          <p:spPr>
            <a:xfrm>
              <a:off x="8742862" y="5258226"/>
              <a:ext cx="2688039" cy="0"/>
            </a:xfrm>
            <a:prstGeom prst="straightConnector1">
              <a:avLst/>
            </a:prstGeom>
            <a:ln w="25400">
              <a:tailEnd type="triangle"/>
            </a:ln>
          </p:spPr>
          <p:style>
            <a:lnRef idx="2">
              <a:schemeClr val="dk1"/>
            </a:lnRef>
            <a:fillRef idx="0">
              <a:schemeClr val="dk1"/>
            </a:fillRef>
            <a:effectRef idx="1">
              <a:schemeClr val="dk1"/>
            </a:effectRef>
            <a:fontRef idx="minor">
              <a:schemeClr val="tx1"/>
            </a:fontRef>
          </p:style>
        </p:cxnSp>
        <p:sp>
          <p:nvSpPr>
            <p:cNvPr id="48" name="Freeform 16">
              <a:extLst>
                <a:ext uri="{FF2B5EF4-FFF2-40B4-BE49-F238E27FC236}">
                  <a16:creationId xmlns:a16="http://schemas.microsoft.com/office/drawing/2014/main" id="{2E19E776-0C43-6942-B27F-B11508B5B210}"/>
                </a:ext>
              </a:extLst>
            </p:cNvPr>
            <p:cNvSpPr/>
            <p:nvPr/>
          </p:nvSpPr>
          <p:spPr>
            <a:xfrm>
              <a:off x="8770374" y="3382479"/>
              <a:ext cx="2578386" cy="1802023"/>
            </a:xfrm>
            <a:custGeom>
              <a:avLst/>
              <a:gdLst>
                <a:gd name="connsiteX0" fmla="*/ 0 w 2847474"/>
                <a:gd name="connsiteY0" fmla="*/ 1545043 h 1550044"/>
                <a:gd name="connsiteX1" fmla="*/ 1026695 w 2847474"/>
                <a:gd name="connsiteY1" fmla="*/ 1344517 h 1550044"/>
                <a:gd name="connsiteX2" fmla="*/ 1588168 w 2847474"/>
                <a:gd name="connsiteY2" fmla="*/ 205527 h 1550044"/>
                <a:gd name="connsiteX3" fmla="*/ 2847474 w 2847474"/>
                <a:gd name="connsiteY3" fmla="*/ 5001 h 1550044"/>
                <a:gd name="connsiteX0" fmla="*/ 0 w 2345451"/>
                <a:gd name="connsiteY0" fmla="*/ 1536079 h 1542128"/>
                <a:gd name="connsiteX1" fmla="*/ 524672 w 2345451"/>
                <a:gd name="connsiteY1" fmla="*/ 1344517 h 1542128"/>
                <a:gd name="connsiteX2" fmla="*/ 1086145 w 2345451"/>
                <a:gd name="connsiteY2" fmla="*/ 205527 h 1542128"/>
                <a:gd name="connsiteX3" fmla="*/ 2345451 w 2345451"/>
                <a:gd name="connsiteY3" fmla="*/ 5001 h 1542128"/>
                <a:gd name="connsiteX0" fmla="*/ 0 w 2345451"/>
                <a:gd name="connsiteY0" fmla="*/ 1536079 h 1536079"/>
                <a:gd name="connsiteX1" fmla="*/ 524672 w 2345451"/>
                <a:gd name="connsiteY1" fmla="*/ 1344517 h 1536079"/>
                <a:gd name="connsiteX2" fmla="*/ 1086145 w 2345451"/>
                <a:gd name="connsiteY2" fmla="*/ 205527 h 1536079"/>
                <a:gd name="connsiteX3" fmla="*/ 2345451 w 2345451"/>
                <a:gd name="connsiteY3" fmla="*/ 5001 h 1536079"/>
              </a:gdLst>
              <a:ahLst/>
              <a:cxnLst>
                <a:cxn ang="0">
                  <a:pos x="connsiteX0" y="connsiteY0"/>
                </a:cxn>
                <a:cxn ang="0">
                  <a:pos x="connsiteX1" y="connsiteY1"/>
                </a:cxn>
                <a:cxn ang="0">
                  <a:pos x="connsiteX2" y="connsiteY2"/>
                </a:cxn>
                <a:cxn ang="0">
                  <a:pos x="connsiteX3" y="connsiteY3"/>
                </a:cxn>
              </a:cxnLst>
              <a:rect l="l" t="t" r="r" b="b"/>
              <a:pathLst>
                <a:path w="2345451" h="1536079">
                  <a:moveTo>
                    <a:pt x="0" y="1536079"/>
                  </a:moveTo>
                  <a:cubicBezTo>
                    <a:pt x="372035" y="1502619"/>
                    <a:pt x="343648" y="1566276"/>
                    <a:pt x="524672" y="1344517"/>
                  </a:cubicBezTo>
                  <a:cubicBezTo>
                    <a:pt x="705696" y="1122758"/>
                    <a:pt x="782682" y="428780"/>
                    <a:pt x="1086145" y="205527"/>
                  </a:cubicBezTo>
                  <a:cubicBezTo>
                    <a:pt x="1389608" y="-17726"/>
                    <a:pt x="1867529" y="-6363"/>
                    <a:pt x="2345451" y="5001"/>
                  </a:cubicBezTo>
                </a:path>
              </a:pathLst>
            </a:custGeom>
            <a:noFill/>
            <a:ln w="2222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800" b="1"/>
            </a:p>
          </p:txBody>
        </p:sp>
        <p:cxnSp>
          <p:nvCxnSpPr>
            <p:cNvPr id="49" name="Straight Connector 24">
              <a:extLst>
                <a:ext uri="{FF2B5EF4-FFF2-40B4-BE49-F238E27FC236}">
                  <a16:creationId xmlns:a16="http://schemas.microsoft.com/office/drawing/2014/main" id="{6E990F56-3178-1144-8415-FC2FCABE3648}"/>
                </a:ext>
              </a:extLst>
            </p:cNvPr>
            <p:cNvCxnSpPr>
              <a:cxnSpLocks/>
              <a:stCxn id="51" idx="4"/>
            </p:cNvCxnSpPr>
            <p:nvPr/>
          </p:nvCxnSpPr>
          <p:spPr>
            <a:xfrm>
              <a:off x="10008446" y="3667557"/>
              <a:ext cx="0" cy="1558661"/>
            </a:xfrm>
            <a:prstGeom prst="line">
              <a:avLst/>
            </a:prstGeom>
            <a:ln w="19050">
              <a:prstDash val="sysDash"/>
            </a:ln>
          </p:spPr>
          <p:style>
            <a:lnRef idx="2">
              <a:schemeClr val="dk1"/>
            </a:lnRef>
            <a:fillRef idx="0">
              <a:schemeClr val="dk1"/>
            </a:fillRef>
            <a:effectRef idx="1">
              <a:schemeClr val="dk1"/>
            </a:effectRef>
            <a:fontRef idx="minor">
              <a:schemeClr val="tx1"/>
            </a:fontRef>
          </p:style>
        </p:cxnSp>
        <p:sp>
          <p:nvSpPr>
            <p:cNvPr id="50" name="TextBox 30">
              <a:extLst>
                <a:ext uri="{FF2B5EF4-FFF2-40B4-BE49-F238E27FC236}">
                  <a16:creationId xmlns:a16="http://schemas.microsoft.com/office/drawing/2014/main" id="{4455A6FE-34C2-AF46-B695-4123CBF7080E}"/>
                </a:ext>
              </a:extLst>
            </p:cNvPr>
            <p:cNvSpPr txBox="1"/>
            <p:nvPr/>
          </p:nvSpPr>
          <p:spPr>
            <a:xfrm>
              <a:off x="8667182" y="2990779"/>
              <a:ext cx="2250865" cy="400110"/>
            </a:xfrm>
            <a:prstGeom prst="rect">
              <a:avLst/>
            </a:prstGeom>
            <a:noFill/>
          </p:spPr>
          <p:txBody>
            <a:bodyPr wrap="square" rtlCol="0">
              <a:spAutoFit/>
            </a:bodyPr>
            <a:lstStyle/>
            <a:p>
              <a:pPr algn="r"/>
              <a:r>
                <a:rPr lang="fr-FR" sz="2000" b="1" dirty="0" err="1">
                  <a:solidFill>
                    <a:srgbClr val="002060"/>
                  </a:solidFill>
                </a:rPr>
                <a:t>Forecast</a:t>
              </a:r>
              <a:r>
                <a:rPr lang="fr-FR" sz="2000" dirty="0">
                  <a:solidFill>
                    <a:srgbClr val="002060"/>
                  </a:solidFill>
                </a:rPr>
                <a:t> in 2 </a:t>
              </a:r>
              <a:r>
                <a:rPr lang="fr-FR" sz="2000" dirty="0" err="1">
                  <a:solidFill>
                    <a:srgbClr val="002060"/>
                  </a:solidFill>
                </a:rPr>
                <a:t>years</a:t>
              </a:r>
              <a:endParaRPr lang="en-FR" sz="2000" dirty="0">
                <a:solidFill>
                  <a:srgbClr val="002060"/>
                </a:solidFill>
              </a:endParaRPr>
            </a:p>
          </p:txBody>
        </p:sp>
        <p:sp>
          <p:nvSpPr>
            <p:cNvPr id="51" name="Oval 33">
              <a:extLst>
                <a:ext uri="{FF2B5EF4-FFF2-40B4-BE49-F238E27FC236}">
                  <a16:creationId xmlns:a16="http://schemas.microsoft.com/office/drawing/2014/main" id="{8AA92660-EA3C-2047-863D-EA7B1BF13FD2}"/>
                </a:ext>
              </a:extLst>
            </p:cNvPr>
            <p:cNvSpPr/>
            <p:nvPr/>
          </p:nvSpPr>
          <p:spPr>
            <a:xfrm>
              <a:off x="9954562" y="3564464"/>
              <a:ext cx="107768" cy="103092"/>
            </a:xfrm>
            <a:prstGeom prst="ellipse">
              <a:avLst/>
            </a:prstGeom>
            <a:solidFill>
              <a:srgbClr val="EB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800" b="1"/>
            </a:p>
          </p:txBody>
        </p:sp>
        <p:cxnSp>
          <p:nvCxnSpPr>
            <p:cNvPr id="52" name="Straight Arrow Connector 42">
              <a:extLst>
                <a:ext uri="{FF2B5EF4-FFF2-40B4-BE49-F238E27FC236}">
                  <a16:creationId xmlns:a16="http://schemas.microsoft.com/office/drawing/2014/main" id="{D94661D0-3E97-4B45-9A4F-EA0F466212D3}"/>
                </a:ext>
              </a:extLst>
            </p:cNvPr>
            <p:cNvCxnSpPr>
              <a:cxnSpLocks/>
            </p:cNvCxnSpPr>
            <p:nvPr/>
          </p:nvCxnSpPr>
          <p:spPr>
            <a:xfrm flipV="1">
              <a:off x="10007768" y="3689924"/>
              <a:ext cx="0" cy="1133380"/>
            </a:xfrm>
            <a:prstGeom prst="straightConnector1">
              <a:avLst/>
            </a:prstGeom>
            <a:ln w="38100">
              <a:solidFill>
                <a:srgbClr val="C00000"/>
              </a:solidFill>
              <a:headEnd type="triangle"/>
              <a:tailEnd type="triangle"/>
            </a:ln>
          </p:spPr>
          <p:style>
            <a:lnRef idx="2">
              <a:schemeClr val="accent6"/>
            </a:lnRef>
            <a:fillRef idx="0">
              <a:schemeClr val="accent6"/>
            </a:fillRef>
            <a:effectRef idx="1">
              <a:schemeClr val="accent6"/>
            </a:effectRef>
            <a:fontRef idx="minor">
              <a:schemeClr val="tx1"/>
            </a:fontRef>
          </p:style>
        </p:cxnSp>
        <p:sp>
          <p:nvSpPr>
            <p:cNvPr id="53" name="TextBox 51">
              <a:extLst>
                <a:ext uri="{FF2B5EF4-FFF2-40B4-BE49-F238E27FC236}">
                  <a16:creationId xmlns:a16="http://schemas.microsoft.com/office/drawing/2014/main" id="{66CA11EE-474E-A348-8C38-D41AFCEE9F7B}"/>
                </a:ext>
              </a:extLst>
            </p:cNvPr>
            <p:cNvSpPr txBox="1"/>
            <p:nvPr/>
          </p:nvSpPr>
          <p:spPr>
            <a:xfrm>
              <a:off x="10070116" y="3887117"/>
              <a:ext cx="1333232" cy="707886"/>
            </a:xfrm>
            <a:prstGeom prst="rect">
              <a:avLst/>
            </a:prstGeom>
            <a:noFill/>
          </p:spPr>
          <p:txBody>
            <a:bodyPr wrap="square" rtlCol="0">
              <a:spAutoFit/>
            </a:bodyPr>
            <a:lstStyle/>
            <a:p>
              <a:r>
                <a:rPr lang="fr-FR" sz="2000" dirty="0" err="1">
                  <a:solidFill>
                    <a:srgbClr val="C00000"/>
                  </a:solidFill>
                </a:rPr>
                <a:t>Prognosis</a:t>
              </a:r>
              <a:r>
                <a:rPr lang="fr-FR" sz="2000" dirty="0">
                  <a:solidFill>
                    <a:srgbClr val="C00000"/>
                  </a:solidFill>
                </a:rPr>
                <a:t> score</a:t>
              </a:r>
              <a:endParaRPr lang="en-FR" sz="2000" dirty="0">
                <a:solidFill>
                  <a:srgbClr val="C00000"/>
                </a:solidFill>
              </a:endParaRPr>
            </a:p>
          </p:txBody>
        </p:sp>
        <p:sp>
          <p:nvSpPr>
            <p:cNvPr id="54" name="TextBox 7">
              <a:extLst>
                <a:ext uri="{FF2B5EF4-FFF2-40B4-BE49-F238E27FC236}">
                  <a16:creationId xmlns:a16="http://schemas.microsoft.com/office/drawing/2014/main" id="{32D8CB49-8B31-F340-9720-70F9BAF1B488}"/>
                </a:ext>
              </a:extLst>
            </p:cNvPr>
            <p:cNvSpPr txBox="1"/>
            <p:nvPr/>
          </p:nvSpPr>
          <p:spPr>
            <a:xfrm rot="16200000">
              <a:off x="7420338" y="4114195"/>
              <a:ext cx="2277098" cy="338554"/>
            </a:xfrm>
            <a:prstGeom prst="rect">
              <a:avLst/>
            </a:prstGeom>
            <a:noFill/>
          </p:spPr>
          <p:txBody>
            <a:bodyPr wrap="square" rtlCol="0">
              <a:spAutoFit/>
            </a:bodyPr>
            <a:lstStyle/>
            <a:p>
              <a:pPr algn="ctr"/>
              <a:r>
                <a:rPr lang="fr-FR" sz="1600" i="1" dirty="0"/>
                <a:t>CDR-</a:t>
              </a:r>
              <a:r>
                <a:rPr lang="fr-FR" sz="1600" i="1" dirty="0" err="1"/>
                <a:t>SoB</a:t>
              </a:r>
              <a:endParaRPr lang="en-FR" i="1" dirty="0"/>
            </a:p>
          </p:txBody>
        </p:sp>
        <p:cxnSp>
          <p:nvCxnSpPr>
            <p:cNvPr id="55" name="Straight Arrow Connector 42">
              <a:extLst>
                <a:ext uri="{FF2B5EF4-FFF2-40B4-BE49-F238E27FC236}">
                  <a16:creationId xmlns:a16="http://schemas.microsoft.com/office/drawing/2014/main" id="{7C0E2B75-BB2A-FD48-951E-7C8F5A3DCC04}"/>
                </a:ext>
              </a:extLst>
            </p:cNvPr>
            <p:cNvCxnSpPr>
              <a:cxnSpLocks/>
              <a:stCxn id="50" idx="2"/>
              <a:endCxn id="51" idx="1"/>
            </p:cNvCxnSpPr>
            <p:nvPr/>
          </p:nvCxnSpPr>
          <p:spPr>
            <a:xfrm>
              <a:off x="9792615" y="3390889"/>
              <a:ext cx="177729" cy="188672"/>
            </a:xfrm>
            <a:prstGeom prst="straightConnector1">
              <a:avLst/>
            </a:prstGeom>
            <a:ln w="28575">
              <a:solidFill>
                <a:schemeClr val="accent2"/>
              </a:solidFill>
              <a:headEnd type="none"/>
              <a:tailEnd type="triangle"/>
            </a:ln>
          </p:spPr>
          <p:style>
            <a:lnRef idx="2">
              <a:schemeClr val="accent6"/>
            </a:lnRef>
            <a:fillRef idx="0">
              <a:schemeClr val="accent6"/>
            </a:fillRef>
            <a:effectRef idx="1">
              <a:schemeClr val="accent6"/>
            </a:effectRef>
            <a:fontRef idx="minor">
              <a:schemeClr val="tx1"/>
            </a:fontRef>
          </p:style>
        </p:cxnSp>
        <p:cxnSp>
          <p:nvCxnSpPr>
            <p:cNvPr id="56" name="Straight Connector 19">
              <a:extLst>
                <a:ext uri="{FF2B5EF4-FFF2-40B4-BE49-F238E27FC236}">
                  <a16:creationId xmlns:a16="http://schemas.microsoft.com/office/drawing/2014/main" id="{A327A7A6-555F-374D-9A8A-BE91CC360898}"/>
                </a:ext>
              </a:extLst>
            </p:cNvPr>
            <p:cNvCxnSpPr>
              <a:cxnSpLocks/>
            </p:cNvCxnSpPr>
            <p:nvPr/>
          </p:nvCxnSpPr>
          <p:spPr>
            <a:xfrm>
              <a:off x="9442848" y="4793723"/>
              <a:ext cx="0" cy="478026"/>
            </a:xfrm>
            <a:prstGeom prst="line">
              <a:avLst/>
            </a:prstGeom>
            <a:ln w="19050">
              <a:prstDash val="sysDash"/>
            </a:ln>
          </p:spPr>
          <p:style>
            <a:lnRef idx="2">
              <a:schemeClr val="dk1"/>
            </a:lnRef>
            <a:fillRef idx="0">
              <a:schemeClr val="dk1"/>
            </a:fillRef>
            <a:effectRef idx="1">
              <a:schemeClr val="dk1"/>
            </a:effectRef>
            <a:fontRef idx="minor">
              <a:schemeClr val="tx1"/>
            </a:fontRef>
          </p:style>
        </p:cxnSp>
        <p:sp>
          <p:nvSpPr>
            <p:cNvPr id="57" name="Oval 29">
              <a:extLst>
                <a:ext uri="{FF2B5EF4-FFF2-40B4-BE49-F238E27FC236}">
                  <a16:creationId xmlns:a16="http://schemas.microsoft.com/office/drawing/2014/main" id="{A214B26B-092F-3146-BBF0-78AFBC2AE2F4}"/>
                </a:ext>
              </a:extLst>
            </p:cNvPr>
            <p:cNvSpPr/>
            <p:nvPr/>
          </p:nvSpPr>
          <p:spPr>
            <a:xfrm>
              <a:off x="9379236" y="4771758"/>
              <a:ext cx="107768" cy="103092"/>
            </a:xfrm>
            <a:prstGeom prst="ellipse">
              <a:avLst/>
            </a:prstGeom>
            <a:solidFill>
              <a:srgbClr val="EB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800" b="1">
                <a:solidFill>
                  <a:schemeClr val="accent6"/>
                </a:solidFill>
              </a:endParaRPr>
            </a:p>
          </p:txBody>
        </p:sp>
        <p:sp>
          <p:nvSpPr>
            <p:cNvPr id="58" name="TextBox 13">
              <a:extLst>
                <a:ext uri="{FF2B5EF4-FFF2-40B4-BE49-F238E27FC236}">
                  <a16:creationId xmlns:a16="http://schemas.microsoft.com/office/drawing/2014/main" id="{2B228E8D-1549-BF45-92E5-43CA58DDF2FE}"/>
                </a:ext>
              </a:extLst>
            </p:cNvPr>
            <p:cNvSpPr txBox="1"/>
            <p:nvPr/>
          </p:nvSpPr>
          <p:spPr>
            <a:xfrm>
              <a:off x="11040740" y="5226218"/>
              <a:ext cx="604653" cy="338554"/>
            </a:xfrm>
            <a:prstGeom prst="rect">
              <a:avLst/>
            </a:prstGeom>
            <a:noFill/>
          </p:spPr>
          <p:txBody>
            <a:bodyPr wrap="none" rtlCol="0">
              <a:spAutoFit/>
            </a:bodyPr>
            <a:lstStyle/>
            <a:p>
              <a:r>
                <a:rPr lang="fr-FR" sz="1600" b="1" dirty="0"/>
                <a:t>Time</a:t>
              </a:r>
              <a:endParaRPr lang="en-FR" sz="1600" b="1" dirty="0"/>
            </a:p>
          </p:txBody>
        </p:sp>
      </p:grpSp>
      <p:sp>
        <p:nvSpPr>
          <p:cNvPr id="3" name="Espace réservé du numéro de diapositive 2">
            <a:extLst>
              <a:ext uri="{FF2B5EF4-FFF2-40B4-BE49-F238E27FC236}">
                <a16:creationId xmlns:a16="http://schemas.microsoft.com/office/drawing/2014/main" id="{5BDD1D25-3ED5-DD33-EEFD-592382B00EF4}"/>
              </a:ext>
            </a:extLst>
          </p:cNvPr>
          <p:cNvSpPr>
            <a:spLocks noGrp="1"/>
          </p:cNvSpPr>
          <p:nvPr>
            <p:ph type="sldNum" sz="quarter" idx="12"/>
          </p:nvPr>
        </p:nvSpPr>
        <p:spPr/>
        <p:txBody>
          <a:bodyPr/>
          <a:lstStyle/>
          <a:p>
            <a:fld id="{B6E69D5D-3C54-E347-B3D4-70BDFA7C6521}" type="slidenum">
              <a:rPr lang="fr-FR" smtClean="0"/>
              <a:t>53</a:t>
            </a:fld>
            <a:endParaRPr lang="fr-FR"/>
          </a:p>
        </p:txBody>
      </p:sp>
    </p:spTree>
    <p:extLst>
      <p:ext uri="{BB962C8B-B14F-4D97-AF65-F5344CB8AC3E}">
        <p14:creationId xmlns:p14="http://schemas.microsoft.com/office/powerpoint/2010/main" val="1733149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79">
            <a:extLst>
              <a:ext uri="{FF2B5EF4-FFF2-40B4-BE49-F238E27FC236}">
                <a16:creationId xmlns:a16="http://schemas.microsoft.com/office/drawing/2014/main" id="{62BFD28F-8480-9149-A936-8D12532EC17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935" y="1140068"/>
            <a:ext cx="511856" cy="511856"/>
          </a:xfrm>
          <a:prstGeom prst="rect">
            <a:avLst/>
          </a:prstGeom>
        </p:spPr>
      </p:pic>
      <p:pic>
        <p:nvPicPr>
          <p:cNvPr id="6" name="Image 79">
            <a:extLst>
              <a:ext uri="{FF2B5EF4-FFF2-40B4-BE49-F238E27FC236}">
                <a16:creationId xmlns:a16="http://schemas.microsoft.com/office/drawing/2014/main" id="{37FB7CA8-2758-0C4A-B428-7CD079EB4B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935" y="1651925"/>
            <a:ext cx="511856" cy="511856"/>
          </a:xfrm>
          <a:prstGeom prst="rect">
            <a:avLst/>
          </a:prstGeom>
        </p:spPr>
      </p:pic>
      <p:pic>
        <p:nvPicPr>
          <p:cNvPr id="7" name="Image 79">
            <a:extLst>
              <a:ext uri="{FF2B5EF4-FFF2-40B4-BE49-F238E27FC236}">
                <a16:creationId xmlns:a16="http://schemas.microsoft.com/office/drawing/2014/main" id="{4A7AE3ED-08B8-8C40-99C9-98F3DA8BCE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935" y="2163781"/>
            <a:ext cx="511856" cy="511856"/>
          </a:xfrm>
          <a:prstGeom prst="rect">
            <a:avLst/>
          </a:prstGeom>
        </p:spPr>
      </p:pic>
      <p:pic>
        <p:nvPicPr>
          <p:cNvPr id="8" name="Image 79">
            <a:extLst>
              <a:ext uri="{FF2B5EF4-FFF2-40B4-BE49-F238E27FC236}">
                <a16:creationId xmlns:a16="http://schemas.microsoft.com/office/drawing/2014/main" id="{93E2D904-BAA4-FA4A-89EA-1F8B0BE7DAF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935" y="2675637"/>
            <a:ext cx="511856" cy="511856"/>
          </a:xfrm>
          <a:prstGeom prst="rect">
            <a:avLst/>
          </a:prstGeom>
        </p:spPr>
      </p:pic>
      <p:pic>
        <p:nvPicPr>
          <p:cNvPr id="10" name="Image 79">
            <a:extLst>
              <a:ext uri="{FF2B5EF4-FFF2-40B4-BE49-F238E27FC236}">
                <a16:creationId xmlns:a16="http://schemas.microsoft.com/office/drawing/2014/main" id="{AA682290-CB46-9D49-9246-AAA19F3DD1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98007" y="1140068"/>
            <a:ext cx="511856" cy="511856"/>
          </a:xfrm>
          <a:prstGeom prst="rect">
            <a:avLst/>
          </a:prstGeom>
        </p:spPr>
      </p:pic>
      <p:pic>
        <p:nvPicPr>
          <p:cNvPr id="11" name="Image 79">
            <a:extLst>
              <a:ext uri="{FF2B5EF4-FFF2-40B4-BE49-F238E27FC236}">
                <a16:creationId xmlns:a16="http://schemas.microsoft.com/office/drawing/2014/main" id="{EF4EC600-1DFB-6E4E-A94C-F69078D4C2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98007" y="1651925"/>
            <a:ext cx="511856" cy="511856"/>
          </a:xfrm>
          <a:prstGeom prst="rect">
            <a:avLst/>
          </a:prstGeom>
        </p:spPr>
      </p:pic>
      <p:pic>
        <p:nvPicPr>
          <p:cNvPr id="12" name="Image 79">
            <a:extLst>
              <a:ext uri="{FF2B5EF4-FFF2-40B4-BE49-F238E27FC236}">
                <a16:creationId xmlns:a16="http://schemas.microsoft.com/office/drawing/2014/main" id="{41456B68-67C1-A040-82A0-CF85C15B80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98007" y="2163781"/>
            <a:ext cx="511856" cy="511856"/>
          </a:xfrm>
          <a:prstGeom prst="rect">
            <a:avLst/>
          </a:prstGeom>
        </p:spPr>
      </p:pic>
      <p:pic>
        <p:nvPicPr>
          <p:cNvPr id="13" name="Image 79">
            <a:extLst>
              <a:ext uri="{FF2B5EF4-FFF2-40B4-BE49-F238E27FC236}">
                <a16:creationId xmlns:a16="http://schemas.microsoft.com/office/drawing/2014/main" id="{1362923B-C23A-D445-B034-6525D041D45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98007" y="2675637"/>
            <a:ext cx="511856" cy="511856"/>
          </a:xfrm>
          <a:prstGeom prst="rect">
            <a:avLst/>
          </a:prstGeom>
        </p:spPr>
      </p:pic>
      <p:pic>
        <p:nvPicPr>
          <p:cNvPr id="15" name="Image 79">
            <a:extLst>
              <a:ext uri="{FF2B5EF4-FFF2-40B4-BE49-F238E27FC236}">
                <a16:creationId xmlns:a16="http://schemas.microsoft.com/office/drawing/2014/main" id="{6495C67F-79A1-4545-ACD5-3A5BE94671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2079" y="1140068"/>
            <a:ext cx="511856" cy="511856"/>
          </a:xfrm>
          <a:prstGeom prst="rect">
            <a:avLst/>
          </a:prstGeom>
        </p:spPr>
      </p:pic>
      <p:pic>
        <p:nvPicPr>
          <p:cNvPr id="16" name="Image 79">
            <a:extLst>
              <a:ext uri="{FF2B5EF4-FFF2-40B4-BE49-F238E27FC236}">
                <a16:creationId xmlns:a16="http://schemas.microsoft.com/office/drawing/2014/main" id="{6439E445-00C0-DF45-95AD-28A6A1CCAF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2079" y="1651925"/>
            <a:ext cx="511856" cy="511856"/>
          </a:xfrm>
          <a:prstGeom prst="rect">
            <a:avLst/>
          </a:prstGeom>
        </p:spPr>
      </p:pic>
      <p:pic>
        <p:nvPicPr>
          <p:cNvPr id="17" name="Image 79">
            <a:extLst>
              <a:ext uri="{FF2B5EF4-FFF2-40B4-BE49-F238E27FC236}">
                <a16:creationId xmlns:a16="http://schemas.microsoft.com/office/drawing/2014/main" id="{D59362E5-0437-FF43-B9C5-9D024EABD7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2079" y="2163781"/>
            <a:ext cx="511856" cy="511856"/>
          </a:xfrm>
          <a:prstGeom prst="rect">
            <a:avLst/>
          </a:prstGeom>
        </p:spPr>
      </p:pic>
      <p:pic>
        <p:nvPicPr>
          <p:cNvPr id="18" name="Image 79">
            <a:extLst>
              <a:ext uri="{FF2B5EF4-FFF2-40B4-BE49-F238E27FC236}">
                <a16:creationId xmlns:a16="http://schemas.microsoft.com/office/drawing/2014/main" id="{FE4D85DC-02A2-944D-85CB-3D1C5B3E1FD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2079" y="2675637"/>
            <a:ext cx="511856" cy="511856"/>
          </a:xfrm>
          <a:prstGeom prst="rect">
            <a:avLst/>
          </a:prstGeom>
        </p:spPr>
      </p:pic>
      <p:sp>
        <p:nvSpPr>
          <p:cNvPr id="19" name="Trapezium 18">
            <a:extLst>
              <a:ext uri="{FF2B5EF4-FFF2-40B4-BE49-F238E27FC236}">
                <a16:creationId xmlns:a16="http://schemas.microsoft.com/office/drawing/2014/main" id="{34CC02C5-C788-7E4E-8238-211624DCEA86}"/>
              </a:ext>
            </a:extLst>
          </p:cNvPr>
          <p:cNvSpPr/>
          <p:nvPr/>
        </p:nvSpPr>
        <p:spPr>
          <a:xfrm rot="5400000">
            <a:off x="773070" y="1392383"/>
            <a:ext cx="2538807" cy="1593731"/>
          </a:xfrm>
          <a:prstGeom prst="trapezoid">
            <a:avLst>
              <a:gd name="adj" fmla="val 15976"/>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0" name="Trapezium 19">
            <a:extLst>
              <a:ext uri="{FF2B5EF4-FFF2-40B4-BE49-F238E27FC236}">
                <a16:creationId xmlns:a16="http://schemas.microsoft.com/office/drawing/2014/main" id="{F032E9B1-D392-E449-A1E3-9A3465ADF42D}"/>
              </a:ext>
            </a:extLst>
          </p:cNvPr>
          <p:cNvSpPr/>
          <p:nvPr/>
        </p:nvSpPr>
        <p:spPr>
          <a:xfrm rot="5400000">
            <a:off x="3694950" y="1218594"/>
            <a:ext cx="1837343" cy="1942617"/>
          </a:xfrm>
          <a:prstGeom prst="trapezoid">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1" name="Pentagon 20">
            <a:extLst>
              <a:ext uri="{FF2B5EF4-FFF2-40B4-BE49-F238E27FC236}">
                <a16:creationId xmlns:a16="http://schemas.microsoft.com/office/drawing/2014/main" id="{8BA9D0B6-DB07-2E47-A9DD-098A60E95C7E}"/>
              </a:ext>
            </a:extLst>
          </p:cNvPr>
          <p:cNvSpPr/>
          <p:nvPr/>
        </p:nvSpPr>
        <p:spPr>
          <a:xfrm>
            <a:off x="6025699" y="1755091"/>
            <a:ext cx="1701599" cy="868316"/>
          </a:xfrm>
          <a:prstGeom prst="homePlate">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23" name="Image 79">
            <a:extLst>
              <a:ext uri="{FF2B5EF4-FFF2-40B4-BE49-F238E27FC236}">
                <a16:creationId xmlns:a16="http://schemas.microsoft.com/office/drawing/2014/main" id="{477D2116-BEEE-464C-9D44-1E382DB83F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30459" y="1165536"/>
            <a:ext cx="511856" cy="511856"/>
          </a:xfrm>
          <a:prstGeom prst="rect">
            <a:avLst/>
          </a:prstGeom>
        </p:spPr>
      </p:pic>
      <p:pic>
        <p:nvPicPr>
          <p:cNvPr id="24" name="Image 79">
            <a:extLst>
              <a:ext uri="{FF2B5EF4-FFF2-40B4-BE49-F238E27FC236}">
                <a16:creationId xmlns:a16="http://schemas.microsoft.com/office/drawing/2014/main" id="{9BC10534-F735-7B44-8CC2-2A21866C9C2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30459" y="1677392"/>
            <a:ext cx="511856" cy="511856"/>
          </a:xfrm>
          <a:prstGeom prst="rect">
            <a:avLst/>
          </a:prstGeom>
        </p:spPr>
      </p:pic>
      <p:pic>
        <p:nvPicPr>
          <p:cNvPr id="25" name="Image 79">
            <a:extLst>
              <a:ext uri="{FF2B5EF4-FFF2-40B4-BE49-F238E27FC236}">
                <a16:creationId xmlns:a16="http://schemas.microsoft.com/office/drawing/2014/main" id="{110493EA-529E-C445-A205-398B4F1A5F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30459" y="2189249"/>
            <a:ext cx="511856" cy="511856"/>
          </a:xfrm>
          <a:prstGeom prst="rect">
            <a:avLst/>
          </a:prstGeom>
        </p:spPr>
      </p:pic>
      <p:pic>
        <p:nvPicPr>
          <p:cNvPr id="26" name="Image 79">
            <a:extLst>
              <a:ext uri="{FF2B5EF4-FFF2-40B4-BE49-F238E27FC236}">
                <a16:creationId xmlns:a16="http://schemas.microsoft.com/office/drawing/2014/main" id="{837C5A9C-8D50-6445-B0F0-5E8699247E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30459" y="2701105"/>
            <a:ext cx="511856" cy="511856"/>
          </a:xfrm>
          <a:prstGeom prst="rect">
            <a:avLst/>
          </a:prstGeom>
        </p:spPr>
      </p:pic>
      <p:pic>
        <p:nvPicPr>
          <p:cNvPr id="28" name="Image 79">
            <a:extLst>
              <a:ext uri="{FF2B5EF4-FFF2-40B4-BE49-F238E27FC236}">
                <a16:creationId xmlns:a16="http://schemas.microsoft.com/office/drawing/2014/main" id="{9F127392-A193-5648-8916-D3D2C36AB7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19155" y="1165536"/>
            <a:ext cx="511856" cy="511856"/>
          </a:xfrm>
          <a:prstGeom prst="rect">
            <a:avLst/>
          </a:prstGeom>
        </p:spPr>
      </p:pic>
      <p:pic>
        <p:nvPicPr>
          <p:cNvPr id="29" name="Image 79">
            <a:extLst>
              <a:ext uri="{FF2B5EF4-FFF2-40B4-BE49-F238E27FC236}">
                <a16:creationId xmlns:a16="http://schemas.microsoft.com/office/drawing/2014/main" id="{8A8BBCED-E98D-154A-8C6A-764595C3DF8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19155" y="1677392"/>
            <a:ext cx="511856" cy="511856"/>
          </a:xfrm>
          <a:prstGeom prst="rect">
            <a:avLst/>
          </a:prstGeom>
        </p:spPr>
      </p:pic>
      <p:pic>
        <p:nvPicPr>
          <p:cNvPr id="30" name="Image 79">
            <a:extLst>
              <a:ext uri="{FF2B5EF4-FFF2-40B4-BE49-F238E27FC236}">
                <a16:creationId xmlns:a16="http://schemas.microsoft.com/office/drawing/2014/main" id="{F64728B4-0B57-7D49-972A-8C1EA24058F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19155" y="2189249"/>
            <a:ext cx="511856" cy="511856"/>
          </a:xfrm>
          <a:prstGeom prst="rect">
            <a:avLst/>
          </a:prstGeom>
        </p:spPr>
      </p:pic>
      <p:pic>
        <p:nvPicPr>
          <p:cNvPr id="31" name="Image 79">
            <a:extLst>
              <a:ext uri="{FF2B5EF4-FFF2-40B4-BE49-F238E27FC236}">
                <a16:creationId xmlns:a16="http://schemas.microsoft.com/office/drawing/2014/main" id="{7389336E-B768-B94B-ACFF-888098B8D2B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19155" y="2701105"/>
            <a:ext cx="511856" cy="511856"/>
          </a:xfrm>
          <a:prstGeom prst="rect">
            <a:avLst/>
          </a:prstGeom>
        </p:spPr>
      </p:pic>
      <p:pic>
        <p:nvPicPr>
          <p:cNvPr id="33" name="Image 79">
            <a:extLst>
              <a:ext uri="{FF2B5EF4-FFF2-40B4-BE49-F238E27FC236}">
                <a16:creationId xmlns:a16="http://schemas.microsoft.com/office/drawing/2014/main" id="{A97F08D5-8D05-A24E-A6D6-3B1B80DEEC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49387" y="1183928"/>
            <a:ext cx="511856" cy="511856"/>
          </a:xfrm>
          <a:prstGeom prst="rect">
            <a:avLst/>
          </a:prstGeom>
        </p:spPr>
      </p:pic>
      <p:pic>
        <p:nvPicPr>
          <p:cNvPr id="34" name="Image 79">
            <a:extLst>
              <a:ext uri="{FF2B5EF4-FFF2-40B4-BE49-F238E27FC236}">
                <a16:creationId xmlns:a16="http://schemas.microsoft.com/office/drawing/2014/main" id="{126CDB36-29D9-A341-9084-D54F79B5A77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49387" y="1695785"/>
            <a:ext cx="511856" cy="511856"/>
          </a:xfrm>
          <a:prstGeom prst="rect">
            <a:avLst/>
          </a:prstGeom>
        </p:spPr>
      </p:pic>
      <p:pic>
        <p:nvPicPr>
          <p:cNvPr id="35" name="Image 79">
            <a:extLst>
              <a:ext uri="{FF2B5EF4-FFF2-40B4-BE49-F238E27FC236}">
                <a16:creationId xmlns:a16="http://schemas.microsoft.com/office/drawing/2014/main" id="{A6110CA8-A0F7-F74A-AD12-23B3B67C9F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49387" y="2207641"/>
            <a:ext cx="511856" cy="511856"/>
          </a:xfrm>
          <a:prstGeom prst="rect">
            <a:avLst/>
          </a:prstGeom>
        </p:spPr>
      </p:pic>
      <p:pic>
        <p:nvPicPr>
          <p:cNvPr id="36" name="Image 79">
            <a:extLst>
              <a:ext uri="{FF2B5EF4-FFF2-40B4-BE49-F238E27FC236}">
                <a16:creationId xmlns:a16="http://schemas.microsoft.com/office/drawing/2014/main" id="{5D0AB045-47FD-4745-9ED5-9776A6E1A03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49387" y="2719497"/>
            <a:ext cx="511856" cy="511856"/>
          </a:xfrm>
          <a:prstGeom prst="rect">
            <a:avLst/>
          </a:prstGeom>
        </p:spPr>
      </p:pic>
      <p:sp>
        <p:nvSpPr>
          <p:cNvPr id="37" name="Rectangle 36">
            <a:extLst>
              <a:ext uri="{FF2B5EF4-FFF2-40B4-BE49-F238E27FC236}">
                <a16:creationId xmlns:a16="http://schemas.microsoft.com/office/drawing/2014/main" id="{26E36FCF-2214-DD49-A374-7FACA2AB0919}"/>
              </a:ext>
            </a:extLst>
          </p:cNvPr>
          <p:cNvSpPr/>
          <p:nvPr/>
        </p:nvSpPr>
        <p:spPr>
          <a:xfrm>
            <a:off x="1256782" y="1496380"/>
            <a:ext cx="1573188" cy="1446550"/>
          </a:xfrm>
          <a:prstGeom prst="rect">
            <a:avLst/>
          </a:prstGeom>
        </p:spPr>
        <p:txBody>
          <a:bodyPr wrap="square">
            <a:spAutoFit/>
          </a:bodyPr>
          <a:lstStyle/>
          <a:p>
            <a:pPr algn="ctr"/>
            <a:r>
              <a:rPr lang="en-FR" sz="1600" b="1" dirty="0">
                <a:latin typeface="Arial" panose="020B0604020202020204" pitchFamily="34" charset="0"/>
                <a:cs typeface="Arial" panose="020B0604020202020204" pitchFamily="34" charset="0"/>
              </a:rPr>
              <a:t>Standard selection for </a:t>
            </a:r>
            <a:r>
              <a:rPr lang="en-FR" sz="1600" b="1" dirty="0">
                <a:solidFill>
                  <a:srgbClr val="C00000"/>
                </a:solidFill>
                <a:latin typeface="Arial" panose="020B0604020202020204" pitchFamily="34" charset="0"/>
                <a:cs typeface="Arial" panose="020B0604020202020204" pitchFamily="34" charset="0"/>
              </a:rPr>
              <a:t>early stage AD</a:t>
            </a:r>
          </a:p>
          <a:p>
            <a:pPr algn="ctr"/>
            <a:r>
              <a:rPr lang="en-FR" sz="1200" dirty="0">
                <a:solidFill>
                  <a:srgbClr val="C00000"/>
                </a:solidFill>
                <a:latin typeface="Arial" panose="020B0604020202020204" pitchFamily="34" charset="0"/>
                <a:cs typeface="Arial" panose="020B0604020202020204" pitchFamily="34" charset="0"/>
              </a:rPr>
              <a:t>age=50-85</a:t>
            </a:r>
          </a:p>
          <a:p>
            <a:pPr algn="ctr"/>
            <a:r>
              <a:rPr lang="en-FR" sz="1200" dirty="0">
                <a:solidFill>
                  <a:srgbClr val="C00000"/>
                </a:solidFill>
                <a:latin typeface="Arial" panose="020B0604020202020204" pitchFamily="34" charset="0"/>
                <a:cs typeface="Arial" panose="020B0604020202020204" pitchFamily="34" charset="0"/>
              </a:rPr>
              <a:t>CDR=0.5 or 1</a:t>
            </a:r>
          </a:p>
        </p:txBody>
      </p:sp>
      <p:sp>
        <p:nvSpPr>
          <p:cNvPr id="38" name="Rectangle 37">
            <a:extLst>
              <a:ext uri="{FF2B5EF4-FFF2-40B4-BE49-F238E27FC236}">
                <a16:creationId xmlns:a16="http://schemas.microsoft.com/office/drawing/2014/main" id="{1A03B4B6-4403-184A-8B03-5B1D2BED5E97}"/>
              </a:ext>
            </a:extLst>
          </p:cNvPr>
          <p:cNvSpPr/>
          <p:nvPr/>
        </p:nvSpPr>
        <p:spPr>
          <a:xfrm>
            <a:off x="3635286" y="1786484"/>
            <a:ext cx="1942617" cy="1077218"/>
          </a:xfrm>
          <a:prstGeom prst="rect">
            <a:avLst/>
          </a:prstGeom>
        </p:spPr>
        <p:txBody>
          <a:bodyPr wrap="square">
            <a:spAutoFit/>
          </a:bodyPr>
          <a:lstStyle/>
          <a:p>
            <a:pPr algn="ctr"/>
            <a:r>
              <a:rPr lang="en-GB" sz="1400" b="1" dirty="0">
                <a:latin typeface="Arial" panose="020B0604020202020204" pitchFamily="34" charset="0"/>
                <a:cs typeface="Arial" panose="020B0604020202020204" pitchFamily="34" charset="0"/>
              </a:rPr>
              <a:t>S</a:t>
            </a:r>
            <a:r>
              <a:rPr lang="en-FR" sz="1400" b="1" dirty="0">
                <a:latin typeface="Arial" panose="020B0604020202020204" pitchFamily="34" charset="0"/>
                <a:cs typeface="Arial" panose="020B0604020202020204" pitchFamily="34" charset="0"/>
              </a:rPr>
              <a:t>election of progression profiles</a:t>
            </a:r>
          </a:p>
          <a:p>
            <a:pPr algn="ctr"/>
            <a:r>
              <a:rPr lang="en-GB" sz="1200" dirty="0">
                <a:latin typeface="Arial" panose="020B0604020202020204" pitchFamily="34" charset="0"/>
                <a:cs typeface="Arial" panose="020B0604020202020204" pitchFamily="34" charset="0"/>
              </a:rPr>
              <a:t>u</a:t>
            </a:r>
            <a:r>
              <a:rPr lang="en-FR" sz="1200" dirty="0">
                <a:latin typeface="Arial" panose="020B0604020202020204" pitchFamily="34" charset="0"/>
                <a:cs typeface="Arial" panose="020B0604020202020204" pitchFamily="34" charset="0"/>
              </a:rPr>
              <a:t>sing AD COURSE MAP</a:t>
            </a:r>
          </a:p>
          <a:p>
            <a:pPr algn="ctr"/>
            <a:r>
              <a:rPr lang="en-FR" sz="1200" i="1" dirty="0">
                <a:latin typeface="Arial" panose="020B0604020202020204" pitchFamily="34" charset="0"/>
                <a:cs typeface="Arial" panose="020B0604020202020204" pitchFamily="34" charset="0"/>
              </a:rPr>
              <a:t>(in comparison with no selection)</a:t>
            </a:r>
            <a:endParaRPr lang="en-FR" sz="1600"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FB3BAB2D-0467-CB43-8FB5-12AF28E5684C}"/>
              </a:ext>
            </a:extLst>
          </p:cNvPr>
          <p:cNvSpPr/>
          <p:nvPr/>
        </p:nvSpPr>
        <p:spPr>
          <a:xfrm>
            <a:off x="5918814" y="1786484"/>
            <a:ext cx="1573188" cy="769441"/>
          </a:xfrm>
          <a:prstGeom prst="rect">
            <a:avLst/>
          </a:prstGeom>
        </p:spPr>
        <p:txBody>
          <a:bodyPr wrap="square">
            <a:spAutoFit/>
          </a:bodyPr>
          <a:lstStyle/>
          <a:p>
            <a:pPr algn="ctr"/>
            <a:r>
              <a:rPr lang="fr-FR" sz="1600" b="1" dirty="0">
                <a:latin typeface="Arial" panose="020B0604020202020204" pitchFamily="34" charset="0"/>
                <a:cs typeface="Arial" panose="020B0604020202020204" pitchFamily="34" charset="0"/>
              </a:rPr>
              <a:t>Trial simulation</a:t>
            </a:r>
          </a:p>
          <a:p>
            <a:pPr algn="ctr"/>
            <a:r>
              <a:rPr lang="fr-FR" sz="1200" dirty="0">
                <a:latin typeface="Arial" panose="020B0604020202020204" pitchFamily="34" charset="0"/>
                <a:cs typeface="Arial" panose="020B0604020202020204" pitchFamily="34" charset="0"/>
              </a:rPr>
              <a:t>(</a:t>
            </a:r>
            <a:r>
              <a:rPr lang="fr-FR" sz="1200" dirty="0">
                <a:solidFill>
                  <a:srgbClr val="C00000"/>
                </a:solidFill>
                <a:latin typeface="Arial" panose="020B0604020202020204" pitchFamily="34" charset="0"/>
                <a:cs typeface="Arial" panose="020B0604020202020204" pitchFamily="34" charset="0"/>
              </a:rPr>
              <a:t>2 </a:t>
            </a:r>
            <a:r>
              <a:rPr lang="fr-FR" sz="1200" dirty="0" err="1">
                <a:solidFill>
                  <a:srgbClr val="C00000"/>
                </a:solidFill>
                <a:latin typeface="Arial" panose="020B0604020202020204" pitchFamily="34" charset="0"/>
                <a:cs typeface="Arial" panose="020B0604020202020204" pitchFamily="34" charset="0"/>
              </a:rPr>
              <a:t>years</a:t>
            </a:r>
            <a:r>
              <a:rPr lang="fr-FR" sz="1200" dirty="0">
                <a:solidFill>
                  <a:srgbClr val="C00000"/>
                </a:solidFill>
                <a:latin typeface="Arial" panose="020B0604020202020204" pitchFamily="34" charset="0"/>
                <a:cs typeface="Arial" panose="020B0604020202020204" pitchFamily="34" charset="0"/>
              </a:rPr>
              <a:t> trial</a:t>
            </a:r>
            <a:r>
              <a:rPr lang="fr-FR" sz="1200" dirty="0">
                <a:latin typeface="Arial" panose="020B0604020202020204" pitchFamily="34" charset="0"/>
                <a:cs typeface="Arial" panose="020B0604020202020204" pitchFamily="34" charset="0"/>
              </a:rPr>
              <a:t>)</a:t>
            </a:r>
            <a:endParaRPr lang="en-FR" sz="1200" dirty="0">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15256583-F146-534E-A396-1F7C657B9CED}"/>
              </a:ext>
            </a:extLst>
          </p:cNvPr>
          <p:cNvSpPr/>
          <p:nvPr/>
        </p:nvSpPr>
        <p:spPr>
          <a:xfrm>
            <a:off x="-32659" y="3458652"/>
            <a:ext cx="1573188" cy="471371"/>
          </a:xfrm>
          <a:prstGeom prst="rect">
            <a:avLst/>
          </a:prstGeom>
        </p:spPr>
        <p:txBody>
          <a:bodyPr wrap="square">
            <a:spAutoFit/>
          </a:bodyPr>
          <a:lstStyle/>
          <a:p>
            <a:pPr algn="ctr"/>
            <a:r>
              <a:rPr lang="fr-FR" sz="1600" dirty="0">
                <a:latin typeface="Arial" panose="020B0604020202020204" pitchFamily="34" charset="0"/>
                <a:cs typeface="Arial" panose="020B0604020202020204" pitchFamily="34" charset="0"/>
              </a:rPr>
              <a:t>All </a:t>
            </a:r>
            <a:r>
              <a:rPr lang="fr-FR" sz="1600" dirty="0" err="1">
                <a:latin typeface="Arial" panose="020B0604020202020204" pitchFamily="34" charset="0"/>
                <a:cs typeface="Arial" panose="020B0604020202020204" pitchFamily="34" charset="0"/>
              </a:rPr>
              <a:t>available</a:t>
            </a:r>
            <a:r>
              <a:rPr lang="fr-FR" sz="1600" dirty="0">
                <a:latin typeface="Arial" panose="020B0604020202020204" pitchFamily="34" charset="0"/>
                <a:cs typeface="Arial" panose="020B0604020202020204" pitchFamily="34" charset="0"/>
              </a:rPr>
              <a:t> </a:t>
            </a:r>
            <a:r>
              <a:rPr lang="fr-FR" sz="1600" dirty="0" err="1">
                <a:latin typeface="Arial" panose="020B0604020202020204" pitchFamily="34" charset="0"/>
                <a:cs typeface="Arial" panose="020B0604020202020204" pitchFamily="34" charset="0"/>
              </a:rPr>
              <a:t>subjects</a:t>
            </a:r>
            <a:endParaRPr lang="en-FR" sz="16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040A4294-E5C4-BF4C-B628-3B869CEDB186}"/>
              </a:ext>
            </a:extLst>
          </p:cNvPr>
          <p:cNvSpPr/>
          <p:nvPr/>
        </p:nvSpPr>
        <p:spPr>
          <a:xfrm>
            <a:off x="4572000" y="3557887"/>
            <a:ext cx="2483556" cy="984885"/>
          </a:xfrm>
          <a:prstGeom prst="rect">
            <a:avLst/>
          </a:prstGeom>
        </p:spPr>
        <p:txBody>
          <a:bodyPr wrap="square">
            <a:spAutoFit/>
          </a:bodyPr>
          <a:lstStyle/>
          <a:p>
            <a:pPr algn="ctr"/>
            <a:r>
              <a:rPr lang="fr-FR" sz="1600" dirty="0" err="1">
                <a:latin typeface="Arial" panose="020B0604020202020204" pitchFamily="34" charset="0"/>
                <a:cs typeface="Arial" panose="020B0604020202020204" pitchFamily="34" charset="0"/>
              </a:rPr>
              <a:t>Optimized</a:t>
            </a:r>
            <a:r>
              <a:rPr lang="fr-FR" sz="1600" dirty="0">
                <a:latin typeface="Arial" panose="020B0604020202020204" pitchFamily="34" charset="0"/>
                <a:cs typeface="Arial" panose="020B0604020202020204" pitchFamily="34" charset="0"/>
              </a:rPr>
              <a:t> </a:t>
            </a:r>
            <a:r>
              <a:rPr lang="fr-FR" sz="1600" dirty="0" err="1">
                <a:latin typeface="Arial" panose="020B0604020202020204" pitchFamily="34" charset="0"/>
                <a:cs typeface="Arial" panose="020B0604020202020204" pitchFamily="34" charset="0"/>
              </a:rPr>
              <a:t>cohort</a:t>
            </a:r>
            <a:endParaRPr lang="fr-FR" sz="1600" dirty="0">
              <a:latin typeface="Arial" panose="020B0604020202020204" pitchFamily="34" charset="0"/>
              <a:cs typeface="Arial" panose="020B0604020202020204" pitchFamily="34" charset="0"/>
            </a:endParaRPr>
          </a:p>
          <a:p>
            <a:pPr algn="ctr"/>
            <a:r>
              <a:rPr lang="fr-FR" sz="1400" i="1" dirty="0" err="1">
                <a:latin typeface="Arial" panose="020B0604020202020204" pitchFamily="34" charset="0"/>
                <a:cs typeface="Arial" panose="020B0604020202020204" pitchFamily="34" charset="0"/>
              </a:rPr>
              <a:t>only</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subjects</a:t>
            </a:r>
            <a:r>
              <a:rPr lang="fr-FR" sz="1400" i="1" dirty="0">
                <a:latin typeface="Arial" panose="020B0604020202020204" pitchFamily="34" charset="0"/>
                <a:cs typeface="Arial" panose="020B0604020202020204" pitchFamily="34" charset="0"/>
              </a:rPr>
              <a:t> for </a:t>
            </a:r>
            <a:r>
              <a:rPr lang="fr-FR" sz="1400" i="1" dirty="0" err="1">
                <a:latin typeface="Arial" panose="020B0604020202020204" pitchFamily="34" charset="0"/>
                <a:cs typeface="Arial" panose="020B0604020202020204" pitchFamily="34" charset="0"/>
              </a:rPr>
              <a:t>whom</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we</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predict</a:t>
            </a:r>
            <a:r>
              <a:rPr lang="fr-FR" sz="1400" i="1" dirty="0">
                <a:latin typeface="Arial" panose="020B0604020202020204" pitchFamily="34" charset="0"/>
                <a:cs typeface="Arial" panose="020B0604020202020204" pitchFamily="34" charset="0"/>
              </a:rPr>
              <a:t> a </a:t>
            </a:r>
            <a:r>
              <a:rPr lang="fr-FR" sz="1400" i="1" dirty="0" err="1">
                <a:latin typeface="Arial" panose="020B0604020202020204" pitchFamily="34" charset="0"/>
                <a:cs typeface="Arial" panose="020B0604020202020204" pitchFamily="34" charset="0"/>
              </a:rPr>
              <a:t>significant</a:t>
            </a:r>
            <a:r>
              <a:rPr lang="fr-FR" sz="1400" i="1" dirty="0">
                <a:latin typeface="Arial" panose="020B0604020202020204" pitchFamily="34" charset="0"/>
                <a:cs typeface="Arial" panose="020B0604020202020204" pitchFamily="34" charset="0"/>
              </a:rPr>
              <a:t> change of the </a:t>
            </a:r>
            <a:r>
              <a:rPr lang="fr-FR" sz="1400" i="1" dirty="0">
                <a:solidFill>
                  <a:srgbClr val="C00000"/>
                </a:solidFill>
                <a:latin typeface="Arial" panose="020B0604020202020204" pitchFamily="34" charset="0"/>
                <a:cs typeface="Arial" panose="020B0604020202020204" pitchFamily="34" charset="0"/>
              </a:rPr>
              <a:t>MMSE</a:t>
            </a:r>
            <a:r>
              <a:rPr lang="fr-FR" sz="1400" i="1" dirty="0">
                <a:latin typeface="Arial" panose="020B0604020202020204" pitchFamily="34" charset="0"/>
                <a:cs typeface="Arial" panose="020B0604020202020204" pitchFamily="34" charset="0"/>
              </a:rPr>
              <a:t> </a:t>
            </a:r>
            <a:r>
              <a:rPr lang="fr-FR" sz="1400" i="1" dirty="0" err="1">
                <a:latin typeface="Arial" panose="020B0604020202020204" pitchFamily="34" charset="0"/>
                <a:cs typeface="Arial" panose="020B0604020202020204" pitchFamily="34" charset="0"/>
              </a:rPr>
              <a:t>during</a:t>
            </a:r>
            <a:r>
              <a:rPr lang="fr-FR" sz="1400" i="1" dirty="0">
                <a:latin typeface="Arial" panose="020B0604020202020204" pitchFamily="34" charset="0"/>
                <a:cs typeface="Arial" panose="020B0604020202020204" pitchFamily="34" charset="0"/>
              </a:rPr>
              <a:t> trial</a:t>
            </a:r>
            <a:endParaRPr lang="en-FR" sz="1400" i="1" dirty="0">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54ED95C0-4E00-6641-BA7B-DFF0E2C69F3C}"/>
              </a:ext>
            </a:extLst>
          </p:cNvPr>
          <p:cNvSpPr/>
          <p:nvPr/>
        </p:nvSpPr>
        <p:spPr>
          <a:xfrm>
            <a:off x="7573214" y="1755091"/>
            <a:ext cx="1573188" cy="954107"/>
          </a:xfrm>
          <a:prstGeom prst="rect">
            <a:avLst/>
          </a:prstGeom>
        </p:spPr>
        <p:txBody>
          <a:bodyPr wrap="square">
            <a:spAutoFit/>
          </a:bodyPr>
          <a:lstStyle/>
          <a:p>
            <a:pPr algn="ctr"/>
            <a:r>
              <a:rPr lang="en-FR" sz="1400" dirty="0">
                <a:latin typeface="Arial" panose="020B0604020202020204" pitchFamily="34" charset="0"/>
                <a:cs typeface="Arial" panose="020B0604020202020204" pitchFamily="34" charset="0"/>
              </a:rPr>
              <a:t>Sample size for a range of hypothetical treatment effects</a:t>
            </a:r>
          </a:p>
        </p:txBody>
      </p:sp>
      <p:sp>
        <p:nvSpPr>
          <p:cNvPr id="43" name="Rectangle 42">
            <a:extLst>
              <a:ext uri="{FF2B5EF4-FFF2-40B4-BE49-F238E27FC236}">
                <a16:creationId xmlns:a16="http://schemas.microsoft.com/office/drawing/2014/main" id="{5AE24B3C-D354-4941-9939-3448D591C87E}"/>
              </a:ext>
            </a:extLst>
          </p:cNvPr>
          <p:cNvSpPr/>
          <p:nvPr/>
        </p:nvSpPr>
        <p:spPr>
          <a:xfrm>
            <a:off x="8169" y="27063"/>
            <a:ext cx="9127662" cy="369332"/>
          </a:xfrm>
          <a:prstGeom prst="rect">
            <a:avLst/>
          </a:prstGeom>
        </p:spPr>
        <p:txBody>
          <a:bodyPr wrap="square">
            <a:spAutoFit/>
          </a:bodyPr>
          <a:lstStyle/>
          <a:p>
            <a:pPr algn="ctr"/>
            <a:r>
              <a:rPr lang="fr-FR" b="1" dirty="0">
                <a:latin typeface="Arial" panose="020B0604020202020204" pitchFamily="34" charset="0"/>
                <a:ea typeface="Arial" panose="020B0604020202020204" pitchFamily="34" charset="0"/>
                <a:cs typeface="Arial" panose="020B0604020202020204" pitchFamily="34" charset="0"/>
              </a:rPr>
              <a:t>Simulation of inclusion </a:t>
            </a:r>
            <a:r>
              <a:rPr lang="fr-FR" b="1" dirty="0" err="1">
                <a:latin typeface="Arial" panose="020B0604020202020204" pitchFamily="34" charset="0"/>
                <a:ea typeface="Arial" panose="020B0604020202020204" pitchFamily="34" charset="0"/>
                <a:cs typeface="Arial" panose="020B0604020202020204" pitchFamily="34" charset="0"/>
              </a:rPr>
              <a:t>procedures</a:t>
            </a:r>
            <a:r>
              <a:rPr lang="fr-FR" b="1" dirty="0">
                <a:latin typeface="Arial" panose="020B0604020202020204" pitchFamily="34" charset="0"/>
                <a:ea typeface="Arial" panose="020B0604020202020204" pitchFamily="34" charset="0"/>
                <a:cs typeface="Arial" panose="020B0604020202020204" pitchFamily="34" charset="0"/>
              </a:rPr>
              <a:t> for </a:t>
            </a:r>
            <a:r>
              <a:rPr lang="fr-FR" b="1" dirty="0" err="1">
                <a:latin typeface="Arial" panose="020B0604020202020204" pitchFamily="34" charset="0"/>
                <a:ea typeface="Arial" panose="020B0604020202020204" pitchFamily="34" charset="0"/>
                <a:cs typeface="Arial" panose="020B0604020202020204" pitchFamily="34" charset="0"/>
              </a:rPr>
              <a:t>early</a:t>
            </a:r>
            <a:r>
              <a:rPr lang="fr-FR" b="1" dirty="0">
                <a:latin typeface="Arial" panose="020B0604020202020204" pitchFamily="34" charset="0"/>
                <a:ea typeface="Arial" panose="020B0604020202020204" pitchFamily="34" charset="0"/>
                <a:cs typeface="Arial" panose="020B0604020202020204" pitchFamily="34" charset="0"/>
              </a:rPr>
              <a:t> stage </a:t>
            </a:r>
            <a:r>
              <a:rPr lang="fr-FR" b="1" dirty="0" err="1">
                <a:latin typeface="Arial" panose="020B0604020202020204" pitchFamily="34" charset="0"/>
                <a:ea typeface="Arial" panose="020B0604020202020204" pitchFamily="34" charset="0"/>
                <a:cs typeface="Arial" panose="020B0604020202020204" pitchFamily="34" charset="0"/>
              </a:rPr>
              <a:t>Alzheimer’s</a:t>
            </a:r>
            <a:r>
              <a:rPr lang="fr-FR" b="1" dirty="0">
                <a:latin typeface="Arial" panose="020B0604020202020204" pitchFamily="34" charset="0"/>
                <a:ea typeface="Arial" panose="020B0604020202020204" pitchFamily="34" charset="0"/>
                <a:cs typeface="Arial" panose="020B0604020202020204" pitchFamily="34" charset="0"/>
              </a:rPr>
              <a:t> </a:t>
            </a:r>
            <a:r>
              <a:rPr lang="fr-FR" b="1" dirty="0" err="1">
                <a:latin typeface="Arial" panose="020B0604020202020204" pitchFamily="34" charset="0"/>
                <a:ea typeface="Arial" panose="020B0604020202020204" pitchFamily="34" charset="0"/>
                <a:cs typeface="Arial" panose="020B0604020202020204" pitchFamily="34" charset="0"/>
              </a:rPr>
              <a:t>disease</a:t>
            </a:r>
            <a:r>
              <a:rPr lang="fr-FR" b="1" dirty="0">
                <a:latin typeface="Arial" panose="020B0604020202020204" pitchFamily="34" charset="0"/>
                <a:ea typeface="Arial" panose="020B0604020202020204" pitchFamily="34" charset="0"/>
                <a:cs typeface="Arial" panose="020B0604020202020204" pitchFamily="34" charset="0"/>
              </a:rPr>
              <a:t> </a:t>
            </a:r>
            <a:r>
              <a:rPr lang="fr-FR" b="1" dirty="0" err="1">
                <a:latin typeface="Arial" panose="020B0604020202020204" pitchFamily="34" charset="0"/>
                <a:ea typeface="Arial" panose="020B0604020202020204" pitchFamily="34" charset="0"/>
                <a:cs typeface="Arial" panose="020B0604020202020204" pitchFamily="34" charset="0"/>
              </a:rPr>
              <a:t>subjects</a:t>
            </a:r>
            <a:endParaRPr lang="en-FR" dirty="0">
              <a:latin typeface="Arial" panose="020B0604020202020204" pitchFamily="34" charset="0"/>
              <a:cs typeface="Arial" panose="020B0604020202020204" pitchFamily="34" charset="0"/>
            </a:endParaRPr>
          </a:p>
        </p:txBody>
      </p:sp>
      <p:sp>
        <p:nvSpPr>
          <p:cNvPr id="2" name="Espace réservé du numéro de diapositive 1">
            <a:extLst>
              <a:ext uri="{FF2B5EF4-FFF2-40B4-BE49-F238E27FC236}">
                <a16:creationId xmlns:a16="http://schemas.microsoft.com/office/drawing/2014/main" id="{A70C02B5-E4EE-E754-F5F4-91B7D33EC8D4}"/>
              </a:ext>
            </a:extLst>
          </p:cNvPr>
          <p:cNvSpPr>
            <a:spLocks noGrp="1"/>
          </p:cNvSpPr>
          <p:nvPr>
            <p:ph type="sldNum" sz="quarter" idx="12"/>
          </p:nvPr>
        </p:nvSpPr>
        <p:spPr/>
        <p:txBody>
          <a:bodyPr/>
          <a:lstStyle/>
          <a:p>
            <a:fld id="{B6E69D5D-3C54-E347-B3D4-70BDFA7C6521}" type="slidenum">
              <a:rPr lang="fr-FR" smtClean="0"/>
              <a:t>54</a:t>
            </a:fld>
            <a:endParaRPr lang="fr-FR"/>
          </a:p>
        </p:txBody>
      </p:sp>
    </p:spTree>
    <p:extLst>
      <p:ext uri="{BB962C8B-B14F-4D97-AF65-F5344CB8AC3E}">
        <p14:creationId xmlns:p14="http://schemas.microsoft.com/office/powerpoint/2010/main" val="2073384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55</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1247701" y="1905502"/>
            <a:ext cx="7023464" cy="1325106"/>
          </a:xfrm>
          <a:prstGeom prst="rect">
            <a:avLst/>
          </a:prstGeom>
          <a:noFill/>
        </p:spPr>
        <p:txBody>
          <a:bodyPr wrap="square" rtlCol="0">
            <a:spAutoFit/>
          </a:bodyPr>
          <a:lstStyle/>
          <a:p>
            <a:pPr algn="r">
              <a:lnSpc>
                <a:spcPct val="70000"/>
              </a:lnSpc>
            </a:pPr>
            <a:r>
              <a:rPr lang="fr-FR" sz="2400" b="1" dirty="0">
                <a:latin typeface="Arial"/>
                <a:cs typeface="Arial"/>
              </a:rPr>
              <a:t>Part II: An </a:t>
            </a:r>
            <a:r>
              <a:rPr lang="fr-FR" sz="2400" b="1" dirty="0" err="1">
                <a:latin typeface="Arial"/>
                <a:cs typeface="Arial"/>
              </a:rPr>
              <a:t>example</a:t>
            </a:r>
            <a:r>
              <a:rPr lang="fr-FR" sz="2400" b="1" dirty="0">
                <a:latin typeface="Arial"/>
                <a:cs typeface="Arial"/>
              </a:rPr>
              <a:t> of a</a:t>
            </a:r>
            <a:r>
              <a:rPr lang="fr-FR" sz="2400" b="1" dirty="0"/>
              <a:t>pplication &amp; Validation</a:t>
            </a:r>
            <a:endParaRPr lang="fr-FR" sz="2400" b="1" dirty="0">
              <a:latin typeface="Arial"/>
              <a:cs typeface="Arial"/>
            </a:endParaRPr>
          </a:p>
          <a:p>
            <a:pPr algn="r">
              <a:lnSpc>
                <a:spcPct val="70000"/>
              </a:lnSpc>
            </a:pPr>
            <a:endParaRPr lang="fr-FR" sz="2700" b="1" dirty="0">
              <a:solidFill>
                <a:schemeClr val="bg1"/>
              </a:solidFill>
              <a:latin typeface="Arial"/>
              <a:cs typeface="Arial"/>
            </a:endParaRPr>
          </a:p>
          <a:p>
            <a:pPr algn="r">
              <a:lnSpc>
                <a:spcPct val="70000"/>
              </a:lnSpc>
            </a:pPr>
            <a:r>
              <a:rPr lang="fr-FR" sz="2100" i="1" dirty="0">
                <a:latin typeface="Arial"/>
                <a:cs typeface="Arial"/>
              </a:rPr>
              <a:t>Alzheimer </a:t>
            </a:r>
            <a:r>
              <a:rPr lang="fr-FR" sz="2100" i="1" dirty="0" err="1">
                <a:latin typeface="Arial"/>
                <a:cs typeface="Arial"/>
              </a:rPr>
              <a:t>disease</a:t>
            </a:r>
            <a:r>
              <a:rPr lang="fr-FR" sz="2100" i="1" dirty="0">
                <a:latin typeface="Arial"/>
                <a:cs typeface="Arial"/>
              </a:rPr>
              <a:t> course </a:t>
            </a:r>
            <a:r>
              <a:rPr lang="fr-FR" sz="2100" i="1" dirty="0" err="1">
                <a:latin typeface="Arial"/>
                <a:cs typeface="Arial"/>
              </a:rPr>
              <a:t>map</a:t>
            </a:r>
            <a:endParaRPr lang="fr-FR" sz="2100" i="1" dirty="0">
              <a:latin typeface="Arial"/>
              <a:cs typeface="Arial"/>
            </a:endParaRPr>
          </a:p>
          <a:p>
            <a:pPr algn="r">
              <a:lnSpc>
                <a:spcPct val="70000"/>
              </a:lnSpc>
            </a:pPr>
            <a:endParaRPr lang="fr-FR" sz="2100" i="1" dirty="0">
              <a:latin typeface="Arial"/>
              <a:cs typeface="Arial"/>
            </a:endParaRPr>
          </a:p>
          <a:p>
            <a:pPr algn="r">
              <a:lnSpc>
                <a:spcPct val="70000"/>
              </a:lnSpc>
            </a:pPr>
            <a:r>
              <a:rPr lang="fr-FR" sz="2100" i="1" dirty="0">
                <a:latin typeface="Arial"/>
                <a:cs typeface="Arial"/>
              </a:rPr>
              <a:t>7. </a:t>
            </a:r>
            <a:r>
              <a:rPr lang="fr-FR" sz="2100" i="1" dirty="0" err="1">
                <a:latin typeface="Arial"/>
                <a:cs typeface="Arial"/>
              </a:rPr>
              <a:t>Going</a:t>
            </a:r>
            <a:r>
              <a:rPr lang="fr-FR" sz="2100" i="1" dirty="0">
                <a:latin typeface="Arial"/>
                <a:cs typeface="Arial"/>
              </a:rPr>
              <a:t> </a:t>
            </a:r>
            <a:r>
              <a:rPr lang="fr-FR" sz="2100" i="1" dirty="0" err="1">
                <a:latin typeface="Arial"/>
                <a:cs typeface="Arial"/>
              </a:rPr>
              <a:t>Further</a:t>
            </a:r>
            <a:endParaRPr lang="fr-FR" sz="2100" i="1" dirty="0">
              <a:latin typeface="Arial"/>
              <a:cs typeface="Arial"/>
            </a:endParaRPr>
          </a:p>
        </p:txBody>
      </p:sp>
    </p:spTree>
    <p:extLst>
      <p:ext uri="{BB962C8B-B14F-4D97-AF65-F5344CB8AC3E}">
        <p14:creationId xmlns:p14="http://schemas.microsoft.com/office/powerpoint/2010/main" val="1999066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13C08AD-B3CD-474D-9A5A-92077B154146}"/>
              </a:ext>
            </a:extLst>
          </p:cNvPr>
          <p:cNvSpPr txBox="1">
            <a:spLocks/>
          </p:cNvSpPr>
          <p:nvPr/>
        </p:nvSpPr>
        <p:spPr>
          <a:xfrm>
            <a:off x="0" y="-128336"/>
            <a:ext cx="9144000" cy="705853"/>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702082"/>
                </a:solidFill>
                <a:latin typeface="Nexa Bold" charset="0"/>
                <a:ea typeface="Nexa Bold" charset="0"/>
                <a:cs typeface="Nexa Bold" charset="0"/>
              </a:defRPr>
            </a:lvl1pPr>
            <a:lvl2pPr marL="457200" indent="0" algn="l" defTabSz="914400" rtl="0" eaLnBrk="1" latinLnBrk="0" hangingPunct="1">
              <a:lnSpc>
                <a:spcPct val="80000"/>
              </a:lnSpc>
              <a:spcBef>
                <a:spcPts val="500"/>
              </a:spcBef>
              <a:buFontTx/>
              <a:buNone/>
              <a:defRPr sz="1500" kern="1200">
                <a:solidFill>
                  <a:schemeClr val="tx1"/>
                </a:solidFill>
                <a:latin typeface="Nexa Light" charset="0"/>
                <a:ea typeface="Nexa Light" charset="0"/>
                <a:cs typeface="Nexa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342884">
              <a:spcBef>
                <a:spcPct val="20000"/>
              </a:spcBef>
            </a:pPr>
            <a:r>
              <a:rPr lang="en-US" sz="3200" b="1" dirty="0">
                <a:solidFill>
                  <a:schemeClr val="tx2">
                    <a:lumMod val="75000"/>
                  </a:schemeClr>
                </a:solidFill>
                <a:latin typeface="+mn-lt"/>
                <a:ea typeface="ＭＳ Ｐゴシック" charset="-128"/>
                <a:cs typeface="+mn-cs"/>
              </a:rPr>
              <a:t>Resources</a:t>
            </a:r>
          </a:p>
        </p:txBody>
      </p:sp>
      <p:sp>
        <p:nvSpPr>
          <p:cNvPr id="2" name="Rectangle 1">
            <a:extLst>
              <a:ext uri="{FF2B5EF4-FFF2-40B4-BE49-F238E27FC236}">
                <a16:creationId xmlns:a16="http://schemas.microsoft.com/office/drawing/2014/main" id="{5B84FD10-1407-E44D-88B5-BE9806F86543}"/>
              </a:ext>
            </a:extLst>
          </p:cNvPr>
          <p:cNvSpPr/>
          <p:nvPr/>
        </p:nvSpPr>
        <p:spPr>
          <a:xfrm>
            <a:off x="182033" y="577517"/>
            <a:ext cx="8779934" cy="4355038"/>
          </a:xfrm>
          <a:prstGeom prst="rect">
            <a:avLst/>
          </a:prstGeom>
        </p:spPr>
        <p:txBody>
          <a:bodyPr wrap="square">
            <a:spAutoFit/>
          </a:bodyPr>
          <a:lstStyle/>
          <a:p>
            <a:pPr lvl="0">
              <a:lnSpc>
                <a:spcPct val="250000"/>
              </a:lnSpc>
            </a:pPr>
            <a:r>
              <a:rPr lang="en-US" sz="1600" b="1" dirty="0">
                <a:solidFill>
                  <a:srgbClr val="000000"/>
                </a:solidFill>
                <a:latin typeface="Avenir Book" panose="02000503020000020003" pitchFamily="2" charset="0"/>
              </a:rPr>
              <a:t>Open-source software </a:t>
            </a:r>
            <a:r>
              <a:rPr lang="en-US" sz="1600" b="1" dirty="0" err="1">
                <a:solidFill>
                  <a:srgbClr val="000000"/>
                </a:solidFill>
                <a:latin typeface="Avenir Book" panose="02000503020000020003" pitchFamily="2" charset="0"/>
              </a:rPr>
              <a:t>Leaspy</a:t>
            </a:r>
            <a:r>
              <a:rPr lang="en-US" sz="1600" b="1" dirty="0">
                <a:solidFill>
                  <a:srgbClr val="000000"/>
                </a:solidFill>
                <a:latin typeface="Avenir Book" panose="02000503020000020003" pitchFamily="2" charset="0"/>
              </a:rPr>
              <a:t> on GitLab:</a:t>
            </a:r>
          </a:p>
          <a:p>
            <a:pPr marL="285750" lvl="0" indent="-285750">
              <a:lnSpc>
                <a:spcPct val="150000"/>
              </a:lnSpc>
              <a:buFontTx/>
              <a:buChar char="-"/>
            </a:pPr>
            <a:r>
              <a:rPr lang="en-GB" sz="1600" dirty="0">
                <a:solidFill>
                  <a:srgbClr val="000000"/>
                </a:solidFill>
                <a:latin typeface="Avenir Book" panose="02000503020000020003" pitchFamily="2" charset="0"/>
              </a:rPr>
              <a:t>Source code: </a:t>
            </a:r>
            <a:r>
              <a:rPr lang="en-GB" sz="1600" dirty="0">
                <a:solidFill>
                  <a:srgbClr val="000000"/>
                </a:solidFill>
                <a:latin typeface="Avenir Book" panose="02000503020000020003" pitchFamily="2" charset="0"/>
                <a:hlinkClick r:id="rId3"/>
              </a:rPr>
              <a:t>https://gitlab.com/icm-institute/aramislab/leaspy/</a:t>
            </a:r>
            <a:r>
              <a:rPr lang="en-GB" sz="1600" dirty="0">
                <a:solidFill>
                  <a:srgbClr val="000000"/>
                </a:solidFill>
                <a:latin typeface="Avenir Book" panose="02000503020000020003" pitchFamily="2" charset="0"/>
              </a:rPr>
              <a:t> </a:t>
            </a:r>
          </a:p>
          <a:p>
            <a:pPr marL="285750" lvl="0" indent="-285750">
              <a:lnSpc>
                <a:spcPct val="150000"/>
              </a:lnSpc>
              <a:buFontTx/>
              <a:buChar char="-"/>
            </a:pPr>
            <a:r>
              <a:rPr lang="en-GB" sz="1600" dirty="0">
                <a:solidFill>
                  <a:srgbClr val="000000"/>
                </a:solidFill>
                <a:latin typeface="Avenir Book" panose="02000503020000020003" pitchFamily="2" charset="0"/>
              </a:rPr>
              <a:t>Hands-on sessions: </a:t>
            </a:r>
            <a:r>
              <a:rPr lang="en-GB" sz="1600" dirty="0">
                <a:solidFill>
                  <a:srgbClr val="000000"/>
                </a:solidFill>
                <a:latin typeface="Avenir Book" panose="02000503020000020003" pitchFamily="2" charset="0"/>
                <a:hlinkClick r:id="rId4"/>
              </a:rPr>
              <a:t>https://gitlab.com/icm-institute/aramislab/disease-course-mapping-challenges</a:t>
            </a:r>
            <a:endParaRPr lang="en-GB" sz="1600" dirty="0">
              <a:solidFill>
                <a:srgbClr val="000000"/>
              </a:solidFill>
              <a:latin typeface="Avenir Book" panose="02000503020000020003" pitchFamily="2" charset="0"/>
            </a:endParaRPr>
          </a:p>
          <a:p>
            <a:pPr lvl="0">
              <a:lnSpc>
                <a:spcPct val="150000"/>
              </a:lnSpc>
            </a:pPr>
            <a:r>
              <a:rPr lang="en-GB" sz="1400" b="1" dirty="0">
                <a:solidFill>
                  <a:srgbClr val="FF0000"/>
                </a:solidFill>
                <a:latin typeface="Avenir Book" panose="02000503020000020003" pitchFamily="2" charset="0"/>
                <a:sym typeface="Wingdings" pitchFamily="2" charset="2"/>
              </a:rPr>
              <a:t> practical sessions </a:t>
            </a:r>
            <a:r>
              <a:rPr lang="fr-FR" sz="1400" b="1" dirty="0">
                <a:solidFill>
                  <a:srgbClr val="FF0000"/>
                </a:solidFill>
                <a:latin typeface="Avenir Book" panose="02000503020000020003" pitchFamily="2" charset="0"/>
                <a:sym typeface="Wingdings" pitchFamily="2" charset="2"/>
              </a:rPr>
              <a:t>!</a:t>
            </a:r>
            <a:endParaRPr lang="en-US" sz="1600" dirty="0">
              <a:solidFill>
                <a:srgbClr val="000000"/>
              </a:solidFill>
              <a:latin typeface="Avenir Book" panose="02000503020000020003" pitchFamily="2" charset="0"/>
            </a:endParaRPr>
          </a:p>
          <a:p>
            <a:pPr lvl="0"/>
            <a:endParaRPr lang="en-US" sz="1600" dirty="0">
              <a:solidFill>
                <a:srgbClr val="000000"/>
              </a:solidFill>
              <a:latin typeface="Avenir Book" panose="02000503020000020003" pitchFamily="2" charset="0"/>
            </a:endParaRPr>
          </a:p>
          <a:p>
            <a:pPr lvl="0"/>
            <a:r>
              <a:rPr lang="en-US" sz="1600" b="1" dirty="0">
                <a:solidFill>
                  <a:srgbClr val="000000"/>
                </a:solidFill>
                <a:latin typeface="Avenir Book" panose="02000503020000020003" pitchFamily="2" charset="0"/>
              </a:rPr>
              <a:t>3D Interactive view of AD Course Maps: </a:t>
            </a:r>
            <a:r>
              <a:rPr lang="en-US" sz="1600" b="1" dirty="0">
                <a:solidFill>
                  <a:srgbClr val="000000"/>
                </a:solidFill>
                <a:latin typeface="Avenir Book" panose="02000503020000020003" pitchFamily="2" charset="0"/>
                <a:hlinkClick r:id="rId5"/>
              </a:rPr>
              <a:t>www.digital-brain.org</a:t>
            </a:r>
            <a:r>
              <a:rPr lang="en-US" sz="1600" b="1" dirty="0">
                <a:solidFill>
                  <a:srgbClr val="000000"/>
                </a:solidFill>
                <a:latin typeface="Avenir Book" panose="02000503020000020003" pitchFamily="2" charset="0"/>
              </a:rPr>
              <a:t> </a:t>
            </a:r>
          </a:p>
          <a:p>
            <a:pPr lvl="0"/>
            <a:endParaRPr lang="en-US" sz="1600" b="1" dirty="0">
              <a:solidFill>
                <a:srgbClr val="000000"/>
              </a:solidFill>
              <a:latin typeface="Avenir Book" panose="02000503020000020003" pitchFamily="2" charset="0"/>
            </a:endParaRPr>
          </a:p>
          <a:p>
            <a:pPr lvl="0"/>
            <a:r>
              <a:rPr lang="en-US" sz="1600" b="1" dirty="0">
                <a:solidFill>
                  <a:srgbClr val="000000"/>
                </a:solidFill>
                <a:latin typeface="Avenir Book" panose="02000503020000020003" pitchFamily="2" charset="0"/>
              </a:rPr>
              <a:t>Some shorter presentations:</a:t>
            </a:r>
          </a:p>
          <a:p>
            <a:pPr marL="285750" lvl="0" indent="-285750">
              <a:buFontTx/>
              <a:buChar char="-"/>
            </a:pPr>
            <a:r>
              <a:rPr lang="en-US" sz="1600" b="1" dirty="0">
                <a:solidFill>
                  <a:srgbClr val="000000"/>
                </a:solidFill>
                <a:latin typeface="Avenir Book" panose="02000503020000020003" pitchFamily="2" charset="0"/>
                <a:hlinkClick r:id="rId6"/>
              </a:rPr>
              <a:t>https://www.youtube.com/watch?v=ixeRX8HpaU4</a:t>
            </a:r>
            <a:endParaRPr lang="en-US" sz="1600" b="1" dirty="0">
              <a:solidFill>
                <a:srgbClr val="000000"/>
              </a:solidFill>
              <a:latin typeface="Avenir Book" panose="02000503020000020003" pitchFamily="2" charset="0"/>
            </a:endParaRPr>
          </a:p>
          <a:p>
            <a:pPr marL="285750" lvl="0" indent="-285750">
              <a:buFontTx/>
              <a:buChar char="-"/>
            </a:pPr>
            <a:r>
              <a:rPr lang="en-US" sz="1600" b="1" dirty="0">
                <a:solidFill>
                  <a:srgbClr val="000000"/>
                </a:solidFill>
                <a:latin typeface="Avenir Book" panose="02000503020000020003" pitchFamily="2" charset="0"/>
                <a:hlinkClick r:id="rId7"/>
              </a:rPr>
              <a:t>https://www.youtube.com/watch?v=8TvnMPfXuJE</a:t>
            </a:r>
            <a:r>
              <a:rPr lang="en-US" sz="1600" b="1" dirty="0">
                <a:solidFill>
                  <a:srgbClr val="000000"/>
                </a:solidFill>
                <a:latin typeface="Avenir Book" panose="02000503020000020003" pitchFamily="2" charset="0"/>
              </a:rPr>
              <a:t> </a:t>
            </a:r>
          </a:p>
          <a:p>
            <a:pPr lvl="0"/>
            <a:endParaRPr lang="en-US" sz="1600" b="1" dirty="0">
              <a:solidFill>
                <a:srgbClr val="000000"/>
              </a:solidFill>
              <a:latin typeface="Avenir Book" panose="02000503020000020003" pitchFamily="2" charset="0"/>
            </a:endParaRPr>
          </a:p>
          <a:p>
            <a:pPr lvl="0"/>
            <a:r>
              <a:rPr lang="en-US" sz="1600" b="1" dirty="0">
                <a:solidFill>
                  <a:srgbClr val="000000"/>
                </a:solidFill>
                <a:latin typeface="Avenir Book" panose="02000503020000020003" pitchFamily="2" charset="0"/>
              </a:rPr>
              <a:t>21h course (in French): </a:t>
            </a:r>
          </a:p>
          <a:p>
            <a:pPr lvl="0"/>
            <a:r>
              <a:rPr lang="en-US" sz="1600" b="1" dirty="0">
                <a:solidFill>
                  <a:srgbClr val="000000"/>
                </a:solidFill>
                <a:latin typeface="Avenir Book" panose="02000503020000020003" pitchFamily="2" charset="0"/>
              </a:rPr>
              <a:t>- </a:t>
            </a:r>
            <a:r>
              <a:rPr lang="en-US" sz="1600" b="1" dirty="0">
                <a:solidFill>
                  <a:srgbClr val="000000"/>
                </a:solidFill>
                <a:latin typeface="Avenir Book" panose="02000503020000020003" pitchFamily="2" charset="0"/>
                <a:hlinkClick r:id="rId8"/>
              </a:rPr>
              <a:t>https://www.youtube.com/playlist?list=PLYXOv-91x4vZwUeNbinSkpr05Knc0ggRX</a:t>
            </a:r>
            <a:r>
              <a:rPr lang="en-US" sz="1600" b="1" dirty="0">
                <a:solidFill>
                  <a:srgbClr val="000000"/>
                </a:solidFill>
                <a:latin typeface="Avenir Book" panose="02000503020000020003" pitchFamily="2" charset="0"/>
              </a:rPr>
              <a:t> </a:t>
            </a:r>
          </a:p>
        </p:txBody>
      </p:sp>
      <p:sp>
        <p:nvSpPr>
          <p:cNvPr id="3" name="Espace réservé du numéro de diapositive 2">
            <a:extLst>
              <a:ext uri="{FF2B5EF4-FFF2-40B4-BE49-F238E27FC236}">
                <a16:creationId xmlns:a16="http://schemas.microsoft.com/office/drawing/2014/main" id="{EBB0F200-C766-6BA4-7E58-BD48758F53FC}"/>
              </a:ext>
            </a:extLst>
          </p:cNvPr>
          <p:cNvSpPr>
            <a:spLocks noGrp="1"/>
          </p:cNvSpPr>
          <p:nvPr>
            <p:ph type="sldNum" sz="quarter" idx="12"/>
          </p:nvPr>
        </p:nvSpPr>
        <p:spPr/>
        <p:txBody>
          <a:bodyPr/>
          <a:lstStyle/>
          <a:p>
            <a:fld id="{B6E69D5D-3C54-E347-B3D4-70BDFA7C6521}" type="slidenum">
              <a:rPr lang="fr-FR" smtClean="0"/>
              <a:t>56</a:t>
            </a:fld>
            <a:endParaRPr lang="fr-FR"/>
          </a:p>
        </p:txBody>
      </p:sp>
    </p:spTree>
    <p:extLst>
      <p:ext uri="{BB962C8B-B14F-4D97-AF65-F5344CB8AC3E}">
        <p14:creationId xmlns:p14="http://schemas.microsoft.com/office/powerpoint/2010/main" val="25542228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13C08AD-B3CD-474D-9A5A-92077B154146}"/>
              </a:ext>
            </a:extLst>
          </p:cNvPr>
          <p:cNvSpPr txBox="1">
            <a:spLocks/>
          </p:cNvSpPr>
          <p:nvPr/>
        </p:nvSpPr>
        <p:spPr>
          <a:xfrm>
            <a:off x="0" y="-128336"/>
            <a:ext cx="9144000" cy="705853"/>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702082"/>
                </a:solidFill>
                <a:latin typeface="Nexa Bold" charset="0"/>
                <a:ea typeface="Nexa Bold" charset="0"/>
                <a:cs typeface="Nexa Bold" charset="0"/>
              </a:defRPr>
            </a:lvl1pPr>
            <a:lvl2pPr marL="457200" indent="0" algn="l" defTabSz="914400" rtl="0" eaLnBrk="1" latinLnBrk="0" hangingPunct="1">
              <a:lnSpc>
                <a:spcPct val="80000"/>
              </a:lnSpc>
              <a:spcBef>
                <a:spcPts val="500"/>
              </a:spcBef>
              <a:buFontTx/>
              <a:buNone/>
              <a:defRPr sz="1500" kern="1200">
                <a:solidFill>
                  <a:schemeClr val="tx1"/>
                </a:solidFill>
                <a:latin typeface="Nexa Light" charset="0"/>
                <a:ea typeface="Nexa Light" charset="0"/>
                <a:cs typeface="Nexa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US" sz="2800" dirty="0">
                <a:solidFill>
                  <a:srgbClr val="000000"/>
                </a:solidFill>
                <a:latin typeface="+mj-lt"/>
              </a:rPr>
              <a:t>Selection of </a:t>
            </a:r>
            <a:r>
              <a:rPr lang="en-US" sz="2800" b="1" dirty="0">
                <a:solidFill>
                  <a:srgbClr val="000000"/>
                </a:solidFill>
                <a:latin typeface="+mj-lt"/>
              </a:rPr>
              <a:t>publications</a:t>
            </a:r>
            <a:endParaRPr lang="en-US" sz="2800" dirty="0">
              <a:solidFill>
                <a:srgbClr val="000000"/>
              </a:solidFill>
              <a:latin typeface="+mj-lt"/>
            </a:endParaRPr>
          </a:p>
        </p:txBody>
      </p:sp>
      <p:sp>
        <p:nvSpPr>
          <p:cNvPr id="2" name="Rectangle 1">
            <a:extLst>
              <a:ext uri="{FF2B5EF4-FFF2-40B4-BE49-F238E27FC236}">
                <a16:creationId xmlns:a16="http://schemas.microsoft.com/office/drawing/2014/main" id="{5B84FD10-1407-E44D-88B5-BE9806F86543}"/>
              </a:ext>
            </a:extLst>
          </p:cNvPr>
          <p:cNvSpPr/>
          <p:nvPr/>
        </p:nvSpPr>
        <p:spPr>
          <a:xfrm>
            <a:off x="182033" y="747998"/>
            <a:ext cx="8779934" cy="3970318"/>
          </a:xfrm>
          <a:prstGeom prst="rect">
            <a:avLst/>
          </a:prstGeom>
        </p:spPr>
        <p:txBody>
          <a:bodyPr wrap="square">
            <a:spAutoFit/>
          </a:bodyPr>
          <a:lstStyle/>
          <a:p>
            <a:pPr lvl="0"/>
            <a:endParaRPr lang="en-US" dirty="0">
              <a:solidFill>
                <a:srgbClr val="000000"/>
              </a:solidFill>
            </a:endParaRPr>
          </a:p>
          <a:p>
            <a:pPr lvl="0"/>
            <a:r>
              <a:rPr lang="en-US" dirty="0">
                <a:solidFill>
                  <a:srgbClr val="000000"/>
                </a:solidFill>
              </a:rPr>
              <a:t>AD Course Map charts Alzheimer’s disease progression, I </a:t>
            </a:r>
            <a:r>
              <a:rPr lang="en-US" dirty="0" err="1">
                <a:solidFill>
                  <a:srgbClr val="000000"/>
                </a:solidFill>
              </a:rPr>
              <a:t>Koval</a:t>
            </a:r>
            <a:r>
              <a:rPr lang="en-US" dirty="0">
                <a:solidFill>
                  <a:srgbClr val="000000"/>
                </a:solidFill>
              </a:rPr>
              <a:t> et al., Scientific Reports, 2021</a:t>
            </a:r>
          </a:p>
          <a:p>
            <a:pPr lvl="0"/>
            <a:endParaRPr lang="en-US" dirty="0">
              <a:solidFill>
                <a:srgbClr val="000000"/>
              </a:solidFill>
            </a:endParaRPr>
          </a:p>
          <a:p>
            <a:pPr lvl="0"/>
            <a:r>
              <a:rPr lang="en-US" dirty="0">
                <a:solidFill>
                  <a:srgbClr val="000000"/>
                </a:solidFill>
              </a:rPr>
              <a:t>Learning the spatiotemporal variability in longitudinal shape data sets, Bone et al. IJCV 2020</a:t>
            </a:r>
          </a:p>
          <a:p>
            <a:pPr lvl="0"/>
            <a:endParaRPr lang="en-US" dirty="0">
              <a:solidFill>
                <a:srgbClr val="000000"/>
              </a:solidFill>
            </a:endParaRPr>
          </a:p>
          <a:p>
            <a:pPr lvl="0"/>
            <a:r>
              <a:rPr lang="en-US" dirty="0">
                <a:solidFill>
                  <a:srgbClr val="000000"/>
                </a:solidFill>
              </a:rPr>
              <a:t>Learning Disease Progression Models With Longitudinal Data and Missing Values, R. </a:t>
            </a:r>
            <a:r>
              <a:rPr lang="en-US" dirty="0" err="1">
                <a:solidFill>
                  <a:srgbClr val="000000"/>
                </a:solidFill>
              </a:rPr>
              <a:t>Couronné</a:t>
            </a:r>
            <a:r>
              <a:rPr lang="en-US" dirty="0">
                <a:solidFill>
                  <a:srgbClr val="000000"/>
                </a:solidFill>
              </a:rPr>
              <a:t> et al. ISBI 2019</a:t>
            </a:r>
          </a:p>
          <a:p>
            <a:pPr lvl="0"/>
            <a:endParaRPr lang="en-US" dirty="0">
              <a:solidFill>
                <a:srgbClr val="000000"/>
              </a:solidFill>
            </a:endParaRPr>
          </a:p>
          <a:p>
            <a:pPr lvl="0"/>
            <a:r>
              <a:rPr lang="en-US" dirty="0">
                <a:solidFill>
                  <a:srgbClr val="000000"/>
                </a:solidFill>
              </a:rPr>
              <a:t>Spatiotemporal propagation of the cortical atrophy during the course of Alzheimer’s Disease: Population and individual patterns, I. </a:t>
            </a:r>
            <a:r>
              <a:rPr lang="en-US" dirty="0" err="1">
                <a:solidFill>
                  <a:srgbClr val="000000"/>
                </a:solidFill>
              </a:rPr>
              <a:t>Koval</a:t>
            </a:r>
            <a:r>
              <a:rPr lang="en-US" dirty="0">
                <a:solidFill>
                  <a:srgbClr val="000000"/>
                </a:solidFill>
              </a:rPr>
              <a:t> et al. Frontiers in Neurology, 2018</a:t>
            </a:r>
          </a:p>
          <a:p>
            <a:pPr lvl="0"/>
            <a:endParaRPr lang="en-US" dirty="0">
              <a:solidFill>
                <a:srgbClr val="000000"/>
              </a:solidFill>
            </a:endParaRPr>
          </a:p>
          <a:p>
            <a:pPr lvl="0"/>
            <a:r>
              <a:rPr lang="en-US" dirty="0">
                <a:solidFill>
                  <a:srgbClr val="000000"/>
                </a:solidFill>
              </a:rPr>
              <a:t>A Bayesian mixed-effects model to learn trajectories of changes from repeated manifold-valued observations, J.-B. </a:t>
            </a:r>
            <a:r>
              <a:rPr lang="en-US" dirty="0" err="1">
                <a:solidFill>
                  <a:srgbClr val="000000"/>
                </a:solidFill>
              </a:rPr>
              <a:t>Schiratti</a:t>
            </a:r>
            <a:r>
              <a:rPr lang="en-US" dirty="0">
                <a:solidFill>
                  <a:srgbClr val="000000"/>
                </a:solidFill>
              </a:rPr>
              <a:t> et al. Journal of Machine Learning Research, 2017</a:t>
            </a:r>
          </a:p>
        </p:txBody>
      </p:sp>
      <p:sp>
        <p:nvSpPr>
          <p:cNvPr id="3" name="Espace réservé du numéro de diapositive 2">
            <a:extLst>
              <a:ext uri="{FF2B5EF4-FFF2-40B4-BE49-F238E27FC236}">
                <a16:creationId xmlns:a16="http://schemas.microsoft.com/office/drawing/2014/main" id="{3C074E28-03AD-F160-D92F-D572A9B0CE10}"/>
              </a:ext>
            </a:extLst>
          </p:cNvPr>
          <p:cNvSpPr>
            <a:spLocks noGrp="1"/>
          </p:cNvSpPr>
          <p:nvPr>
            <p:ph type="sldNum" sz="quarter" idx="12"/>
          </p:nvPr>
        </p:nvSpPr>
        <p:spPr/>
        <p:txBody>
          <a:bodyPr/>
          <a:lstStyle/>
          <a:p>
            <a:fld id="{B6E69D5D-3C54-E347-B3D4-70BDFA7C6521}" type="slidenum">
              <a:rPr lang="fr-FR" smtClean="0"/>
              <a:t>57</a:t>
            </a:fld>
            <a:endParaRPr lang="fr-FR"/>
          </a:p>
        </p:txBody>
      </p:sp>
    </p:spTree>
    <p:extLst>
      <p:ext uri="{BB962C8B-B14F-4D97-AF65-F5344CB8AC3E}">
        <p14:creationId xmlns:p14="http://schemas.microsoft.com/office/powerpoint/2010/main" val="24238061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58</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1247701" y="1905502"/>
            <a:ext cx="7023464" cy="872675"/>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p:txBody>
      </p:sp>
    </p:spTree>
    <p:extLst>
      <p:ext uri="{BB962C8B-B14F-4D97-AF65-F5344CB8AC3E}">
        <p14:creationId xmlns:p14="http://schemas.microsoft.com/office/powerpoint/2010/main" val="8438816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59</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496313" y="418329"/>
            <a:ext cx="7023464" cy="872675"/>
          </a:xfrm>
          <a:prstGeom prst="rect">
            <a:avLst/>
          </a:prstGeom>
          <a:noFill/>
        </p:spPr>
        <p:txBody>
          <a:bodyPr wrap="square" rtlCol="0">
            <a:spAutoFit/>
          </a:bodyPr>
          <a:lstStyle/>
          <a:p>
            <a:pP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nSpc>
                <a:spcPct val="70000"/>
              </a:lnSpc>
            </a:pPr>
            <a:endParaRPr lang="fr-FR" sz="2700" b="1" dirty="0">
              <a:solidFill>
                <a:schemeClr val="bg1"/>
              </a:solidFill>
              <a:latin typeface="Arial"/>
              <a:cs typeface="Arial"/>
            </a:endParaRPr>
          </a:p>
          <a:p>
            <a:pP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p:txBody>
      </p:sp>
      <p:sp>
        <p:nvSpPr>
          <p:cNvPr id="5" name="ZoneTexte 4">
            <a:extLst>
              <a:ext uri="{FF2B5EF4-FFF2-40B4-BE49-F238E27FC236}">
                <a16:creationId xmlns:a16="http://schemas.microsoft.com/office/drawing/2014/main" id="{9EE1C2A2-AC78-2F91-42D6-F199DDC07A93}"/>
              </a:ext>
            </a:extLst>
          </p:cNvPr>
          <p:cNvSpPr txBox="1"/>
          <p:nvPr/>
        </p:nvSpPr>
        <p:spPr>
          <a:xfrm>
            <a:off x="1046859" y="2011452"/>
            <a:ext cx="7491845" cy="2035365"/>
          </a:xfrm>
          <a:prstGeom prst="rect">
            <a:avLst/>
          </a:prstGeom>
          <a:noFill/>
        </p:spPr>
        <p:txBody>
          <a:bodyPr wrap="square">
            <a:spAutoFit/>
          </a:bodyPr>
          <a:lstStyle/>
          <a:p>
            <a:pPr marL="342900" indent="-342900">
              <a:lnSpc>
                <a:spcPct val="70000"/>
              </a:lnSpc>
              <a:buAutoNum type="arabicPeriod"/>
            </a:pPr>
            <a:r>
              <a:rPr lang="fr-FR" sz="1800" i="1" dirty="0">
                <a:latin typeface="Arial"/>
                <a:cs typeface="Arial"/>
              </a:rPr>
              <a:t>Introduction</a:t>
            </a:r>
          </a:p>
          <a:p>
            <a:pPr marL="342900" indent="-342900">
              <a:lnSpc>
                <a:spcPct val="70000"/>
              </a:lnSpc>
              <a:buAutoNum type="arabicPeriod"/>
            </a:pPr>
            <a:endParaRPr lang="fr-FR" i="1" dirty="0">
              <a:latin typeface="Arial"/>
              <a:cs typeface="Arial"/>
            </a:endParaRPr>
          </a:p>
          <a:p>
            <a:pPr marL="342900" indent="-342900">
              <a:lnSpc>
                <a:spcPct val="70000"/>
              </a:lnSpc>
              <a:buAutoNum type="arabicPeriod"/>
            </a:pPr>
            <a:r>
              <a:rPr lang="fr-FR" sz="1800" i="1" dirty="0" err="1">
                <a:latin typeface="Arial" panose="020B0604020202020204" pitchFamily="34" charset="0"/>
                <a:cs typeface="Arial" panose="020B0604020202020204" pitchFamily="34" charset="0"/>
              </a:rPr>
              <a:t>Overview</a:t>
            </a:r>
            <a:r>
              <a:rPr lang="fr-FR" sz="1800" i="1" dirty="0">
                <a:latin typeface="Arial" panose="020B0604020202020204" pitchFamily="34" charset="0"/>
                <a:cs typeface="Arial" panose="020B0604020202020204" pitchFamily="34" charset="0"/>
              </a:rPr>
              <a:t> of </a:t>
            </a:r>
            <a:r>
              <a:rPr lang="fr-FR" sz="1800" i="1" dirty="0" err="1">
                <a:latin typeface="Arial" panose="020B0604020202020204" pitchFamily="34" charset="0"/>
                <a:cs typeface="Arial" panose="020B0604020202020204" pitchFamily="34" charset="0"/>
              </a:rPr>
              <a:t>medical</a:t>
            </a:r>
            <a:r>
              <a:rPr lang="fr-FR" sz="1800" i="1" dirty="0">
                <a:latin typeface="Arial" panose="020B0604020202020204" pitchFamily="34" charset="0"/>
                <a:cs typeface="Arial" panose="020B0604020202020204" pitchFamily="34" charset="0"/>
              </a:rPr>
              <a:t> longitudinal data &amp; </a:t>
            </a:r>
            <a:r>
              <a:rPr lang="fr-FR" sz="1800" i="1" dirty="0" err="1">
                <a:latin typeface="Arial" panose="020B0604020202020204" pitchFamily="34" charset="0"/>
                <a:cs typeface="Arial" panose="020B0604020202020204" pitchFamily="34" charset="0"/>
              </a:rPr>
              <a:t>models</a:t>
            </a:r>
            <a:r>
              <a:rPr lang="fr-FR" sz="1800" i="1" dirty="0">
                <a:latin typeface="Arial" panose="020B0604020202020204" pitchFamily="34" charset="0"/>
                <a:cs typeface="Arial" panose="020B0604020202020204" pitchFamily="34" charset="0"/>
              </a:rPr>
              <a:t> </a:t>
            </a:r>
            <a:r>
              <a:rPr lang="fr-FR" sz="1800" i="1" dirty="0" err="1">
                <a:latin typeface="Arial" panose="020B0604020202020204" pitchFamily="34" charset="0"/>
                <a:cs typeface="Arial" panose="020B0604020202020204" pitchFamily="34" charset="0"/>
              </a:rPr>
              <a:t>associated</a:t>
            </a:r>
            <a:endParaRPr lang="fr-FR" sz="1800" i="1" dirty="0">
              <a:latin typeface="Arial" panose="020B0604020202020204" pitchFamily="34" charset="0"/>
              <a:cs typeface="Arial" panose="020B0604020202020204" pitchFamily="34" charset="0"/>
            </a:endParaRPr>
          </a:p>
          <a:p>
            <a:pPr marL="342900" indent="-342900">
              <a:lnSpc>
                <a:spcPct val="70000"/>
              </a:lnSpc>
              <a:buAutoNum type="arabicPeriod"/>
            </a:pPr>
            <a:endParaRPr lang="fr-FR" i="1" dirty="0">
              <a:latin typeface="Arial" panose="020B0604020202020204" pitchFamily="34" charset="0"/>
              <a:cs typeface="Arial" panose="020B0604020202020204" pitchFamily="34" charset="0"/>
            </a:endParaRPr>
          </a:p>
          <a:p>
            <a:pPr marL="342900" indent="-342900">
              <a:lnSpc>
                <a:spcPct val="70000"/>
              </a:lnSpc>
              <a:buFontTx/>
              <a:buAutoNum type="arabicPeriod"/>
            </a:pPr>
            <a:r>
              <a:rPr lang="fr-FR" sz="1800" i="1" dirty="0">
                <a:latin typeface="Arial" panose="020B0604020202020204" pitchFamily="34" charset="0"/>
                <a:cs typeface="Arial" panose="020B0604020202020204" pitchFamily="34" charset="0"/>
              </a:rPr>
              <a:t>A </a:t>
            </a:r>
            <a:r>
              <a:rPr lang="fr-FR" sz="1800" i="1" dirty="0" err="1">
                <a:latin typeface="Arial" panose="020B0604020202020204" pitchFamily="34" charset="0"/>
                <a:cs typeface="Arial" panose="020B0604020202020204" pitchFamily="34" charset="0"/>
              </a:rPr>
              <a:t>disease</a:t>
            </a:r>
            <a:r>
              <a:rPr lang="fr-FR" sz="1800" i="1" dirty="0">
                <a:latin typeface="Arial" panose="020B0604020202020204" pitchFamily="34" charset="0"/>
                <a:cs typeface="Arial" panose="020B0604020202020204" pitchFamily="34" charset="0"/>
              </a:rPr>
              <a:t> course mapping model: How to use </a:t>
            </a:r>
            <a:r>
              <a:rPr lang="fr-FR" sz="1800" i="1" dirty="0" err="1">
                <a:latin typeface="Arial" panose="020B0604020202020204" pitchFamily="34" charset="0"/>
                <a:cs typeface="Arial" panose="020B0604020202020204" pitchFamily="34" charset="0"/>
              </a:rPr>
              <a:t>leaspy</a:t>
            </a:r>
            <a:r>
              <a:rPr lang="fr-FR" sz="1800" i="1" dirty="0">
                <a:latin typeface="Arial" panose="020B0604020202020204" pitchFamily="34" charset="0"/>
                <a:cs typeface="Arial" panose="020B0604020202020204" pitchFamily="34" charset="0"/>
              </a:rPr>
              <a:t> ?</a:t>
            </a:r>
          </a:p>
          <a:p>
            <a:pPr marL="342900" indent="-342900">
              <a:lnSpc>
                <a:spcPct val="70000"/>
              </a:lnSpc>
              <a:buAutoNum type="arabicPeriod"/>
            </a:pPr>
            <a:endParaRPr lang="fr-FR" i="1" dirty="0">
              <a:latin typeface="Arial" panose="020B0604020202020204" pitchFamily="34" charset="0"/>
              <a:cs typeface="Arial" panose="020B0604020202020204" pitchFamily="34" charset="0"/>
            </a:endParaRPr>
          </a:p>
          <a:p>
            <a:pPr marL="342900" indent="-342900">
              <a:lnSpc>
                <a:spcPct val="70000"/>
              </a:lnSpc>
              <a:buAutoNum type="arabicPeriod"/>
            </a:pPr>
            <a:r>
              <a:rPr lang="fr-FR" sz="1800" i="1" dirty="0" err="1">
                <a:latin typeface="Arial" panose="020B0604020202020204" pitchFamily="34" charset="0"/>
                <a:cs typeface="Arial" panose="020B0604020202020204" pitchFamily="34" charset="0"/>
              </a:rPr>
              <a:t>Going</a:t>
            </a:r>
            <a:r>
              <a:rPr lang="fr-FR" sz="1800" i="1" dirty="0">
                <a:latin typeface="Arial" panose="020B0604020202020204" pitchFamily="34" charset="0"/>
                <a:cs typeface="Arial" panose="020B0604020202020204" pitchFamily="34" charset="0"/>
              </a:rPr>
              <a:t> </a:t>
            </a:r>
            <a:r>
              <a:rPr lang="fr-FR" sz="1800" i="1" dirty="0" err="1">
                <a:latin typeface="Arial" panose="020B0604020202020204" pitchFamily="34" charset="0"/>
                <a:cs typeface="Arial" panose="020B0604020202020204" pitchFamily="34" charset="0"/>
              </a:rPr>
              <a:t>deeper</a:t>
            </a:r>
            <a:r>
              <a:rPr lang="fr-FR" sz="1800" i="1" dirty="0">
                <a:latin typeface="Arial" panose="020B0604020202020204" pitchFamily="34" charset="0"/>
                <a:cs typeface="Arial" panose="020B0604020202020204" pitchFamily="34" charset="0"/>
              </a:rPr>
              <a:t> </a:t>
            </a:r>
            <a:r>
              <a:rPr lang="fr-FR" sz="1800" i="1" dirty="0" err="1">
                <a:latin typeface="Arial" panose="020B0604020202020204" pitchFamily="34" charset="0"/>
                <a:cs typeface="Arial" panose="020B0604020202020204" pitchFamily="34" charset="0"/>
              </a:rPr>
              <a:t>into</a:t>
            </a:r>
            <a:r>
              <a:rPr lang="fr-FR" sz="1800" i="1" dirty="0">
                <a:latin typeface="Arial" panose="020B0604020202020204" pitchFamily="34" charset="0"/>
                <a:cs typeface="Arial" panose="020B0604020202020204" pitchFamily="34" charset="0"/>
              </a:rPr>
              <a:t> </a:t>
            </a:r>
            <a:r>
              <a:rPr lang="fr-FR" sz="1800" i="1" dirty="0" err="1">
                <a:latin typeface="Arial" panose="020B0604020202020204" pitchFamily="34" charset="0"/>
                <a:cs typeface="Arial" panose="020B0604020202020204" pitchFamily="34" charset="0"/>
              </a:rPr>
              <a:t>leaspy</a:t>
            </a:r>
            <a:r>
              <a:rPr lang="fr-FR" sz="1800" i="1" dirty="0">
                <a:latin typeface="Arial" panose="020B0604020202020204" pitchFamily="34" charset="0"/>
                <a:cs typeface="Arial" panose="020B0604020202020204" pitchFamily="34" charset="0"/>
              </a:rPr>
              <a:t> model tuning</a:t>
            </a:r>
          </a:p>
          <a:p>
            <a:pPr marL="342900" indent="-342900">
              <a:lnSpc>
                <a:spcPct val="70000"/>
              </a:lnSpc>
              <a:buAutoNum type="arabicPeriod"/>
            </a:pPr>
            <a:endParaRPr lang="fr-FR" i="1" dirty="0">
              <a:latin typeface="Arial" panose="020B0604020202020204" pitchFamily="34" charset="0"/>
              <a:cs typeface="Arial" panose="020B0604020202020204" pitchFamily="34" charset="0"/>
            </a:endParaRPr>
          </a:p>
          <a:p>
            <a:pPr marL="342900" indent="-342900">
              <a:lnSpc>
                <a:spcPct val="70000"/>
              </a:lnSpc>
              <a:buAutoNum type="arabicPeriod"/>
            </a:pPr>
            <a:r>
              <a:rPr lang="fr-FR" sz="1800" i="1" dirty="0">
                <a:latin typeface="Arial" panose="020B0604020202020204" pitchFamily="34" charset="0"/>
                <a:cs typeface="Arial" panose="020B0604020202020204" pitchFamily="34" charset="0"/>
              </a:rPr>
              <a:t>Conclusion</a:t>
            </a:r>
          </a:p>
          <a:p>
            <a:pPr marL="342900" indent="-342900">
              <a:lnSpc>
                <a:spcPct val="70000"/>
              </a:lnSpc>
              <a:buAutoNum type="arabicPeriod"/>
            </a:pPr>
            <a:endParaRPr lang="fr-FR"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3216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60</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1247701" y="1905502"/>
            <a:ext cx="7023464" cy="1325106"/>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a:p>
            <a:pPr algn="r">
              <a:lnSpc>
                <a:spcPct val="70000"/>
              </a:lnSpc>
            </a:pPr>
            <a:endParaRPr lang="fr-FR" sz="2100" i="1" dirty="0">
              <a:latin typeface="Arial"/>
              <a:cs typeface="Arial"/>
            </a:endParaRPr>
          </a:p>
          <a:p>
            <a:pPr algn="r">
              <a:lnSpc>
                <a:spcPct val="70000"/>
              </a:lnSpc>
            </a:pPr>
            <a:r>
              <a:rPr lang="fr-FR" sz="2100" i="1" dirty="0">
                <a:latin typeface="Arial"/>
                <a:cs typeface="Arial"/>
              </a:rPr>
              <a:t>1. Introduction</a:t>
            </a:r>
          </a:p>
        </p:txBody>
      </p:sp>
    </p:spTree>
    <p:extLst>
      <p:ext uri="{BB962C8B-B14F-4D97-AF65-F5344CB8AC3E}">
        <p14:creationId xmlns:p14="http://schemas.microsoft.com/office/powerpoint/2010/main" val="42893231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EC783EF-9B69-0740-B9AB-587BD24FCC7F}"/>
              </a:ext>
            </a:extLst>
          </p:cNvPr>
          <p:cNvSpPr>
            <a:spLocks noGrp="1"/>
          </p:cNvSpPr>
          <p:nvPr>
            <p:ph type="body" sz="quarter" idx="10"/>
          </p:nvPr>
        </p:nvSpPr>
        <p:spPr/>
        <p:txBody>
          <a:bodyPr/>
          <a:lstStyle/>
          <a:p>
            <a:r>
              <a:rPr lang="fr-FR" dirty="0" err="1"/>
              <a:t>Overview</a:t>
            </a:r>
            <a:endParaRPr lang="fr-FR" dirty="0"/>
          </a:p>
        </p:txBody>
      </p:sp>
      <p:sp>
        <p:nvSpPr>
          <p:cNvPr id="3" name="Espace réservé du texte 2">
            <a:extLst>
              <a:ext uri="{FF2B5EF4-FFF2-40B4-BE49-F238E27FC236}">
                <a16:creationId xmlns:a16="http://schemas.microsoft.com/office/drawing/2014/main" id="{E55DE71F-7B23-5845-A607-83C4C97C52A0}"/>
              </a:ext>
            </a:extLst>
          </p:cNvPr>
          <p:cNvSpPr>
            <a:spLocks noGrp="1"/>
          </p:cNvSpPr>
          <p:nvPr>
            <p:ph type="body" sz="quarter" idx="11"/>
          </p:nvPr>
        </p:nvSpPr>
        <p:spPr/>
        <p:txBody>
          <a:bodyPr/>
          <a:lstStyle/>
          <a:p>
            <a:r>
              <a:rPr lang="fr-FR" dirty="0"/>
              <a:t>Introduction</a:t>
            </a:r>
          </a:p>
        </p:txBody>
      </p:sp>
      <p:sp>
        <p:nvSpPr>
          <p:cNvPr id="5" name="Espace réservé du texte 4">
            <a:extLst>
              <a:ext uri="{FF2B5EF4-FFF2-40B4-BE49-F238E27FC236}">
                <a16:creationId xmlns:a16="http://schemas.microsoft.com/office/drawing/2014/main" id="{DF6ADC9E-72A9-C94F-BA40-3E197AF48959}"/>
              </a:ext>
            </a:extLst>
          </p:cNvPr>
          <p:cNvSpPr>
            <a:spLocks noGrp="1"/>
          </p:cNvSpPr>
          <p:nvPr>
            <p:ph type="body" sz="quarter" idx="13"/>
          </p:nvPr>
        </p:nvSpPr>
        <p:spPr>
          <a:xfrm>
            <a:off x="327461" y="741580"/>
            <a:ext cx="8478145" cy="759537"/>
          </a:xfrm>
        </p:spPr>
        <p:txBody>
          <a:bodyPr/>
          <a:lstStyle/>
          <a:p>
            <a:pPr algn="just">
              <a:lnSpc>
                <a:spcPct val="100000"/>
              </a:lnSpc>
            </a:pPr>
            <a:r>
              <a:rPr lang="fr-FR" sz="2100" dirty="0">
                <a:latin typeface="+mj-lt"/>
              </a:rPr>
              <a:t>The </a:t>
            </a:r>
            <a:r>
              <a:rPr lang="fr-FR" sz="2100" dirty="0" err="1">
                <a:latin typeface="+mj-lt"/>
              </a:rPr>
              <a:t>aim</a:t>
            </a:r>
            <a:r>
              <a:rPr lang="fr-FR" sz="2100" dirty="0">
                <a:latin typeface="+mj-lt"/>
              </a:rPr>
              <a:t> of the session </a:t>
            </a:r>
            <a:r>
              <a:rPr lang="fr-FR" sz="2100" dirty="0" err="1">
                <a:latin typeface="+mj-lt"/>
              </a:rPr>
              <a:t>is</a:t>
            </a:r>
            <a:r>
              <a:rPr lang="fr-FR" sz="2100" dirty="0">
                <a:latin typeface="+mj-lt"/>
              </a:rPr>
              <a:t> to </a:t>
            </a:r>
            <a:r>
              <a:rPr lang="fr-FR" sz="2100" dirty="0" err="1">
                <a:latin typeface="+mj-lt"/>
              </a:rPr>
              <a:t>apply</a:t>
            </a:r>
            <a:r>
              <a:rPr lang="fr-FR" sz="2100" dirty="0">
                <a:latin typeface="+mj-lt"/>
              </a:rPr>
              <a:t> the </a:t>
            </a:r>
            <a:r>
              <a:rPr lang="fr-FR" sz="2100" dirty="0" err="1">
                <a:latin typeface="+mj-lt"/>
              </a:rPr>
              <a:t>theory</a:t>
            </a:r>
            <a:r>
              <a:rPr lang="fr-FR" sz="2100" dirty="0">
                <a:latin typeface="+mj-lt"/>
              </a:rPr>
              <a:t> </a:t>
            </a:r>
            <a:r>
              <a:rPr lang="fr-FR" sz="2100" dirty="0" err="1">
                <a:latin typeface="+mj-lt"/>
              </a:rPr>
              <a:t>presented</a:t>
            </a:r>
            <a:r>
              <a:rPr lang="fr-FR" sz="2100" dirty="0">
                <a:latin typeface="+mj-lt"/>
              </a:rPr>
              <a:t> in the first course </a:t>
            </a:r>
            <a:r>
              <a:rPr lang="fr-FR" sz="2100" i="1" dirty="0">
                <a:latin typeface="+mj-lt"/>
              </a:rPr>
              <a:t>«Modeling and </a:t>
            </a:r>
            <a:r>
              <a:rPr lang="fr-FR" sz="2100" i="1" dirty="0" err="1">
                <a:latin typeface="+mj-lt"/>
              </a:rPr>
              <a:t>predicting</a:t>
            </a:r>
            <a:r>
              <a:rPr lang="fr-FR" sz="2100" i="1" dirty="0">
                <a:latin typeface="+mj-lt"/>
              </a:rPr>
              <a:t> </a:t>
            </a:r>
            <a:r>
              <a:rPr lang="fr-FR" sz="2100" i="1" dirty="0" err="1">
                <a:latin typeface="+mj-lt"/>
              </a:rPr>
              <a:t>disease</a:t>
            </a:r>
            <a:r>
              <a:rPr lang="fr-FR" sz="2100" i="1" dirty="0">
                <a:latin typeface="+mj-lt"/>
              </a:rPr>
              <a:t> progression </a:t>
            </a:r>
            <a:r>
              <a:rPr lang="fr-FR" sz="2100" i="1" dirty="0" err="1">
                <a:latin typeface="+mj-lt"/>
              </a:rPr>
              <a:t>with</a:t>
            </a:r>
            <a:r>
              <a:rPr lang="fr-FR" sz="2100" i="1" dirty="0">
                <a:latin typeface="+mj-lt"/>
              </a:rPr>
              <a:t> longitudinal data»</a:t>
            </a:r>
            <a:endParaRPr lang="fr-FR" sz="2100" dirty="0">
              <a:latin typeface="+mj-lt"/>
            </a:endParaRPr>
          </a:p>
        </p:txBody>
      </p:sp>
      <p:sp>
        <p:nvSpPr>
          <p:cNvPr id="4" name="Trapèze 3">
            <a:extLst>
              <a:ext uri="{FF2B5EF4-FFF2-40B4-BE49-F238E27FC236}">
                <a16:creationId xmlns:a16="http://schemas.microsoft.com/office/drawing/2014/main" id="{5B8F4E47-4820-7846-AF0E-01924F3B8E75}"/>
              </a:ext>
            </a:extLst>
          </p:cNvPr>
          <p:cNvSpPr/>
          <p:nvPr/>
        </p:nvSpPr>
        <p:spPr>
          <a:xfrm flipV="1">
            <a:off x="1783776" y="1892557"/>
            <a:ext cx="4342462" cy="735956"/>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fr-FR" sz="1350" dirty="0"/>
          </a:p>
        </p:txBody>
      </p:sp>
      <p:sp>
        <p:nvSpPr>
          <p:cNvPr id="7" name="Trapèze 6">
            <a:extLst>
              <a:ext uri="{FF2B5EF4-FFF2-40B4-BE49-F238E27FC236}">
                <a16:creationId xmlns:a16="http://schemas.microsoft.com/office/drawing/2014/main" id="{24C204F9-303E-0940-A0B0-ED82AA795570}"/>
              </a:ext>
            </a:extLst>
          </p:cNvPr>
          <p:cNvSpPr/>
          <p:nvPr/>
        </p:nvSpPr>
        <p:spPr>
          <a:xfrm flipV="1">
            <a:off x="1997828" y="2767471"/>
            <a:ext cx="3900749" cy="735956"/>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Trapèze 7">
            <a:extLst>
              <a:ext uri="{FF2B5EF4-FFF2-40B4-BE49-F238E27FC236}">
                <a16:creationId xmlns:a16="http://schemas.microsoft.com/office/drawing/2014/main" id="{44F5F224-41CE-DE45-BDE7-76EB27286796}"/>
              </a:ext>
            </a:extLst>
          </p:cNvPr>
          <p:cNvSpPr/>
          <p:nvPr/>
        </p:nvSpPr>
        <p:spPr>
          <a:xfrm flipV="1">
            <a:off x="2209803" y="3642384"/>
            <a:ext cx="3460174" cy="735956"/>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 name="ZoneTexte 5">
            <a:extLst>
              <a:ext uri="{FF2B5EF4-FFF2-40B4-BE49-F238E27FC236}">
                <a16:creationId xmlns:a16="http://schemas.microsoft.com/office/drawing/2014/main" id="{D84DA262-6CA0-2A4C-98C2-4693B53E9313}"/>
              </a:ext>
            </a:extLst>
          </p:cNvPr>
          <p:cNvSpPr txBox="1"/>
          <p:nvPr/>
        </p:nvSpPr>
        <p:spPr>
          <a:xfrm>
            <a:off x="2129323" y="2071232"/>
            <a:ext cx="3651365" cy="507831"/>
          </a:xfrm>
          <a:prstGeom prst="rect">
            <a:avLst/>
          </a:prstGeom>
          <a:noFill/>
        </p:spPr>
        <p:txBody>
          <a:bodyPr wrap="square" rtlCol="0">
            <a:spAutoFit/>
          </a:bodyPr>
          <a:lstStyle/>
          <a:p>
            <a:pPr algn="ctr"/>
            <a:r>
              <a:rPr lang="fr-FR" sz="1350" dirty="0" err="1">
                <a:solidFill>
                  <a:schemeClr val="bg1"/>
                </a:solidFill>
              </a:rPr>
              <a:t>Overview</a:t>
            </a:r>
            <a:r>
              <a:rPr lang="fr-FR" sz="1350" dirty="0">
                <a:solidFill>
                  <a:schemeClr val="bg1"/>
                </a:solidFill>
              </a:rPr>
              <a:t> of </a:t>
            </a:r>
            <a:r>
              <a:rPr lang="fr-FR" sz="1350" dirty="0" err="1">
                <a:solidFill>
                  <a:schemeClr val="bg1"/>
                </a:solidFill>
              </a:rPr>
              <a:t>medical</a:t>
            </a:r>
            <a:r>
              <a:rPr lang="fr-FR" sz="1350" dirty="0">
                <a:solidFill>
                  <a:schemeClr val="bg1"/>
                </a:solidFill>
              </a:rPr>
              <a:t> longitudinal data </a:t>
            </a:r>
          </a:p>
          <a:p>
            <a:pPr algn="ctr"/>
            <a:r>
              <a:rPr lang="fr-FR" sz="1350" dirty="0">
                <a:solidFill>
                  <a:schemeClr val="bg1"/>
                </a:solidFill>
              </a:rPr>
              <a:t>&amp; </a:t>
            </a:r>
            <a:r>
              <a:rPr lang="fr-FR" sz="1350" dirty="0" err="1">
                <a:solidFill>
                  <a:schemeClr val="bg1"/>
                </a:solidFill>
              </a:rPr>
              <a:t>models</a:t>
            </a:r>
            <a:r>
              <a:rPr lang="fr-FR" sz="1350" dirty="0">
                <a:solidFill>
                  <a:schemeClr val="bg1"/>
                </a:solidFill>
              </a:rPr>
              <a:t> </a:t>
            </a:r>
            <a:r>
              <a:rPr lang="fr-FR" sz="1350" dirty="0" err="1">
                <a:solidFill>
                  <a:schemeClr val="bg1"/>
                </a:solidFill>
              </a:rPr>
              <a:t>associated</a:t>
            </a:r>
            <a:endParaRPr lang="fr-FR" sz="1350" dirty="0">
              <a:solidFill>
                <a:schemeClr val="bg1"/>
              </a:solidFill>
            </a:endParaRPr>
          </a:p>
        </p:txBody>
      </p:sp>
      <p:sp>
        <p:nvSpPr>
          <p:cNvPr id="10" name="ZoneTexte 9">
            <a:extLst>
              <a:ext uri="{FF2B5EF4-FFF2-40B4-BE49-F238E27FC236}">
                <a16:creationId xmlns:a16="http://schemas.microsoft.com/office/drawing/2014/main" id="{C5DBB585-0B1E-D745-9137-78E750DA4966}"/>
              </a:ext>
            </a:extLst>
          </p:cNvPr>
          <p:cNvSpPr txBox="1"/>
          <p:nvPr/>
        </p:nvSpPr>
        <p:spPr>
          <a:xfrm>
            <a:off x="2104512" y="2925731"/>
            <a:ext cx="3651365" cy="507831"/>
          </a:xfrm>
          <a:prstGeom prst="rect">
            <a:avLst/>
          </a:prstGeom>
          <a:noFill/>
        </p:spPr>
        <p:txBody>
          <a:bodyPr wrap="square" rtlCol="0">
            <a:spAutoFit/>
          </a:bodyPr>
          <a:lstStyle/>
          <a:p>
            <a:pPr algn="ctr"/>
            <a:r>
              <a:rPr lang="fr-FR" sz="1350" dirty="0">
                <a:solidFill>
                  <a:schemeClr val="bg1"/>
                </a:solidFill>
              </a:rPr>
              <a:t>A </a:t>
            </a:r>
            <a:r>
              <a:rPr lang="fr-FR" sz="1350" dirty="0" err="1">
                <a:solidFill>
                  <a:schemeClr val="bg1"/>
                </a:solidFill>
              </a:rPr>
              <a:t>disease</a:t>
            </a:r>
            <a:r>
              <a:rPr lang="fr-FR" sz="1350" dirty="0">
                <a:solidFill>
                  <a:schemeClr val="bg1"/>
                </a:solidFill>
              </a:rPr>
              <a:t> course </a:t>
            </a:r>
            <a:r>
              <a:rPr lang="fr-FR" sz="1350" dirty="0" err="1">
                <a:solidFill>
                  <a:schemeClr val="bg1"/>
                </a:solidFill>
              </a:rPr>
              <a:t>mapping</a:t>
            </a:r>
            <a:r>
              <a:rPr lang="fr-FR" sz="1350" dirty="0">
                <a:solidFill>
                  <a:schemeClr val="bg1"/>
                </a:solidFill>
              </a:rPr>
              <a:t> model:</a:t>
            </a:r>
          </a:p>
          <a:p>
            <a:pPr algn="ctr"/>
            <a:r>
              <a:rPr lang="fr-FR" sz="1350" dirty="0">
                <a:solidFill>
                  <a:schemeClr val="bg1"/>
                </a:solidFill>
              </a:rPr>
              <a:t>How to use </a:t>
            </a:r>
            <a:r>
              <a:rPr lang="fr-FR" sz="1350" dirty="0" err="1">
                <a:solidFill>
                  <a:schemeClr val="bg1"/>
                </a:solidFill>
              </a:rPr>
              <a:t>leaspy</a:t>
            </a:r>
            <a:r>
              <a:rPr lang="fr-FR" sz="1350" dirty="0">
                <a:solidFill>
                  <a:schemeClr val="bg1"/>
                </a:solidFill>
              </a:rPr>
              <a:t> ?</a:t>
            </a:r>
          </a:p>
        </p:txBody>
      </p:sp>
      <p:sp>
        <p:nvSpPr>
          <p:cNvPr id="11" name="ZoneTexte 10">
            <a:extLst>
              <a:ext uri="{FF2B5EF4-FFF2-40B4-BE49-F238E27FC236}">
                <a16:creationId xmlns:a16="http://schemas.microsoft.com/office/drawing/2014/main" id="{BF08CFC5-45E2-E24B-8804-31E7AFF63B2F}"/>
              </a:ext>
            </a:extLst>
          </p:cNvPr>
          <p:cNvSpPr txBox="1"/>
          <p:nvPr/>
        </p:nvSpPr>
        <p:spPr>
          <a:xfrm>
            <a:off x="1978371" y="2171242"/>
            <a:ext cx="556856" cy="300082"/>
          </a:xfrm>
          <a:prstGeom prst="rect">
            <a:avLst/>
          </a:prstGeom>
          <a:solidFill>
            <a:schemeClr val="accent2"/>
          </a:solidFill>
        </p:spPr>
        <p:txBody>
          <a:bodyPr wrap="square" rtlCol="0">
            <a:spAutoFit/>
          </a:bodyPr>
          <a:lstStyle/>
          <a:p>
            <a:pPr algn="ctr"/>
            <a:r>
              <a:rPr lang="fr-FR" sz="1350" dirty="0"/>
              <a:t>TP1</a:t>
            </a:r>
          </a:p>
        </p:txBody>
      </p:sp>
      <p:sp>
        <p:nvSpPr>
          <p:cNvPr id="12" name="ZoneTexte 11">
            <a:extLst>
              <a:ext uri="{FF2B5EF4-FFF2-40B4-BE49-F238E27FC236}">
                <a16:creationId xmlns:a16="http://schemas.microsoft.com/office/drawing/2014/main" id="{1ECA09DF-9580-874E-BC01-69C21CA9B518}"/>
              </a:ext>
            </a:extLst>
          </p:cNvPr>
          <p:cNvSpPr txBox="1"/>
          <p:nvPr/>
        </p:nvSpPr>
        <p:spPr>
          <a:xfrm>
            <a:off x="2192584" y="3029605"/>
            <a:ext cx="553447" cy="300082"/>
          </a:xfrm>
          <a:prstGeom prst="rect">
            <a:avLst/>
          </a:prstGeom>
          <a:solidFill>
            <a:schemeClr val="accent2"/>
          </a:solidFill>
        </p:spPr>
        <p:txBody>
          <a:bodyPr wrap="square" rtlCol="0">
            <a:spAutoFit/>
          </a:bodyPr>
          <a:lstStyle/>
          <a:p>
            <a:pPr algn="ctr"/>
            <a:r>
              <a:rPr lang="fr-FR" sz="1350" dirty="0"/>
              <a:t>TP2</a:t>
            </a:r>
          </a:p>
        </p:txBody>
      </p:sp>
      <p:sp>
        <p:nvSpPr>
          <p:cNvPr id="13" name="ZoneTexte 12">
            <a:extLst>
              <a:ext uri="{FF2B5EF4-FFF2-40B4-BE49-F238E27FC236}">
                <a16:creationId xmlns:a16="http://schemas.microsoft.com/office/drawing/2014/main" id="{58871D0C-57B4-314B-96B7-CDD4F2C9D9C3}"/>
              </a:ext>
            </a:extLst>
          </p:cNvPr>
          <p:cNvSpPr txBox="1"/>
          <p:nvPr/>
        </p:nvSpPr>
        <p:spPr>
          <a:xfrm>
            <a:off x="2396295" y="3871862"/>
            <a:ext cx="487772" cy="300082"/>
          </a:xfrm>
          <a:prstGeom prst="rect">
            <a:avLst/>
          </a:prstGeom>
          <a:solidFill>
            <a:schemeClr val="accent2"/>
          </a:solidFill>
        </p:spPr>
        <p:txBody>
          <a:bodyPr wrap="square" rtlCol="0">
            <a:spAutoFit/>
          </a:bodyPr>
          <a:lstStyle/>
          <a:p>
            <a:pPr algn="ctr"/>
            <a:r>
              <a:rPr lang="fr-FR" sz="1350" dirty="0"/>
              <a:t>TP3</a:t>
            </a:r>
          </a:p>
        </p:txBody>
      </p:sp>
      <p:sp>
        <p:nvSpPr>
          <p:cNvPr id="14" name="ZoneTexte 13">
            <a:extLst>
              <a:ext uri="{FF2B5EF4-FFF2-40B4-BE49-F238E27FC236}">
                <a16:creationId xmlns:a16="http://schemas.microsoft.com/office/drawing/2014/main" id="{1AFFD341-D3AC-6043-8E9C-0C15E2777DED}"/>
              </a:ext>
            </a:extLst>
          </p:cNvPr>
          <p:cNvSpPr txBox="1"/>
          <p:nvPr/>
        </p:nvSpPr>
        <p:spPr>
          <a:xfrm>
            <a:off x="2808272" y="3802612"/>
            <a:ext cx="2243843" cy="507831"/>
          </a:xfrm>
          <a:prstGeom prst="rect">
            <a:avLst/>
          </a:prstGeom>
          <a:noFill/>
        </p:spPr>
        <p:txBody>
          <a:bodyPr wrap="square" rtlCol="0">
            <a:spAutoFit/>
          </a:bodyPr>
          <a:lstStyle/>
          <a:p>
            <a:pPr algn="ctr"/>
            <a:r>
              <a:rPr lang="fr-FR" sz="1350" dirty="0" err="1">
                <a:solidFill>
                  <a:schemeClr val="bg1"/>
                </a:solidFill>
              </a:rPr>
              <a:t>Going</a:t>
            </a:r>
            <a:r>
              <a:rPr lang="fr-FR" sz="1350" dirty="0">
                <a:solidFill>
                  <a:schemeClr val="bg1"/>
                </a:solidFill>
              </a:rPr>
              <a:t> </a:t>
            </a:r>
            <a:r>
              <a:rPr lang="fr-FR" sz="1350" dirty="0" err="1">
                <a:solidFill>
                  <a:schemeClr val="bg1"/>
                </a:solidFill>
              </a:rPr>
              <a:t>deeper</a:t>
            </a:r>
            <a:r>
              <a:rPr lang="fr-FR" sz="1350" dirty="0">
                <a:solidFill>
                  <a:schemeClr val="bg1"/>
                </a:solidFill>
              </a:rPr>
              <a:t> </a:t>
            </a:r>
            <a:r>
              <a:rPr lang="fr-FR" sz="1350" dirty="0" err="1">
                <a:solidFill>
                  <a:schemeClr val="bg1"/>
                </a:solidFill>
              </a:rPr>
              <a:t>into</a:t>
            </a:r>
            <a:r>
              <a:rPr lang="fr-FR" sz="1350" dirty="0">
                <a:solidFill>
                  <a:schemeClr val="bg1"/>
                </a:solidFill>
              </a:rPr>
              <a:t> </a:t>
            </a:r>
            <a:r>
              <a:rPr lang="fr-FR" sz="1350" dirty="0" err="1">
                <a:solidFill>
                  <a:schemeClr val="bg1"/>
                </a:solidFill>
              </a:rPr>
              <a:t>leaspy</a:t>
            </a:r>
            <a:r>
              <a:rPr lang="fr-FR" sz="1350" dirty="0">
                <a:solidFill>
                  <a:schemeClr val="bg1"/>
                </a:solidFill>
              </a:rPr>
              <a:t> model </a:t>
            </a:r>
            <a:r>
              <a:rPr lang="fr-FR" sz="1350" dirty="0" err="1">
                <a:solidFill>
                  <a:schemeClr val="bg1"/>
                </a:solidFill>
              </a:rPr>
              <a:t>tuning</a:t>
            </a:r>
            <a:endParaRPr lang="fr-FR" sz="1350" dirty="0">
              <a:solidFill>
                <a:schemeClr val="bg1"/>
              </a:solidFill>
            </a:endParaRPr>
          </a:p>
        </p:txBody>
      </p:sp>
      <p:sp>
        <p:nvSpPr>
          <p:cNvPr id="15" name="Rectangle 14">
            <a:extLst>
              <a:ext uri="{FF2B5EF4-FFF2-40B4-BE49-F238E27FC236}">
                <a16:creationId xmlns:a16="http://schemas.microsoft.com/office/drawing/2014/main" id="{A447AB89-6939-0247-B822-CCC723D7B59A}"/>
              </a:ext>
            </a:extLst>
          </p:cNvPr>
          <p:cNvSpPr/>
          <p:nvPr/>
        </p:nvSpPr>
        <p:spPr>
          <a:xfrm>
            <a:off x="6631221" y="2010130"/>
            <a:ext cx="2207419" cy="38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17" name="Connecteur droit 16">
            <a:extLst>
              <a:ext uri="{FF2B5EF4-FFF2-40B4-BE49-F238E27FC236}">
                <a16:creationId xmlns:a16="http://schemas.microsoft.com/office/drawing/2014/main" id="{91BE23F1-7466-EE41-A675-0D8613E5F48B}"/>
              </a:ext>
            </a:extLst>
          </p:cNvPr>
          <p:cNvCxnSpPr>
            <a:cxnSpLocks/>
          </p:cNvCxnSpPr>
          <p:nvPr/>
        </p:nvCxnSpPr>
        <p:spPr>
          <a:xfrm>
            <a:off x="5920609" y="2211040"/>
            <a:ext cx="710612"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00A1E88-CE49-E742-A917-D37469B99564}"/>
              </a:ext>
            </a:extLst>
          </p:cNvPr>
          <p:cNvSpPr/>
          <p:nvPr/>
        </p:nvSpPr>
        <p:spPr>
          <a:xfrm>
            <a:off x="6631221" y="2984623"/>
            <a:ext cx="2207419" cy="38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20" name="Connecteur droit 19">
            <a:extLst>
              <a:ext uri="{FF2B5EF4-FFF2-40B4-BE49-F238E27FC236}">
                <a16:creationId xmlns:a16="http://schemas.microsoft.com/office/drawing/2014/main" id="{4578A920-777B-314C-81DF-D4C78B71B3DB}"/>
              </a:ext>
            </a:extLst>
          </p:cNvPr>
          <p:cNvCxnSpPr>
            <a:cxnSpLocks/>
          </p:cNvCxnSpPr>
          <p:nvPr/>
        </p:nvCxnSpPr>
        <p:spPr>
          <a:xfrm>
            <a:off x="5755877" y="3185533"/>
            <a:ext cx="875344"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9F03E6D-6511-9540-BE26-12E6E01E9BBE}"/>
              </a:ext>
            </a:extLst>
          </p:cNvPr>
          <p:cNvSpPr/>
          <p:nvPr/>
        </p:nvSpPr>
        <p:spPr>
          <a:xfrm>
            <a:off x="6631221" y="3901600"/>
            <a:ext cx="2207419" cy="38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22" name="Connecteur droit 21">
            <a:extLst>
              <a:ext uri="{FF2B5EF4-FFF2-40B4-BE49-F238E27FC236}">
                <a16:creationId xmlns:a16="http://schemas.microsoft.com/office/drawing/2014/main" id="{4C5C3E16-E871-E443-9DC8-40B3A420E2C4}"/>
              </a:ext>
            </a:extLst>
          </p:cNvPr>
          <p:cNvCxnSpPr>
            <a:cxnSpLocks/>
          </p:cNvCxnSpPr>
          <p:nvPr/>
        </p:nvCxnSpPr>
        <p:spPr>
          <a:xfrm>
            <a:off x="5540876" y="4102510"/>
            <a:ext cx="1090345"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F6F65A1-FA95-A441-BC57-5ACC9BA6FDB3}"/>
              </a:ext>
            </a:extLst>
          </p:cNvPr>
          <p:cNvSpPr/>
          <p:nvPr/>
        </p:nvSpPr>
        <p:spPr>
          <a:xfrm>
            <a:off x="422153" y="2507314"/>
            <a:ext cx="1010897" cy="38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26" name="Connecteur droit 25">
            <a:extLst>
              <a:ext uri="{FF2B5EF4-FFF2-40B4-BE49-F238E27FC236}">
                <a16:creationId xmlns:a16="http://schemas.microsoft.com/office/drawing/2014/main" id="{BC5AF497-71B2-2E4F-BA99-7C14EA403214}"/>
              </a:ext>
            </a:extLst>
          </p:cNvPr>
          <p:cNvCxnSpPr>
            <a:cxnSpLocks/>
          </p:cNvCxnSpPr>
          <p:nvPr/>
        </p:nvCxnSpPr>
        <p:spPr>
          <a:xfrm>
            <a:off x="1422334" y="2700194"/>
            <a:ext cx="5647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A21E2FE4-B07C-8F4F-A27A-CFD029B9D6D9}"/>
              </a:ext>
            </a:extLst>
          </p:cNvPr>
          <p:cNvCxnSpPr/>
          <p:nvPr/>
        </p:nvCxnSpPr>
        <p:spPr>
          <a:xfrm>
            <a:off x="1783775" y="1892557"/>
            <a:ext cx="611531" cy="2485783"/>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2C5701D-8BE2-CE42-A4C8-625870FE6A83}"/>
              </a:ext>
            </a:extLst>
          </p:cNvPr>
          <p:cNvSpPr/>
          <p:nvPr/>
        </p:nvSpPr>
        <p:spPr>
          <a:xfrm>
            <a:off x="406557" y="3370384"/>
            <a:ext cx="1010897" cy="38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31" name="Connecteur droit 30">
            <a:extLst>
              <a:ext uri="{FF2B5EF4-FFF2-40B4-BE49-F238E27FC236}">
                <a16:creationId xmlns:a16="http://schemas.microsoft.com/office/drawing/2014/main" id="{6E84B240-2B35-CC45-83AE-8C7406C4A9E6}"/>
              </a:ext>
            </a:extLst>
          </p:cNvPr>
          <p:cNvCxnSpPr>
            <a:cxnSpLocks/>
          </p:cNvCxnSpPr>
          <p:nvPr/>
        </p:nvCxnSpPr>
        <p:spPr>
          <a:xfrm>
            <a:off x="1406738" y="3563264"/>
            <a:ext cx="785846"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rapèze 34">
            <a:extLst>
              <a:ext uri="{FF2B5EF4-FFF2-40B4-BE49-F238E27FC236}">
                <a16:creationId xmlns:a16="http://schemas.microsoft.com/office/drawing/2014/main" id="{EB69AB2C-040C-8642-831C-900DCAE7A8DE}"/>
              </a:ext>
            </a:extLst>
          </p:cNvPr>
          <p:cNvSpPr/>
          <p:nvPr/>
        </p:nvSpPr>
        <p:spPr>
          <a:xfrm rot="10800000">
            <a:off x="1783776" y="1885119"/>
            <a:ext cx="4342462" cy="150457"/>
          </a:xfrm>
          <a:prstGeom prst="trapezoid">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6" name="ZoneTexte 35">
            <a:extLst>
              <a:ext uri="{FF2B5EF4-FFF2-40B4-BE49-F238E27FC236}">
                <a16:creationId xmlns:a16="http://schemas.microsoft.com/office/drawing/2014/main" id="{3842DCFB-90FE-9747-8FFA-FF378515F766}"/>
              </a:ext>
            </a:extLst>
          </p:cNvPr>
          <p:cNvSpPr txBox="1"/>
          <p:nvPr/>
        </p:nvSpPr>
        <p:spPr>
          <a:xfrm>
            <a:off x="1783776" y="1830702"/>
            <a:ext cx="4342461" cy="276999"/>
          </a:xfrm>
          <a:prstGeom prst="rect">
            <a:avLst/>
          </a:prstGeom>
          <a:noFill/>
        </p:spPr>
        <p:txBody>
          <a:bodyPr wrap="square" rtlCol="0">
            <a:spAutoFit/>
          </a:bodyPr>
          <a:lstStyle/>
          <a:p>
            <a:pPr algn="ctr"/>
            <a:r>
              <a:rPr lang="fr-FR" sz="1200" i="1" dirty="0">
                <a:solidFill>
                  <a:schemeClr val="bg1"/>
                </a:solidFill>
              </a:rPr>
              <a:t>Introduction (10 min)</a:t>
            </a:r>
          </a:p>
        </p:txBody>
      </p:sp>
      <p:sp>
        <p:nvSpPr>
          <p:cNvPr id="37" name="Trapèze 36">
            <a:extLst>
              <a:ext uri="{FF2B5EF4-FFF2-40B4-BE49-F238E27FC236}">
                <a16:creationId xmlns:a16="http://schemas.microsoft.com/office/drawing/2014/main" id="{8337A791-1B03-304D-B8EB-978A8BD2A523}"/>
              </a:ext>
            </a:extLst>
          </p:cNvPr>
          <p:cNvSpPr/>
          <p:nvPr/>
        </p:nvSpPr>
        <p:spPr>
          <a:xfrm rot="10800000">
            <a:off x="1997482" y="2757020"/>
            <a:ext cx="3900749" cy="124075"/>
          </a:xfrm>
          <a:prstGeom prst="trapezoid">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8" name="Trapèze 37">
            <a:extLst>
              <a:ext uri="{FF2B5EF4-FFF2-40B4-BE49-F238E27FC236}">
                <a16:creationId xmlns:a16="http://schemas.microsoft.com/office/drawing/2014/main" id="{6EFFEB28-DBB7-B045-8598-5C50B51FE65E}"/>
              </a:ext>
            </a:extLst>
          </p:cNvPr>
          <p:cNvSpPr/>
          <p:nvPr/>
        </p:nvSpPr>
        <p:spPr>
          <a:xfrm rot="10800000">
            <a:off x="2209803" y="3645659"/>
            <a:ext cx="3460174" cy="110462"/>
          </a:xfrm>
          <a:prstGeom prst="trapezoid">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9" name="ZoneTexte 38">
            <a:extLst>
              <a:ext uri="{FF2B5EF4-FFF2-40B4-BE49-F238E27FC236}">
                <a16:creationId xmlns:a16="http://schemas.microsoft.com/office/drawing/2014/main" id="{8E95EE87-7C16-FF45-BB1D-AC03588B783F}"/>
              </a:ext>
            </a:extLst>
          </p:cNvPr>
          <p:cNvSpPr txBox="1"/>
          <p:nvPr/>
        </p:nvSpPr>
        <p:spPr>
          <a:xfrm>
            <a:off x="1997481" y="2685230"/>
            <a:ext cx="3900749" cy="276999"/>
          </a:xfrm>
          <a:prstGeom prst="rect">
            <a:avLst/>
          </a:prstGeom>
          <a:noFill/>
        </p:spPr>
        <p:txBody>
          <a:bodyPr wrap="square" rtlCol="0">
            <a:spAutoFit/>
          </a:bodyPr>
          <a:lstStyle/>
          <a:p>
            <a:pPr algn="ctr"/>
            <a:r>
              <a:rPr lang="fr-FR" sz="1200" i="1" dirty="0">
                <a:solidFill>
                  <a:schemeClr val="bg1"/>
                </a:solidFill>
              </a:rPr>
              <a:t>Introduction (10 min)</a:t>
            </a:r>
          </a:p>
        </p:txBody>
      </p:sp>
      <p:sp>
        <p:nvSpPr>
          <p:cNvPr id="40" name="ZoneTexte 39">
            <a:extLst>
              <a:ext uri="{FF2B5EF4-FFF2-40B4-BE49-F238E27FC236}">
                <a16:creationId xmlns:a16="http://schemas.microsoft.com/office/drawing/2014/main" id="{7FF8F0E7-DA56-E444-85CC-BE3D08E56D73}"/>
              </a:ext>
            </a:extLst>
          </p:cNvPr>
          <p:cNvSpPr txBox="1"/>
          <p:nvPr/>
        </p:nvSpPr>
        <p:spPr>
          <a:xfrm>
            <a:off x="2203470" y="3571509"/>
            <a:ext cx="3477392" cy="276999"/>
          </a:xfrm>
          <a:prstGeom prst="rect">
            <a:avLst/>
          </a:prstGeom>
          <a:noFill/>
        </p:spPr>
        <p:txBody>
          <a:bodyPr wrap="square" rtlCol="0">
            <a:spAutoFit/>
          </a:bodyPr>
          <a:lstStyle/>
          <a:p>
            <a:pPr algn="ctr"/>
            <a:r>
              <a:rPr lang="fr-FR" sz="1200" i="1" dirty="0">
                <a:solidFill>
                  <a:schemeClr val="bg1"/>
                </a:solidFill>
              </a:rPr>
              <a:t>Introduction (10 min)</a:t>
            </a:r>
          </a:p>
        </p:txBody>
      </p:sp>
      <p:sp>
        <p:nvSpPr>
          <p:cNvPr id="41" name="ZoneTexte 40">
            <a:extLst>
              <a:ext uri="{FF2B5EF4-FFF2-40B4-BE49-F238E27FC236}">
                <a16:creationId xmlns:a16="http://schemas.microsoft.com/office/drawing/2014/main" id="{97B98BE0-BDE3-214E-BE88-14B32C8A224D}"/>
              </a:ext>
            </a:extLst>
          </p:cNvPr>
          <p:cNvSpPr txBox="1"/>
          <p:nvPr/>
        </p:nvSpPr>
        <p:spPr>
          <a:xfrm>
            <a:off x="6703998" y="2071231"/>
            <a:ext cx="2051165" cy="300082"/>
          </a:xfrm>
          <a:prstGeom prst="rect">
            <a:avLst/>
          </a:prstGeom>
          <a:noFill/>
        </p:spPr>
        <p:txBody>
          <a:bodyPr wrap="square" rtlCol="0">
            <a:spAutoFit/>
          </a:bodyPr>
          <a:lstStyle/>
          <a:p>
            <a:r>
              <a:rPr lang="fr-FR" sz="1350" dirty="0"/>
              <a:t>11h – 12h30 </a:t>
            </a:r>
          </a:p>
        </p:txBody>
      </p:sp>
      <p:sp>
        <p:nvSpPr>
          <p:cNvPr id="42" name="ZoneTexte 41">
            <a:extLst>
              <a:ext uri="{FF2B5EF4-FFF2-40B4-BE49-F238E27FC236}">
                <a16:creationId xmlns:a16="http://schemas.microsoft.com/office/drawing/2014/main" id="{E1FC1D6B-2EC8-9141-9E50-F4DB738B9594}"/>
              </a:ext>
            </a:extLst>
          </p:cNvPr>
          <p:cNvSpPr txBox="1"/>
          <p:nvPr/>
        </p:nvSpPr>
        <p:spPr>
          <a:xfrm>
            <a:off x="547780" y="2555980"/>
            <a:ext cx="851285" cy="300082"/>
          </a:xfrm>
          <a:prstGeom prst="rect">
            <a:avLst/>
          </a:prstGeom>
          <a:noFill/>
        </p:spPr>
        <p:txBody>
          <a:bodyPr wrap="square" rtlCol="0">
            <a:spAutoFit/>
          </a:bodyPr>
          <a:lstStyle/>
          <a:p>
            <a:r>
              <a:rPr lang="fr-FR" sz="1350" dirty="0"/>
              <a:t>BREAK</a:t>
            </a:r>
          </a:p>
        </p:txBody>
      </p:sp>
      <p:sp>
        <p:nvSpPr>
          <p:cNvPr id="43" name="ZoneTexte 42">
            <a:extLst>
              <a:ext uri="{FF2B5EF4-FFF2-40B4-BE49-F238E27FC236}">
                <a16:creationId xmlns:a16="http://schemas.microsoft.com/office/drawing/2014/main" id="{C4F39832-C711-1540-B6FA-FA9AC05AFD82}"/>
              </a:ext>
            </a:extLst>
          </p:cNvPr>
          <p:cNvSpPr txBox="1"/>
          <p:nvPr/>
        </p:nvSpPr>
        <p:spPr>
          <a:xfrm>
            <a:off x="481006" y="3433009"/>
            <a:ext cx="851285" cy="300082"/>
          </a:xfrm>
          <a:prstGeom prst="rect">
            <a:avLst/>
          </a:prstGeom>
          <a:noFill/>
        </p:spPr>
        <p:txBody>
          <a:bodyPr wrap="square" rtlCol="0">
            <a:spAutoFit/>
          </a:bodyPr>
          <a:lstStyle/>
          <a:p>
            <a:r>
              <a:rPr lang="fr-FR" sz="1350" dirty="0"/>
              <a:t>BREAK</a:t>
            </a:r>
          </a:p>
        </p:txBody>
      </p:sp>
      <p:sp>
        <p:nvSpPr>
          <p:cNvPr id="44" name="ZoneTexte 43">
            <a:extLst>
              <a:ext uri="{FF2B5EF4-FFF2-40B4-BE49-F238E27FC236}">
                <a16:creationId xmlns:a16="http://schemas.microsoft.com/office/drawing/2014/main" id="{82835212-8EF9-FD4A-A097-3C56D0D23D08}"/>
              </a:ext>
            </a:extLst>
          </p:cNvPr>
          <p:cNvSpPr txBox="1"/>
          <p:nvPr/>
        </p:nvSpPr>
        <p:spPr>
          <a:xfrm>
            <a:off x="6703997" y="3047033"/>
            <a:ext cx="2051165" cy="300082"/>
          </a:xfrm>
          <a:prstGeom prst="rect">
            <a:avLst/>
          </a:prstGeom>
          <a:noFill/>
        </p:spPr>
        <p:txBody>
          <a:bodyPr wrap="square" rtlCol="0">
            <a:spAutoFit/>
          </a:bodyPr>
          <a:lstStyle/>
          <a:p>
            <a:r>
              <a:rPr lang="fr-FR" sz="1350" dirty="0"/>
              <a:t>14h30 – 16h </a:t>
            </a:r>
          </a:p>
        </p:txBody>
      </p:sp>
      <p:sp>
        <p:nvSpPr>
          <p:cNvPr id="45" name="ZoneTexte 44">
            <a:extLst>
              <a:ext uri="{FF2B5EF4-FFF2-40B4-BE49-F238E27FC236}">
                <a16:creationId xmlns:a16="http://schemas.microsoft.com/office/drawing/2014/main" id="{602EC67E-A293-2F46-A664-D8DA442BCBDB}"/>
              </a:ext>
            </a:extLst>
          </p:cNvPr>
          <p:cNvSpPr txBox="1"/>
          <p:nvPr/>
        </p:nvSpPr>
        <p:spPr>
          <a:xfrm>
            <a:off x="6709348" y="3953012"/>
            <a:ext cx="2051165" cy="300082"/>
          </a:xfrm>
          <a:prstGeom prst="rect">
            <a:avLst/>
          </a:prstGeom>
          <a:noFill/>
        </p:spPr>
        <p:txBody>
          <a:bodyPr wrap="square" rtlCol="0">
            <a:spAutoFit/>
          </a:bodyPr>
          <a:lstStyle/>
          <a:p>
            <a:r>
              <a:rPr lang="fr-FR" sz="1350" dirty="0"/>
              <a:t>16h30 – 18h </a:t>
            </a:r>
          </a:p>
        </p:txBody>
      </p:sp>
      <p:sp>
        <p:nvSpPr>
          <p:cNvPr id="16" name="Espace réservé du numéro de diapositive 15">
            <a:extLst>
              <a:ext uri="{FF2B5EF4-FFF2-40B4-BE49-F238E27FC236}">
                <a16:creationId xmlns:a16="http://schemas.microsoft.com/office/drawing/2014/main" id="{035621AD-A56E-0691-51B9-F60BC705D24F}"/>
              </a:ext>
            </a:extLst>
          </p:cNvPr>
          <p:cNvSpPr>
            <a:spLocks noGrp="1"/>
          </p:cNvSpPr>
          <p:nvPr>
            <p:ph type="sldNum" sz="quarter" idx="12"/>
          </p:nvPr>
        </p:nvSpPr>
        <p:spPr/>
        <p:txBody>
          <a:bodyPr/>
          <a:lstStyle/>
          <a:p>
            <a:fld id="{B6E69D5D-3C54-E347-B3D4-70BDFA7C6521}" type="slidenum">
              <a:rPr lang="fr-FR" smtClean="0"/>
              <a:t>61</a:t>
            </a:fld>
            <a:endParaRPr lang="fr-FR"/>
          </a:p>
        </p:txBody>
      </p:sp>
    </p:spTree>
    <p:extLst>
      <p:ext uri="{BB962C8B-B14F-4D97-AF65-F5344CB8AC3E}">
        <p14:creationId xmlns:p14="http://schemas.microsoft.com/office/powerpoint/2010/main" val="37402331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62</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341833" y="1905502"/>
            <a:ext cx="7929332" cy="1648272"/>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a:p>
            <a:pPr algn="r">
              <a:lnSpc>
                <a:spcPct val="70000"/>
              </a:lnSpc>
            </a:pPr>
            <a:endParaRPr lang="fr-FR" sz="2100" i="1" dirty="0">
              <a:latin typeface="Arial"/>
              <a:cs typeface="Arial"/>
            </a:endParaRPr>
          </a:p>
          <a:p>
            <a:pPr algn="r"/>
            <a:r>
              <a:rPr lang="fr-FR" sz="2100" i="1" dirty="0">
                <a:latin typeface="Arial" panose="020B0604020202020204" pitchFamily="34" charset="0"/>
                <a:cs typeface="Arial" panose="020B0604020202020204" pitchFamily="34" charset="0"/>
              </a:rPr>
              <a:t>2. </a:t>
            </a:r>
            <a:r>
              <a:rPr lang="fr-FR" sz="2100" i="1" dirty="0" err="1">
                <a:latin typeface="Arial" panose="020B0604020202020204" pitchFamily="34" charset="0"/>
                <a:cs typeface="Arial" panose="020B0604020202020204" pitchFamily="34" charset="0"/>
              </a:rPr>
              <a:t>Overview</a:t>
            </a:r>
            <a:r>
              <a:rPr lang="fr-FR" sz="2100" i="1" dirty="0">
                <a:latin typeface="Arial" panose="020B0604020202020204" pitchFamily="34" charset="0"/>
                <a:cs typeface="Arial" panose="020B0604020202020204" pitchFamily="34" charset="0"/>
              </a:rPr>
              <a:t> of </a:t>
            </a:r>
            <a:r>
              <a:rPr lang="fr-FR" sz="2100" i="1" dirty="0" err="1">
                <a:latin typeface="Arial" panose="020B0604020202020204" pitchFamily="34" charset="0"/>
                <a:cs typeface="Arial" panose="020B0604020202020204" pitchFamily="34" charset="0"/>
              </a:rPr>
              <a:t>medical</a:t>
            </a:r>
            <a:r>
              <a:rPr lang="fr-FR" sz="2100" i="1" dirty="0">
                <a:latin typeface="Arial" panose="020B0604020202020204" pitchFamily="34" charset="0"/>
                <a:cs typeface="Arial" panose="020B0604020202020204" pitchFamily="34" charset="0"/>
              </a:rPr>
              <a:t> longitudinal data &amp; </a:t>
            </a:r>
            <a:r>
              <a:rPr lang="fr-FR" sz="2100" i="1" dirty="0" err="1">
                <a:latin typeface="Arial" panose="020B0604020202020204" pitchFamily="34" charset="0"/>
                <a:cs typeface="Arial" panose="020B0604020202020204" pitchFamily="34" charset="0"/>
              </a:rPr>
              <a:t>models</a:t>
            </a:r>
            <a:r>
              <a:rPr lang="fr-FR" sz="2100" i="1" dirty="0">
                <a:latin typeface="Arial" panose="020B0604020202020204" pitchFamily="34" charset="0"/>
                <a:cs typeface="Arial" panose="020B0604020202020204" pitchFamily="34" charset="0"/>
              </a:rPr>
              <a:t> </a:t>
            </a:r>
            <a:r>
              <a:rPr lang="fr-FR" sz="2100" i="1" dirty="0" err="1">
                <a:latin typeface="Arial" panose="020B0604020202020204" pitchFamily="34" charset="0"/>
                <a:cs typeface="Arial" panose="020B0604020202020204" pitchFamily="34" charset="0"/>
              </a:rPr>
              <a:t>associated</a:t>
            </a:r>
            <a:endParaRPr lang="fr-FR" sz="2100" i="1" dirty="0">
              <a:latin typeface="Arial" panose="020B0604020202020204" pitchFamily="34" charset="0"/>
              <a:cs typeface="Arial" panose="020B0604020202020204" pitchFamily="34" charset="0"/>
            </a:endParaRP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37577146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TP1</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a:t>To </a:t>
            </a:r>
            <a:r>
              <a:rPr lang="fr-FR" dirty="0" err="1"/>
              <a:t>start</a:t>
            </a:r>
            <a:endParaRPr lang="fr-FR" dirty="0"/>
          </a:p>
        </p:txBody>
      </p:sp>
      <p:sp>
        <p:nvSpPr>
          <p:cNvPr id="4" name="Espace réservé du texte 3">
            <a:extLst>
              <a:ext uri="{FF2B5EF4-FFF2-40B4-BE49-F238E27FC236}">
                <a16:creationId xmlns:a16="http://schemas.microsoft.com/office/drawing/2014/main" id="{3736AD3D-F86D-5442-B960-3B0247BB1367}"/>
              </a:ext>
            </a:extLst>
          </p:cNvPr>
          <p:cNvSpPr>
            <a:spLocks noGrp="1"/>
          </p:cNvSpPr>
          <p:nvPr>
            <p:ph type="body" sz="quarter" idx="13"/>
          </p:nvPr>
        </p:nvSpPr>
        <p:spPr>
          <a:xfrm>
            <a:off x="476253" y="596116"/>
            <a:ext cx="8139110" cy="1611303"/>
          </a:xfrm>
        </p:spPr>
        <p:txBody>
          <a:bodyPr/>
          <a:lstStyle/>
          <a:p>
            <a:r>
              <a:rPr lang="fr-FR" sz="1500" dirty="0" err="1">
                <a:latin typeface="+mj-lt"/>
              </a:rPr>
              <a:t>Please</a:t>
            </a:r>
            <a:r>
              <a:rPr lang="fr-FR" sz="1500" dirty="0">
                <a:latin typeface="+mj-lt"/>
              </a:rPr>
              <a:t> </a:t>
            </a:r>
            <a:r>
              <a:rPr lang="fr-FR" sz="1500" dirty="0" err="1">
                <a:latin typeface="+mj-lt"/>
              </a:rPr>
              <a:t>follow</a:t>
            </a:r>
            <a:r>
              <a:rPr lang="fr-FR" sz="1500" dirty="0">
                <a:latin typeface="+mj-lt"/>
              </a:rPr>
              <a:t> the </a:t>
            </a:r>
            <a:r>
              <a:rPr lang="fr-FR" sz="1500" dirty="0" err="1">
                <a:latin typeface="+mj-lt"/>
              </a:rPr>
              <a:t>link</a:t>
            </a:r>
            <a:r>
              <a:rPr lang="fr-FR" sz="1500" dirty="0">
                <a:latin typeface="+mj-lt"/>
              </a:rPr>
              <a:t> </a:t>
            </a:r>
            <a:r>
              <a:rPr lang="fr-FR" sz="1500" dirty="0" err="1">
                <a:latin typeface="+mj-lt"/>
              </a:rPr>
              <a:t>below</a:t>
            </a:r>
            <a:r>
              <a:rPr lang="fr-FR" sz="1500" dirty="0">
                <a:latin typeface="+mj-lt"/>
              </a:rPr>
              <a:t> :</a:t>
            </a:r>
          </a:p>
          <a:p>
            <a:pPr algn="ctr"/>
            <a:r>
              <a:rPr lang="fr-FR" sz="1500" dirty="0">
                <a:latin typeface="+mj-lt"/>
                <a:hlinkClick r:id="rId2"/>
              </a:rPr>
              <a:t>https://colab.research.google.com/drive/1uZDC4LYE8tmBG83UGcZZPfWr-UUBRxgH?usp=sharing#scrollTo=U_vNmA7gBFd4</a:t>
            </a:r>
            <a:r>
              <a:rPr lang="fr-FR" sz="1500" dirty="0">
                <a:latin typeface="+mj-lt"/>
              </a:rPr>
              <a:t> </a:t>
            </a:r>
          </a:p>
          <a:p>
            <a:r>
              <a:rPr lang="fr-FR" sz="1500" dirty="0">
                <a:latin typeface="+mj-lt"/>
              </a:rPr>
              <a:t>And </a:t>
            </a:r>
            <a:r>
              <a:rPr lang="fr-FR" sz="1500" dirty="0" err="1">
                <a:latin typeface="+mj-lt"/>
              </a:rPr>
              <a:t>run</a:t>
            </a:r>
            <a:r>
              <a:rPr lang="fr-FR" sz="1500" dirty="0">
                <a:latin typeface="+mj-lt"/>
              </a:rPr>
              <a:t> the 3 first </a:t>
            </a:r>
            <a:r>
              <a:rPr lang="fr-FR" sz="1500" dirty="0" err="1">
                <a:latin typeface="+mj-lt"/>
              </a:rPr>
              <a:t>cells</a:t>
            </a:r>
            <a:r>
              <a:rPr lang="fr-FR" sz="1500" dirty="0">
                <a:latin typeface="+mj-lt"/>
              </a:rPr>
              <a:t> :</a:t>
            </a:r>
          </a:p>
        </p:txBody>
      </p:sp>
      <p:pic>
        <p:nvPicPr>
          <p:cNvPr id="6" name="Image 5">
            <a:extLst>
              <a:ext uri="{FF2B5EF4-FFF2-40B4-BE49-F238E27FC236}">
                <a16:creationId xmlns:a16="http://schemas.microsoft.com/office/drawing/2014/main" id="{AEA5F906-6749-25EB-665B-621C3457D6B5}"/>
              </a:ext>
            </a:extLst>
          </p:cNvPr>
          <p:cNvPicPr>
            <a:picLocks noChangeAspect="1"/>
          </p:cNvPicPr>
          <p:nvPr/>
        </p:nvPicPr>
        <p:blipFill>
          <a:blip r:embed="rId3"/>
          <a:stretch>
            <a:fillRect/>
          </a:stretch>
        </p:blipFill>
        <p:spPr>
          <a:xfrm>
            <a:off x="295382" y="2803086"/>
            <a:ext cx="8408836" cy="1744298"/>
          </a:xfrm>
          <a:prstGeom prst="rect">
            <a:avLst/>
          </a:prstGeom>
        </p:spPr>
      </p:pic>
      <p:sp>
        <p:nvSpPr>
          <p:cNvPr id="5" name="Espace réservé du numéro de diapositive 4">
            <a:extLst>
              <a:ext uri="{FF2B5EF4-FFF2-40B4-BE49-F238E27FC236}">
                <a16:creationId xmlns:a16="http://schemas.microsoft.com/office/drawing/2014/main" id="{341F26CB-30BA-3D0B-EA69-BCCAD55E70D3}"/>
              </a:ext>
            </a:extLst>
          </p:cNvPr>
          <p:cNvSpPr>
            <a:spLocks noGrp="1"/>
          </p:cNvSpPr>
          <p:nvPr>
            <p:ph type="sldNum" sz="quarter" idx="12"/>
          </p:nvPr>
        </p:nvSpPr>
        <p:spPr/>
        <p:txBody>
          <a:bodyPr/>
          <a:lstStyle/>
          <a:p>
            <a:fld id="{B6E69D5D-3C54-E347-B3D4-70BDFA7C6521}" type="slidenum">
              <a:rPr lang="fr-FR" smtClean="0"/>
              <a:t>63</a:t>
            </a:fld>
            <a:endParaRPr lang="fr-FR"/>
          </a:p>
        </p:txBody>
      </p:sp>
    </p:spTree>
    <p:extLst>
      <p:ext uri="{BB962C8B-B14F-4D97-AF65-F5344CB8AC3E}">
        <p14:creationId xmlns:p14="http://schemas.microsoft.com/office/powerpoint/2010/main" val="18159363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BD8F614-7CFD-9D45-A94D-386BD0147F02}"/>
              </a:ext>
            </a:extLst>
          </p:cNvPr>
          <p:cNvSpPr>
            <a:spLocks noGrp="1"/>
          </p:cNvSpPr>
          <p:nvPr>
            <p:ph type="body" sz="quarter" idx="10"/>
          </p:nvPr>
        </p:nvSpPr>
        <p:spPr/>
        <p:txBody>
          <a:bodyPr/>
          <a:lstStyle/>
          <a:p>
            <a:r>
              <a:rPr lang="fr-FR" dirty="0"/>
              <a:t>TP1</a:t>
            </a:r>
          </a:p>
        </p:txBody>
      </p:sp>
      <p:sp>
        <p:nvSpPr>
          <p:cNvPr id="4" name="Espace réservé du texte 3">
            <a:extLst>
              <a:ext uri="{FF2B5EF4-FFF2-40B4-BE49-F238E27FC236}">
                <a16:creationId xmlns:a16="http://schemas.microsoft.com/office/drawing/2014/main" id="{2C97CB63-9F62-E741-8494-F8A82FC30D71}"/>
              </a:ext>
            </a:extLst>
          </p:cNvPr>
          <p:cNvSpPr>
            <a:spLocks noGrp="1"/>
          </p:cNvSpPr>
          <p:nvPr>
            <p:ph type="body" sz="quarter" idx="13"/>
          </p:nvPr>
        </p:nvSpPr>
        <p:spPr>
          <a:xfrm>
            <a:off x="548970" y="1650294"/>
            <a:ext cx="4083901" cy="550502"/>
          </a:xfrm>
        </p:spPr>
        <p:txBody>
          <a:bodyPr/>
          <a:lstStyle/>
          <a:p>
            <a:pPr marL="257175" indent="-257175" algn="just">
              <a:buFontTx/>
              <a:buChar char="-"/>
            </a:pPr>
            <a:r>
              <a:rPr lang="fr-FR" sz="1500" dirty="0" err="1">
                <a:latin typeface="+mj-lt"/>
              </a:rPr>
              <a:t>Get</a:t>
            </a:r>
            <a:r>
              <a:rPr lang="fr-FR" sz="1500" dirty="0">
                <a:latin typeface="+mj-lt"/>
              </a:rPr>
              <a:t> </a:t>
            </a:r>
            <a:r>
              <a:rPr lang="fr-FR" sz="1500" dirty="0" err="1">
                <a:latin typeface="+mj-lt"/>
              </a:rPr>
              <a:t>familiar</a:t>
            </a:r>
            <a:r>
              <a:rPr lang="fr-FR" sz="1500" dirty="0">
                <a:latin typeface="+mj-lt"/>
              </a:rPr>
              <a:t> </a:t>
            </a:r>
            <a:r>
              <a:rPr lang="fr-FR" sz="1500" dirty="0" err="1">
                <a:latin typeface="+mj-lt"/>
              </a:rPr>
              <a:t>with</a:t>
            </a:r>
            <a:r>
              <a:rPr lang="fr-FR" sz="1500" dirty="0">
                <a:latin typeface="+mj-lt"/>
              </a:rPr>
              <a:t> </a:t>
            </a:r>
            <a:r>
              <a:rPr lang="fr-FR" sz="1500" b="1" dirty="0" err="1">
                <a:latin typeface="+mj-lt"/>
              </a:rPr>
              <a:t>medical</a:t>
            </a:r>
            <a:r>
              <a:rPr lang="fr-FR" sz="1500" b="1" dirty="0">
                <a:latin typeface="+mj-lt"/>
              </a:rPr>
              <a:t> </a:t>
            </a:r>
            <a:r>
              <a:rPr lang="fr-FR" sz="1500" dirty="0">
                <a:latin typeface="+mj-lt"/>
              </a:rPr>
              <a:t>longitudinal</a:t>
            </a:r>
            <a:r>
              <a:rPr lang="fr-FR" sz="1500" b="1" dirty="0">
                <a:latin typeface="+mj-lt"/>
              </a:rPr>
              <a:t> data</a:t>
            </a:r>
          </a:p>
        </p:txBody>
      </p:sp>
      <p:pic>
        <p:nvPicPr>
          <p:cNvPr id="1026" name="Picture 2" descr="Longitudinal survey Archives - Pollfish Resources">
            <a:extLst>
              <a:ext uri="{FF2B5EF4-FFF2-40B4-BE49-F238E27FC236}">
                <a16:creationId xmlns:a16="http://schemas.microsoft.com/office/drawing/2014/main" id="{BCEF7145-FD4E-2142-8D74-BC6D2E9E7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9352" y="856967"/>
            <a:ext cx="3845630" cy="1922816"/>
          </a:xfrm>
          <a:prstGeom prst="rect">
            <a:avLst/>
          </a:prstGeom>
          <a:noFill/>
          <a:extLst>
            <a:ext uri="{909E8E84-426E-40DD-AFC4-6F175D3DCCD1}">
              <a14:hiddenFill xmlns:a14="http://schemas.microsoft.com/office/drawing/2010/main">
                <a:solidFill>
                  <a:srgbClr val="FFFFFF"/>
                </a:solidFill>
              </a14:hiddenFill>
            </a:ext>
          </a:extLst>
        </p:spPr>
      </p:pic>
      <p:sp>
        <p:nvSpPr>
          <p:cNvPr id="12" name="Espace réservé du texte 3">
            <a:extLst>
              <a:ext uri="{FF2B5EF4-FFF2-40B4-BE49-F238E27FC236}">
                <a16:creationId xmlns:a16="http://schemas.microsoft.com/office/drawing/2014/main" id="{9B55BAA7-0324-2A4A-8C93-0E5476CE649E}"/>
              </a:ext>
            </a:extLst>
          </p:cNvPr>
          <p:cNvSpPr txBox="1">
            <a:spLocks/>
          </p:cNvSpPr>
          <p:nvPr/>
        </p:nvSpPr>
        <p:spPr>
          <a:xfrm>
            <a:off x="548970" y="3388849"/>
            <a:ext cx="4023031" cy="1245567"/>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57175" indent="-257175" algn="just">
              <a:buFontTx/>
              <a:buChar char="-"/>
            </a:pPr>
            <a:r>
              <a:rPr lang="fr-FR" sz="1500" dirty="0" err="1">
                <a:latin typeface="+mj-lt"/>
              </a:rPr>
              <a:t>Get</a:t>
            </a:r>
            <a:r>
              <a:rPr lang="fr-FR" sz="1500" dirty="0">
                <a:latin typeface="+mj-lt"/>
              </a:rPr>
              <a:t> a taste of </a:t>
            </a:r>
            <a:r>
              <a:rPr lang="fr-FR" sz="1500" b="1" dirty="0">
                <a:latin typeface="+mj-lt"/>
              </a:rPr>
              <a:t>state-of-the-art </a:t>
            </a:r>
            <a:r>
              <a:rPr lang="fr-FR" sz="1500" b="1" dirty="0" err="1">
                <a:latin typeface="+mj-lt"/>
              </a:rPr>
              <a:t>models</a:t>
            </a:r>
            <a:r>
              <a:rPr lang="fr-FR" sz="1500" b="1" dirty="0">
                <a:latin typeface="+mj-lt"/>
              </a:rPr>
              <a:t> </a:t>
            </a:r>
          </a:p>
          <a:p>
            <a:pPr marL="257175" indent="-257175" algn="just">
              <a:buFontTx/>
              <a:buChar char="-"/>
            </a:pPr>
            <a:r>
              <a:rPr lang="fr-FR" sz="1500" dirty="0" err="1">
                <a:latin typeface="+mj-lt"/>
              </a:rPr>
              <a:t>Understand</a:t>
            </a:r>
            <a:r>
              <a:rPr lang="fr-FR" sz="1500" dirty="0">
                <a:latin typeface="+mj-lt"/>
              </a:rPr>
              <a:t> </a:t>
            </a:r>
            <a:r>
              <a:rPr lang="fr-FR" sz="1500" b="1" dirty="0">
                <a:latin typeface="+mj-lt"/>
              </a:rPr>
              <a:t>mixed-</a:t>
            </a:r>
            <a:r>
              <a:rPr lang="fr-FR" sz="1500" b="1" dirty="0" err="1">
                <a:latin typeface="+mj-lt"/>
              </a:rPr>
              <a:t>effects</a:t>
            </a:r>
            <a:r>
              <a:rPr lang="fr-FR" sz="1500" b="1" dirty="0">
                <a:latin typeface="+mj-lt"/>
              </a:rPr>
              <a:t> </a:t>
            </a:r>
            <a:r>
              <a:rPr lang="fr-FR" sz="1500" b="1" dirty="0" err="1">
                <a:latin typeface="+mj-lt"/>
              </a:rPr>
              <a:t>models</a:t>
            </a:r>
            <a:endParaRPr lang="fr-FR" sz="1500" b="1" dirty="0">
              <a:latin typeface="+mj-lt"/>
            </a:endParaRPr>
          </a:p>
        </p:txBody>
      </p:sp>
      <p:sp>
        <p:nvSpPr>
          <p:cNvPr id="13" name="Espace réservé du texte 3">
            <a:extLst>
              <a:ext uri="{FF2B5EF4-FFF2-40B4-BE49-F238E27FC236}">
                <a16:creationId xmlns:a16="http://schemas.microsoft.com/office/drawing/2014/main" id="{51A4CC4A-4A37-5E43-B232-46F889373F5F}"/>
              </a:ext>
            </a:extLst>
          </p:cNvPr>
          <p:cNvSpPr txBox="1">
            <a:spLocks/>
          </p:cNvSpPr>
          <p:nvPr/>
        </p:nvSpPr>
        <p:spPr>
          <a:xfrm>
            <a:off x="548970" y="645930"/>
            <a:ext cx="4289581" cy="422075"/>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a:latin typeface="+mj-lt"/>
              </a:rPr>
              <a:t>Objectives</a:t>
            </a:r>
          </a:p>
        </p:txBody>
      </p:sp>
      <p:pic>
        <p:nvPicPr>
          <p:cNvPr id="9" name="Image 8">
            <a:extLst>
              <a:ext uri="{FF2B5EF4-FFF2-40B4-BE49-F238E27FC236}">
                <a16:creationId xmlns:a16="http://schemas.microsoft.com/office/drawing/2014/main" id="{D97B32A3-9A36-B94F-9DEC-277D82B79E0F}"/>
              </a:ext>
            </a:extLst>
          </p:cNvPr>
          <p:cNvPicPr>
            <a:picLocks noChangeAspect="1"/>
          </p:cNvPicPr>
          <p:nvPr/>
        </p:nvPicPr>
        <p:blipFill>
          <a:blip r:embed="rId4"/>
          <a:stretch>
            <a:fillRect/>
          </a:stretch>
        </p:blipFill>
        <p:spPr>
          <a:xfrm>
            <a:off x="4697528" y="2911533"/>
            <a:ext cx="4135719" cy="1870451"/>
          </a:xfrm>
          <a:prstGeom prst="rect">
            <a:avLst/>
          </a:prstGeom>
        </p:spPr>
      </p:pic>
      <p:sp>
        <p:nvSpPr>
          <p:cNvPr id="10" name="Espace réservé du texte 2">
            <a:extLst>
              <a:ext uri="{FF2B5EF4-FFF2-40B4-BE49-F238E27FC236}">
                <a16:creationId xmlns:a16="http://schemas.microsoft.com/office/drawing/2014/main" id="{22355417-887C-CB42-BC8F-6286AE1591B3}"/>
              </a:ext>
            </a:extLst>
          </p:cNvPr>
          <p:cNvSpPr>
            <a:spLocks noGrp="1"/>
          </p:cNvSpPr>
          <p:nvPr>
            <p:ph type="body" sz="quarter" idx="11"/>
          </p:nvPr>
        </p:nvSpPr>
        <p:spPr>
          <a:xfrm>
            <a:off x="2209802" y="238125"/>
            <a:ext cx="1514475" cy="285750"/>
          </a:xfrm>
        </p:spPr>
        <p:txBody>
          <a:bodyPr/>
          <a:lstStyle/>
          <a:p>
            <a:r>
              <a:rPr lang="fr-FR" dirty="0"/>
              <a:t>Introduction</a:t>
            </a:r>
          </a:p>
        </p:txBody>
      </p:sp>
      <p:sp>
        <p:nvSpPr>
          <p:cNvPr id="3" name="Espace réservé du numéro de diapositive 2">
            <a:extLst>
              <a:ext uri="{FF2B5EF4-FFF2-40B4-BE49-F238E27FC236}">
                <a16:creationId xmlns:a16="http://schemas.microsoft.com/office/drawing/2014/main" id="{AB8E2A01-B8B1-8305-03AC-7E6F2831A507}"/>
              </a:ext>
            </a:extLst>
          </p:cNvPr>
          <p:cNvSpPr>
            <a:spLocks noGrp="1"/>
          </p:cNvSpPr>
          <p:nvPr>
            <p:ph type="sldNum" sz="quarter" idx="12"/>
          </p:nvPr>
        </p:nvSpPr>
        <p:spPr/>
        <p:txBody>
          <a:bodyPr/>
          <a:lstStyle/>
          <a:p>
            <a:fld id="{B6E69D5D-3C54-E347-B3D4-70BDFA7C6521}" type="slidenum">
              <a:rPr lang="fr-FR" smtClean="0"/>
              <a:t>64</a:t>
            </a:fld>
            <a:endParaRPr lang="fr-FR"/>
          </a:p>
        </p:txBody>
      </p:sp>
    </p:spTree>
    <p:extLst>
      <p:ext uri="{BB962C8B-B14F-4D97-AF65-F5344CB8AC3E}">
        <p14:creationId xmlns:p14="http://schemas.microsoft.com/office/powerpoint/2010/main" val="27264377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B7C55C-53EF-C545-850A-FF364D44659B}"/>
              </a:ext>
            </a:extLst>
          </p:cNvPr>
          <p:cNvSpPr txBox="1">
            <a:spLocks/>
          </p:cNvSpPr>
          <p:nvPr/>
        </p:nvSpPr>
        <p:spPr>
          <a:xfrm>
            <a:off x="614362" y="1612871"/>
            <a:ext cx="8347472" cy="132516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050" dirty="0"/>
              <a:t>Go, </a:t>
            </a:r>
            <a:r>
              <a:rPr lang="fr-FR" sz="4050" dirty="0" err="1"/>
              <a:t>it’s</a:t>
            </a:r>
            <a:r>
              <a:rPr lang="fr-FR" sz="4050" dirty="0"/>
              <a:t> </a:t>
            </a:r>
            <a:r>
              <a:rPr lang="fr-FR" sz="4050" dirty="0" err="1"/>
              <a:t>your</a:t>
            </a:r>
            <a:r>
              <a:rPr lang="fr-FR" sz="4050" dirty="0"/>
              <a:t> </a:t>
            </a:r>
            <a:r>
              <a:rPr lang="fr-FR" sz="4050" dirty="0" err="1"/>
              <a:t>turn</a:t>
            </a:r>
            <a:r>
              <a:rPr lang="fr-FR" sz="4050" dirty="0"/>
              <a:t> !</a:t>
            </a:r>
          </a:p>
        </p:txBody>
      </p:sp>
      <p:sp>
        <p:nvSpPr>
          <p:cNvPr id="4" name="Sous-titre 2">
            <a:extLst>
              <a:ext uri="{FF2B5EF4-FFF2-40B4-BE49-F238E27FC236}">
                <a16:creationId xmlns:a16="http://schemas.microsoft.com/office/drawing/2014/main" id="{90B4E9F8-CA22-A749-B4E5-6705283C1FF2}"/>
              </a:ext>
            </a:extLst>
          </p:cNvPr>
          <p:cNvSpPr txBox="1">
            <a:spLocks/>
          </p:cNvSpPr>
          <p:nvPr/>
        </p:nvSpPr>
        <p:spPr>
          <a:xfrm>
            <a:off x="1143000" y="3087294"/>
            <a:ext cx="6858000" cy="124182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fr-FR" sz="2100" dirty="0"/>
              <a:t>And </a:t>
            </a:r>
            <a:r>
              <a:rPr lang="fr-FR" sz="2100" dirty="0" err="1"/>
              <a:t>don’t</a:t>
            </a:r>
            <a:r>
              <a:rPr lang="fr-FR" sz="2100" dirty="0"/>
              <a:t> </a:t>
            </a:r>
            <a:r>
              <a:rPr lang="fr-FR" sz="2100" dirty="0" err="1"/>
              <a:t>hesitate</a:t>
            </a:r>
            <a:r>
              <a:rPr lang="fr-FR" sz="2100" dirty="0"/>
              <a:t> if </a:t>
            </a:r>
            <a:r>
              <a:rPr lang="fr-FR" sz="2100" dirty="0" err="1"/>
              <a:t>you</a:t>
            </a:r>
            <a:r>
              <a:rPr lang="fr-FR" sz="2100" dirty="0"/>
              <a:t> have </a:t>
            </a:r>
            <a:r>
              <a:rPr lang="fr-FR" sz="2100" dirty="0" err="1"/>
              <a:t>any</a:t>
            </a:r>
            <a:r>
              <a:rPr lang="fr-FR" sz="2100" dirty="0"/>
              <a:t> question !</a:t>
            </a:r>
          </a:p>
        </p:txBody>
      </p:sp>
      <p:sp>
        <p:nvSpPr>
          <p:cNvPr id="3" name="Espace réservé du numéro de diapositive 2">
            <a:extLst>
              <a:ext uri="{FF2B5EF4-FFF2-40B4-BE49-F238E27FC236}">
                <a16:creationId xmlns:a16="http://schemas.microsoft.com/office/drawing/2014/main" id="{D6C1EDDF-5DDC-90B9-A317-3CC2A935D629}"/>
              </a:ext>
            </a:extLst>
          </p:cNvPr>
          <p:cNvSpPr>
            <a:spLocks noGrp="1"/>
          </p:cNvSpPr>
          <p:nvPr>
            <p:ph type="sldNum" sz="quarter" idx="12"/>
          </p:nvPr>
        </p:nvSpPr>
        <p:spPr/>
        <p:txBody>
          <a:bodyPr/>
          <a:lstStyle/>
          <a:p>
            <a:fld id="{B6E69D5D-3C54-E347-B3D4-70BDFA7C6521}" type="slidenum">
              <a:rPr lang="fr-FR" smtClean="0"/>
              <a:t>65</a:t>
            </a:fld>
            <a:endParaRPr lang="fr-FR"/>
          </a:p>
        </p:txBody>
      </p:sp>
    </p:spTree>
    <p:extLst>
      <p:ext uri="{BB962C8B-B14F-4D97-AF65-F5344CB8AC3E}">
        <p14:creationId xmlns:p14="http://schemas.microsoft.com/office/powerpoint/2010/main" val="37034464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BD8F614-7CFD-9D45-A94D-386BD0147F02}"/>
              </a:ext>
            </a:extLst>
          </p:cNvPr>
          <p:cNvSpPr>
            <a:spLocks noGrp="1"/>
          </p:cNvSpPr>
          <p:nvPr>
            <p:ph type="body" sz="quarter" idx="10"/>
          </p:nvPr>
        </p:nvSpPr>
        <p:spPr/>
        <p:txBody>
          <a:bodyPr/>
          <a:lstStyle/>
          <a:p>
            <a:r>
              <a:rPr lang="fr-FR" dirty="0"/>
              <a:t>TP1</a:t>
            </a:r>
          </a:p>
        </p:txBody>
      </p:sp>
      <p:sp>
        <p:nvSpPr>
          <p:cNvPr id="3" name="Espace réservé du texte 2">
            <a:extLst>
              <a:ext uri="{FF2B5EF4-FFF2-40B4-BE49-F238E27FC236}">
                <a16:creationId xmlns:a16="http://schemas.microsoft.com/office/drawing/2014/main" id="{DABFA4A5-CD54-A04E-A63B-69DC6FAA731F}"/>
              </a:ext>
            </a:extLst>
          </p:cNvPr>
          <p:cNvSpPr>
            <a:spLocks noGrp="1"/>
          </p:cNvSpPr>
          <p:nvPr>
            <p:ph type="body" sz="quarter" idx="11"/>
          </p:nvPr>
        </p:nvSpPr>
        <p:spPr/>
        <p:txBody>
          <a:bodyPr/>
          <a:lstStyle/>
          <a:p>
            <a:r>
              <a:rPr lang="fr-FR" dirty="0" err="1"/>
              <a:t>Take</a:t>
            </a:r>
            <a:r>
              <a:rPr lang="fr-FR" dirty="0"/>
              <a:t> home messages</a:t>
            </a:r>
          </a:p>
        </p:txBody>
      </p:sp>
      <p:sp>
        <p:nvSpPr>
          <p:cNvPr id="11" name="Espace réservé du texte 3">
            <a:extLst>
              <a:ext uri="{FF2B5EF4-FFF2-40B4-BE49-F238E27FC236}">
                <a16:creationId xmlns:a16="http://schemas.microsoft.com/office/drawing/2014/main" id="{66F0CA5F-14A7-4149-9C5C-DFADD06612D9}"/>
              </a:ext>
            </a:extLst>
          </p:cNvPr>
          <p:cNvSpPr txBox="1">
            <a:spLocks/>
          </p:cNvSpPr>
          <p:nvPr/>
        </p:nvSpPr>
        <p:spPr>
          <a:xfrm>
            <a:off x="2367859" y="4092001"/>
            <a:ext cx="1651825" cy="285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fr-FR" sz="1050" i="1" u="sng" dirty="0" err="1">
                <a:solidFill>
                  <a:schemeClr val="tx1"/>
                </a:solidFill>
                <a:latin typeface="+mj-lt"/>
              </a:rPr>
              <a:t>Root</a:t>
            </a:r>
            <a:r>
              <a:rPr lang="fr-FR" sz="1050" i="1" u="sng" dirty="0">
                <a:solidFill>
                  <a:schemeClr val="tx1"/>
                </a:solidFill>
                <a:latin typeface="+mj-lt"/>
              </a:rPr>
              <a:t> </a:t>
            </a:r>
            <a:r>
              <a:rPr lang="fr-FR" sz="1050" i="1" u="sng" dirty="0" err="1">
                <a:solidFill>
                  <a:schemeClr val="tx1"/>
                </a:solidFill>
                <a:latin typeface="+mj-lt"/>
              </a:rPr>
              <a:t>Mean</a:t>
            </a:r>
            <a:r>
              <a:rPr lang="fr-FR" sz="1050" i="1" u="sng" dirty="0">
                <a:solidFill>
                  <a:schemeClr val="tx1"/>
                </a:solidFill>
                <a:latin typeface="+mj-lt"/>
              </a:rPr>
              <a:t> </a:t>
            </a:r>
            <a:r>
              <a:rPr lang="fr-FR" sz="1050" i="1" u="sng" dirty="0" err="1">
                <a:solidFill>
                  <a:schemeClr val="tx1"/>
                </a:solidFill>
                <a:latin typeface="+mj-lt"/>
              </a:rPr>
              <a:t>Squared</a:t>
            </a:r>
            <a:r>
              <a:rPr lang="fr-FR" sz="1050" i="1" u="sng" dirty="0">
                <a:solidFill>
                  <a:schemeClr val="tx1"/>
                </a:solidFill>
                <a:latin typeface="+mj-lt"/>
              </a:rPr>
              <a:t> </a:t>
            </a:r>
            <a:r>
              <a:rPr lang="fr-FR" sz="1050" i="1" u="sng" dirty="0" err="1">
                <a:solidFill>
                  <a:schemeClr val="tx1"/>
                </a:solidFill>
                <a:latin typeface="+mj-lt"/>
              </a:rPr>
              <a:t>Error</a:t>
            </a:r>
            <a:r>
              <a:rPr lang="fr-FR" sz="1050" i="1" u="sng" dirty="0">
                <a:solidFill>
                  <a:schemeClr val="tx1"/>
                </a:solidFill>
                <a:latin typeface="+mj-lt"/>
              </a:rPr>
              <a:t> </a:t>
            </a:r>
          </a:p>
        </p:txBody>
      </p:sp>
      <p:sp>
        <p:nvSpPr>
          <p:cNvPr id="12" name="Espace réservé du texte 3">
            <a:extLst>
              <a:ext uri="{FF2B5EF4-FFF2-40B4-BE49-F238E27FC236}">
                <a16:creationId xmlns:a16="http://schemas.microsoft.com/office/drawing/2014/main" id="{BDD932CF-8540-2C4C-9B31-988973CE7B7F}"/>
              </a:ext>
            </a:extLst>
          </p:cNvPr>
          <p:cNvSpPr>
            <a:spLocks noGrp="1"/>
          </p:cNvSpPr>
          <p:nvPr>
            <p:ph type="body" sz="quarter" idx="13"/>
          </p:nvPr>
        </p:nvSpPr>
        <p:spPr>
          <a:xfrm>
            <a:off x="476252" y="857409"/>
            <a:ext cx="8186060" cy="673931"/>
          </a:xfrm>
        </p:spPr>
        <p:txBody>
          <a:bodyPr>
            <a:normAutofit lnSpcReduction="10000"/>
          </a:bodyPr>
          <a:lstStyle/>
          <a:p>
            <a:pPr algn="just">
              <a:lnSpc>
                <a:spcPct val="100000"/>
              </a:lnSpc>
            </a:pPr>
            <a:r>
              <a:rPr lang="fr-FR" sz="2100" dirty="0">
                <a:latin typeface="+mj-lt"/>
              </a:rPr>
              <a:t>There </a:t>
            </a:r>
            <a:r>
              <a:rPr lang="fr-FR" sz="2100" dirty="0" err="1">
                <a:latin typeface="+mj-lt"/>
              </a:rPr>
              <a:t>exist</a:t>
            </a:r>
            <a:r>
              <a:rPr lang="fr-FR" sz="2100" dirty="0">
                <a:latin typeface="+mj-lt"/>
              </a:rPr>
              <a:t> few </a:t>
            </a:r>
            <a:r>
              <a:rPr lang="fr-FR" sz="2100" dirty="0" err="1">
                <a:latin typeface="+mj-lt"/>
              </a:rPr>
              <a:t>models</a:t>
            </a:r>
            <a:r>
              <a:rPr lang="fr-FR" sz="2100" dirty="0">
                <a:latin typeface="+mj-lt"/>
              </a:rPr>
              <a:t> to analyse longitudinal data and RMSE </a:t>
            </a:r>
            <a:r>
              <a:rPr lang="fr-FR" sz="2100" dirty="0" err="1">
                <a:latin typeface="+mj-lt"/>
              </a:rPr>
              <a:t>can</a:t>
            </a:r>
            <a:r>
              <a:rPr lang="fr-FR" sz="2100" dirty="0">
                <a:latin typeface="+mj-lt"/>
              </a:rPr>
              <a:t> </a:t>
            </a:r>
            <a:r>
              <a:rPr lang="fr-FR" sz="2100" dirty="0" err="1">
                <a:latin typeface="+mj-lt"/>
              </a:rPr>
              <a:t>vary</a:t>
            </a:r>
            <a:r>
              <a:rPr lang="fr-FR" sz="2100" dirty="0">
                <a:latin typeface="+mj-lt"/>
              </a:rPr>
              <a:t> a lot </a:t>
            </a:r>
            <a:r>
              <a:rPr lang="fr-FR" sz="2100" dirty="0" err="1">
                <a:latin typeface="+mj-lt"/>
              </a:rPr>
              <a:t>between</a:t>
            </a:r>
            <a:r>
              <a:rPr lang="fr-FR" sz="2100" dirty="0">
                <a:latin typeface="+mj-lt"/>
              </a:rPr>
              <a:t> train and test. </a:t>
            </a:r>
            <a:endParaRPr lang="fr-FR" sz="1500" dirty="0">
              <a:latin typeface="+mj-lt"/>
            </a:endParaRPr>
          </a:p>
        </p:txBody>
      </p:sp>
      <p:sp>
        <p:nvSpPr>
          <p:cNvPr id="13" name="Espace réservé du texte 3">
            <a:extLst>
              <a:ext uri="{FF2B5EF4-FFF2-40B4-BE49-F238E27FC236}">
                <a16:creationId xmlns:a16="http://schemas.microsoft.com/office/drawing/2014/main" id="{3539C8C2-C393-1B40-8367-067329FEE78B}"/>
              </a:ext>
            </a:extLst>
          </p:cNvPr>
          <p:cNvSpPr txBox="1">
            <a:spLocks/>
          </p:cNvSpPr>
          <p:nvPr/>
        </p:nvSpPr>
        <p:spPr>
          <a:xfrm>
            <a:off x="7010487" y="3806250"/>
            <a:ext cx="1651825" cy="285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fr-FR" sz="1050" i="1" u="sng" dirty="0" err="1">
                <a:solidFill>
                  <a:schemeClr val="tx1"/>
                </a:solidFill>
                <a:latin typeface="+mj-lt"/>
              </a:rPr>
              <a:t>Linear</a:t>
            </a:r>
            <a:r>
              <a:rPr lang="fr-FR" sz="1050" i="1" u="sng" dirty="0">
                <a:solidFill>
                  <a:schemeClr val="tx1"/>
                </a:solidFill>
                <a:latin typeface="+mj-lt"/>
              </a:rPr>
              <a:t> Mixed </a:t>
            </a:r>
            <a:r>
              <a:rPr lang="fr-FR" sz="1050" i="1" u="sng" dirty="0" err="1">
                <a:solidFill>
                  <a:schemeClr val="tx1"/>
                </a:solidFill>
                <a:latin typeface="+mj-lt"/>
              </a:rPr>
              <a:t>Effect</a:t>
            </a:r>
            <a:r>
              <a:rPr lang="fr-FR" sz="1050" i="1" u="sng" dirty="0">
                <a:solidFill>
                  <a:schemeClr val="tx1"/>
                </a:solidFill>
                <a:latin typeface="+mj-lt"/>
              </a:rPr>
              <a:t> Model</a:t>
            </a:r>
          </a:p>
        </p:txBody>
      </p:sp>
      <p:pic>
        <p:nvPicPr>
          <p:cNvPr id="18" name="Image 17">
            <a:extLst>
              <a:ext uri="{FF2B5EF4-FFF2-40B4-BE49-F238E27FC236}">
                <a16:creationId xmlns:a16="http://schemas.microsoft.com/office/drawing/2014/main" id="{01202ECD-0CC5-F141-998E-4DC07CD32BEB}"/>
              </a:ext>
            </a:extLst>
          </p:cNvPr>
          <p:cNvPicPr>
            <a:picLocks noChangeAspect="1"/>
          </p:cNvPicPr>
          <p:nvPr/>
        </p:nvPicPr>
        <p:blipFill>
          <a:blip r:embed="rId2"/>
          <a:stretch>
            <a:fillRect/>
          </a:stretch>
        </p:blipFill>
        <p:spPr>
          <a:xfrm>
            <a:off x="4041877" y="1866678"/>
            <a:ext cx="4946747" cy="1939572"/>
          </a:xfrm>
          <a:prstGeom prst="rect">
            <a:avLst/>
          </a:prstGeom>
        </p:spPr>
      </p:pic>
      <p:pic>
        <p:nvPicPr>
          <p:cNvPr id="6" name="Image 5">
            <a:extLst>
              <a:ext uri="{FF2B5EF4-FFF2-40B4-BE49-F238E27FC236}">
                <a16:creationId xmlns:a16="http://schemas.microsoft.com/office/drawing/2014/main" id="{CBA63679-2C04-DF42-A1C6-746FA7520B9D}"/>
              </a:ext>
            </a:extLst>
          </p:cNvPr>
          <p:cNvPicPr>
            <a:picLocks noChangeAspect="1"/>
          </p:cNvPicPr>
          <p:nvPr/>
        </p:nvPicPr>
        <p:blipFill>
          <a:blip r:embed="rId3"/>
          <a:stretch>
            <a:fillRect/>
          </a:stretch>
        </p:blipFill>
        <p:spPr>
          <a:xfrm>
            <a:off x="399921" y="1698656"/>
            <a:ext cx="3619763" cy="2483045"/>
          </a:xfrm>
          <a:prstGeom prst="rect">
            <a:avLst/>
          </a:prstGeom>
        </p:spPr>
      </p:pic>
      <p:sp>
        <p:nvSpPr>
          <p:cNvPr id="4" name="Espace réservé du numéro de diapositive 3">
            <a:extLst>
              <a:ext uri="{FF2B5EF4-FFF2-40B4-BE49-F238E27FC236}">
                <a16:creationId xmlns:a16="http://schemas.microsoft.com/office/drawing/2014/main" id="{2BFE902C-F05F-57D9-5E90-F14DBB522968}"/>
              </a:ext>
            </a:extLst>
          </p:cNvPr>
          <p:cNvSpPr>
            <a:spLocks noGrp="1"/>
          </p:cNvSpPr>
          <p:nvPr>
            <p:ph type="sldNum" sz="quarter" idx="12"/>
          </p:nvPr>
        </p:nvSpPr>
        <p:spPr/>
        <p:txBody>
          <a:bodyPr/>
          <a:lstStyle/>
          <a:p>
            <a:fld id="{B6E69D5D-3C54-E347-B3D4-70BDFA7C6521}" type="slidenum">
              <a:rPr lang="fr-FR" smtClean="0"/>
              <a:t>66</a:t>
            </a:fld>
            <a:endParaRPr lang="fr-FR"/>
          </a:p>
        </p:txBody>
      </p:sp>
    </p:spTree>
    <p:extLst>
      <p:ext uri="{BB962C8B-B14F-4D97-AF65-F5344CB8AC3E}">
        <p14:creationId xmlns:p14="http://schemas.microsoft.com/office/powerpoint/2010/main" val="36154722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67</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341833" y="1905502"/>
            <a:ext cx="7929332" cy="1694438"/>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a:p>
            <a:pPr algn="r">
              <a:lnSpc>
                <a:spcPct val="70000"/>
              </a:lnSpc>
            </a:pPr>
            <a:endParaRPr lang="fr-FR" sz="2100" i="1" dirty="0">
              <a:latin typeface="Arial"/>
              <a:cs typeface="Arial"/>
            </a:endParaRPr>
          </a:p>
          <a:p>
            <a:pPr algn="r"/>
            <a:r>
              <a:rPr lang="fr-FR" sz="2100" i="1" dirty="0">
                <a:latin typeface="Arial" panose="020B0604020202020204" pitchFamily="34" charset="0"/>
                <a:cs typeface="Arial" panose="020B0604020202020204" pitchFamily="34" charset="0"/>
              </a:rPr>
              <a:t>3. A </a:t>
            </a:r>
            <a:r>
              <a:rPr lang="fr-FR" sz="2100" i="1" dirty="0" err="1">
                <a:latin typeface="Arial" panose="020B0604020202020204" pitchFamily="34" charset="0"/>
                <a:cs typeface="Arial" panose="020B0604020202020204" pitchFamily="34" charset="0"/>
              </a:rPr>
              <a:t>disease</a:t>
            </a:r>
            <a:r>
              <a:rPr lang="fr-FR" sz="2100" i="1" dirty="0">
                <a:latin typeface="Arial" panose="020B0604020202020204" pitchFamily="34" charset="0"/>
                <a:cs typeface="Arial" panose="020B0604020202020204" pitchFamily="34" charset="0"/>
              </a:rPr>
              <a:t> course mapping model: How to use </a:t>
            </a:r>
            <a:r>
              <a:rPr lang="fr-FR" sz="2100" i="1" dirty="0" err="1">
                <a:latin typeface="Arial" panose="020B0604020202020204" pitchFamily="34" charset="0"/>
                <a:cs typeface="Arial" panose="020B0604020202020204" pitchFamily="34" charset="0"/>
              </a:rPr>
              <a:t>leaspy</a:t>
            </a:r>
            <a:r>
              <a:rPr lang="fr-FR" sz="2100" i="1" dirty="0">
                <a:latin typeface="Arial" panose="020B0604020202020204" pitchFamily="34" charset="0"/>
                <a:cs typeface="Arial" panose="020B0604020202020204" pitchFamily="34" charset="0"/>
              </a:rPr>
              <a:t> ?</a:t>
            </a: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4882647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TP2</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a:t>To </a:t>
            </a:r>
            <a:r>
              <a:rPr lang="fr-FR" dirty="0" err="1"/>
              <a:t>start</a:t>
            </a:r>
            <a:endParaRPr lang="fr-FR" dirty="0"/>
          </a:p>
        </p:txBody>
      </p:sp>
      <p:sp>
        <p:nvSpPr>
          <p:cNvPr id="4" name="Espace réservé du texte 3">
            <a:extLst>
              <a:ext uri="{FF2B5EF4-FFF2-40B4-BE49-F238E27FC236}">
                <a16:creationId xmlns:a16="http://schemas.microsoft.com/office/drawing/2014/main" id="{3736AD3D-F86D-5442-B960-3B0247BB1367}"/>
              </a:ext>
            </a:extLst>
          </p:cNvPr>
          <p:cNvSpPr>
            <a:spLocks noGrp="1"/>
          </p:cNvSpPr>
          <p:nvPr>
            <p:ph type="body" sz="quarter" idx="13"/>
          </p:nvPr>
        </p:nvSpPr>
        <p:spPr>
          <a:xfrm>
            <a:off x="476253" y="767566"/>
            <a:ext cx="8139110" cy="1384310"/>
          </a:xfrm>
        </p:spPr>
        <p:txBody>
          <a:bodyPr/>
          <a:lstStyle/>
          <a:p>
            <a:r>
              <a:rPr lang="fr-FR" sz="1500" dirty="0" err="1">
                <a:latin typeface="+mj-lt"/>
              </a:rPr>
              <a:t>Please</a:t>
            </a:r>
            <a:r>
              <a:rPr lang="fr-FR" sz="1500" dirty="0">
                <a:latin typeface="+mj-lt"/>
              </a:rPr>
              <a:t> </a:t>
            </a:r>
            <a:r>
              <a:rPr lang="fr-FR" sz="1500" dirty="0" err="1">
                <a:latin typeface="+mj-lt"/>
              </a:rPr>
              <a:t>follow</a:t>
            </a:r>
            <a:r>
              <a:rPr lang="fr-FR" sz="1500" dirty="0">
                <a:latin typeface="+mj-lt"/>
              </a:rPr>
              <a:t> the </a:t>
            </a:r>
            <a:r>
              <a:rPr lang="fr-FR" sz="1500" dirty="0" err="1">
                <a:latin typeface="+mj-lt"/>
              </a:rPr>
              <a:t>link</a:t>
            </a:r>
            <a:r>
              <a:rPr lang="fr-FR" sz="1500" dirty="0">
                <a:latin typeface="+mj-lt"/>
              </a:rPr>
              <a:t> </a:t>
            </a:r>
            <a:r>
              <a:rPr lang="fr-FR" sz="1500" dirty="0" err="1">
                <a:latin typeface="+mj-lt"/>
              </a:rPr>
              <a:t>below</a:t>
            </a:r>
            <a:r>
              <a:rPr lang="fr-FR" sz="1500" dirty="0">
                <a:latin typeface="+mj-lt"/>
              </a:rPr>
              <a:t> :</a:t>
            </a:r>
          </a:p>
          <a:p>
            <a:pPr algn="ctr"/>
            <a:r>
              <a:rPr lang="fr-FR" sz="1500" dirty="0">
                <a:latin typeface="+mj-lt"/>
                <a:hlinkClick r:id="rId2"/>
              </a:rPr>
              <a:t>https://colab.research.google.com/drive/1dCMa9In1ef9_Y3HKt8SeSzKf0-3CcxNt?usp=sharing</a:t>
            </a:r>
            <a:endParaRPr lang="fr-FR" sz="1500" dirty="0">
              <a:latin typeface="+mj-lt"/>
            </a:endParaRPr>
          </a:p>
          <a:p>
            <a:r>
              <a:rPr lang="fr-FR" sz="1500" dirty="0">
                <a:latin typeface="+mj-lt"/>
              </a:rPr>
              <a:t>And </a:t>
            </a:r>
            <a:r>
              <a:rPr lang="fr-FR" sz="1500" dirty="0" err="1">
                <a:latin typeface="+mj-lt"/>
              </a:rPr>
              <a:t>run</a:t>
            </a:r>
            <a:r>
              <a:rPr lang="fr-FR" sz="1500" dirty="0">
                <a:latin typeface="+mj-lt"/>
              </a:rPr>
              <a:t> the 3 first </a:t>
            </a:r>
            <a:r>
              <a:rPr lang="fr-FR" sz="1500" dirty="0" err="1">
                <a:latin typeface="+mj-lt"/>
              </a:rPr>
              <a:t>cells</a:t>
            </a:r>
            <a:r>
              <a:rPr lang="fr-FR" sz="1500" dirty="0">
                <a:latin typeface="+mj-lt"/>
              </a:rPr>
              <a:t> :</a:t>
            </a:r>
          </a:p>
        </p:txBody>
      </p:sp>
      <p:pic>
        <p:nvPicPr>
          <p:cNvPr id="5" name="Image 4">
            <a:extLst>
              <a:ext uri="{FF2B5EF4-FFF2-40B4-BE49-F238E27FC236}">
                <a16:creationId xmlns:a16="http://schemas.microsoft.com/office/drawing/2014/main" id="{FC5C18F7-94AB-E87C-2DC2-A4C1C28ADA86}"/>
              </a:ext>
            </a:extLst>
          </p:cNvPr>
          <p:cNvPicPr>
            <a:picLocks noChangeAspect="1"/>
          </p:cNvPicPr>
          <p:nvPr/>
        </p:nvPicPr>
        <p:blipFill>
          <a:blip r:embed="rId3"/>
          <a:stretch>
            <a:fillRect/>
          </a:stretch>
        </p:blipFill>
        <p:spPr>
          <a:xfrm>
            <a:off x="295382" y="2803086"/>
            <a:ext cx="8408836" cy="1744298"/>
          </a:xfrm>
          <a:prstGeom prst="rect">
            <a:avLst/>
          </a:prstGeom>
        </p:spPr>
      </p:pic>
      <p:sp>
        <p:nvSpPr>
          <p:cNvPr id="6" name="Espace réservé du numéro de diapositive 5">
            <a:extLst>
              <a:ext uri="{FF2B5EF4-FFF2-40B4-BE49-F238E27FC236}">
                <a16:creationId xmlns:a16="http://schemas.microsoft.com/office/drawing/2014/main" id="{76E8A225-7A72-6DD6-A9CE-F15BF2AD9697}"/>
              </a:ext>
            </a:extLst>
          </p:cNvPr>
          <p:cNvSpPr>
            <a:spLocks noGrp="1"/>
          </p:cNvSpPr>
          <p:nvPr>
            <p:ph type="sldNum" sz="quarter" idx="12"/>
          </p:nvPr>
        </p:nvSpPr>
        <p:spPr/>
        <p:txBody>
          <a:bodyPr/>
          <a:lstStyle/>
          <a:p>
            <a:fld id="{B6E69D5D-3C54-E347-B3D4-70BDFA7C6521}" type="slidenum">
              <a:rPr lang="fr-FR" smtClean="0"/>
              <a:t>68</a:t>
            </a:fld>
            <a:endParaRPr lang="fr-FR"/>
          </a:p>
        </p:txBody>
      </p:sp>
    </p:spTree>
    <p:extLst>
      <p:ext uri="{BB962C8B-B14F-4D97-AF65-F5344CB8AC3E}">
        <p14:creationId xmlns:p14="http://schemas.microsoft.com/office/powerpoint/2010/main" val="9673811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BD8F614-7CFD-9D45-A94D-386BD0147F02}"/>
              </a:ext>
            </a:extLst>
          </p:cNvPr>
          <p:cNvSpPr>
            <a:spLocks noGrp="1"/>
          </p:cNvSpPr>
          <p:nvPr>
            <p:ph type="body" sz="quarter" idx="10"/>
          </p:nvPr>
        </p:nvSpPr>
        <p:spPr/>
        <p:txBody>
          <a:bodyPr/>
          <a:lstStyle/>
          <a:p>
            <a:r>
              <a:rPr lang="fr-FR" dirty="0"/>
              <a:t>TP2</a:t>
            </a:r>
          </a:p>
        </p:txBody>
      </p:sp>
      <p:sp>
        <p:nvSpPr>
          <p:cNvPr id="4" name="Espace réservé du texte 3">
            <a:extLst>
              <a:ext uri="{FF2B5EF4-FFF2-40B4-BE49-F238E27FC236}">
                <a16:creationId xmlns:a16="http://schemas.microsoft.com/office/drawing/2014/main" id="{2C97CB63-9F62-E741-8494-F8A82FC30D71}"/>
              </a:ext>
            </a:extLst>
          </p:cNvPr>
          <p:cNvSpPr>
            <a:spLocks noGrp="1"/>
          </p:cNvSpPr>
          <p:nvPr>
            <p:ph type="body" sz="quarter" idx="13"/>
          </p:nvPr>
        </p:nvSpPr>
        <p:spPr>
          <a:xfrm>
            <a:off x="4959110" y="2522448"/>
            <a:ext cx="1452649" cy="460810"/>
          </a:xfrm>
        </p:spPr>
        <p:txBody>
          <a:bodyPr/>
          <a:lstStyle/>
          <a:p>
            <a:pPr algn="ctr">
              <a:lnSpc>
                <a:spcPct val="100000"/>
              </a:lnSpc>
            </a:pPr>
            <a:r>
              <a:rPr lang="fr-FR" sz="1200" dirty="0">
                <a:solidFill>
                  <a:srgbClr val="7030A0"/>
                </a:solidFill>
                <a:latin typeface="+mj-lt"/>
              </a:rPr>
              <a:t>IV. Application: </a:t>
            </a:r>
            <a:r>
              <a:rPr lang="fr-FR" sz="1200" dirty="0" err="1">
                <a:solidFill>
                  <a:srgbClr val="7030A0"/>
                </a:solidFill>
                <a:latin typeface="+mj-lt"/>
              </a:rPr>
              <a:t>cofactor</a:t>
            </a:r>
            <a:r>
              <a:rPr lang="fr-FR" sz="1200" dirty="0">
                <a:solidFill>
                  <a:srgbClr val="7030A0"/>
                </a:solidFill>
                <a:latin typeface="+mj-lt"/>
              </a:rPr>
              <a:t> </a:t>
            </a:r>
            <a:r>
              <a:rPr lang="fr-FR" sz="1200" dirty="0" err="1">
                <a:solidFill>
                  <a:srgbClr val="7030A0"/>
                </a:solidFill>
                <a:latin typeface="+mj-lt"/>
              </a:rPr>
              <a:t>analysis</a:t>
            </a:r>
            <a:endParaRPr lang="fr-FR" sz="1200" dirty="0">
              <a:solidFill>
                <a:srgbClr val="7030A0"/>
              </a:solidFill>
              <a:latin typeface="+mj-lt"/>
            </a:endParaRPr>
          </a:p>
        </p:txBody>
      </p:sp>
      <p:sp>
        <p:nvSpPr>
          <p:cNvPr id="13" name="Espace réservé du texte 3">
            <a:extLst>
              <a:ext uri="{FF2B5EF4-FFF2-40B4-BE49-F238E27FC236}">
                <a16:creationId xmlns:a16="http://schemas.microsoft.com/office/drawing/2014/main" id="{51A4CC4A-4A37-5E43-B232-46F889373F5F}"/>
              </a:ext>
            </a:extLst>
          </p:cNvPr>
          <p:cNvSpPr txBox="1">
            <a:spLocks/>
          </p:cNvSpPr>
          <p:nvPr/>
        </p:nvSpPr>
        <p:spPr>
          <a:xfrm>
            <a:off x="399675" y="614968"/>
            <a:ext cx="7393842" cy="607214"/>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a:latin typeface="+mj-lt"/>
              </a:rPr>
              <a:t>Objectives : </a:t>
            </a:r>
            <a:r>
              <a:rPr lang="fr-FR" sz="2100" dirty="0" err="1">
                <a:latin typeface="+mj-lt"/>
              </a:rPr>
              <a:t>Learn</a:t>
            </a:r>
            <a:r>
              <a:rPr lang="fr-FR" sz="2100" dirty="0">
                <a:latin typeface="+mj-lt"/>
              </a:rPr>
              <a:t> to use </a:t>
            </a:r>
            <a:r>
              <a:rPr lang="fr-FR" sz="2100" dirty="0" err="1">
                <a:latin typeface="+mj-lt"/>
              </a:rPr>
              <a:t>Leaspy</a:t>
            </a:r>
            <a:r>
              <a:rPr lang="fr-FR" sz="2100" dirty="0">
                <a:latin typeface="+mj-lt"/>
              </a:rPr>
              <a:t> </a:t>
            </a:r>
            <a:r>
              <a:rPr lang="fr-FR" sz="2100" dirty="0" err="1">
                <a:latin typeface="+mj-lt"/>
              </a:rPr>
              <a:t>methods</a:t>
            </a:r>
            <a:endParaRPr lang="fr-FR" sz="2100" dirty="0">
              <a:latin typeface="+mj-lt"/>
            </a:endParaRPr>
          </a:p>
        </p:txBody>
      </p:sp>
      <p:sp>
        <p:nvSpPr>
          <p:cNvPr id="14" name="Espace réservé du texte 3">
            <a:extLst>
              <a:ext uri="{FF2B5EF4-FFF2-40B4-BE49-F238E27FC236}">
                <a16:creationId xmlns:a16="http://schemas.microsoft.com/office/drawing/2014/main" id="{A19397C4-62A5-CF40-B9F5-33629FBFD8F2}"/>
              </a:ext>
            </a:extLst>
          </p:cNvPr>
          <p:cNvSpPr txBox="1">
            <a:spLocks/>
          </p:cNvSpPr>
          <p:nvPr/>
        </p:nvSpPr>
        <p:spPr>
          <a:xfrm>
            <a:off x="2422680" y="4076290"/>
            <a:ext cx="570597" cy="467283"/>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fr-FR" sz="1200" dirty="0">
                <a:solidFill>
                  <a:srgbClr val="7030A0"/>
                </a:solidFill>
                <a:latin typeface="+mj-lt"/>
              </a:rPr>
              <a:t>I. Fit</a:t>
            </a:r>
          </a:p>
        </p:txBody>
      </p:sp>
      <p:sp>
        <p:nvSpPr>
          <p:cNvPr id="11" name="Rectangle 10">
            <a:extLst>
              <a:ext uri="{FF2B5EF4-FFF2-40B4-BE49-F238E27FC236}">
                <a16:creationId xmlns:a16="http://schemas.microsoft.com/office/drawing/2014/main" id="{43095D11-A0BD-AC46-99CD-0FEB180AFD38}"/>
              </a:ext>
            </a:extLst>
          </p:cNvPr>
          <p:cNvSpPr/>
          <p:nvPr/>
        </p:nvSpPr>
        <p:spPr>
          <a:xfrm>
            <a:off x="5411379" y="3356429"/>
            <a:ext cx="1320361" cy="276999"/>
          </a:xfrm>
          <a:prstGeom prst="rect">
            <a:avLst/>
          </a:prstGeom>
        </p:spPr>
        <p:txBody>
          <a:bodyPr wrap="none">
            <a:spAutoFit/>
          </a:bodyPr>
          <a:lstStyle/>
          <a:p>
            <a:pPr algn="just"/>
            <a:r>
              <a:rPr lang="fr-FR" sz="1200" dirty="0">
                <a:solidFill>
                  <a:srgbClr val="7030A0"/>
                </a:solidFill>
                <a:latin typeface="+mj-lt"/>
              </a:rPr>
              <a:t>V. Data Simulation</a:t>
            </a:r>
          </a:p>
        </p:txBody>
      </p:sp>
      <p:sp>
        <p:nvSpPr>
          <p:cNvPr id="17" name="Rectangle 16">
            <a:extLst>
              <a:ext uri="{FF2B5EF4-FFF2-40B4-BE49-F238E27FC236}">
                <a16:creationId xmlns:a16="http://schemas.microsoft.com/office/drawing/2014/main" id="{C859479B-5101-3344-9C18-37F3DF6D4825}"/>
              </a:ext>
            </a:extLst>
          </p:cNvPr>
          <p:cNvSpPr/>
          <p:nvPr/>
        </p:nvSpPr>
        <p:spPr>
          <a:xfrm>
            <a:off x="2077783" y="1601202"/>
            <a:ext cx="1041119" cy="276999"/>
          </a:xfrm>
          <a:prstGeom prst="rect">
            <a:avLst/>
          </a:prstGeom>
        </p:spPr>
        <p:txBody>
          <a:bodyPr wrap="none">
            <a:spAutoFit/>
          </a:bodyPr>
          <a:lstStyle/>
          <a:p>
            <a:r>
              <a:rPr lang="fr-FR" sz="1200" dirty="0">
                <a:solidFill>
                  <a:srgbClr val="7030A0"/>
                </a:solidFill>
                <a:latin typeface="+mj-lt"/>
              </a:rPr>
              <a:t>II. </a:t>
            </a:r>
            <a:r>
              <a:rPr lang="fr-FR" sz="1200" dirty="0" err="1">
                <a:solidFill>
                  <a:srgbClr val="7030A0"/>
                </a:solidFill>
                <a:latin typeface="+mj-lt"/>
              </a:rPr>
              <a:t>Personalize</a:t>
            </a:r>
            <a:endParaRPr lang="fr-FR" sz="1200" dirty="0">
              <a:solidFill>
                <a:srgbClr val="7030A0"/>
              </a:solidFill>
              <a:latin typeface="+mj-lt"/>
            </a:endParaRPr>
          </a:p>
        </p:txBody>
      </p:sp>
      <p:sp>
        <p:nvSpPr>
          <p:cNvPr id="19" name="Espace réservé du texte 3">
            <a:extLst>
              <a:ext uri="{FF2B5EF4-FFF2-40B4-BE49-F238E27FC236}">
                <a16:creationId xmlns:a16="http://schemas.microsoft.com/office/drawing/2014/main" id="{A543108E-2C82-4443-B744-B4E928FE12BB}"/>
              </a:ext>
            </a:extLst>
          </p:cNvPr>
          <p:cNvSpPr txBox="1">
            <a:spLocks/>
          </p:cNvSpPr>
          <p:nvPr/>
        </p:nvSpPr>
        <p:spPr>
          <a:xfrm>
            <a:off x="4264987" y="1767528"/>
            <a:ext cx="1427711" cy="224446"/>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lnSpc>
                <a:spcPct val="100000"/>
              </a:lnSpc>
            </a:pPr>
            <a:r>
              <a:rPr lang="fr-FR" sz="1200" dirty="0">
                <a:solidFill>
                  <a:srgbClr val="7030A0"/>
                </a:solidFill>
                <a:latin typeface="+mj-lt"/>
              </a:rPr>
              <a:t>III. Impute &amp; </a:t>
            </a:r>
            <a:r>
              <a:rPr lang="fr-FR" sz="1200" dirty="0" err="1">
                <a:solidFill>
                  <a:srgbClr val="7030A0"/>
                </a:solidFill>
                <a:latin typeface="+mj-lt"/>
              </a:rPr>
              <a:t>predict</a:t>
            </a:r>
            <a:endParaRPr lang="fr-FR" sz="1200" dirty="0">
              <a:solidFill>
                <a:srgbClr val="7030A0"/>
              </a:solidFill>
              <a:latin typeface="+mj-lt"/>
            </a:endParaRPr>
          </a:p>
        </p:txBody>
      </p:sp>
      <p:pic>
        <p:nvPicPr>
          <p:cNvPr id="2052" name="Picture 4" descr="icône engrenage définition symbole logo modèle : image vectorielle de stock  (libre de droits) 1677229720">
            <a:extLst>
              <a:ext uri="{FF2B5EF4-FFF2-40B4-BE49-F238E27FC236}">
                <a16:creationId xmlns:a16="http://schemas.microsoft.com/office/drawing/2014/main" id="{45C6FEC0-0DBE-6F45-AE27-B3A968C02C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328" t="29384" r="29037" b="35532"/>
          <a:stretch/>
        </p:blipFill>
        <p:spPr bwMode="auto">
          <a:xfrm>
            <a:off x="2998842" y="3608280"/>
            <a:ext cx="669130" cy="60721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rowing Graph Line Icon, Business Chart Outline Vector Logo Stock Vector -  Illustration of outline, report: 95306517">
            <a:extLst>
              <a:ext uri="{FF2B5EF4-FFF2-40B4-BE49-F238E27FC236}">
                <a16:creationId xmlns:a16="http://schemas.microsoft.com/office/drawing/2014/main" id="{FEC0A6E4-8FC5-BC4C-95D8-6866C4E290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336" t="20828" r="21128" b="18949"/>
          <a:stretch/>
        </p:blipFill>
        <p:spPr bwMode="auto">
          <a:xfrm>
            <a:off x="6282042" y="2476992"/>
            <a:ext cx="676694" cy="73379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mazon Database Logo PNG Transparent &amp;amp; SVG Vector - Freebie Supply">
            <a:extLst>
              <a:ext uri="{FF2B5EF4-FFF2-40B4-BE49-F238E27FC236}">
                <a16:creationId xmlns:a16="http://schemas.microsoft.com/office/drawing/2014/main" id="{082846C3-3E9B-CB4F-BC06-708137EF81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2708" y="3480535"/>
            <a:ext cx="829397" cy="82939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Amazon Database Logo PNG Transparent &amp;amp; SVG Vector - Freebie Supply">
            <a:extLst>
              <a:ext uri="{FF2B5EF4-FFF2-40B4-BE49-F238E27FC236}">
                <a16:creationId xmlns:a16="http://schemas.microsoft.com/office/drawing/2014/main" id="{429F0A97-C623-4F4B-BC82-FD5162A4E1E3}"/>
              </a:ext>
            </a:extLst>
          </p:cNvPr>
          <p:cNvPicPr>
            <a:picLocks noChangeAspect="1" noChangeArrowheads="1"/>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340008" y="3687740"/>
            <a:ext cx="607214" cy="60721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Amazon Database Logo PNG Transparent &amp;amp; SVG Vector - Freebie Supply">
            <a:extLst>
              <a:ext uri="{FF2B5EF4-FFF2-40B4-BE49-F238E27FC236}">
                <a16:creationId xmlns:a16="http://schemas.microsoft.com/office/drawing/2014/main" id="{28A7ADCF-3FF9-6C49-9341-FA013C7FD316}"/>
              </a:ext>
            </a:extLst>
          </p:cNvPr>
          <p:cNvPicPr>
            <a:picLocks noChangeAspect="1"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1527203" y="2009654"/>
            <a:ext cx="607214" cy="60721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Amazon Database Logo PNG Transparent &amp;amp; SVG Vector - Freebie Supply">
            <a:extLst>
              <a:ext uri="{FF2B5EF4-FFF2-40B4-BE49-F238E27FC236}">
                <a16:creationId xmlns:a16="http://schemas.microsoft.com/office/drawing/2014/main" id="{B2841FD1-A5B0-E54D-8E5E-DB219B8194DA}"/>
              </a:ext>
            </a:extLst>
          </p:cNvPr>
          <p:cNvPicPr>
            <a:picLocks noChangeAspect="1" noChangeArrowheads="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307816" y="1208006"/>
            <a:ext cx="607214" cy="60721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Amazon Database Logo PNG Transparent &amp;amp; SVG Vector - Freebie Supply">
            <a:extLst>
              <a:ext uri="{FF2B5EF4-FFF2-40B4-BE49-F238E27FC236}">
                <a16:creationId xmlns:a16="http://schemas.microsoft.com/office/drawing/2014/main" id="{D70FC9CF-B8FE-104B-A72D-B6D269CF8E28}"/>
              </a:ext>
            </a:extLst>
          </p:cNvPr>
          <p:cNvPicPr>
            <a:picLocks noChangeAspect="1" noChangeArrowheads="1"/>
          </p:cNvPicPr>
          <p:nvPr/>
        </p:nvPicPr>
        <p:blipFill>
          <a:blip r:embed="rId5">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3091217" y="2019285"/>
            <a:ext cx="607214" cy="607214"/>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C3201239-68FC-5C4D-8E1A-5CC430889DA5}"/>
              </a:ext>
            </a:extLst>
          </p:cNvPr>
          <p:cNvSpPr/>
          <p:nvPr/>
        </p:nvSpPr>
        <p:spPr>
          <a:xfrm>
            <a:off x="3018844" y="2609884"/>
            <a:ext cx="726482" cy="369332"/>
          </a:xfrm>
          <a:prstGeom prst="rect">
            <a:avLst/>
          </a:prstGeom>
        </p:spPr>
        <p:txBody>
          <a:bodyPr wrap="none">
            <a:spAutoFit/>
          </a:bodyPr>
          <a:lstStyle/>
          <a:p>
            <a:pPr algn="ctr"/>
            <a:r>
              <a:rPr lang="fr-FR" sz="900" i="1" dirty="0" err="1">
                <a:latin typeface="+mj-lt"/>
              </a:rPr>
              <a:t>Individual</a:t>
            </a:r>
            <a:r>
              <a:rPr lang="fr-FR" sz="900" i="1" dirty="0">
                <a:latin typeface="+mj-lt"/>
              </a:rPr>
              <a:t> </a:t>
            </a:r>
          </a:p>
          <a:p>
            <a:pPr algn="ctr"/>
            <a:r>
              <a:rPr lang="fr-FR" sz="900" i="1" dirty="0" err="1">
                <a:latin typeface="+mj-lt"/>
              </a:rPr>
              <a:t>parameters</a:t>
            </a:r>
            <a:endParaRPr lang="fr-FR" sz="900" i="1" dirty="0">
              <a:latin typeface="+mj-lt"/>
            </a:endParaRPr>
          </a:p>
        </p:txBody>
      </p:sp>
      <p:sp>
        <p:nvSpPr>
          <p:cNvPr id="43" name="Rectangle 42">
            <a:extLst>
              <a:ext uri="{FF2B5EF4-FFF2-40B4-BE49-F238E27FC236}">
                <a16:creationId xmlns:a16="http://schemas.microsoft.com/office/drawing/2014/main" id="{C0B3301F-8BF6-A648-AFD4-EC2057ECBA0D}"/>
              </a:ext>
            </a:extLst>
          </p:cNvPr>
          <p:cNvSpPr/>
          <p:nvPr/>
        </p:nvSpPr>
        <p:spPr>
          <a:xfrm>
            <a:off x="6177650" y="1814570"/>
            <a:ext cx="867545" cy="230832"/>
          </a:xfrm>
          <a:prstGeom prst="rect">
            <a:avLst/>
          </a:prstGeom>
        </p:spPr>
        <p:txBody>
          <a:bodyPr wrap="none">
            <a:spAutoFit/>
          </a:bodyPr>
          <a:lstStyle/>
          <a:p>
            <a:pPr algn="ctr"/>
            <a:r>
              <a:rPr lang="fr-FR" sz="900" i="1" dirty="0" err="1">
                <a:latin typeface="+mj-lt"/>
              </a:rPr>
              <a:t>Predicted</a:t>
            </a:r>
            <a:r>
              <a:rPr lang="fr-FR" sz="900" i="1" dirty="0">
                <a:latin typeface="+mj-lt"/>
              </a:rPr>
              <a:t> data</a:t>
            </a:r>
          </a:p>
        </p:txBody>
      </p:sp>
      <p:sp>
        <p:nvSpPr>
          <p:cNvPr id="26" name="Rectangle 25">
            <a:extLst>
              <a:ext uri="{FF2B5EF4-FFF2-40B4-BE49-F238E27FC236}">
                <a16:creationId xmlns:a16="http://schemas.microsoft.com/office/drawing/2014/main" id="{2FDEFB80-99BE-F54F-B999-CE4BBE3E2A3B}"/>
              </a:ext>
            </a:extLst>
          </p:cNvPr>
          <p:cNvSpPr/>
          <p:nvPr/>
        </p:nvSpPr>
        <p:spPr>
          <a:xfrm>
            <a:off x="6234959" y="4295959"/>
            <a:ext cx="896399" cy="230832"/>
          </a:xfrm>
          <a:prstGeom prst="rect">
            <a:avLst/>
          </a:prstGeom>
        </p:spPr>
        <p:txBody>
          <a:bodyPr wrap="none">
            <a:spAutoFit/>
          </a:bodyPr>
          <a:lstStyle/>
          <a:p>
            <a:pPr algn="ctr"/>
            <a:r>
              <a:rPr lang="fr-FR" sz="900" i="1" dirty="0" err="1">
                <a:latin typeface="+mj-lt"/>
              </a:rPr>
              <a:t>Simulated</a:t>
            </a:r>
            <a:r>
              <a:rPr lang="fr-FR" sz="900" i="1" dirty="0">
                <a:latin typeface="+mj-lt"/>
              </a:rPr>
              <a:t> data</a:t>
            </a:r>
          </a:p>
        </p:txBody>
      </p:sp>
      <p:sp>
        <p:nvSpPr>
          <p:cNvPr id="27" name="Rectangle 26">
            <a:extLst>
              <a:ext uri="{FF2B5EF4-FFF2-40B4-BE49-F238E27FC236}">
                <a16:creationId xmlns:a16="http://schemas.microsoft.com/office/drawing/2014/main" id="{F32D032D-260B-3A4A-9AE5-9DE803860954}"/>
              </a:ext>
            </a:extLst>
          </p:cNvPr>
          <p:cNvSpPr/>
          <p:nvPr/>
        </p:nvSpPr>
        <p:spPr>
          <a:xfrm>
            <a:off x="1476402" y="4344773"/>
            <a:ext cx="668774" cy="230832"/>
          </a:xfrm>
          <a:prstGeom prst="rect">
            <a:avLst/>
          </a:prstGeom>
        </p:spPr>
        <p:txBody>
          <a:bodyPr wrap="none">
            <a:spAutoFit/>
          </a:bodyPr>
          <a:lstStyle/>
          <a:p>
            <a:pPr algn="ctr"/>
            <a:r>
              <a:rPr lang="fr-FR" sz="900" i="1" dirty="0">
                <a:latin typeface="+mj-lt"/>
              </a:rPr>
              <a:t>Train data</a:t>
            </a:r>
          </a:p>
        </p:txBody>
      </p:sp>
      <p:sp>
        <p:nvSpPr>
          <p:cNvPr id="28" name="Rectangle 27">
            <a:extLst>
              <a:ext uri="{FF2B5EF4-FFF2-40B4-BE49-F238E27FC236}">
                <a16:creationId xmlns:a16="http://schemas.microsoft.com/office/drawing/2014/main" id="{298EEB00-868A-E04F-95AA-557673750673}"/>
              </a:ext>
            </a:extLst>
          </p:cNvPr>
          <p:cNvSpPr/>
          <p:nvPr/>
        </p:nvSpPr>
        <p:spPr>
          <a:xfrm>
            <a:off x="1507064" y="2624930"/>
            <a:ext cx="620684" cy="230832"/>
          </a:xfrm>
          <a:prstGeom prst="rect">
            <a:avLst/>
          </a:prstGeom>
        </p:spPr>
        <p:txBody>
          <a:bodyPr wrap="none">
            <a:spAutoFit/>
          </a:bodyPr>
          <a:lstStyle/>
          <a:p>
            <a:pPr algn="ctr"/>
            <a:r>
              <a:rPr lang="fr-FR" sz="900" i="1" dirty="0">
                <a:latin typeface="+mj-lt"/>
              </a:rPr>
              <a:t>Test data</a:t>
            </a:r>
          </a:p>
        </p:txBody>
      </p:sp>
      <p:sp>
        <p:nvSpPr>
          <p:cNvPr id="29" name="Rectangle 28">
            <a:extLst>
              <a:ext uri="{FF2B5EF4-FFF2-40B4-BE49-F238E27FC236}">
                <a16:creationId xmlns:a16="http://schemas.microsoft.com/office/drawing/2014/main" id="{3E081745-8C2D-A249-9B28-8643B5E90E19}"/>
              </a:ext>
            </a:extLst>
          </p:cNvPr>
          <p:cNvSpPr/>
          <p:nvPr/>
        </p:nvSpPr>
        <p:spPr>
          <a:xfrm>
            <a:off x="2937322" y="4178357"/>
            <a:ext cx="819455" cy="230832"/>
          </a:xfrm>
          <a:prstGeom prst="rect">
            <a:avLst/>
          </a:prstGeom>
        </p:spPr>
        <p:txBody>
          <a:bodyPr wrap="none">
            <a:spAutoFit/>
          </a:bodyPr>
          <a:lstStyle/>
          <a:p>
            <a:pPr algn="ctr"/>
            <a:r>
              <a:rPr lang="fr-FR" sz="900" i="1" dirty="0" err="1">
                <a:latin typeface="+mj-lt"/>
              </a:rPr>
              <a:t>Leaspy</a:t>
            </a:r>
            <a:r>
              <a:rPr lang="fr-FR" sz="900" i="1" dirty="0">
                <a:latin typeface="+mj-lt"/>
              </a:rPr>
              <a:t> model</a:t>
            </a:r>
          </a:p>
        </p:txBody>
      </p:sp>
      <p:pic>
        <p:nvPicPr>
          <p:cNvPr id="1026" name="Picture 2" descr="Plus Minus Logo Images, Stock Photos &amp;amp; Vectors | Shutterstock">
            <a:extLst>
              <a:ext uri="{FF2B5EF4-FFF2-40B4-BE49-F238E27FC236}">
                <a16:creationId xmlns:a16="http://schemas.microsoft.com/office/drawing/2014/main" id="{BBF9956B-2EA2-C34C-B77E-C25C6C78671E}"/>
              </a:ext>
            </a:extLst>
          </p:cNvPr>
          <p:cNvPicPr>
            <a:picLocks noChangeAspect="1" noChangeArrowheads="1"/>
          </p:cNvPicPr>
          <p:nvPr/>
        </p:nvPicPr>
        <p:blipFill rotWithShape="1">
          <a:blip r:embed="rId6">
            <a:duotone>
              <a:schemeClr val="accent5">
                <a:shade val="45000"/>
                <a:satMod val="135000"/>
              </a:schemeClr>
              <a:prstClr val="white"/>
            </a:duotone>
            <a:extLst>
              <a:ext uri="{28A0092B-C50C-407E-A947-70E740481C1C}">
                <a14:useLocalDpi xmlns:a14="http://schemas.microsoft.com/office/drawing/2010/main" val="0"/>
              </a:ext>
            </a:extLst>
          </a:blip>
          <a:srcRect l="10047" t="19239" r="55129" b="28418"/>
          <a:stretch/>
        </p:blipFill>
        <p:spPr bwMode="auto">
          <a:xfrm>
            <a:off x="4462792" y="2852781"/>
            <a:ext cx="365534" cy="378913"/>
          </a:xfrm>
          <a:prstGeom prst="rect">
            <a:avLst/>
          </a:prstGeom>
          <a:noFill/>
          <a:extLst>
            <a:ext uri="{909E8E84-426E-40DD-AFC4-6F175D3DCCD1}">
              <a14:hiddenFill xmlns:a14="http://schemas.microsoft.com/office/drawing/2010/main">
                <a:solidFill>
                  <a:srgbClr val="FFFFFF"/>
                </a:solidFill>
              </a14:hiddenFill>
            </a:ext>
          </a:extLst>
        </p:spPr>
      </p:pic>
      <p:sp>
        <p:nvSpPr>
          <p:cNvPr id="35" name="Espace réservé du texte 2">
            <a:extLst>
              <a:ext uri="{FF2B5EF4-FFF2-40B4-BE49-F238E27FC236}">
                <a16:creationId xmlns:a16="http://schemas.microsoft.com/office/drawing/2014/main" id="{15D7DC3C-2037-C84D-8736-69397E8CB610}"/>
              </a:ext>
            </a:extLst>
          </p:cNvPr>
          <p:cNvSpPr>
            <a:spLocks noGrp="1"/>
          </p:cNvSpPr>
          <p:nvPr>
            <p:ph type="body" sz="quarter" idx="11"/>
          </p:nvPr>
        </p:nvSpPr>
        <p:spPr>
          <a:xfrm>
            <a:off x="2209802" y="238125"/>
            <a:ext cx="1514475" cy="285750"/>
          </a:xfrm>
        </p:spPr>
        <p:txBody>
          <a:bodyPr/>
          <a:lstStyle/>
          <a:p>
            <a:r>
              <a:rPr lang="fr-FR" dirty="0"/>
              <a:t>Introduction</a:t>
            </a:r>
          </a:p>
        </p:txBody>
      </p:sp>
      <p:cxnSp>
        <p:nvCxnSpPr>
          <p:cNvPr id="6" name="Connecteur droit avec flèche 5">
            <a:extLst>
              <a:ext uri="{FF2B5EF4-FFF2-40B4-BE49-F238E27FC236}">
                <a16:creationId xmlns:a16="http://schemas.microsoft.com/office/drawing/2014/main" id="{85466F98-93D0-B143-A053-F4A42F33587E}"/>
              </a:ext>
            </a:extLst>
          </p:cNvPr>
          <p:cNvCxnSpPr/>
          <p:nvPr/>
        </p:nvCxnSpPr>
        <p:spPr>
          <a:xfrm>
            <a:off x="2232105" y="2322892"/>
            <a:ext cx="73159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0527550-E9F0-E748-A618-8B61049F3789}"/>
              </a:ext>
            </a:extLst>
          </p:cNvPr>
          <p:cNvCxnSpPr/>
          <p:nvPr/>
        </p:nvCxnSpPr>
        <p:spPr>
          <a:xfrm>
            <a:off x="2208438" y="3934212"/>
            <a:ext cx="73159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7BAAEC85-516C-C940-9EFF-322D364A0EAC}"/>
              </a:ext>
            </a:extLst>
          </p:cNvPr>
          <p:cNvCxnSpPr>
            <a:cxnSpLocks/>
          </p:cNvCxnSpPr>
          <p:nvPr/>
        </p:nvCxnSpPr>
        <p:spPr>
          <a:xfrm>
            <a:off x="3734436" y="2323390"/>
            <a:ext cx="728357" cy="6160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B83EDA9B-9EB9-E140-B906-C4E3E5ECD14E}"/>
              </a:ext>
            </a:extLst>
          </p:cNvPr>
          <p:cNvCxnSpPr>
            <a:cxnSpLocks/>
          </p:cNvCxnSpPr>
          <p:nvPr/>
        </p:nvCxnSpPr>
        <p:spPr>
          <a:xfrm flipV="1">
            <a:off x="3730400" y="3154642"/>
            <a:ext cx="732393" cy="6633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CC6566BB-7D46-954A-B4F2-7832AA9404EB}"/>
              </a:ext>
            </a:extLst>
          </p:cNvPr>
          <p:cNvCxnSpPr>
            <a:cxnSpLocks/>
          </p:cNvCxnSpPr>
          <p:nvPr/>
        </p:nvCxnSpPr>
        <p:spPr>
          <a:xfrm>
            <a:off x="4857837" y="3042237"/>
            <a:ext cx="134799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7E782285-5170-E241-BCCD-2D641C27356B}"/>
              </a:ext>
            </a:extLst>
          </p:cNvPr>
          <p:cNvCxnSpPr>
            <a:cxnSpLocks/>
          </p:cNvCxnSpPr>
          <p:nvPr/>
        </p:nvCxnSpPr>
        <p:spPr>
          <a:xfrm flipV="1">
            <a:off x="4828326" y="1664692"/>
            <a:ext cx="1339994" cy="12431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A5E7468D-8E63-7744-8EDA-00D7D0790BE8}"/>
              </a:ext>
            </a:extLst>
          </p:cNvPr>
          <p:cNvCxnSpPr>
            <a:cxnSpLocks/>
          </p:cNvCxnSpPr>
          <p:nvPr/>
        </p:nvCxnSpPr>
        <p:spPr>
          <a:xfrm>
            <a:off x="4789710" y="3210783"/>
            <a:ext cx="1416121" cy="8655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4265ECD2-D0D7-494E-AAD7-56F529A22702}"/>
              </a:ext>
            </a:extLst>
          </p:cNvPr>
          <p:cNvCxnSpPr>
            <a:cxnSpLocks/>
            <a:stCxn id="2052" idx="0"/>
          </p:cNvCxnSpPr>
          <p:nvPr/>
        </p:nvCxnSpPr>
        <p:spPr>
          <a:xfrm flipV="1">
            <a:off x="3333407" y="3042237"/>
            <a:ext cx="0" cy="5660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3CEE8E51-214D-712E-2CCE-5D91E9A3AC40}"/>
              </a:ext>
            </a:extLst>
          </p:cNvPr>
          <p:cNvSpPr>
            <a:spLocks noGrp="1"/>
          </p:cNvSpPr>
          <p:nvPr>
            <p:ph type="sldNum" sz="quarter" idx="12"/>
          </p:nvPr>
        </p:nvSpPr>
        <p:spPr/>
        <p:txBody>
          <a:bodyPr/>
          <a:lstStyle/>
          <a:p>
            <a:fld id="{B6E69D5D-3C54-E347-B3D4-70BDFA7C6521}" type="slidenum">
              <a:rPr lang="fr-FR" smtClean="0"/>
              <a:t>69</a:t>
            </a:fld>
            <a:endParaRPr lang="fr-FR"/>
          </a:p>
        </p:txBody>
      </p:sp>
    </p:spTree>
    <p:extLst>
      <p:ext uri="{BB962C8B-B14F-4D97-AF65-F5344CB8AC3E}">
        <p14:creationId xmlns:p14="http://schemas.microsoft.com/office/powerpoint/2010/main" val="161985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5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4" grpId="0"/>
      <p:bldP spid="11" grpId="0"/>
      <p:bldP spid="17" grpId="0"/>
      <p:bldP spid="19" grpId="0"/>
      <p:bldP spid="42" grpId="0"/>
      <p:bldP spid="43" grpId="0"/>
      <p:bldP spid="26" grpId="0"/>
      <p:bldP spid="2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B7C55C-53EF-C545-850A-FF364D44659B}"/>
              </a:ext>
            </a:extLst>
          </p:cNvPr>
          <p:cNvSpPr txBox="1">
            <a:spLocks/>
          </p:cNvSpPr>
          <p:nvPr/>
        </p:nvSpPr>
        <p:spPr>
          <a:xfrm>
            <a:off x="614362" y="1612871"/>
            <a:ext cx="8347472" cy="132516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050" dirty="0"/>
              <a:t>Go, </a:t>
            </a:r>
            <a:r>
              <a:rPr lang="fr-FR" sz="4050" dirty="0" err="1"/>
              <a:t>it’s</a:t>
            </a:r>
            <a:r>
              <a:rPr lang="fr-FR" sz="4050" dirty="0"/>
              <a:t> </a:t>
            </a:r>
            <a:r>
              <a:rPr lang="fr-FR" sz="4050" dirty="0" err="1"/>
              <a:t>your</a:t>
            </a:r>
            <a:r>
              <a:rPr lang="fr-FR" sz="4050" dirty="0"/>
              <a:t> </a:t>
            </a:r>
            <a:r>
              <a:rPr lang="fr-FR" sz="4050" dirty="0" err="1"/>
              <a:t>turn</a:t>
            </a:r>
            <a:r>
              <a:rPr lang="fr-FR" sz="4050" dirty="0"/>
              <a:t> !</a:t>
            </a:r>
          </a:p>
        </p:txBody>
      </p:sp>
      <p:sp>
        <p:nvSpPr>
          <p:cNvPr id="4" name="Sous-titre 2">
            <a:extLst>
              <a:ext uri="{FF2B5EF4-FFF2-40B4-BE49-F238E27FC236}">
                <a16:creationId xmlns:a16="http://schemas.microsoft.com/office/drawing/2014/main" id="{90B4E9F8-CA22-A749-B4E5-6705283C1FF2}"/>
              </a:ext>
            </a:extLst>
          </p:cNvPr>
          <p:cNvSpPr txBox="1">
            <a:spLocks/>
          </p:cNvSpPr>
          <p:nvPr/>
        </p:nvSpPr>
        <p:spPr>
          <a:xfrm>
            <a:off x="1143000" y="3087294"/>
            <a:ext cx="6858000" cy="124182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fr-FR" sz="2100" dirty="0"/>
              <a:t>And </a:t>
            </a:r>
            <a:r>
              <a:rPr lang="fr-FR" sz="2100" dirty="0" err="1"/>
              <a:t>don’t</a:t>
            </a:r>
            <a:r>
              <a:rPr lang="fr-FR" sz="2100" dirty="0"/>
              <a:t> </a:t>
            </a:r>
            <a:r>
              <a:rPr lang="fr-FR" sz="2100" dirty="0" err="1"/>
              <a:t>hesitate</a:t>
            </a:r>
            <a:r>
              <a:rPr lang="fr-FR" sz="2100" dirty="0"/>
              <a:t> if </a:t>
            </a:r>
            <a:r>
              <a:rPr lang="fr-FR" sz="2100" dirty="0" err="1"/>
              <a:t>you</a:t>
            </a:r>
            <a:r>
              <a:rPr lang="fr-FR" sz="2100" dirty="0"/>
              <a:t> have </a:t>
            </a:r>
            <a:r>
              <a:rPr lang="fr-FR" sz="2100" dirty="0" err="1"/>
              <a:t>any</a:t>
            </a:r>
            <a:r>
              <a:rPr lang="fr-FR" sz="2100" dirty="0"/>
              <a:t> question !</a:t>
            </a:r>
          </a:p>
        </p:txBody>
      </p:sp>
      <p:sp>
        <p:nvSpPr>
          <p:cNvPr id="3" name="Espace réservé du numéro de diapositive 2">
            <a:extLst>
              <a:ext uri="{FF2B5EF4-FFF2-40B4-BE49-F238E27FC236}">
                <a16:creationId xmlns:a16="http://schemas.microsoft.com/office/drawing/2014/main" id="{435C57D8-79B4-D836-5FC1-25CDD84AE697}"/>
              </a:ext>
            </a:extLst>
          </p:cNvPr>
          <p:cNvSpPr>
            <a:spLocks noGrp="1"/>
          </p:cNvSpPr>
          <p:nvPr>
            <p:ph type="sldNum" sz="quarter" idx="12"/>
          </p:nvPr>
        </p:nvSpPr>
        <p:spPr/>
        <p:txBody>
          <a:bodyPr/>
          <a:lstStyle/>
          <a:p>
            <a:fld id="{B6E69D5D-3C54-E347-B3D4-70BDFA7C6521}" type="slidenum">
              <a:rPr lang="fr-FR" smtClean="0"/>
              <a:t>70</a:t>
            </a:fld>
            <a:endParaRPr lang="fr-FR"/>
          </a:p>
        </p:txBody>
      </p:sp>
    </p:spTree>
    <p:extLst>
      <p:ext uri="{BB962C8B-B14F-4D97-AF65-F5344CB8AC3E}">
        <p14:creationId xmlns:p14="http://schemas.microsoft.com/office/powerpoint/2010/main" val="15802079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29122D2-7783-8849-825B-4B6644B7B746}"/>
              </a:ext>
            </a:extLst>
          </p:cNvPr>
          <p:cNvSpPr>
            <a:spLocks noGrp="1"/>
          </p:cNvSpPr>
          <p:nvPr>
            <p:ph type="body" sz="quarter" idx="10"/>
          </p:nvPr>
        </p:nvSpPr>
        <p:spPr/>
        <p:txBody>
          <a:bodyPr/>
          <a:lstStyle/>
          <a:p>
            <a:r>
              <a:rPr lang="fr-FR" dirty="0"/>
              <a:t>TP2</a:t>
            </a:r>
          </a:p>
        </p:txBody>
      </p:sp>
      <p:sp>
        <p:nvSpPr>
          <p:cNvPr id="3" name="Espace réservé du texte 2">
            <a:extLst>
              <a:ext uri="{FF2B5EF4-FFF2-40B4-BE49-F238E27FC236}">
                <a16:creationId xmlns:a16="http://schemas.microsoft.com/office/drawing/2014/main" id="{EE763F20-32C0-A841-AE01-6FA00EFEE37D}"/>
              </a:ext>
            </a:extLst>
          </p:cNvPr>
          <p:cNvSpPr>
            <a:spLocks noGrp="1"/>
          </p:cNvSpPr>
          <p:nvPr>
            <p:ph type="body" sz="quarter" idx="11"/>
          </p:nvPr>
        </p:nvSpPr>
        <p:spPr/>
        <p:txBody>
          <a:bodyPr/>
          <a:lstStyle/>
          <a:p>
            <a:r>
              <a:rPr lang="fr-FR" dirty="0" err="1"/>
              <a:t>Take</a:t>
            </a:r>
            <a:r>
              <a:rPr lang="fr-FR" dirty="0"/>
              <a:t> home messages</a:t>
            </a:r>
          </a:p>
        </p:txBody>
      </p:sp>
      <p:sp>
        <p:nvSpPr>
          <p:cNvPr id="4" name="Espace réservé du texte 3">
            <a:extLst>
              <a:ext uri="{FF2B5EF4-FFF2-40B4-BE49-F238E27FC236}">
                <a16:creationId xmlns:a16="http://schemas.microsoft.com/office/drawing/2014/main" id="{38060A23-3C6D-0447-8783-27DFAF93FA46}"/>
              </a:ext>
            </a:extLst>
          </p:cNvPr>
          <p:cNvSpPr>
            <a:spLocks noGrp="1"/>
          </p:cNvSpPr>
          <p:nvPr>
            <p:ph type="body" sz="quarter" idx="13"/>
          </p:nvPr>
        </p:nvSpPr>
        <p:spPr>
          <a:xfrm>
            <a:off x="401437" y="533575"/>
            <a:ext cx="8065076" cy="604751"/>
          </a:xfrm>
        </p:spPr>
        <p:txBody>
          <a:bodyPr/>
          <a:lstStyle/>
          <a:p>
            <a:r>
              <a:rPr lang="fr-FR" sz="2100" dirty="0" err="1">
                <a:latin typeface="+mj-lt"/>
              </a:rPr>
              <a:t>Leaspy</a:t>
            </a:r>
            <a:r>
              <a:rPr lang="fr-FR" sz="2100" dirty="0">
                <a:latin typeface="+mj-lt"/>
              </a:rPr>
              <a:t> model </a:t>
            </a:r>
            <a:r>
              <a:rPr lang="fr-FR" sz="2100" dirty="0" err="1">
                <a:latin typeface="+mj-lt"/>
              </a:rPr>
              <a:t>can</a:t>
            </a:r>
            <a:r>
              <a:rPr lang="fr-FR" sz="2100" dirty="0">
                <a:latin typeface="+mj-lt"/>
              </a:rPr>
              <a:t> </a:t>
            </a:r>
            <a:r>
              <a:rPr lang="fr-FR" sz="2100" dirty="0" err="1">
                <a:latin typeface="+mj-lt"/>
              </a:rPr>
              <a:t>be</a:t>
            </a:r>
            <a:r>
              <a:rPr lang="fr-FR" sz="2100" dirty="0">
                <a:latin typeface="+mj-lt"/>
              </a:rPr>
              <a:t> an </a:t>
            </a:r>
            <a:r>
              <a:rPr lang="fr-FR" sz="2100" dirty="0" err="1">
                <a:latin typeface="+mj-lt"/>
              </a:rPr>
              <a:t>helpful</a:t>
            </a:r>
            <a:r>
              <a:rPr lang="fr-FR" sz="2100" dirty="0">
                <a:latin typeface="+mj-lt"/>
              </a:rPr>
              <a:t> </a:t>
            </a:r>
            <a:r>
              <a:rPr lang="fr-FR" sz="2100" dirty="0" err="1">
                <a:latin typeface="+mj-lt"/>
              </a:rPr>
              <a:t>tool</a:t>
            </a:r>
            <a:r>
              <a:rPr lang="fr-FR" sz="2100" dirty="0">
                <a:latin typeface="+mj-lt"/>
              </a:rPr>
              <a:t> to </a:t>
            </a:r>
          </a:p>
        </p:txBody>
      </p:sp>
      <p:pic>
        <p:nvPicPr>
          <p:cNvPr id="10" name="Image 9">
            <a:extLst>
              <a:ext uri="{FF2B5EF4-FFF2-40B4-BE49-F238E27FC236}">
                <a16:creationId xmlns:a16="http://schemas.microsoft.com/office/drawing/2014/main" id="{E9C6C3C1-D7C4-A240-9D09-55DAF7608E2E}"/>
              </a:ext>
            </a:extLst>
          </p:cNvPr>
          <p:cNvPicPr>
            <a:picLocks noChangeAspect="1"/>
          </p:cNvPicPr>
          <p:nvPr/>
        </p:nvPicPr>
        <p:blipFill>
          <a:blip r:embed="rId2"/>
          <a:stretch>
            <a:fillRect/>
          </a:stretch>
        </p:blipFill>
        <p:spPr>
          <a:xfrm>
            <a:off x="4922623" y="1057627"/>
            <a:ext cx="3418901" cy="1383013"/>
          </a:xfrm>
          <a:prstGeom prst="rect">
            <a:avLst/>
          </a:prstGeom>
        </p:spPr>
      </p:pic>
      <p:pic>
        <p:nvPicPr>
          <p:cNvPr id="12" name="Image 11">
            <a:extLst>
              <a:ext uri="{FF2B5EF4-FFF2-40B4-BE49-F238E27FC236}">
                <a16:creationId xmlns:a16="http://schemas.microsoft.com/office/drawing/2014/main" id="{8697D98D-65F6-594A-AE64-41E115973154}"/>
              </a:ext>
            </a:extLst>
          </p:cNvPr>
          <p:cNvPicPr>
            <a:picLocks noChangeAspect="1"/>
          </p:cNvPicPr>
          <p:nvPr/>
        </p:nvPicPr>
        <p:blipFill>
          <a:blip r:embed="rId3"/>
          <a:stretch>
            <a:fillRect/>
          </a:stretch>
        </p:blipFill>
        <p:spPr>
          <a:xfrm>
            <a:off x="1233490" y="2839208"/>
            <a:ext cx="1564007" cy="1604872"/>
          </a:xfrm>
          <a:prstGeom prst="rect">
            <a:avLst/>
          </a:prstGeom>
        </p:spPr>
      </p:pic>
      <p:sp>
        <p:nvSpPr>
          <p:cNvPr id="16" name="ZoneTexte 15">
            <a:extLst>
              <a:ext uri="{FF2B5EF4-FFF2-40B4-BE49-F238E27FC236}">
                <a16:creationId xmlns:a16="http://schemas.microsoft.com/office/drawing/2014/main" id="{8FB3EEFC-8947-7A49-BB10-E9EEAB3E0519}"/>
              </a:ext>
            </a:extLst>
          </p:cNvPr>
          <p:cNvSpPr txBox="1"/>
          <p:nvPr/>
        </p:nvSpPr>
        <p:spPr>
          <a:xfrm>
            <a:off x="5056821" y="2513720"/>
            <a:ext cx="3150505" cy="300082"/>
          </a:xfrm>
          <a:prstGeom prst="rect">
            <a:avLst/>
          </a:prstGeom>
          <a:noFill/>
        </p:spPr>
        <p:txBody>
          <a:bodyPr wrap="square" rtlCol="0">
            <a:spAutoFit/>
          </a:bodyPr>
          <a:lstStyle/>
          <a:p>
            <a:pPr algn="ctr"/>
            <a:r>
              <a:rPr lang="fr-FR" sz="1350" i="1" dirty="0" err="1"/>
              <a:t>Predict</a:t>
            </a:r>
            <a:r>
              <a:rPr lang="fr-FR" sz="1350" i="1" dirty="0"/>
              <a:t> </a:t>
            </a:r>
            <a:r>
              <a:rPr lang="fr-FR" sz="1350" i="1" dirty="0" err="1"/>
              <a:t>individual</a:t>
            </a:r>
            <a:r>
              <a:rPr lang="fr-FR" sz="1350" i="1" dirty="0"/>
              <a:t> </a:t>
            </a:r>
            <a:r>
              <a:rPr lang="fr-FR" sz="1350" i="1" dirty="0" err="1"/>
              <a:t>disease</a:t>
            </a:r>
            <a:r>
              <a:rPr lang="fr-FR" sz="1350" i="1" dirty="0"/>
              <a:t> progression </a:t>
            </a:r>
          </a:p>
        </p:txBody>
      </p:sp>
      <p:sp>
        <p:nvSpPr>
          <p:cNvPr id="17" name="ZoneTexte 16">
            <a:extLst>
              <a:ext uri="{FF2B5EF4-FFF2-40B4-BE49-F238E27FC236}">
                <a16:creationId xmlns:a16="http://schemas.microsoft.com/office/drawing/2014/main" id="{DC4D5D46-DBD8-1345-8913-6F361C181160}"/>
              </a:ext>
            </a:extLst>
          </p:cNvPr>
          <p:cNvSpPr txBox="1"/>
          <p:nvPr/>
        </p:nvSpPr>
        <p:spPr>
          <a:xfrm>
            <a:off x="335974" y="4444079"/>
            <a:ext cx="3309506" cy="300082"/>
          </a:xfrm>
          <a:prstGeom prst="rect">
            <a:avLst/>
          </a:prstGeom>
          <a:noFill/>
        </p:spPr>
        <p:txBody>
          <a:bodyPr wrap="square" rtlCol="0">
            <a:spAutoFit/>
          </a:bodyPr>
          <a:lstStyle/>
          <a:p>
            <a:pPr algn="ctr"/>
            <a:r>
              <a:rPr lang="fr-FR" sz="1350" i="1" dirty="0" err="1"/>
              <a:t>Extract</a:t>
            </a:r>
            <a:r>
              <a:rPr lang="fr-FR" sz="1350" i="1" dirty="0"/>
              <a:t> </a:t>
            </a:r>
            <a:r>
              <a:rPr lang="fr-FR" sz="1350" i="1" dirty="0" err="1"/>
              <a:t>interpretable</a:t>
            </a:r>
            <a:r>
              <a:rPr lang="fr-FR" sz="1350" i="1" dirty="0"/>
              <a:t> information </a:t>
            </a:r>
          </a:p>
        </p:txBody>
      </p:sp>
      <p:sp>
        <p:nvSpPr>
          <p:cNvPr id="19" name="ZoneTexte 18">
            <a:extLst>
              <a:ext uri="{FF2B5EF4-FFF2-40B4-BE49-F238E27FC236}">
                <a16:creationId xmlns:a16="http://schemas.microsoft.com/office/drawing/2014/main" id="{15A625E9-FBA8-064E-811F-BECC73B6D31C}"/>
              </a:ext>
            </a:extLst>
          </p:cNvPr>
          <p:cNvSpPr txBox="1"/>
          <p:nvPr/>
        </p:nvSpPr>
        <p:spPr>
          <a:xfrm>
            <a:off x="5892866" y="4444079"/>
            <a:ext cx="1594916" cy="300082"/>
          </a:xfrm>
          <a:prstGeom prst="rect">
            <a:avLst/>
          </a:prstGeom>
          <a:noFill/>
        </p:spPr>
        <p:txBody>
          <a:bodyPr wrap="square" rtlCol="0">
            <a:spAutoFit/>
          </a:bodyPr>
          <a:lstStyle/>
          <a:p>
            <a:pPr algn="ctr"/>
            <a:r>
              <a:rPr lang="fr-FR" sz="1350" i="1" dirty="0" err="1"/>
              <a:t>Simulate</a:t>
            </a:r>
            <a:r>
              <a:rPr lang="fr-FR" sz="1350" i="1" dirty="0"/>
              <a:t> data</a:t>
            </a:r>
          </a:p>
        </p:txBody>
      </p:sp>
      <p:pic>
        <p:nvPicPr>
          <p:cNvPr id="7" name="Image 6">
            <a:extLst>
              <a:ext uri="{FF2B5EF4-FFF2-40B4-BE49-F238E27FC236}">
                <a16:creationId xmlns:a16="http://schemas.microsoft.com/office/drawing/2014/main" id="{DC810D28-048B-EF4D-849D-AF0748B35DE8}"/>
              </a:ext>
            </a:extLst>
          </p:cNvPr>
          <p:cNvPicPr>
            <a:picLocks noChangeAspect="1"/>
          </p:cNvPicPr>
          <p:nvPr/>
        </p:nvPicPr>
        <p:blipFill>
          <a:blip r:embed="rId4"/>
          <a:stretch>
            <a:fillRect/>
          </a:stretch>
        </p:blipFill>
        <p:spPr>
          <a:xfrm>
            <a:off x="4843557" y="2920586"/>
            <a:ext cx="3693535" cy="1488440"/>
          </a:xfrm>
          <a:prstGeom prst="rect">
            <a:avLst/>
          </a:prstGeom>
        </p:spPr>
      </p:pic>
      <p:pic>
        <p:nvPicPr>
          <p:cNvPr id="6" name="Image 5">
            <a:extLst>
              <a:ext uri="{FF2B5EF4-FFF2-40B4-BE49-F238E27FC236}">
                <a16:creationId xmlns:a16="http://schemas.microsoft.com/office/drawing/2014/main" id="{86FA02AE-CFE1-A342-93BE-C0A9F384948B}"/>
              </a:ext>
            </a:extLst>
          </p:cNvPr>
          <p:cNvPicPr>
            <a:picLocks noChangeAspect="1"/>
          </p:cNvPicPr>
          <p:nvPr/>
        </p:nvPicPr>
        <p:blipFill>
          <a:blip r:embed="rId5"/>
          <a:stretch>
            <a:fillRect/>
          </a:stretch>
        </p:blipFill>
        <p:spPr>
          <a:xfrm>
            <a:off x="612719" y="1047370"/>
            <a:ext cx="3194166" cy="1476548"/>
          </a:xfrm>
          <a:prstGeom prst="rect">
            <a:avLst/>
          </a:prstGeom>
        </p:spPr>
      </p:pic>
      <p:sp>
        <p:nvSpPr>
          <p:cNvPr id="14" name="ZoneTexte 13">
            <a:extLst>
              <a:ext uri="{FF2B5EF4-FFF2-40B4-BE49-F238E27FC236}">
                <a16:creationId xmlns:a16="http://schemas.microsoft.com/office/drawing/2014/main" id="{47469131-4437-4A42-9ABD-FD70304DDFB3}"/>
              </a:ext>
            </a:extLst>
          </p:cNvPr>
          <p:cNvSpPr txBox="1"/>
          <p:nvPr/>
        </p:nvSpPr>
        <p:spPr>
          <a:xfrm>
            <a:off x="129257" y="2513720"/>
            <a:ext cx="4161091" cy="300082"/>
          </a:xfrm>
          <a:prstGeom prst="rect">
            <a:avLst/>
          </a:prstGeom>
          <a:noFill/>
        </p:spPr>
        <p:txBody>
          <a:bodyPr wrap="square" rtlCol="0">
            <a:spAutoFit/>
          </a:bodyPr>
          <a:lstStyle/>
          <a:p>
            <a:pPr algn="ctr"/>
            <a:r>
              <a:rPr lang="fr-FR" sz="1350" i="1" dirty="0" err="1"/>
              <a:t>Get</a:t>
            </a:r>
            <a:r>
              <a:rPr lang="fr-FR" sz="1350" i="1" dirty="0"/>
              <a:t> </a:t>
            </a:r>
            <a:r>
              <a:rPr lang="fr-FR" sz="1350" i="1" dirty="0" err="1"/>
              <a:t>disease</a:t>
            </a:r>
            <a:r>
              <a:rPr lang="fr-FR" sz="1350" i="1" dirty="0"/>
              <a:t> </a:t>
            </a:r>
            <a:r>
              <a:rPr lang="fr-FR" sz="1350" i="1" dirty="0" err="1"/>
              <a:t>timeline</a:t>
            </a:r>
            <a:r>
              <a:rPr lang="fr-FR" sz="1350" i="1" dirty="0"/>
              <a:t> </a:t>
            </a:r>
            <a:r>
              <a:rPr lang="fr-FR" sz="1350" i="1" dirty="0" err="1"/>
              <a:t>with</a:t>
            </a:r>
            <a:r>
              <a:rPr lang="fr-FR" sz="1350" i="1" dirty="0"/>
              <a:t> population </a:t>
            </a:r>
            <a:r>
              <a:rPr lang="fr-FR" sz="1350" i="1" dirty="0" err="1"/>
              <a:t>disease</a:t>
            </a:r>
            <a:r>
              <a:rPr lang="fr-FR" sz="1350" i="1" dirty="0"/>
              <a:t> progression</a:t>
            </a:r>
          </a:p>
        </p:txBody>
      </p:sp>
      <p:sp>
        <p:nvSpPr>
          <p:cNvPr id="5" name="Espace réservé du numéro de diapositive 4">
            <a:extLst>
              <a:ext uri="{FF2B5EF4-FFF2-40B4-BE49-F238E27FC236}">
                <a16:creationId xmlns:a16="http://schemas.microsoft.com/office/drawing/2014/main" id="{7F17D10D-A29C-1487-D7A3-F87D854C3F03}"/>
              </a:ext>
            </a:extLst>
          </p:cNvPr>
          <p:cNvSpPr>
            <a:spLocks noGrp="1"/>
          </p:cNvSpPr>
          <p:nvPr>
            <p:ph type="sldNum" sz="quarter" idx="12"/>
          </p:nvPr>
        </p:nvSpPr>
        <p:spPr/>
        <p:txBody>
          <a:bodyPr/>
          <a:lstStyle/>
          <a:p>
            <a:fld id="{B6E69D5D-3C54-E347-B3D4-70BDFA7C6521}" type="slidenum">
              <a:rPr lang="fr-FR" smtClean="0"/>
              <a:t>71</a:t>
            </a:fld>
            <a:endParaRPr lang="fr-FR"/>
          </a:p>
        </p:txBody>
      </p:sp>
    </p:spTree>
    <p:extLst>
      <p:ext uri="{BB962C8B-B14F-4D97-AF65-F5344CB8AC3E}">
        <p14:creationId xmlns:p14="http://schemas.microsoft.com/office/powerpoint/2010/main" val="39890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72</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341833" y="1905502"/>
            <a:ext cx="7929332" cy="1694438"/>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a:p>
            <a:pPr algn="r">
              <a:lnSpc>
                <a:spcPct val="70000"/>
              </a:lnSpc>
            </a:pPr>
            <a:endParaRPr lang="fr-FR" sz="2100" i="1" dirty="0">
              <a:latin typeface="Arial"/>
              <a:cs typeface="Arial"/>
            </a:endParaRPr>
          </a:p>
          <a:p>
            <a:pPr algn="r"/>
            <a:r>
              <a:rPr lang="fr-FR" sz="2100" i="1" dirty="0">
                <a:latin typeface="Arial" panose="020B0604020202020204" pitchFamily="34" charset="0"/>
                <a:cs typeface="Arial" panose="020B0604020202020204" pitchFamily="34" charset="0"/>
              </a:rPr>
              <a:t>4. </a:t>
            </a:r>
            <a:r>
              <a:rPr lang="fr-FR" sz="2100" i="1" dirty="0" err="1">
                <a:latin typeface="Arial" panose="020B0604020202020204" pitchFamily="34" charset="0"/>
                <a:cs typeface="Arial" panose="020B0604020202020204" pitchFamily="34" charset="0"/>
              </a:rPr>
              <a:t>Going</a:t>
            </a:r>
            <a:r>
              <a:rPr lang="fr-FR" sz="2100" i="1" dirty="0">
                <a:latin typeface="Arial" panose="020B0604020202020204" pitchFamily="34" charset="0"/>
                <a:cs typeface="Arial" panose="020B0604020202020204" pitchFamily="34" charset="0"/>
              </a:rPr>
              <a:t> </a:t>
            </a:r>
            <a:r>
              <a:rPr lang="fr-FR" sz="2100" i="1" dirty="0" err="1">
                <a:latin typeface="Arial" panose="020B0604020202020204" pitchFamily="34" charset="0"/>
                <a:cs typeface="Arial" panose="020B0604020202020204" pitchFamily="34" charset="0"/>
              </a:rPr>
              <a:t>deeper</a:t>
            </a:r>
            <a:r>
              <a:rPr lang="fr-FR" sz="2100" i="1" dirty="0">
                <a:latin typeface="Arial" panose="020B0604020202020204" pitchFamily="34" charset="0"/>
                <a:cs typeface="Arial" panose="020B0604020202020204" pitchFamily="34" charset="0"/>
              </a:rPr>
              <a:t> </a:t>
            </a:r>
            <a:r>
              <a:rPr lang="fr-FR" sz="2100" i="1" dirty="0" err="1">
                <a:latin typeface="Arial" panose="020B0604020202020204" pitchFamily="34" charset="0"/>
                <a:cs typeface="Arial" panose="020B0604020202020204" pitchFamily="34" charset="0"/>
              </a:rPr>
              <a:t>into</a:t>
            </a:r>
            <a:r>
              <a:rPr lang="fr-FR" sz="2100" i="1" dirty="0">
                <a:latin typeface="Arial" panose="020B0604020202020204" pitchFamily="34" charset="0"/>
                <a:cs typeface="Arial" panose="020B0604020202020204" pitchFamily="34" charset="0"/>
              </a:rPr>
              <a:t> </a:t>
            </a:r>
            <a:r>
              <a:rPr lang="fr-FR" sz="2100" i="1" dirty="0" err="1">
                <a:latin typeface="Arial" panose="020B0604020202020204" pitchFamily="34" charset="0"/>
                <a:cs typeface="Arial" panose="020B0604020202020204" pitchFamily="34" charset="0"/>
              </a:rPr>
              <a:t>leaspy</a:t>
            </a:r>
            <a:r>
              <a:rPr lang="fr-FR" sz="2100" i="1" dirty="0">
                <a:latin typeface="Arial" panose="020B0604020202020204" pitchFamily="34" charset="0"/>
                <a:cs typeface="Arial" panose="020B0604020202020204" pitchFamily="34" charset="0"/>
              </a:rPr>
              <a:t> model tuning</a:t>
            </a: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18595187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TP3</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a:t>To </a:t>
            </a:r>
            <a:r>
              <a:rPr lang="fr-FR" dirty="0" err="1"/>
              <a:t>start</a:t>
            </a:r>
            <a:endParaRPr lang="fr-FR" dirty="0"/>
          </a:p>
        </p:txBody>
      </p:sp>
      <p:sp>
        <p:nvSpPr>
          <p:cNvPr id="4" name="Espace réservé du texte 3">
            <a:extLst>
              <a:ext uri="{FF2B5EF4-FFF2-40B4-BE49-F238E27FC236}">
                <a16:creationId xmlns:a16="http://schemas.microsoft.com/office/drawing/2014/main" id="{3736AD3D-F86D-5442-B960-3B0247BB1367}"/>
              </a:ext>
            </a:extLst>
          </p:cNvPr>
          <p:cNvSpPr>
            <a:spLocks noGrp="1"/>
          </p:cNvSpPr>
          <p:nvPr>
            <p:ph type="body" sz="quarter" idx="13"/>
          </p:nvPr>
        </p:nvSpPr>
        <p:spPr>
          <a:xfrm>
            <a:off x="476253" y="767566"/>
            <a:ext cx="8139110" cy="1384310"/>
          </a:xfrm>
        </p:spPr>
        <p:txBody>
          <a:bodyPr/>
          <a:lstStyle/>
          <a:p>
            <a:r>
              <a:rPr lang="fr-FR" sz="1500" dirty="0" err="1">
                <a:latin typeface="+mj-lt"/>
              </a:rPr>
              <a:t>Please</a:t>
            </a:r>
            <a:r>
              <a:rPr lang="fr-FR" sz="1500" dirty="0">
                <a:latin typeface="+mj-lt"/>
              </a:rPr>
              <a:t> </a:t>
            </a:r>
            <a:r>
              <a:rPr lang="fr-FR" sz="1500" dirty="0" err="1">
                <a:latin typeface="+mj-lt"/>
              </a:rPr>
              <a:t>follow</a:t>
            </a:r>
            <a:r>
              <a:rPr lang="fr-FR" sz="1500" dirty="0">
                <a:latin typeface="+mj-lt"/>
              </a:rPr>
              <a:t> the </a:t>
            </a:r>
            <a:r>
              <a:rPr lang="fr-FR" sz="1500" dirty="0" err="1">
                <a:latin typeface="+mj-lt"/>
              </a:rPr>
              <a:t>link</a:t>
            </a:r>
            <a:r>
              <a:rPr lang="fr-FR" sz="1500" dirty="0">
                <a:latin typeface="+mj-lt"/>
              </a:rPr>
              <a:t> </a:t>
            </a:r>
            <a:r>
              <a:rPr lang="fr-FR" sz="1500" dirty="0" err="1">
                <a:latin typeface="+mj-lt"/>
              </a:rPr>
              <a:t>below</a:t>
            </a:r>
            <a:r>
              <a:rPr lang="fr-FR" sz="1500" dirty="0">
                <a:latin typeface="+mj-lt"/>
              </a:rPr>
              <a:t> :</a:t>
            </a:r>
          </a:p>
          <a:p>
            <a:pPr algn="ctr"/>
            <a:r>
              <a:rPr lang="fr-FR" sz="1500" dirty="0">
                <a:latin typeface="+mj-lt"/>
                <a:hlinkClick r:id="rId2"/>
              </a:rPr>
              <a:t>https://colab.research.google.com/drive/1UmzmerIjMCn2yfJZ-5tE8__QEYKIeeeq?usp=sharing</a:t>
            </a:r>
            <a:endParaRPr lang="fr-FR" sz="1500" dirty="0">
              <a:latin typeface="+mj-lt"/>
            </a:endParaRPr>
          </a:p>
          <a:p>
            <a:r>
              <a:rPr lang="fr-FR" sz="1500" dirty="0">
                <a:latin typeface="+mj-lt"/>
              </a:rPr>
              <a:t>And </a:t>
            </a:r>
            <a:r>
              <a:rPr lang="fr-FR" sz="1500" dirty="0" err="1">
                <a:latin typeface="+mj-lt"/>
              </a:rPr>
              <a:t>run</a:t>
            </a:r>
            <a:r>
              <a:rPr lang="fr-FR" sz="1500" dirty="0">
                <a:latin typeface="+mj-lt"/>
              </a:rPr>
              <a:t> the 3 first </a:t>
            </a:r>
            <a:r>
              <a:rPr lang="fr-FR" sz="1500" dirty="0" err="1">
                <a:latin typeface="+mj-lt"/>
              </a:rPr>
              <a:t>cells</a:t>
            </a:r>
            <a:r>
              <a:rPr lang="fr-FR" sz="1500" dirty="0">
                <a:latin typeface="+mj-lt"/>
              </a:rPr>
              <a:t> :</a:t>
            </a:r>
          </a:p>
        </p:txBody>
      </p:sp>
      <p:pic>
        <p:nvPicPr>
          <p:cNvPr id="5" name="Image 4">
            <a:extLst>
              <a:ext uri="{FF2B5EF4-FFF2-40B4-BE49-F238E27FC236}">
                <a16:creationId xmlns:a16="http://schemas.microsoft.com/office/drawing/2014/main" id="{96ECC3CF-DF8A-A426-D0E2-675FE42DC4F2}"/>
              </a:ext>
            </a:extLst>
          </p:cNvPr>
          <p:cNvPicPr>
            <a:picLocks noChangeAspect="1"/>
          </p:cNvPicPr>
          <p:nvPr/>
        </p:nvPicPr>
        <p:blipFill>
          <a:blip r:embed="rId3"/>
          <a:stretch>
            <a:fillRect/>
          </a:stretch>
        </p:blipFill>
        <p:spPr>
          <a:xfrm>
            <a:off x="295382" y="2803086"/>
            <a:ext cx="8408836" cy="1744298"/>
          </a:xfrm>
          <a:prstGeom prst="rect">
            <a:avLst/>
          </a:prstGeom>
        </p:spPr>
      </p:pic>
      <p:sp>
        <p:nvSpPr>
          <p:cNvPr id="6" name="Espace réservé du numéro de diapositive 5">
            <a:extLst>
              <a:ext uri="{FF2B5EF4-FFF2-40B4-BE49-F238E27FC236}">
                <a16:creationId xmlns:a16="http://schemas.microsoft.com/office/drawing/2014/main" id="{5D6E9F75-5395-787D-A36D-543D5F7A8F91}"/>
              </a:ext>
            </a:extLst>
          </p:cNvPr>
          <p:cNvSpPr>
            <a:spLocks noGrp="1"/>
          </p:cNvSpPr>
          <p:nvPr>
            <p:ph type="sldNum" sz="quarter" idx="12"/>
          </p:nvPr>
        </p:nvSpPr>
        <p:spPr/>
        <p:txBody>
          <a:bodyPr/>
          <a:lstStyle/>
          <a:p>
            <a:fld id="{B6E69D5D-3C54-E347-B3D4-70BDFA7C6521}" type="slidenum">
              <a:rPr lang="fr-FR" smtClean="0"/>
              <a:t>73</a:t>
            </a:fld>
            <a:endParaRPr lang="fr-FR"/>
          </a:p>
        </p:txBody>
      </p:sp>
    </p:spTree>
    <p:extLst>
      <p:ext uri="{BB962C8B-B14F-4D97-AF65-F5344CB8AC3E}">
        <p14:creationId xmlns:p14="http://schemas.microsoft.com/office/powerpoint/2010/main" val="30924563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TP3</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a:t>Introduction</a:t>
            </a:r>
          </a:p>
        </p:txBody>
      </p:sp>
      <p:sp>
        <p:nvSpPr>
          <p:cNvPr id="4" name="Espace réservé du texte 3">
            <a:extLst>
              <a:ext uri="{FF2B5EF4-FFF2-40B4-BE49-F238E27FC236}">
                <a16:creationId xmlns:a16="http://schemas.microsoft.com/office/drawing/2014/main" id="{3736AD3D-F86D-5442-B960-3B0247BB1367}"/>
              </a:ext>
            </a:extLst>
          </p:cNvPr>
          <p:cNvSpPr>
            <a:spLocks noGrp="1"/>
          </p:cNvSpPr>
          <p:nvPr>
            <p:ph type="body" sz="quarter" idx="13"/>
          </p:nvPr>
        </p:nvSpPr>
        <p:spPr>
          <a:xfrm>
            <a:off x="1001055" y="3577816"/>
            <a:ext cx="3103763" cy="534731"/>
          </a:xfrm>
        </p:spPr>
        <p:txBody>
          <a:bodyPr/>
          <a:lstStyle/>
          <a:p>
            <a:r>
              <a:rPr lang="fr-FR" sz="1500" dirty="0" err="1">
                <a:latin typeface="+mj-lt"/>
              </a:rPr>
              <a:t>What</a:t>
            </a:r>
            <a:r>
              <a:rPr lang="fr-FR" sz="1500" dirty="0">
                <a:latin typeface="+mj-lt"/>
              </a:rPr>
              <a:t> about </a:t>
            </a:r>
            <a:r>
              <a:rPr lang="fr-FR" sz="1500" dirty="0" err="1">
                <a:latin typeface="+mj-lt"/>
              </a:rPr>
              <a:t>binary</a:t>
            </a:r>
            <a:r>
              <a:rPr lang="fr-FR" sz="1500" dirty="0">
                <a:latin typeface="+mj-lt"/>
              </a:rPr>
              <a:t> observations ?</a:t>
            </a:r>
          </a:p>
        </p:txBody>
      </p:sp>
      <p:sp>
        <p:nvSpPr>
          <p:cNvPr id="9" name="Espace réservé du texte 3">
            <a:extLst>
              <a:ext uri="{FF2B5EF4-FFF2-40B4-BE49-F238E27FC236}">
                <a16:creationId xmlns:a16="http://schemas.microsoft.com/office/drawing/2014/main" id="{809F80E3-750E-EE46-9AA8-FC899567CAB5}"/>
              </a:ext>
            </a:extLst>
          </p:cNvPr>
          <p:cNvSpPr txBox="1">
            <a:spLocks/>
          </p:cNvSpPr>
          <p:nvPr/>
        </p:nvSpPr>
        <p:spPr>
          <a:xfrm>
            <a:off x="476252" y="697650"/>
            <a:ext cx="8065076"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a:solidFill>
                  <a:srgbClr val="7030A0"/>
                </a:solidFill>
                <a:latin typeface="+mj-lt"/>
              </a:rPr>
              <a:t>How to use </a:t>
            </a:r>
            <a:r>
              <a:rPr lang="fr-FR" sz="2100" dirty="0" err="1">
                <a:solidFill>
                  <a:srgbClr val="7030A0"/>
                </a:solidFill>
                <a:latin typeface="+mj-lt"/>
              </a:rPr>
              <a:t>leaspy</a:t>
            </a:r>
            <a:r>
              <a:rPr lang="fr-FR" sz="2100" dirty="0">
                <a:solidFill>
                  <a:srgbClr val="7030A0"/>
                </a:solidFill>
                <a:latin typeface="+mj-lt"/>
              </a:rPr>
              <a:t> in </a:t>
            </a:r>
            <a:r>
              <a:rPr lang="fr-FR" sz="2100" dirty="0" err="1">
                <a:solidFill>
                  <a:srgbClr val="7030A0"/>
                </a:solidFill>
                <a:latin typeface="+mj-lt"/>
              </a:rPr>
              <a:t>daily</a:t>
            </a:r>
            <a:r>
              <a:rPr lang="fr-FR" sz="2100" dirty="0">
                <a:solidFill>
                  <a:srgbClr val="7030A0"/>
                </a:solidFill>
                <a:latin typeface="+mj-lt"/>
              </a:rPr>
              <a:t> situation ?</a:t>
            </a:r>
          </a:p>
        </p:txBody>
      </p:sp>
      <p:cxnSp>
        <p:nvCxnSpPr>
          <p:cNvPr id="11" name="Connecteur droit 10">
            <a:extLst>
              <a:ext uri="{FF2B5EF4-FFF2-40B4-BE49-F238E27FC236}">
                <a16:creationId xmlns:a16="http://schemas.microsoft.com/office/drawing/2014/main" id="{4ECED495-99C2-9C4E-A45F-7BBA0B67C258}"/>
              </a:ext>
            </a:extLst>
          </p:cNvPr>
          <p:cNvCxnSpPr/>
          <p:nvPr/>
        </p:nvCxnSpPr>
        <p:spPr>
          <a:xfrm>
            <a:off x="4271878" y="1696654"/>
            <a:ext cx="0" cy="24158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12" name="Espace réservé du texte 3">
            <a:extLst>
              <a:ext uri="{FF2B5EF4-FFF2-40B4-BE49-F238E27FC236}">
                <a16:creationId xmlns:a16="http://schemas.microsoft.com/office/drawing/2014/main" id="{58FEA588-D682-524D-BC5D-24DEE196506D}"/>
              </a:ext>
            </a:extLst>
          </p:cNvPr>
          <p:cNvSpPr txBox="1">
            <a:spLocks/>
          </p:cNvSpPr>
          <p:nvPr/>
        </p:nvSpPr>
        <p:spPr>
          <a:xfrm>
            <a:off x="301515" y="1595391"/>
            <a:ext cx="3667273"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fr-FR" sz="1800" b="1" i="1" dirty="0" err="1">
                <a:latin typeface="+mj-lt"/>
              </a:rPr>
              <a:t>What</a:t>
            </a:r>
            <a:r>
              <a:rPr lang="fr-FR" sz="1800" b="1" i="1" dirty="0">
                <a:latin typeface="+mj-lt"/>
              </a:rPr>
              <a:t> are the </a:t>
            </a:r>
            <a:r>
              <a:rPr lang="fr-FR" sz="1800" b="1" i="1" dirty="0" err="1">
                <a:latin typeface="+mj-lt"/>
              </a:rPr>
              <a:t>constraints</a:t>
            </a:r>
            <a:r>
              <a:rPr lang="fr-FR" sz="1800" b="1" i="1" dirty="0">
                <a:latin typeface="+mj-lt"/>
              </a:rPr>
              <a:t> on inputs ?</a:t>
            </a:r>
          </a:p>
        </p:txBody>
      </p:sp>
      <p:sp>
        <p:nvSpPr>
          <p:cNvPr id="13" name="Espace réservé du texte 3">
            <a:extLst>
              <a:ext uri="{FF2B5EF4-FFF2-40B4-BE49-F238E27FC236}">
                <a16:creationId xmlns:a16="http://schemas.microsoft.com/office/drawing/2014/main" id="{B76296A7-E086-9D40-A4CE-C74E62ADED6B}"/>
              </a:ext>
            </a:extLst>
          </p:cNvPr>
          <p:cNvSpPr txBox="1">
            <a:spLocks/>
          </p:cNvSpPr>
          <p:nvPr/>
        </p:nvSpPr>
        <p:spPr>
          <a:xfrm>
            <a:off x="5018770" y="1595391"/>
            <a:ext cx="3638546"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fr-FR" sz="1800" b="1" i="1" dirty="0">
                <a:latin typeface="+mj-lt"/>
              </a:rPr>
              <a:t>How to </a:t>
            </a:r>
            <a:r>
              <a:rPr lang="fr-FR" sz="1800" b="1" i="1" dirty="0" err="1">
                <a:latin typeface="+mj-lt"/>
              </a:rPr>
              <a:t>get</a:t>
            </a:r>
            <a:r>
              <a:rPr lang="fr-FR" sz="1800" b="1" i="1" dirty="0">
                <a:latin typeface="+mj-lt"/>
              </a:rPr>
              <a:t> the best model ?</a:t>
            </a:r>
          </a:p>
        </p:txBody>
      </p:sp>
      <p:sp>
        <p:nvSpPr>
          <p:cNvPr id="14" name="Espace réservé du texte 3">
            <a:extLst>
              <a:ext uri="{FF2B5EF4-FFF2-40B4-BE49-F238E27FC236}">
                <a16:creationId xmlns:a16="http://schemas.microsoft.com/office/drawing/2014/main" id="{94BC194B-1225-3D40-B049-6C2F3BFA5A40}"/>
              </a:ext>
            </a:extLst>
          </p:cNvPr>
          <p:cNvSpPr txBox="1">
            <a:spLocks/>
          </p:cNvSpPr>
          <p:nvPr/>
        </p:nvSpPr>
        <p:spPr>
          <a:xfrm>
            <a:off x="5949936" y="2659773"/>
            <a:ext cx="2999779" cy="437553"/>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500" dirty="0">
                <a:latin typeface="+mj-lt"/>
              </a:rPr>
              <a:t>How to </a:t>
            </a:r>
            <a:r>
              <a:rPr lang="fr-FR" sz="1500" dirty="0" err="1">
                <a:latin typeface="+mj-lt"/>
              </a:rPr>
              <a:t>evaluate</a:t>
            </a:r>
            <a:r>
              <a:rPr lang="fr-FR" sz="1500" dirty="0">
                <a:latin typeface="+mj-lt"/>
              </a:rPr>
              <a:t> performances ?</a:t>
            </a:r>
          </a:p>
        </p:txBody>
      </p:sp>
      <p:sp>
        <p:nvSpPr>
          <p:cNvPr id="15" name="Espace réservé du texte 3">
            <a:extLst>
              <a:ext uri="{FF2B5EF4-FFF2-40B4-BE49-F238E27FC236}">
                <a16:creationId xmlns:a16="http://schemas.microsoft.com/office/drawing/2014/main" id="{42394B5E-DE95-0547-B5A8-B6EC98619C16}"/>
              </a:ext>
            </a:extLst>
          </p:cNvPr>
          <p:cNvSpPr txBox="1">
            <a:spLocks/>
          </p:cNvSpPr>
          <p:nvPr/>
        </p:nvSpPr>
        <p:spPr>
          <a:xfrm>
            <a:off x="1001054" y="2659773"/>
            <a:ext cx="1733549" cy="460856"/>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500" dirty="0" err="1">
                <a:latin typeface="+mj-lt"/>
              </a:rPr>
              <a:t>What</a:t>
            </a:r>
            <a:r>
              <a:rPr lang="fr-FR" sz="1500" dirty="0">
                <a:latin typeface="+mj-lt"/>
              </a:rPr>
              <a:t> </a:t>
            </a:r>
            <a:r>
              <a:rPr lang="fr-FR" sz="1500" dirty="0" err="1">
                <a:latin typeface="+mj-lt"/>
              </a:rPr>
              <a:t>kind</a:t>
            </a:r>
            <a:r>
              <a:rPr lang="fr-FR" sz="1500" dirty="0">
                <a:latin typeface="+mj-lt"/>
              </a:rPr>
              <a:t> of data ?</a:t>
            </a:r>
          </a:p>
        </p:txBody>
      </p:sp>
      <p:sp>
        <p:nvSpPr>
          <p:cNvPr id="16" name="Espace réservé du texte 3">
            <a:extLst>
              <a:ext uri="{FF2B5EF4-FFF2-40B4-BE49-F238E27FC236}">
                <a16:creationId xmlns:a16="http://schemas.microsoft.com/office/drawing/2014/main" id="{DBC049E3-5A63-0245-9E43-F5D359CA684D}"/>
              </a:ext>
            </a:extLst>
          </p:cNvPr>
          <p:cNvSpPr txBox="1">
            <a:spLocks/>
          </p:cNvSpPr>
          <p:nvPr/>
        </p:nvSpPr>
        <p:spPr>
          <a:xfrm>
            <a:off x="5949936" y="3582696"/>
            <a:ext cx="2870369" cy="437554"/>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500" dirty="0" err="1">
                <a:latin typeface="+mj-lt"/>
              </a:rPr>
              <a:t>Univariate</a:t>
            </a:r>
            <a:r>
              <a:rPr lang="fr-FR" sz="1500" dirty="0">
                <a:latin typeface="+mj-lt"/>
              </a:rPr>
              <a:t> or </a:t>
            </a:r>
            <a:r>
              <a:rPr lang="fr-FR" sz="1500" dirty="0" err="1">
                <a:latin typeface="+mj-lt"/>
              </a:rPr>
              <a:t>multivariate</a:t>
            </a:r>
            <a:r>
              <a:rPr lang="fr-FR" sz="1500" dirty="0">
                <a:latin typeface="+mj-lt"/>
              </a:rPr>
              <a:t> </a:t>
            </a:r>
            <a:r>
              <a:rPr lang="fr-FR" sz="1500" dirty="0" err="1">
                <a:latin typeface="+mj-lt"/>
              </a:rPr>
              <a:t>models</a:t>
            </a:r>
            <a:r>
              <a:rPr lang="fr-FR" sz="1500" dirty="0">
                <a:latin typeface="+mj-lt"/>
              </a:rPr>
              <a:t> ?</a:t>
            </a:r>
          </a:p>
        </p:txBody>
      </p:sp>
      <p:pic>
        <p:nvPicPr>
          <p:cNvPr id="2050" name="Picture 2" descr="Abstract Technology Binary Code Background.Digital Binary Data and Secure  Data Concept with Number 0 and 1. Stock Illustration - Illustration of data,  graphics: 180496362">
            <a:extLst>
              <a:ext uri="{FF2B5EF4-FFF2-40B4-BE49-F238E27FC236}">
                <a16:creationId xmlns:a16="http://schemas.microsoft.com/office/drawing/2014/main" id="{46EABD04-EC9F-8B4B-A8C5-78111C0208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4956" b="77903"/>
          <a:stretch/>
        </p:blipFill>
        <p:spPr bwMode="auto">
          <a:xfrm>
            <a:off x="369472" y="3670114"/>
            <a:ext cx="595619" cy="35013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atabase Vectoriels et illustrations libres de droits - iStock">
            <a:extLst>
              <a:ext uri="{FF2B5EF4-FFF2-40B4-BE49-F238E27FC236}">
                <a16:creationId xmlns:a16="http://schemas.microsoft.com/office/drawing/2014/main" id="{DA87810A-C86A-3C4E-9ABF-61EDDB7C7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019" y="2500938"/>
            <a:ext cx="778526" cy="7785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dara - performance issues - MangaBooth">
            <a:extLst>
              <a:ext uri="{FF2B5EF4-FFF2-40B4-BE49-F238E27FC236}">
                <a16:creationId xmlns:a16="http://schemas.microsoft.com/office/drawing/2014/main" id="{A3DC4762-BD30-7542-8B66-3C8303D5844F}"/>
              </a:ext>
            </a:extLst>
          </p:cNvPr>
          <p:cNvPicPr>
            <a:picLocks noChangeAspect="1" noChangeArrowheads="1"/>
          </p:cNvPicPr>
          <p:nvPr/>
        </p:nvPicPr>
        <p:blipFill rotWithShape="1">
          <a:blip r:embed="rId4">
            <a:clrChange>
              <a:clrFrom>
                <a:srgbClr val="F4F4F4"/>
              </a:clrFrom>
              <a:clrTo>
                <a:srgbClr val="F4F4F4">
                  <a:alpha val="0"/>
                </a:srgbClr>
              </a:clrTo>
            </a:clrChange>
            <a:extLst>
              <a:ext uri="{28A0092B-C50C-407E-A947-70E740481C1C}">
                <a14:useLocalDpi xmlns:a14="http://schemas.microsoft.com/office/drawing/2010/main" val="0"/>
              </a:ext>
            </a:extLst>
          </a:blip>
          <a:srcRect l="15179" t="13943" r="15180" b="26447"/>
          <a:stretch/>
        </p:blipFill>
        <p:spPr bwMode="auto">
          <a:xfrm>
            <a:off x="4574968" y="2516470"/>
            <a:ext cx="994374" cy="604751"/>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18">
            <a:extLst>
              <a:ext uri="{FF2B5EF4-FFF2-40B4-BE49-F238E27FC236}">
                <a16:creationId xmlns:a16="http://schemas.microsoft.com/office/drawing/2014/main" id="{C1908018-1E10-B349-A99B-177614FD8DDE}"/>
              </a:ext>
            </a:extLst>
          </p:cNvPr>
          <p:cNvPicPr>
            <a:picLocks noChangeAspect="1"/>
          </p:cNvPicPr>
          <p:nvPr/>
        </p:nvPicPr>
        <p:blipFill>
          <a:blip r:embed="rId5"/>
          <a:stretch>
            <a:fillRect/>
          </a:stretch>
        </p:blipFill>
        <p:spPr>
          <a:xfrm>
            <a:off x="4508790" y="3473924"/>
            <a:ext cx="1363499" cy="604752"/>
          </a:xfrm>
          <a:prstGeom prst="rect">
            <a:avLst/>
          </a:prstGeom>
        </p:spPr>
      </p:pic>
      <p:sp>
        <p:nvSpPr>
          <p:cNvPr id="5" name="Espace réservé du numéro de diapositive 4">
            <a:extLst>
              <a:ext uri="{FF2B5EF4-FFF2-40B4-BE49-F238E27FC236}">
                <a16:creationId xmlns:a16="http://schemas.microsoft.com/office/drawing/2014/main" id="{60D2ECFB-14B3-C40D-51E9-22624BDCA85D}"/>
              </a:ext>
            </a:extLst>
          </p:cNvPr>
          <p:cNvSpPr>
            <a:spLocks noGrp="1"/>
          </p:cNvSpPr>
          <p:nvPr>
            <p:ph type="sldNum" sz="quarter" idx="12"/>
          </p:nvPr>
        </p:nvSpPr>
        <p:spPr/>
        <p:txBody>
          <a:bodyPr/>
          <a:lstStyle/>
          <a:p>
            <a:fld id="{B6E69D5D-3C54-E347-B3D4-70BDFA7C6521}" type="slidenum">
              <a:rPr lang="fr-FR" smtClean="0"/>
              <a:t>74</a:t>
            </a:fld>
            <a:endParaRPr lang="fr-FR"/>
          </a:p>
        </p:txBody>
      </p:sp>
    </p:spTree>
    <p:extLst>
      <p:ext uri="{BB962C8B-B14F-4D97-AF65-F5344CB8AC3E}">
        <p14:creationId xmlns:p14="http://schemas.microsoft.com/office/powerpoint/2010/main" val="388046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B7C55C-53EF-C545-850A-FF364D44659B}"/>
              </a:ext>
            </a:extLst>
          </p:cNvPr>
          <p:cNvSpPr txBox="1">
            <a:spLocks/>
          </p:cNvSpPr>
          <p:nvPr/>
        </p:nvSpPr>
        <p:spPr>
          <a:xfrm>
            <a:off x="614362" y="1612871"/>
            <a:ext cx="8347472" cy="132516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050" dirty="0"/>
              <a:t>Go, </a:t>
            </a:r>
            <a:r>
              <a:rPr lang="fr-FR" sz="4050" dirty="0" err="1"/>
              <a:t>it’s</a:t>
            </a:r>
            <a:r>
              <a:rPr lang="fr-FR" sz="4050" dirty="0"/>
              <a:t> </a:t>
            </a:r>
            <a:r>
              <a:rPr lang="fr-FR" sz="4050" dirty="0" err="1"/>
              <a:t>your</a:t>
            </a:r>
            <a:r>
              <a:rPr lang="fr-FR" sz="4050" dirty="0"/>
              <a:t> </a:t>
            </a:r>
            <a:r>
              <a:rPr lang="fr-FR" sz="4050" dirty="0" err="1"/>
              <a:t>turn</a:t>
            </a:r>
            <a:r>
              <a:rPr lang="fr-FR" sz="4050" dirty="0"/>
              <a:t> !</a:t>
            </a:r>
          </a:p>
        </p:txBody>
      </p:sp>
      <p:sp>
        <p:nvSpPr>
          <p:cNvPr id="4" name="Sous-titre 2">
            <a:extLst>
              <a:ext uri="{FF2B5EF4-FFF2-40B4-BE49-F238E27FC236}">
                <a16:creationId xmlns:a16="http://schemas.microsoft.com/office/drawing/2014/main" id="{90B4E9F8-CA22-A749-B4E5-6705283C1FF2}"/>
              </a:ext>
            </a:extLst>
          </p:cNvPr>
          <p:cNvSpPr txBox="1">
            <a:spLocks/>
          </p:cNvSpPr>
          <p:nvPr/>
        </p:nvSpPr>
        <p:spPr>
          <a:xfrm>
            <a:off x="1143000" y="3087294"/>
            <a:ext cx="6858000" cy="124182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fr-FR" sz="2100" dirty="0"/>
              <a:t>And </a:t>
            </a:r>
            <a:r>
              <a:rPr lang="fr-FR" sz="2100" dirty="0" err="1"/>
              <a:t>don’t</a:t>
            </a:r>
            <a:r>
              <a:rPr lang="fr-FR" sz="2100" dirty="0"/>
              <a:t> </a:t>
            </a:r>
            <a:r>
              <a:rPr lang="fr-FR" sz="2100" dirty="0" err="1"/>
              <a:t>hesitate</a:t>
            </a:r>
            <a:r>
              <a:rPr lang="fr-FR" sz="2100" dirty="0"/>
              <a:t> if </a:t>
            </a:r>
            <a:r>
              <a:rPr lang="fr-FR" sz="2100" dirty="0" err="1"/>
              <a:t>you</a:t>
            </a:r>
            <a:r>
              <a:rPr lang="fr-FR" sz="2100" dirty="0"/>
              <a:t> have </a:t>
            </a:r>
            <a:r>
              <a:rPr lang="fr-FR" sz="2100" dirty="0" err="1"/>
              <a:t>any</a:t>
            </a:r>
            <a:r>
              <a:rPr lang="fr-FR" sz="2100" dirty="0"/>
              <a:t> question !</a:t>
            </a:r>
          </a:p>
        </p:txBody>
      </p:sp>
      <p:sp>
        <p:nvSpPr>
          <p:cNvPr id="3" name="Espace réservé du numéro de diapositive 2">
            <a:extLst>
              <a:ext uri="{FF2B5EF4-FFF2-40B4-BE49-F238E27FC236}">
                <a16:creationId xmlns:a16="http://schemas.microsoft.com/office/drawing/2014/main" id="{08716781-6781-3381-49B5-CBAC29245B1F}"/>
              </a:ext>
            </a:extLst>
          </p:cNvPr>
          <p:cNvSpPr>
            <a:spLocks noGrp="1"/>
          </p:cNvSpPr>
          <p:nvPr>
            <p:ph type="sldNum" sz="quarter" idx="12"/>
          </p:nvPr>
        </p:nvSpPr>
        <p:spPr/>
        <p:txBody>
          <a:bodyPr/>
          <a:lstStyle/>
          <a:p>
            <a:fld id="{B6E69D5D-3C54-E347-B3D4-70BDFA7C6521}" type="slidenum">
              <a:rPr lang="fr-FR" smtClean="0"/>
              <a:t>75</a:t>
            </a:fld>
            <a:endParaRPr lang="fr-FR"/>
          </a:p>
        </p:txBody>
      </p:sp>
    </p:spTree>
    <p:extLst>
      <p:ext uri="{BB962C8B-B14F-4D97-AF65-F5344CB8AC3E}">
        <p14:creationId xmlns:p14="http://schemas.microsoft.com/office/powerpoint/2010/main" val="22973682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TP3</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err="1"/>
              <a:t>Take</a:t>
            </a:r>
            <a:r>
              <a:rPr lang="fr-FR" dirty="0"/>
              <a:t> home messages</a:t>
            </a:r>
          </a:p>
        </p:txBody>
      </p:sp>
      <p:sp>
        <p:nvSpPr>
          <p:cNvPr id="9" name="Espace réservé du texte 3">
            <a:extLst>
              <a:ext uri="{FF2B5EF4-FFF2-40B4-BE49-F238E27FC236}">
                <a16:creationId xmlns:a16="http://schemas.microsoft.com/office/drawing/2014/main" id="{809F80E3-750E-EE46-9AA8-FC899567CAB5}"/>
              </a:ext>
            </a:extLst>
          </p:cNvPr>
          <p:cNvSpPr txBox="1">
            <a:spLocks/>
          </p:cNvSpPr>
          <p:nvPr/>
        </p:nvSpPr>
        <p:spPr>
          <a:xfrm>
            <a:off x="459585" y="549080"/>
            <a:ext cx="8065076"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a:latin typeface="+mj-lt"/>
              </a:rPr>
              <a:t>How to use </a:t>
            </a:r>
            <a:r>
              <a:rPr lang="fr-FR" sz="2100" dirty="0" err="1">
                <a:latin typeface="+mj-lt"/>
              </a:rPr>
              <a:t>leaspy</a:t>
            </a:r>
            <a:r>
              <a:rPr lang="fr-FR" sz="2100" dirty="0">
                <a:latin typeface="+mj-lt"/>
              </a:rPr>
              <a:t> in </a:t>
            </a:r>
            <a:r>
              <a:rPr lang="fr-FR" sz="2100" dirty="0" err="1">
                <a:latin typeface="+mj-lt"/>
              </a:rPr>
              <a:t>day</a:t>
            </a:r>
            <a:r>
              <a:rPr lang="fr-FR" sz="2100" dirty="0">
                <a:latin typeface="+mj-lt"/>
              </a:rPr>
              <a:t> life situation ?</a:t>
            </a:r>
          </a:p>
        </p:txBody>
      </p:sp>
      <p:cxnSp>
        <p:nvCxnSpPr>
          <p:cNvPr id="11" name="Connecteur droit 10">
            <a:extLst>
              <a:ext uri="{FF2B5EF4-FFF2-40B4-BE49-F238E27FC236}">
                <a16:creationId xmlns:a16="http://schemas.microsoft.com/office/drawing/2014/main" id="{4ECED495-99C2-9C4E-A45F-7BBA0B67C258}"/>
              </a:ext>
            </a:extLst>
          </p:cNvPr>
          <p:cNvCxnSpPr/>
          <p:nvPr/>
        </p:nvCxnSpPr>
        <p:spPr>
          <a:xfrm>
            <a:off x="4123025" y="1935811"/>
            <a:ext cx="0" cy="24158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12" name="Espace réservé du texte 3">
            <a:extLst>
              <a:ext uri="{FF2B5EF4-FFF2-40B4-BE49-F238E27FC236}">
                <a16:creationId xmlns:a16="http://schemas.microsoft.com/office/drawing/2014/main" id="{58FEA588-D682-524D-BC5D-24DEE196506D}"/>
              </a:ext>
            </a:extLst>
          </p:cNvPr>
          <p:cNvSpPr txBox="1">
            <a:spLocks/>
          </p:cNvSpPr>
          <p:nvPr/>
        </p:nvSpPr>
        <p:spPr>
          <a:xfrm>
            <a:off x="232789" y="1209208"/>
            <a:ext cx="3638546"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fr-FR" sz="1800" b="1" i="1" dirty="0" err="1">
                <a:latin typeface="+mj-lt"/>
              </a:rPr>
              <a:t>What</a:t>
            </a:r>
            <a:r>
              <a:rPr lang="fr-FR" sz="1800" b="1" i="1" dirty="0">
                <a:latin typeface="+mj-lt"/>
              </a:rPr>
              <a:t> are </a:t>
            </a:r>
            <a:r>
              <a:rPr lang="fr-FR" sz="1800" b="1" i="1" dirty="0" err="1">
                <a:latin typeface="+mj-lt"/>
              </a:rPr>
              <a:t>constraints</a:t>
            </a:r>
            <a:r>
              <a:rPr lang="fr-FR" sz="1800" b="1" i="1" dirty="0">
                <a:latin typeface="+mj-lt"/>
              </a:rPr>
              <a:t> on inputs ?</a:t>
            </a:r>
          </a:p>
        </p:txBody>
      </p:sp>
      <p:sp>
        <p:nvSpPr>
          <p:cNvPr id="13" name="Espace réservé du texte 3">
            <a:extLst>
              <a:ext uri="{FF2B5EF4-FFF2-40B4-BE49-F238E27FC236}">
                <a16:creationId xmlns:a16="http://schemas.microsoft.com/office/drawing/2014/main" id="{B76296A7-E086-9D40-A4CE-C74E62ADED6B}"/>
              </a:ext>
            </a:extLst>
          </p:cNvPr>
          <p:cNvSpPr txBox="1">
            <a:spLocks/>
          </p:cNvSpPr>
          <p:nvPr/>
        </p:nvSpPr>
        <p:spPr>
          <a:xfrm>
            <a:off x="4886115" y="1209208"/>
            <a:ext cx="3638546" cy="60475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fr-FR" sz="1800" b="1" i="1" dirty="0">
                <a:latin typeface="+mj-lt"/>
              </a:rPr>
              <a:t>How to </a:t>
            </a:r>
            <a:r>
              <a:rPr lang="fr-FR" sz="1800" b="1" i="1" dirty="0" err="1">
                <a:latin typeface="+mj-lt"/>
              </a:rPr>
              <a:t>get</a:t>
            </a:r>
            <a:r>
              <a:rPr lang="fr-FR" sz="1800" b="1" i="1" dirty="0">
                <a:latin typeface="+mj-lt"/>
              </a:rPr>
              <a:t> the best model ?</a:t>
            </a:r>
          </a:p>
        </p:txBody>
      </p:sp>
      <p:sp>
        <p:nvSpPr>
          <p:cNvPr id="15" name="Espace réservé du texte 3">
            <a:extLst>
              <a:ext uri="{FF2B5EF4-FFF2-40B4-BE49-F238E27FC236}">
                <a16:creationId xmlns:a16="http://schemas.microsoft.com/office/drawing/2014/main" id="{42394B5E-DE95-0547-B5A8-B6EC98619C16}"/>
              </a:ext>
            </a:extLst>
          </p:cNvPr>
          <p:cNvSpPr txBox="1">
            <a:spLocks/>
          </p:cNvSpPr>
          <p:nvPr/>
        </p:nvSpPr>
        <p:spPr>
          <a:xfrm>
            <a:off x="426433" y="1768944"/>
            <a:ext cx="3444902" cy="2880337"/>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500" dirty="0">
                <a:latin typeface="+mj-lt"/>
              </a:rPr>
              <a:t>Data :</a:t>
            </a:r>
          </a:p>
          <a:p>
            <a:pPr marL="257175" indent="-257175">
              <a:buFontTx/>
              <a:buChar char="-"/>
            </a:pPr>
            <a:r>
              <a:rPr lang="fr-FR" sz="1500" dirty="0" err="1">
                <a:latin typeface="+mj-lt"/>
              </a:rPr>
              <a:t>Should</a:t>
            </a:r>
            <a:r>
              <a:rPr lang="fr-FR" sz="1500" dirty="0">
                <a:latin typeface="+mj-lt"/>
              </a:rPr>
              <a:t>  </a:t>
            </a:r>
            <a:r>
              <a:rPr lang="fr-FR" sz="1500" dirty="0" err="1">
                <a:latin typeface="+mj-lt"/>
              </a:rPr>
              <a:t>be</a:t>
            </a:r>
            <a:r>
              <a:rPr lang="fr-FR" sz="1500" dirty="0">
                <a:latin typeface="+mj-lt"/>
              </a:rPr>
              <a:t> </a:t>
            </a:r>
            <a:r>
              <a:rPr lang="fr-FR" sz="1500" dirty="0" err="1">
                <a:latin typeface="+mj-lt"/>
              </a:rPr>
              <a:t>between</a:t>
            </a:r>
            <a:r>
              <a:rPr lang="fr-FR" sz="1500" dirty="0">
                <a:latin typeface="+mj-lt"/>
              </a:rPr>
              <a:t> 0 and 1</a:t>
            </a:r>
          </a:p>
          <a:p>
            <a:pPr marL="257175" indent="-257175">
              <a:buFontTx/>
              <a:buChar char="-"/>
            </a:pPr>
            <a:r>
              <a:rPr lang="fr-FR" sz="1500" dirty="0" err="1">
                <a:latin typeface="+mj-lt"/>
              </a:rPr>
              <a:t>Should</a:t>
            </a:r>
            <a:r>
              <a:rPr lang="fr-FR" sz="1500" dirty="0">
                <a:latin typeface="+mj-lt"/>
              </a:rPr>
              <a:t> </a:t>
            </a:r>
            <a:r>
              <a:rPr lang="fr-FR" sz="1500" dirty="0" err="1">
                <a:latin typeface="+mj-lt"/>
              </a:rPr>
              <a:t>increase</a:t>
            </a:r>
            <a:r>
              <a:rPr lang="fr-FR" sz="1500" dirty="0">
                <a:latin typeface="+mj-lt"/>
              </a:rPr>
              <a:t> </a:t>
            </a:r>
            <a:r>
              <a:rPr lang="fr-FR" sz="1500" dirty="0" err="1">
                <a:latin typeface="+mj-lt"/>
              </a:rPr>
              <a:t>with</a:t>
            </a:r>
            <a:r>
              <a:rPr lang="fr-FR" sz="1500" dirty="0">
                <a:latin typeface="+mj-lt"/>
              </a:rPr>
              <a:t> time</a:t>
            </a:r>
          </a:p>
          <a:p>
            <a:pPr marL="257175" indent="-257175">
              <a:buFontTx/>
              <a:buChar char="-"/>
            </a:pPr>
            <a:r>
              <a:rPr lang="fr-FR" sz="1500" dirty="0" err="1">
                <a:latin typeface="+mj-lt"/>
              </a:rPr>
              <a:t>Should</a:t>
            </a:r>
            <a:r>
              <a:rPr lang="fr-FR" sz="1500" dirty="0">
                <a:latin typeface="+mj-lt"/>
              </a:rPr>
              <a:t> </a:t>
            </a:r>
            <a:r>
              <a:rPr lang="fr-FR" sz="1500" dirty="0" err="1">
                <a:latin typeface="+mj-lt"/>
              </a:rPr>
              <a:t>be</a:t>
            </a:r>
            <a:r>
              <a:rPr lang="fr-FR" sz="1500" dirty="0">
                <a:latin typeface="+mj-lt"/>
              </a:rPr>
              <a:t> </a:t>
            </a:r>
            <a:r>
              <a:rPr lang="fr-FR" sz="1500" dirty="0" err="1">
                <a:latin typeface="+mj-lt"/>
              </a:rPr>
              <a:t>continuous</a:t>
            </a:r>
            <a:r>
              <a:rPr lang="fr-FR" sz="1500" dirty="0">
                <a:latin typeface="+mj-lt"/>
              </a:rPr>
              <a:t> or </a:t>
            </a:r>
            <a:r>
              <a:rPr lang="fr-FR" sz="1500" dirty="0" err="1">
                <a:latin typeface="+mj-lt"/>
              </a:rPr>
              <a:t>binary</a:t>
            </a:r>
            <a:r>
              <a:rPr lang="fr-FR" sz="1500" dirty="0">
                <a:latin typeface="+mj-lt"/>
              </a:rPr>
              <a:t> (</a:t>
            </a:r>
            <a:r>
              <a:rPr lang="fr-FR" sz="1500" dirty="0" err="1">
                <a:latin typeface="+mj-lt"/>
              </a:rPr>
              <a:t>adding</a:t>
            </a:r>
            <a:r>
              <a:rPr lang="fr-FR" sz="1500" dirty="0">
                <a:latin typeface="+mj-lt"/>
              </a:rPr>
              <a:t> </a:t>
            </a:r>
            <a:r>
              <a:rPr lang="fr-FR" sz="1500" dirty="0" err="1">
                <a:latin typeface="+mj-lt"/>
              </a:rPr>
              <a:t>noise_model</a:t>
            </a:r>
            <a:r>
              <a:rPr lang="fr-FR" sz="1500" dirty="0">
                <a:latin typeface="+mj-lt"/>
              </a:rPr>
              <a:t>="</a:t>
            </a:r>
            <a:r>
              <a:rPr lang="fr-FR" sz="1500" dirty="0" err="1">
                <a:latin typeface="+mj-lt"/>
              </a:rPr>
              <a:t>bernoulli</a:t>
            </a:r>
            <a:r>
              <a:rPr lang="fr-FR" sz="1500" dirty="0">
                <a:latin typeface="+mj-lt"/>
              </a:rPr>
              <a:t>")</a:t>
            </a:r>
          </a:p>
          <a:p>
            <a:pPr marL="257175" indent="-257175">
              <a:buFontTx/>
              <a:buChar char="-"/>
            </a:pPr>
            <a:r>
              <a:rPr lang="fr-FR" sz="1500" dirty="0">
                <a:latin typeface="+mj-lt"/>
              </a:rPr>
              <a:t>Can </a:t>
            </a:r>
            <a:r>
              <a:rPr lang="fr-FR" sz="1500" dirty="0" err="1">
                <a:latin typeface="+mj-lt"/>
              </a:rPr>
              <a:t>contain</a:t>
            </a:r>
            <a:r>
              <a:rPr lang="fr-FR" sz="1500" dirty="0">
                <a:latin typeface="+mj-lt"/>
              </a:rPr>
              <a:t> </a:t>
            </a:r>
            <a:r>
              <a:rPr lang="fr-FR" sz="1500" dirty="0" err="1">
                <a:latin typeface="+mj-lt"/>
              </a:rPr>
              <a:t>missing</a:t>
            </a:r>
            <a:r>
              <a:rPr lang="fr-FR" sz="1500" dirty="0">
                <a:latin typeface="+mj-lt"/>
              </a:rPr>
              <a:t> data</a:t>
            </a:r>
          </a:p>
          <a:p>
            <a:pPr marL="257175" indent="-257175">
              <a:buFontTx/>
              <a:buChar char="-"/>
            </a:pPr>
            <a:r>
              <a:rPr lang="fr-FR" sz="1500" dirty="0">
                <a:latin typeface="+mj-lt"/>
              </a:rPr>
              <a:t>Can </a:t>
            </a:r>
            <a:r>
              <a:rPr lang="fr-FR" sz="1500" dirty="0" err="1">
                <a:latin typeface="+mj-lt"/>
              </a:rPr>
              <a:t>contain</a:t>
            </a:r>
            <a:r>
              <a:rPr lang="fr-FR" sz="1500" dirty="0">
                <a:latin typeface="+mj-lt"/>
              </a:rPr>
              <a:t> one or </a:t>
            </a:r>
            <a:r>
              <a:rPr lang="fr-FR" sz="1500" dirty="0" err="1">
                <a:latin typeface="+mj-lt"/>
              </a:rPr>
              <a:t>several</a:t>
            </a:r>
            <a:r>
              <a:rPr lang="fr-FR" sz="1500" dirty="0">
                <a:latin typeface="+mj-lt"/>
              </a:rPr>
              <a:t> </a:t>
            </a:r>
            <a:r>
              <a:rPr lang="fr-FR" sz="1500" dirty="0" err="1">
                <a:latin typeface="+mj-lt"/>
              </a:rPr>
              <a:t>features</a:t>
            </a:r>
            <a:endParaRPr lang="fr-FR" sz="1500" dirty="0">
              <a:latin typeface="+mj-lt"/>
            </a:endParaRPr>
          </a:p>
          <a:p>
            <a:pPr marL="257175" indent="-257175">
              <a:buFontTx/>
              <a:buChar char="-"/>
            </a:pPr>
            <a:endParaRPr lang="fr-FR" sz="1500" dirty="0">
              <a:latin typeface="+mj-lt"/>
            </a:endParaRPr>
          </a:p>
        </p:txBody>
      </p:sp>
      <p:sp>
        <p:nvSpPr>
          <p:cNvPr id="16" name="Espace réservé du texte 3">
            <a:extLst>
              <a:ext uri="{FF2B5EF4-FFF2-40B4-BE49-F238E27FC236}">
                <a16:creationId xmlns:a16="http://schemas.microsoft.com/office/drawing/2014/main" id="{DBC049E3-5A63-0245-9E43-F5D359CA684D}"/>
              </a:ext>
            </a:extLst>
          </p:cNvPr>
          <p:cNvSpPr txBox="1">
            <a:spLocks/>
          </p:cNvSpPr>
          <p:nvPr/>
        </p:nvSpPr>
        <p:spPr>
          <a:xfrm>
            <a:off x="4635211" y="1878978"/>
            <a:ext cx="4315295" cy="836728"/>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00000"/>
              </a:lnSpc>
            </a:pPr>
            <a:r>
              <a:rPr lang="fr-FR" sz="1500" dirty="0">
                <a:latin typeface="+mj-lt"/>
              </a:rPr>
              <a:t>There </a:t>
            </a:r>
            <a:r>
              <a:rPr lang="fr-FR" sz="1500" dirty="0" err="1">
                <a:latin typeface="+mj-lt"/>
              </a:rPr>
              <a:t>is</a:t>
            </a:r>
            <a:r>
              <a:rPr lang="fr-FR" sz="1500" dirty="0">
                <a:latin typeface="+mj-lt"/>
              </a:rPr>
              <a:t> no </a:t>
            </a:r>
            <a:r>
              <a:rPr lang="fr-FR" sz="1500" dirty="0" err="1">
                <a:latin typeface="+mj-lt"/>
              </a:rPr>
              <a:t>general</a:t>
            </a:r>
            <a:r>
              <a:rPr lang="fr-FR" sz="1500" dirty="0">
                <a:latin typeface="+mj-lt"/>
              </a:rPr>
              <a:t> </a:t>
            </a:r>
            <a:r>
              <a:rPr lang="fr-FR" sz="1500" dirty="0" err="1">
                <a:latin typeface="+mj-lt"/>
              </a:rPr>
              <a:t>rule</a:t>
            </a:r>
            <a:r>
              <a:rPr lang="fr-FR" sz="1500" dirty="0">
                <a:latin typeface="+mj-lt"/>
              </a:rPr>
              <a:t> for </a:t>
            </a:r>
            <a:r>
              <a:rPr lang="fr-FR" sz="1500" dirty="0" err="1">
                <a:latin typeface="+mj-lt"/>
              </a:rPr>
              <a:t>multivariate</a:t>
            </a:r>
            <a:r>
              <a:rPr lang="fr-FR" sz="1500" dirty="0">
                <a:latin typeface="+mj-lt"/>
              </a:rPr>
              <a:t> or </a:t>
            </a:r>
            <a:r>
              <a:rPr lang="fr-FR" sz="1500" dirty="0" err="1">
                <a:latin typeface="+mj-lt"/>
              </a:rPr>
              <a:t>univariate</a:t>
            </a:r>
            <a:r>
              <a:rPr lang="fr-FR" sz="1500" dirty="0">
                <a:latin typeface="+mj-lt"/>
              </a:rPr>
              <a:t> model, </a:t>
            </a:r>
            <a:r>
              <a:rPr lang="fr-FR" sz="1500" dirty="0" err="1">
                <a:latin typeface="+mj-lt"/>
              </a:rPr>
              <a:t>you</a:t>
            </a:r>
            <a:r>
              <a:rPr lang="fr-FR" sz="1500" dirty="0">
                <a:latin typeface="+mj-lt"/>
              </a:rPr>
              <a:t> </a:t>
            </a:r>
            <a:r>
              <a:rPr lang="fr-FR" sz="1500" dirty="0" err="1">
                <a:latin typeface="+mj-lt"/>
              </a:rPr>
              <a:t>should</a:t>
            </a:r>
            <a:r>
              <a:rPr lang="fr-FR" sz="1500" dirty="0">
                <a:latin typeface="+mj-lt"/>
              </a:rPr>
              <a:t> </a:t>
            </a:r>
            <a:r>
              <a:rPr lang="fr-FR" sz="1500" dirty="0" err="1">
                <a:latin typeface="+mj-lt"/>
              </a:rPr>
              <a:t>try</a:t>
            </a:r>
            <a:r>
              <a:rPr lang="fr-FR" sz="1500" dirty="0">
                <a:latin typeface="+mj-lt"/>
              </a:rPr>
              <a:t> </a:t>
            </a:r>
            <a:r>
              <a:rPr lang="fr-FR" sz="1500" dirty="0" err="1">
                <a:latin typeface="+mj-lt"/>
              </a:rPr>
              <a:t>different</a:t>
            </a:r>
            <a:r>
              <a:rPr lang="fr-FR" sz="1500" dirty="0">
                <a:latin typeface="+mj-lt"/>
              </a:rPr>
              <a:t> options and monitor the </a:t>
            </a:r>
            <a:r>
              <a:rPr lang="fr-FR" sz="1500" dirty="0" err="1">
                <a:latin typeface="+mj-lt"/>
              </a:rPr>
              <a:t>following</a:t>
            </a:r>
            <a:r>
              <a:rPr lang="fr-FR" sz="1500" dirty="0">
                <a:latin typeface="+mj-lt"/>
              </a:rPr>
              <a:t> (</a:t>
            </a:r>
            <a:r>
              <a:rPr lang="fr-FR" sz="1500" dirty="0" err="1">
                <a:latin typeface="+mj-lt"/>
              </a:rPr>
              <a:t>among</a:t>
            </a:r>
            <a:r>
              <a:rPr lang="fr-FR" sz="1500" dirty="0">
                <a:latin typeface="+mj-lt"/>
              </a:rPr>
              <a:t> </a:t>
            </a:r>
            <a:r>
              <a:rPr lang="fr-FR" sz="1500" dirty="0" err="1">
                <a:latin typeface="+mj-lt"/>
              </a:rPr>
              <a:t>other</a:t>
            </a:r>
            <a:r>
              <a:rPr lang="fr-FR" sz="1500" dirty="0">
                <a:latin typeface="+mj-lt"/>
              </a:rPr>
              <a:t> </a:t>
            </a:r>
            <a:r>
              <a:rPr lang="fr-FR" sz="1500" dirty="0" err="1">
                <a:latin typeface="+mj-lt"/>
              </a:rPr>
              <a:t>things</a:t>
            </a:r>
            <a:r>
              <a:rPr lang="fr-FR" sz="1500" dirty="0">
                <a:latin typeface="+mj-lt"/>
              </a:rPr>
              <a:t>) :</a:t>
            </a:r>
          </a:p>
        </p:txBody>
      </p:sp>
      <p:pic>
        <p:nvPicPr>
          <p:cNvPr id="10" name="Image 9">
            <a:extLst>
              <a:ext uri="{FF2B5EF4-FFF2-40B4-BE49-F238E27FC236}">
                <a16:creationId xmlns:a16="http://schemas.microsoft.com/office/drawing/2014/main" id="{43DA32DD-392B-C649-99DF-08A8B0423C30}"/>
              </a:ext>
            </a:extLst>
          </p:cNvPr>
          <p:cNvPicPr>
            <a:picLocks noChangeAspect="1"/>
          </p:cNvPicPr>
          <p:nvPr/>
        </p:nvPicPr>
        <p:blipFill>
          <a:blip r:embed="rId2"/>
          <a:stretch>
            <a:fillRect/>
          </a:stretch>
        </p:blipFill>
        <p:spPr>
          <a:xfrm>
            <a:off x="5447490" y="2715706"/>
            <a:ext cx="2549128" cy="1813430"/>
          </a:xfrm>
          <a:prstGeom prst="rect">
            <a:avLst/>
          </a:prstGeom>
        </p:spPr>
      </p:pic>
      <p:pic>
        <p:nvPicPr>
          <p:cNvPr id="18" name="Image 17">
            <a:extLst>
              <a:ext uri="{FF2B5EF4-FFF2-40B4-BE49-F238E27FC236}">
                <a16:creationId xmlns:a16="http://schemas.microsoft.com/office/drawing/2014/main" id="{D75C0B38-7ACD-E940-B252-89338E5FA251}"/>
              </a:ext>
            </a:extLst>
          </p:cNvPr>
          <p:cNvPicPr>
            <a:picLocks noChangeAspect="1"/>
          </p:cNvPicPr>
          <p:nvPr/>
        </p:nvPicPr>
        <p:blipFill rotWithShape="1">
          <a:blip r:embed="rId3"/>
          <a:srcRect r="22348" b="6888"/>
          <a:stretch/>
        </p:blipFill>
        <p:spPr>
          <a:xfrm>
            <a:off x="5222454" y="4529136"/>
            <a:ext cx="2965867" cy="240292"/>
          </a:xfrm>
          <a:prstGeom prst="rect">
            <a:avLst/>
          </a:prstGeom>
        </p:spPr>
      </p:pic>
      <p:sp>
        <p:nvSpPr>
          <p:cNvPr id="4" name="Espace réservé du numéro de diapositive 3">
            <a:extLst>
              <a:ext uri="{FF2B5EF4-FFF2-40B4-BE49-F238E27FC236}">
                <a16:creationId xmlns:a16="http://schemas.microsoft.com/office/drawing/2014/main" id="{4064A228-74F4-1048-FEA1-FA22F4F64CFA}"/>
              </a:ext>
            </a:extLst>
          </p:cNvPr>
          <p:cNvSpPr>
            <a:spLocks noGrp="1"/>
          </p:cNvSpPr>
          <p:nvPr>
            <p:ph type="sldNum" sz="quarter" idx="12"/>
          </p:nvPr>
        </p:nvSpPr>
        <p:spPr/>
        <p:txBody>
          <a:bodyPr/>
          <a:lstStyle/>
          <a:p>
            <a:fld id="{B6E69D5D-3C54-E347-B3D4-70BDFA7C6521}" type="slidenum">
              <a:rPr lang="fr-FR" smtClean="0"/>
              <a:t>76</a:t>
            </a:fld>
            <a:endParaRPr lang="fr-FR"/>
          </a:p>
        </p:txBody>
      </p:sp>
    </p:spTree>
    <p:extLst>
      <p:ext uri="{BB962C8B-B14F-4D97-AF65-F5344CB8AC3E}">
        <p14:creationId xmlns:p14="http://schemas.microsoft.com/office/powerpoint/2010/main" val="33003170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cteur droit 15"/>
          <p:cNvCxnSpPr>
            <a:cxnSpLocks/>
          </p:cNvCxnSpPr>
          <p:nvPr/>
        </p:nvCxnSpPr>
        <p:spPr>
          <a:xfrm>
            <a:off x="779318" y="1057217"/>
            <a:ext cx="7491846"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6084247" y="4288832"/>
            <a:ext cx="143553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42">
            <a:extLst>
              <a:ext uri="{FF2B5EF4-FFF2-40B4-BE49-F238E27FC236}">
                <a16:creationId xmlns:a16="http://schemas.microsoft.com/office/drawing/2014/main" id="{CE088388-A506-C343-9A97-3376626DA156}"/>
              </a:ext>
            </a:extLst>
          </p:cNvPr>
          <p:cNvCxnSpPr/>
          <p:nvPr/>
        </p:nvCxnSpPr>
        <p:spPr>
          <a:xfrm flipV="1">
            <a:off x="5658210" y="4471325"/>
            <a:ext cx="0" cy="305223"/>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Espace réservé du numéro de diapositive 1">
            <a:extLst>
              <a:ext uri="{FF2B5EF4-FFF2-40B4-BE49-F238E27FC236}">
                <a16:creationId xmlns:a16="http://schemas.microsoft.com/office/drawing/2014/main" id="{D1DEE718-7E62-1847-BDB6-AADEB5173070}"/>
              </a:ext>
            </a:extLst>
          </p:cNvPr>
          <p:cNvSpPr>
            <a:spLocks noGrp="1"/>
          </p:cNvSpPr>
          <p:nvPr>
            <p:ph type="sldNum" sz="quarter" idx="12"/>
          </p:nvPr>
        </p:nvSpPr>
        <p:spPr/>
        <p:txBody>
          <a:bodyPr/>
          <a:lstStyle/>
          <a:p>
            <a:fld id="{B6E69D5D-3C54-E347-B3D4-70BDFA7C6521}" type="slidenum">
              <a:rPr lang="fr-FR" smtClean="0"/>
              <a:t>77</a:t>
            </a:fld>
            <a:endParaRPr lang="fr-FR"/>
          </a:p>
        </p:txBody>
      </p:sp>
      <p:sp>
        <p:nvSpPr>
          <p:cNvPr id="3" name="ZoneTexte 2">
            <a:extLst>
              <a:ext uri="{FF2B5EF4-FFF2-40B4-BE49-F238E27FC236}">
                <a16:creationId xmlns:a16="http://schemas.microsoft.com/office/drawing/2014/main" id="{E0244DC4-6C4C-E597-2027-B01B6C10DE5E}"/>
              </a:ext>
            </a:extLst>
          </p:cNvPr>
          <p:cNvSpPr txBox="1"/>
          <p:nvPr/>
        </p:nvSpPr>
        <p:spPr>
          <a:xfrm>
            <a:off x="341833" y="1905502"/>
            <a:ext cx="7929332" cy="1694438"/>
          </a:xfrm>
          <a:prstGeom prst="rect">
            <a:avLst/>
          </a:prstGeom>
          <a:noFill/>
        </p:spPr>
        <p:txBody>
          <a:bodyPr wrap="square" rtlCol="0">
            <a:spAutoFit/>
          </a:bodyPr>
          <a:lstStyle/>
          <a:p>
            <a:pPr algn="r">
              <a:lnSpc>
                <a:spcPct val="70000"/>
              </a:lnSpc>
            </a:pPr>
            <a:r>
              <a:rPr lang="fr-FR" sz="2400" b="1" dirty="0">
                <a:latin typeface="Arial"/>
                <a:cs typeface="Arial"/>
              </a:rPr>
              <a:t>Part III: </a:t>
            </a:r>
            <a:r>
              <a:rPr lang="fr-FR" sz="2400" b="1" dirty="0" err="1">
                <a:latin typeface="Arial"/>
                <a:cs typeface="Arial"/>
              </a:rPr>
              <a:t>Practical</a:t>
            </a:r>
            <a:r>
              <a:rPr lang="fr-FR" sz="2400" b="1" dirty="0">
                <a:latin typeface="Arial"/>
                <a:cs typeface="Arial"/>
              </a:rPr>
              <a:t> Session</a:t>
            </a:r>
          </a:p>
          <a:p>
            <a:pPr algn="r">
              <a:lnSpc>
                <a:spcPct val="70000"/>
              </a:lnSpc>
            </a:pPr>
            <a:endParaRPr lang="fr-FR" sz="2700" b="1" dirty="0">
              <a:solidFill>
                <a:schemeClr val="bg1"/>
              </a:solidFill>
              <a:latin typeface="Arial"/>
              <a:cs typeface="Arial"/>
            </a:endParaRPr>
          </a:p>
          <a:p>
            <a:pPr algn="r">
              <a:lnSpc>
                <a:spcPct val="70000"/>
              </a:lnSpc>
            </a:pPr>
            <a:r>
              <a:rPr lang="fr-FR" sz="2100" i="1" dirty="0" err="1">
                <a:latin typeface="Arial"/>
                <a:cs typeface="Arial"/>
              </a:rPr>
              <a:t>Modelling</a:t>
            </a:r>
            <a:r>
              <a:rPr lang="fr-FR" sz="2100" i="1" dirty="0">
                <a:latin typeface="Arial"/>
                <a:cs typeface="Arial"/>
              </a:rPr>
              <a:t> and </a:t>
            </a:r>
            <a:r>
              <a:rPr lang="fr-FR" sz="2100" i="1" dirty="0" err="1">
                <a:latin typeface="Arial"/>
                <a:cs typeface="Arial"/>
              </a:rPr>
              <a:t>predicting</a:t>
            </a:r>
            <a:r>
              <a:rPr lang="fr-FR" sz="2100" i="1" dirty="0">
                <a:latin typeface="Arial"/>
                <a:cs typeface="Arial"/>
              </a:rPr>
              <a:t> </a:t>
            </a:r>
            <a:r>
              <a:rPr lang="fr-FR" sz="2100" i="1" dirty="0" err="1">
                <a:latin typeface="Arial"/>
                <a:cs typeface="Arial"/>
              </a:rPr>
              <a:t>disease</a:t>
            </a:r>
            <a:r>
              <a:rPr lang="fr-FR" sz="2100" i="1" dirty="0">
                <a:latin typeface="Arial"/>
                <a:cs typeface="Arial"/>
              </a:rPr>
              <a:t> progression</a:t>
            </a:r>
          </a:p>
          <a:p>
            <a:pPr algn="r">
              <a:lnSpc>
                <a:spcPct val="70000"/>
              </a:lnSpc>
            </a:pPr>
            <a:endParaRPr lang="fr-FR" sz="2100" i="1" dirty="0">
              <a:latin typeface="Arial"/>
              <a:cs typeface="Arial"/>
            </a:endParaRPr>
          </a:p>
          <a:p>
            <a:pPr algn="r"/>
            <a:r>
              <a:rPr lang="fr-FR" sz="2100" i="1" dirty="0">
                <a:latin typeface="Arial" panose="020B0604020202020204" pitchFamily="34" charset="0"/>
                <a:cs typeface="Arial" panose="020B0604020202020204" pitchFamily="34" charset="0"/>
              </a:rPr>
              <a:t>5. Conclusion</a:t>
            </a:r>
          </a:p>
          <a:p>
            <a:pPr algn="r">
              <a:lnSpc>
                <a:spcPct val="70000"/>
              </a:lnSpc>
            </a:pPr>
            <a:endParaRPr lang="fr-FR" sz="2100" i="1" dirty="0">
              <a:latin typeface="Arial"/>
              <a:cs typeface="Arial"/>
            </a:endParaRPr>
          </a:p>
        </p:txBody>
      </p:sp>
    </p:spTree>
    <p:extLst>
      <p:ext uri="{BB962C8B-B14F-4D97-AF65-F5344CB8AC3E}">
        <p14:creationId xmlns:p14="http://schemas.microsoft.com/office/powerpoint/2010/main" val="16794993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AC6E596-41FD-D649-8838-C72ADEFC0045}"/>
              </a:ext>
            </a:extLst>
          </p:cNvPr>
          <p:cNvSpPr>
            <a:spLocks noGrp="1"/>
          </p:cNvSpPr>
          <p:nvPr>
            <p:ph type="body" sz="quarter" idx="10"/>
          </p:nvPr>
        </p:nvSpPr>
        <p:spPr/>
        <p:txBody>
          <a:bodyPr/>
          <a:lstStyle/>
          <a:p>
            <a:r>
              <a:rPr lang="fr-FR" dirty="0"/>
              <a:t>Conclusion</a:t>
            </a:r>
          </a:p>
        </p:txBody>
      </p:sp>
      <p:sp>
        <p:nvSpPr>
          <p:cNvPr id="3" name="Espace réservé du texte 2">
            <a:extLst>
              <a:ext uri="{FF2B5EF4-FFF2-40B4-BE49-F238E27FC236}">
                <a16:creationId xmlns:a16="http://schemas.microsoft.com/office/drawing/2014/main" id="{81A4F36F-4B29-5D41-9BC9-7ED51A624B5E}"/>
              </a:ext>
            </a:extLst>
          </p:cNvPr>
          <p:cNvSpPr>
            <a:spLocks noGrp="1"/>
          </p:cNvSpPr>
          <p:nvPr>
            <p:ph type="body" sz="quarter" idx="11"/>
          </p:nvPr>
        </p:nvSpPr>
        <p:spPr/>
        <p:txBody>
          <a:bodyPr/>
          <a:lstStyle/>
          <a:p>
            <a:r>
              <a:rPr lang="fr-FR" dirty="0" err="1"/>
              <a:t>Take</a:t>
            </a:r>
            <a:r>
              <a:rPr lang="fr-FR" dirty="0"/>
              <a:t> home messages</a:t>
            </a:r>
          </a:p>
        </p:txBody>
      </p:sp>
      <p:sp>
        <p:nvSpPr>
          <p:cNvPr id="9" name="Espace réservé du texte 3">
            <a:extLst>
              <a:ext uri="{FF2B5EF4-FFF2-40B4-BE49-F238E27FC236}">
                <a16:creationId xmlns:a16="http://schemas.microsoft.com/office/drawing/2014/main" id="{809F80E3-750E-EE46-9AA8-FC899567CAB5}"/>
              </a:ext>
            </a:extLst>
          </p:cNvPr>
          <p:cNvSpPr txBox="1">
            <a:spLocks/>
          </p:cNvSpPr>
          <p:nvPr/>
        </p:nvSpPr>
        <p:spPr>
          <a:xfrm>
            <a:off x="476252" y="578918"/>
            <a:ext cx="8065076" cy="608208"/>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err="1">
                <a:latin typeface="+mj-lt"/>
              </a:rPr>
              <a:t>Leaspy</a:t>
            </a:r>
            <a:r>
              <a:rPr lang="fr-FR" sz="2100" dirty="0">
                <a:latin typeface="+mj-lt"/>
              </a:rPr>
              <a:t> </a:t>
            </a:r>
            <a:r>
              <a:rPr lang="fr-FR" sz="2100" dirty="0" err="1">
                <a:latin typeface="+mj-lt"/>
              </a:rPr>
              <a:t>is</a:t>
            </a:r>
            <a:r>
              <a:rPr lang="fr-FR" sz="2100" dirty="0">
                <a:latin typeface="+mj-lt"/>
              </a:rPr>
              <a:t> a good </a:t>
            </a:r>
            <a:r>
              <a:rPr lang="fr-FR" sz="2100" dirty="0" err="1">
                <a:latin typeface="+mj-lt"/>
              </a:rPr>
              <a:t>tool</a:t>
            </a:r>
            <a:r>
              <a:rPr lang="fr-FR" sz="2100" dirty="0">
                <a:latin typeface="+mj-lt"/>
              </a:rPr>
              <a:t> to </a:t>
            </a:r>
            <a:r>
              <a:rPr lang="fr-FR" sz="2100" dirty="0" err="1">
                <a:latin typeface="+mj-lt"/>
              </a:rPr>
              <a:t>handle</a:t>
            </a:r>
            <a:r>
              <a:rPr lang="fr-FR" sz="2100" dirty="0">
                <a:latin typeface="+mj-lt"/>
              </a:rPr>
              <a:t> </a:t>
            </a:r>
            <a:r>
              <a:rPr lang="fr-FR" sz="2100" dirty="0" err="1">
                <a:latin typeface="+mj-lt"/>
              </a:rPr>
              <a:t>medical</a:t>
            </a:r>
            <a:r>
              <a:rPr lang="fr-FR" sz="2100" dirty="0">
                <a:latin typeface="+mj-lt"/>
              </a:rPr>
              <a:t> longitudinal data, </a:t>
            </a:r>
            <a:r>
              <a:rPr lang="fr-FR" sz="2100" dirty="0" err="1">
                <a:latin typeface="+mj-lt"/>
              </a:rPr>
              <a:t>it</a:t>
            </a:r>
            <a:r>
              <a:rPr lang="fr-FR" sz="2100" dirty="0">
                <a:latin typeface="+mj-lt"/>
              </a:rPr>
              <a:t> </a:t>
            </a:r>
            <a:r>
              <a:rPr lang="fr-FR" sz="2100" dirty="0" err="1">
                <a:latin typeface="+mj-lt"/>
              </a:rPr>
              <a:t>allows</a:t>
            </a:r>
            <a:r>
              <a:rPr lang="fr-FR" sz="2100" dirty="0">
                <a:latin typeface="+mj-lt"/>
              </a:rPr>
              <a:t> </a:t>
            </a:r>
            <a:r>
              <a:rPr lang="fr-FR" sz="2100" dirty="0" err="1">
                <a:latin typeface="+mj-lt"/>
              </a:rPr>
              <a:t>you</a:t>
            </a:r>
            <a:r>
              <a:rPr lang="fr-FR" sz="2100" dirty="0">
                <a:latin typeface="+mj-lt"/>
              </a:rPr>
              <a:t> to :</a:t>
            </a:r>
          </a:p>
        </p:txBody>
      </p:sp>
      <p:sp>
        <p:nvSpPr>
          <p:cNvPr id="20" name="Espace réservé du texte 3">
            <a:extLst>
              <a:ext uri="{FF2B5EF4-FFF2-40B4-BE49-F238E27FC236}">
                <a16:creationId xmlns:a16="http://schemas.microsoft.com/office/drawing/2014/main" id="{FBC35449-EEA5-B341-B9F9-81617612D0F9}"/>
              </a:ext>
            </a:extLst>
          </p:cNvPr>
          <p:cNvSpPr txBox="1">
            <a:spLocks/>
          </p:cNvSpPr>
          <p:nvPr/>
        </p:nvSpPr>
        <p:spPr>
          <a:xfrm>
            <a:off x="2209803" y="3988628"/>
            <a:ext cx="3018016" cy="608209"/>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err="1">
                <a:latin typeface="+mj-lt"/>
              </a:rPr>
              <a:t>Simulate</a:t>
            </a:r>
            <a:r>
              <a:rPr lang="fr-FR" sz="2100" dirty="0">
                <a:latin typeface="+mj-lt"/>
              </a:rPr>
              <a:t> data. </a:t>
            </a:r>
          </a:p>
        </p:txBody>
      </p:sp>
      <p:sp>
        <p:nvSpPr>
          <p:cNvPr id="23" name="Espace réservé du texte 3">
            <a:extLst>
              <a:ext uri="{FF2B5EF4-FFF2-40B4-BE49-F238E27FC236}">
                <a16:creationId xmlns:a16="http://schemas.microsoft.com/office/drawing/2014/main" id="{E106DEC8-D92A-C148-95A9-C1D17A9654DC}"/>
              </a:ext>
            </a:extLst>
          </p:cNvPr>
          <p:cNvSpPr txBox="1">
            <a:spLocks/>
          </p:cNvSpPr>
          <p:nvPr/>
        </p:nvSpPr>
        <p:spPr>
          <a:xfrm>
            <a:off x="2209803" y="3101905"/>
            <a:ext cx="4028857" cy="546294"/>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err="1">
                <a:latin typeface="+mj-lt"/>
              </a:rPr>
              <a:t>Extract</a:t>
            </a:r>
            <a:r>
              <a:rPr lang="fr-FR" sz="2100" dirty="0">
                <a:latin typeface="+mj-lt"/>
              </a:rPr>
              <a:t> </a:t>
            </a:r>
            <a:r>
              <a:rPr lang="fr-FR" sz="2100" dirty="0" err="1">
                <a:latin typeface="+mj-lt"/>
              </a:rPr>
              <a:t>interpretable</a:t>
            </a:r>
            <a:r>
              <a:rPr lang="fr-FR" sz="2100" dirty="0">
                <a:latin typeface="+mj-lt"/>
              </a:rPr>
              <a:t> information,</a:t>
            </a:r>
          </a:p>
        </p:txBody>
      </p:sp>
      <p:sp>
        <p:nvSpPr>
          <p:cNvPr id="24" name="Espace réservé du texte 3">
            <a:extLst>
              <a:ext uri="{FF2B5EF4-FFF2-40B4-BE49-F238E27FC236}">
                <a16:creationId xmlns:a16="http://schemas.microsoft.com/office/drawing/2014/main" id="{4193D9CF-E092-E848-8114-58C1A6D9CC6D}"/>
              </a:ext>
            </a:extLst>
          </p:cNvPr>
          <p:cNvSpPr txBox="1">
            <a:spLocks/>
          </p:cNvSpPr>
          <p:nvPr/>
        </p:nvSpPr>
        <p:spPr>
          <a:xfrm>
            <a:off x="2209803" y="2199115"/>
            <a:ext cx="3401993" cy="457413"/>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100" dirty="0" err="1">
                <a:latin typeface="+mj-lt"/>
              </a:rPr>
              <a:t>Predict</a:t>
            </a:r>
            <a:r>
              <a:rPr lang="fr-FR" sz="2100" dirty="0">
                <a:latin typeface="+mj-lt"/>
              </a:rPr>
              <a:t> </a:t>
            </a:r>
            <a:r>
              <a:rPr lang="fr-FR" sz="2100" dirty="0" err="1">
                <a:latin typeface="+mj-lt"/>
              </a:rPr>
              <a:t>disease</a:t>
            </a:r>
            <a:r>
              <a:rPr lang="fr-FR" sz="2100" dirty="0">
                <a:latin typeface="+mj-lt"/>
              </a:rPr>
              <a:t> progression,</a:t>
            </a:r>
          </a:p>
        </p:txBody>
      </p:sp>
      <p:pic>
        <p:nvPicPr>
          <p:cNvPr id="6146" name="Picture 2" descr="Simulation Isolated Icon. Simple Element Illustration from Programming  Concept Icons. Simulation Editable Logo Sign Symbol Design Stock Vector -  Illustration of isolated, design: 142291466">
            <a:extLst>
              <a:ext uri="{FF2B5EF4-FFF2-40B4-BE49-F238E27FC236}">
                <a16:creationId xmlns:a16="http://schemas.microsoft.com/office/drawing/2014/main" id="{FABE84E7-C40B-384A-BA87-F2A3F382B0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100" t="15423" r="23205" b="24908"/>
          <a:stretch/>
        </p:blipFill>
        <p:spPr bwMode="auto">
          <a:xfrm>
            <a:off x="1172763" y="3898507"/>
            <a:ext cx="658118" cy="71794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redict Logo Images, Stock Photos &amp;amp; Vectors | Shutterstock">
            <a:extLst>
              <a:ext uri="{FF2B5EF4-FFF2-40B4-BE49-F238E27FC236}">
                <a16:creationId xmlns:a16="http://schemas.microsoft.com/office/drawing/2014/main" id="{035E4C5C-F287-A547-9EA9-59095962CB1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20722" t="21071" r="20432" b="37947"/>
          <a:stretch/>
        </p:blipFill>
        <p:spPr bwMode="auto">
          <a:xfrm>
            <a:off x="1079601" y="2199115"/>
            <a:ext cx="957265" cy="71794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Définissez et extrayez facilement des données de PDF avec pdf2Data - iText">
            <a:extLst>
              <a:ext uri="{FF2B5EF4-FFF2-40B4-BE49-F238E27FC236}">
                <a16:creationId xmlns:a16="http://schemas.microsoft.com/office/drawing/2014/main" id="{003053D4-EE86-8B49-B813-1BF83633682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948692" y="2943725"/>
            <a:ext cx="1096741" cy="862654"/>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FFBF77D0-F5F0-EC42-8CF2-D936F017D06E}"/>
              </a:ext>
            </a:extLst>
          </p:cNvPr>
          <p:cNvSpPr txBox="1"/>
          <p:nvPr/>
        </p:nvSpPr>
        <p:spPr>
          <a:xfrm>
            <a:off x="2212180" y="1472959"/>
            <a:ext cx="6329148" cy="738664"/>
          </a:xfrm>
          <a:prstGeom prst="rect">
            <a:avLst/>
          </a:prstGeom>
          <a:noFill/>
        </p:spPr>
        <p:txBody>
          <a:bodyPr wrap="square" rtlCol="0">
            <a:spAutoFit/>
          </a:bodyPr>
          <a:lstStyle/>
          <a:p>
            <a:r>
              <a:rPr lang="fr-FR" sz="2100" dirty="0" err="1">
                <a:solidFill>
                  <a:srgbClr val="7030A0"/>
                </a:solidFill>
                <a:latin typeface="+mj-lt"/>
              </a:rPr>
              <a:t>Get</a:t>
            </a:r>
            <a:r>
              <a:rPr lang="fr-FR" sz="2100" dirty="0">
                <a:solidFill>
                  <a:srgbClr val="7030A0"/>
                </a:solidFill>
                <a:latin typeface="+mj-lt"/>
              </a:rPr>
              <a:t> </a:t>
            </a:r>
            <a:r>
              <a:rPr lang="fr-FR" sz="2100" dirty="0" err="1">
                <a:solidFill>
                  <a:srgbClr val="7030A0"/>
                </a:solidFill>
                <a:latin typeface="+mj-lt"/>
              </a:rPr>
              <a:t>disease</a:t>
            </a:r>
            <a:r>
              <a:rPr lang="fr-FR" sz="2100" dirty="0">
                <a:solidFill>
                  <a:srgbClr val="7030A0"/>
                </a:solidFill>
                <a:latin typeface="+mj-lt"/>
              </a:rPr>
              <a:t> </a:t>
            </a:r>
            <a:r>
              <a:rPr lang="fr-FR" sz="2100" dirty="0" err="1">
                <a:solidFill>
                  <a:srgbClr val="7030A0"/>
                </a:solidFill>
                <a:latin typeface="+mj-lt"/>
              </a:rPr>
              <a:t>timeline</a:t>
            </a:r>
            <a:r>
              <a:rPr lang="fr-FR" sz="2100" dirty="0">
                <a:solidFill>
                  <a:srgbClr val="7030A0"/>
                </a:solidFill>
                <a:latin typeface="+mj-lt"/>
              </a:rPr>
              <a:t> </a:t>
            </a:r>
            <a:r>
              <a:rPr lang="fr-FR" sz="2100" dirty="0" err="1">
                <a:solidFill>
                  <a:srgbClr val="7030A0"/>
                </a:solidFill>
                <a:latin typeface="+mj-lt"/>
              </a:rPr>
              <a:t>with</a:t>
            </a:r>
            <a:r>
              <a:rPr lang="fr-FR" sz="2100" dirty="0">
                <a:solidFill>
                  <a:srgbClr val="7030A0"/>
                </a:solidFill>
                <a:latin typeface="+mj-lt"/>
              </a:rPr>
              <a:t> population </a:t>
            </a:r>
            <a:r>
              <a:rPr lang="fr-FR" sz="2100" dirty="0" err="1">
                <a:solidFill>
                  <a:srgbClr val="7030A0"/>
                </a:solidFill>
                <a:latin typeface="+mj-lt"/>
              </a:rPr>
              <a:t>disease</a:t>
            </a:r>
            <a:r>
              <a:rPr lang="fr-FR" sz="2100" dirty="0">
                <a:solidFill>
                  <a:srgbClr val="7030A0"/>
                </a:solidFill>
                <a:latin typeface="+mj-lt"/>
              </a:rPr>
              <a:t> progression</a:t>
            </a:r>
          </a:p>
        </p:txBody>
      </p:sp>
      <p:pic>
        <p:nvPicPr>
          <p:cNvPr id="1026" name="Picture 2" descr="Sigmoid Group - Home | Facebook">
            <a:extLst>
              <a:ext uri="{FF2B5EF4-FFF2-40B4-BE49-F238E27FC236}">
                <a16:creationId xmlns:a16="http://schemas.microsoft.com/office/drawing/2014/main" id="{0F642B2D-839A-9846-BCA4-F41D37381EC4}"/>
              </a:ext>
            </a:extLst>
          </p:cNvPr>
          <p:cNvPicPr>
            <a:picLocks noChangeAspect="1" noChangeArrowheads="1"/>
          </p:cNvPicPr>
          <p:nvPr/>
        </p:nvPicPr>
        <p:blipFill rotWithShape="1">
          <a:blip r:embed="rId7">
            <a:biLevel thresh="50000"/>
            <a:extLst>
              <a:ext uri="{28A0092B-C50C-407E-A947-70E740481C1C}">
                <a14:useLocalDpi xmlns:a14="http://schemas.microsoft.com/office/drawing/2010/main" val="0"/>
              </a:ext>
            </a:extLst>
          </a:blip>
          <a:srcRect t="12336" b="12339"/>
          <a:stretch/>
        </p:blipFill>
        <p:spPr bwMode="auto">
          <a:xfrm>
            <a:off x="1196772" y="1398682"/>
            <a:ext cx="781769" cy="58887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61634D77-E521-9AE1-8DEF-7167A9BB1A92}"/>
              </a:ext>
            </a:extLst>
          </p:cNvPr>
          <p:cNvSpPr>
            <a:spLocks noGrp="1"/>
          </p:cNvSpPr>
          <p:nvPr>
            <p:ph type="sldNum" sz="quarter" idx="12"/>
          </p:nvPr>
        </p:nvSpPr>
        <p:spPr/>
        <p:txBody>
          <a:bodyPr/>
          <a:lstStyle/>
          <a:p>
            <a:fld id="{B6E69D5D-3C54-E347-B3D4-70BDFA7C6521}" type="slidenum">
              <a:rPr lang="fr-FR" smtClean="0"/>
              <a:t>78</a:t>
            </a:fld>
            <a:endParaRPr lang="fr-FR"/>
          </a:p>
        </p:txBody>
      </p:sp>
    </p:spTree>
    <p:extLst>
      <p:ext uri="{BB962C8B-B14F-4D97-AF65-F5344CB8AC3E}">
        <p14:creationId xmlns:p14="http://schemas.microsoft.com/office/powerpoint/2010/main" val="364166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1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CC2694-3BA8-794A-9B5A-F18B42EEDE9A}"/>
              </a:ext>
            </a:extLst>
          </p:cNvPr>
          <p:cNvSpPr/>
          <p:nvPr/>
        </p:nvSpPr>
        <p:spPr>
          <a:xfrm>
            <a:off x="822814" y="1474241"/>
            <a:ext cx="7498373" cy="1015663"/>
          </a:xfrm>
          <a:prstGeom prst="rect">
            <a:avLst/>
          </a:prstGeom>
        </p:spPr>
        <p:txBody>
          <a:bodyPr wrap="square">
            <a:spAutoFit/>
          </a:bodyPr>
          <a:lstStyle/>
          <a:p>
            <a:pPr algn="ctr"/>
            <a:r>
              <a:rPr lang="en-GB" sz="3000" dirty="0">
                <a:solidFill>
                  <a:srgbClr val="7030A0"/>
                </a:solidFill>
                <a:latin typeface="+mj-lt"/>
              </a:rPr>
              <a:t>Thank you for your attention, and don’t forget to fill the </a:t>
            </a:r>
            <a:r>
              <a:rPr lang="en-GB" sz="3000" dirty="0">
                <a:solidFill>
                  <a:srgbClr val="7030A0"/>
                </a:solidFill>
                <a:latin typeface="+mj-lt"/>
                <a:hlinkClick r:id="rId2"/>
              </a:rPr>
              <a:t>survey</a:t>
            </a:r>
            <a:r>
              <a:rPr lang="en-GB" sz="3000" dirty="0">
                <a:solidFill>
                  <a:srgbClr val="7030A0"/>
                </a:solidFill>
                <a:latin typeface="+mj-lt"/>
              </a:rPr>
              <a:t> !</a:t>
            </a:r>
          </a:p>
        </p:txBody>
      </p:sp>
      <p:sp>
        <p:nvSpPr>
          <p:cNvPr id="12" name="Espace réservé du texte 6">
            <a:extLst>
              <a:ext uri="{FF2B5EF4-FFF2-40B4-BE49-F238E27FC236}">
                <a16:creationId xmlns:a16="http://schemas.microsoft.com/office/drawing/2014/main" id="{2B36F42A-D853-844B-A393-F2CCF5D9D5BB}"/>
              </a:ext>
            </a:extLst>
          </p:cNvPr>
          <p:cNvSpPr txBox="1">
            <a:spLocks/>
          </p:cNvSpPr>
          <p:nvPr/>
        </p:nvSpPr>
        <p:spPr>
          <a:xfrm>
            <a:off x="2637462" y="2896483"/>
            <a:ext cx="5280725" cy="484256"/>
          </a:xfrm>
          <a:prstGeom prst="rect">
            <a:avLst/>
          </a:prstGeom>
          <a:noFill/>
        </p:spPr>
        <p:txBody>
          <a:bodyPr vert="horz" lIns="68580" tIns="34290" rIns="68580" bIns="34290" rtlCol="0" anchor="ctr">
            <a:noAutofit/>
          </a:bodyPr>
          <a:lstStyle>
            <a:lvl1pPr marL="0" indent="0" algn="l" defTabSz="3027621" rtl="0" eaLnBrk="1" latinLnBrk="0" hangingPunct="1">
              <a:lnSpc>
                <a:spcPct val="90000"/>
              </a:lnSpc>
              <a:spcBef>
                <a:spcPts val="3312"/>
              </a:spcBef>
              <a:buFontTx/>
              <a:buNone/>
              <a:defRPr sz="2500" kern="1200">
                <a:solidFill>
                  <a:schemeClr val="bg1"/>
                </a:solidFill>
                <a:latin typeface="Nexa Bold" charset="0"/>
                <a:ea typeface="Nexa Bold" charset="0"/>
                <a:cs typeface="Nexa Bold" charset="0"/>
              </a:defRPr>
            </a:lvl1pPr>
            <a:lvl2pPr marL="2270716" indent="-756906" algn="l" defTabSz="3027621" rtl="0" eaLnBrk="1" latinLnBrk="0" hangingPunct="1">
              <a:lnSpc>
                <a:spcPct val="90000"/>
              </a:lnSpc>
              <a:spcBef>
                <a:spcPts val="1655"/>
              </a:spcBef>
              <a:buFont typeface="Arial" panose="020B0604020202020204" pitchFamily="34" charset="0"/>
              <a:buChar char="•"/>
              <a:defRPr sz="7947" kern="1200">
                <a:solidFill>
                  <a:schemeClr val="tx1"/>
                </a:solidFill>
                <a:latin typeface="+mn-lt"/>
                <a:ea typeface="+mn-ea"/>
                <a:cs typeface="+mn-cs"/>
              </a:defRPr>
            </a:lvl2pPr>
            <a:lvl3pPr marL="3784527" indent="-756906" algn="l" defTabSz="3027621"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338"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4pPr>
            <a:lvl5pPr marL="6812149"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5pPr>
            <a:lvl6pPr marL="8325959"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6pPr>
            <a:lvl7pPr marL="9839771"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7pPr>
            <a:lvl8pPr marL="11353581"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8pPr>
            <a:lvl9pPr marL="12867392"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9pPr>
          </a:lstStyle>
          <a:p>
            <a:pPr>
              <a:defRPr/>
            </a:pPr>
            <a:r>
              <a:rPr lang="en-AU" sz="1650" u="sng" dirty="0">
                <a:solidFill>
                  <a:srgbClr val="0070C0"/>
                </a:solidFill>
                <a:hlinkClick r:id="rId3"/>
              </a:rPr>
              <a:t>gitlab.com/</a:t>
            </a:r>
            <a:r>
              <a:rPr lang="en-AU" sz="1650" u="sng" dirty="0" err="1">
                <a:solidFill>
                  <a:srgbClr val="0070C0"/>
                </a:solidFill>
                <a:hlinkClick r:id="rId3"/>
              </a:rPr>
              <a:t>icm</a:t>
            </a:r>
            <a:r>
              <a:rPr lang="en-AU" sz="1650" u="sng" dirty="0">
                <a:solidFill>
                  <a:srgbClr val="0070C0"/>
                </a:solidFill>
                <a:hlinkClick r:id="rId3"/>
              </a:rPr>
              <a:t>-institute/</a:t>
            </a:r>
            <a:r>
              <a:rPr lang="en-AU" sz="1650" u="sng" dirty="0" err="1">
                <a:solidFill>
                  <a:srgbClr val="0070C0"/>
                </a:solidFill>
                <a:hlinkClick r:id="rId3"/>
              </a:rPr>
              <a:t>aramislab</a:t>
            </a:r>
            <a:r>
              <a:rPr lang="en-AU" sz="1650" u="sng" dirty="0">
                <a:solidFill>
                  <a:srgbClr val="0070C0"/>
                </a:solidFill>
                <a:hlinkClick r:id="rId3"/>
              </a:rPr>
              <a:t>/</a:t>
            </a:r>
            <a:r>
              <a:rPr lang="en-AU" sz="1650" u="sng" dirty="0" err="1">
                <a:solidFill>
                  <a:srgbClr val="0070C0"/>
                </a:solidFill>
                <a:hlinkClick r:id="rId3"/>
              </a:rPr>
              <a:t>leaspy</a:t>
            </a:r>
            <a:r>
              <a:rPr lang="en-AU" sz="1650" u="sng" dirty="0">
                <a:solidFill>
                  <a:srgbClr val="0070C0"/>
                </a:solidFill>
                <a:hlinkClick r:id="rId3"/>
              </a:rPr>
              <a:t> </a:t>
            </a:r>
            <a:endParaRPr lang="en-AU" sz="1650" u="sng" dirty="0">
              <a:solidFill>
                <a:srgbClr val="0070C0"/>
              </a:solidFill>
            </a:endParaRPr>
          </a:p>
        </p:txBody>
      </p:sp>
      <p:pic>
        <p:nvPicPr>
          <p:cNvPr id="13" name="Image 12">
            <a:extLst>
              <a:ext uri="{FF2B5EF4-FFF2-40B4-BE49-F238E27FC236}">
                <a16:creationId xmlns:a16="http://schemas.microsoft.com/office/drawing/2014/main" id="{5C36170A-3D1A-3845-877E-73611670D0E8}"/>
              </a:ext>
            </a:extLst>
          </p:cNvPr>
          <p:cNvPicPr>
            <a:picLocks noChangeAspect="1"/>
          </p:cNvPicPr>
          <p:nvPr/>
        </p:nvPicPr>
        <p:blipFill>
          <a:blip r:embed="rId4"/>
          <a:stretch>
            <a:fillRect/>
          </a:stretch>
        </p:blipFill>
        <p:spPr>
          <a:xfrm>
            <a:off x="1748339" y="2892250"/>
            <a:ext cx="640555" cy="488489"/>
          </a:xfrm>
          <a:prstGeom prst="rect">
            <a:avLst/>
          </a:prstGeom>
        </p:spPr>
      </p:pic>
      <p:sp>
        <p:nvSpPr>
          <p:cNvPr id="14" name="Espace réservé du texte 6">
            <a:extLst>
              <a:ext uri="{FF2B5EF4-FFF2-40B4-BE49-F238E27FC236}">
                <a16:creationId xmlns:a16="http://schemas.microsoft.com/office/drawing/2014/main" id="{3D3633C9-8471-7146-ACD1-1E611B0A4338}"/>
              </a:ext>
            </a:extLst>
          </p:cNvPr>
          <p:cNvSpPr txBox="1">
            <a:spLocks/>
          </p:cNvSpPr>
          <p:nvPr/>
        </p:nvSpPr>
        <p:spPr>
          <a:xfrm>
            <a:off x="2637462" y="3669260"/>
            <a:ext cx="5280725" cy="484256"/>
          </a:xfrm>
          <a:prstGeom prst="rect">
            <a:avLst/>
          </a:prstGeom>
          <a:noFill/>
        </p:spPr>
        <p:txBody>
          <a:bodyPr vert="horz" lIns="68580" tIns="34290" rIns="68580" bIns="34290" rtlCol="0" anchor="ctr">
            <a:noAutofit/>
          </a:bodyPr>
          <a:lstStyle>
            <a:lvl1pPr marL="0" indent="0" algn="l" defTabSz="3027621" rtl="0" eaLnBrk="1" latinLnBrk="0" hangingPunct="1">
              <a:lnSpc>
                <a:spcPct val="90000"/>
              </a:lnSpc>
              <a:spcBef>
                <a:spcPts val="3312"/>
              </a:spcBef>
              <a:buFontTx/>
              <a:buNone/>
              <a:defRPr sz="2500" kern="1200">
                <a:solidFill>
                  <a:schemeClr val="bg1"/>
                </a:solidFill>
                <a:latin typeface="Nexa Bold" charset="0"/>
                <a:ea typeface="Nexa Bold" charset="0"/>
                <a:cs typeface="Nexa Bold" charset="0"/>
              </a:defRPr>
            </a:lvl1pPr>
            <a:lvl2pPr marL="2270716" indent="-756906" algn="l" defTabSz="3027621" rtl="0" eaLnBrk="1" latinLnBrk="0" hangingPunct="1">
              <a:lnSpc>
                <a:spcPct val="90000"/>
              </a:lnSpc>
              <a:spcBef>
                <a:spcPts val="1655"/>
              </a:spcBef>
              <a:buFont typeface="Arial" panose="020B0604020202020204" pitchFamily="34" charset="0"/>
              <a:buChar char="•"/>
              <a:defRPr sz="7947" kern="1200">
                <a:solidFill>
                  <a:schemeClr val="tx1"/>
                </a:solidFill>
                <a:latin typeface="+mn-lt"/>
                <a:ea typeface="+mn-ea"/>
                <a:cs typeface="+mn-cs"/>
              </a:defRPr>
            </a:lvl2pPr>
            <a:lvl3pPr marL="3784527" indent="-756906" algn="l" defTabSz="3027621"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338"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4pPr>
            <a:lvl5pPr marL="6812149"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5pPr>
            <a:lvl6pPr marL="8325959"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6pPr>
            <a:lvl7pPr marL="9839771"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7pPr>
            <a:lvl8pPr marL="11353581"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8pPr>
            <a:lvl9pPr marL="12867392" indent="-756906" algn="l" defTabSz="3027621" rtl="0" eaLnBrk="1" latinLnBrk="0" hangingPunct="1">
              <a:lnSpc>
                <a:spcPct val="90000"/>
              </a:lnSpc>
              <a:spcBef>
                <a:spcPts val="1655"/>
              </a:spcBef>
              <a:buFont typeface="Arial" panose="020B0604020202020204" pitchFamily="34" charset="0"/>
              <a:buChar char="•"/>
              <a:defRPr sz="5961" kern="1200">
                <a:solidFill>
                  <a:schemeClr val="tx1"/>
                </a:solidFill>
                <a:latin typeface="+mn-lt"/>
                <a:ea typeface="+mn-ea"/>
                <a:cs typeface="+mn-cs"/>
              </a:defRPr>
            </a:lvl9pPr>
          </a:lstStyle>
          <a:p>
            <a:pPr>
              <a:defRPr/>
            </a:pPr>
            <a:r>
              <a:rPr lang="en-AU" sz="1650" u="sng" dirty="0">
                <a:solidFill>
                  <a:srgbClr val="0070C0"/>
                </a:solidFill>
                <a:hlinkClick r:id="rId5"/>
              </a:rPr>
              <a:t>www.aramislab.fr</a:t>
            </a:r>
            <a:endParaRPr lang="en-AU" sz="1650" u="sng" dirty="0">
              <a:solidFill>
                <a:srgbClr val="0070C0"/>
              </a:solidFill>
            </a:endParaRPr>
          </a:p>
        </p:txBody>
      </p:sp>
      <p:pic>
        <p:nvPicPr>
          <p:cNvPr id="15" name="Image 14">
            <a:extLst>
              <a:ext uri="{FF2B5EF4-FFF2-40B4-BE49-F238E27FC236}">
                <a16:creationId xmlns:a16="http://schemas.microsoft.com/office/drawing/2014/main" id="{8873AC8B-3423-DA45-8A28-2AB3997C27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3316" y="3631178"/>
            <a:ext cx="1105850" cy="522338"/>
          </a:xfrm>
          <a:prstGeom prst="rect">
            <a:avLst/>
          </a:prstGeom>
        </p:spPr>
      </p:pic>
      <p:pic>
        <p:nvPicPr>
          <p:cNvPr id="20" name="Picture 6" descr="French Institute for Research in Computer Science and Automation - Wikipedia">
            <a:extLst>
              <a:ext uri="{FF2B5EF4-FFF2-40B4-BE49-F238E27FC236}">
                <a16:creationId xmlns:a16="http://schemas.microsoft.com/office/drawing/2014/main" id="{B72A6301-C985-7543-8AFA-A9EA75D8CD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9942" y="116233"/>
            <a:ext cx="992641" cy="43367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Our Partners - Scipio">
            <a:extLst>
              <a:ext uri="{FF2B5EF4-FFF2-40B4-BE49-F238E27FC236}">
                <a16:creationId xmlns:a16="http://schemas.microsoft.com/office/drawing/2014/main" id="{D537EF46-4EAA-A644-ADBC-F196D6B7703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4400" b="34057"/>
          <a:stretch/>
        </p:blipFill>
        <p:spPr bwMode="auto">
          <a:xfrm>
            <a:off x="89796" y="98451"/>
            <a:ext cx="1319440" cy="416189"/>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BDCDB56-3B5F-A245-7115-DA7BEA51CFDF}"/>
              </a:ext>
            </a:extLst>
          </p:cNvPr>
          <p:cNvSpPr>
            <a:spLocks noGrp="1"/>
          </p:cNvSpPr>
          <p:nvPr>
            <p:ph type="sldNum" sz="quarter" idx="12"/>
          </p:nvPr>
        </p:nvSpPr>
        <p:spPr/>
        <p:txBody>
          <a:bodyPr/>
          <a:lstStyle/>
          <a:p>
            <a:fld id="{B6E69D5D-3C54-E347-B3D4-70BDFA7C6521}" type="slidenum">
              <a:rPr lang="fr-FR" smtClean="0"/>
              <a:t>79</a:t>
            </a:fld>
            <a:endParaRPr lang="fr-FR"/>
          </a:p>
        </p:txBody>
      </p:sp>
    </p:spTree>
    <p:extLst>
      <p:ext uri="{BB962C8B-B14F-4D97-AF65-F5344CB8AC3E}">
        <p14:creationId xmlns:p14="http://schemas.microsoft.com/office/powerpoint/2010/main" val="3784463449"/>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16230</TotalTime>
  <Words>3082</Words>
  <Application>Microsoft Macintosh PowerPoint</Application>
  <PresentationFormat>Affichage à l'écran (16:9)</PresentationFormat>
  <Paragraphs>758</Paragraphs>
  <Slides>79</Slides>
  <Notes>18</Notes>
  <HiddenSlides>0</HiddenSlides>
  <MMClips>2</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79</vt:i4>
      </vt:variant>
    </vt:vector>
  </HeadingPairs>
  <TitlesOfParts>
    <vt:vector size="89" baseType="lpstr">
      <vt:lpstr>Arial</vt:lpstr>
      <vt:lpstr>Avenir Book</vt:lpstr>
      <vt:lpstr>Calibri</vt:lpstr>
      <vt:lpstr>Cambria Math</vt:lpstr>
      <vt:lpstr>Helvetica</vt:lpstr>
      <vt:lpstr>Lucida Sans</vt:lpstr>
      <vt:lpstr>Nexa Bold</vt:lpstr>
      <vt:lpstr>Nexa Light</vt:lpstr>
      <vt:lpstr>Tahoma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test</dc:creator>
  <cp:lastModifiedBy>ORTHOLAND Juliette</cp:lastModifiedBy>
  <cp:revision>430</cp:revision>
  <dcterms:created xsi:type="dcterms:W3CDTF">2020-02-04T11:33:51Z</dcterms:created>
  <dcterms:modified xsi:type="dcterms:W3CDTF">2023-07-05T14:42:00Z</dcterms:modified>
</cp:coreProperties>
</file>