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7" r:id="rId2"/>
    <p:sldMasterId id="2147483674" r:id="rId3"/>
  </p:sldMasterIdLst>
  <p:sldIdLst>
    <p:sldId id="257" r:id="rId4"/>
    <p:sldId id="259" r:id="rId5"/>
    <p:sldId id="258" r:id="rId6"/>
    <p:sldId id="260" r:id="rId7"/>
    <p:sldId id="261" r:id="rId8"/>
    <p:sldId id="262" r:id="rId9"/>
    <p:sldId id="264" r:id="rId10"/>
    <p:sldId id="265" r:id="rId11"/>
    <p:sldId id="266" r:id="rId12"/>
    <p:sldId id="263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9"/>
  </p:normalViewPr>
  <p:slideViewPr>
    <p:cSldViewPr snapToGrid="0" snapToObjects="1">
      <p:cViewPr>
        <p:scale>
          <a:sx n="105" d="100"/>
          <a:sy n="105" d="100"/>
        </p:scale>
        <p:origin x="8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verture_suj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1530901" y="5496120"/>
            <a:ext cx="2024062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r>
              <a:rPr lang="fr-FR" dirty="0" err="1"/>
              <a:t>www.aramislab.com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74" y="2572848"/>
            <a:ext cx="533400" cy="177800"/>
          </a:xfrm>
          <a:prstGeom prst="rect">
            <a:avLst/>
          </a:prstGeom>
        </p:spPr>
      </p:pic>
      <p:sp>
        <p:nvSpPr>
          <p:cNvPr id="13" name="Espace réservé du texte 12"/>
          <p:cNvSpPr>
            <a:spLocks noGrp="1"/>
          </p:cNvSpPr>
          <p:nvPr>
            <p:ph type="body" sz="quarter" idx="12"/>
          </p:nvPr>
        </p:nvSpPr>
        <p:spPr>
          <a:xfrm>
            <a:off x="4745038" y="2943225"/>
            <a:ext cx="5554662" cy="72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4745038" y="5178880"/>
            <a:ext cx="5554662" cy="3075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rgbClr val="00AFD7"/>
                </a:solidFill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4745038" y="5482890"/>
            <a:ext cx="5554662" cy="560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 i="0">
                <a:solidFill>
                  <a:schemeClr val="tx1"/>
                </a:solidFill>
                <a:effectLst/>
                <a:latin typeface="DIN-Regular" charset="0"/>
                <a:ea typeface="DIN-Regular" charset="0"/>
                <a:cs typeface="DIN-Regular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1530901" y="5178880"/>
            <a:ext cx="1511300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fld id="{E7D51270-E8B1-0F4A-A828-D52D23DC52CD}" type="datetime4">
              <a:rPr lang="fr-FR" smtClean="0"/>
              <a:t>14 juin 2017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184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ouverture_suj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1530901" y="5496120"/>
            <a:ext cx="2024062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r>
              <a:rPr lang="fr-FR" dirty="0" err="1"/>
              <a:t>www.aramislab.com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74" y="2572848"/>
            <a:ext cx="533400" cy="177800"/>
          </a:xfrm>
          <a:prstGeom prst="rect">
            <a:avLst/>
          </a:prstGeom>
        </p:spPr>
      </p:pic>
      <p:sp>
        <p:nvSpPr>
          <p:cNvPr id="8" name="Espace réservé du texte 12"/>
          <p:cNvSpPr>
            <a:spLocks noGrp="1"/>
          </p:cNvSpPr>
          <p:nvPr>
            <p:ph type="body" sz="quarter" idx="12"/>
          </p:nvPr>
        </p:nvSpPr>
        <p:spPr>
          <a:xfrm>
            <a:off x="4745038" y="2943225"/>
            <a:ext cx="5554662" cy="72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4745038" y="2146300"/>
            <a:ext cx="5554662" cy="4265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0">
                <a:solidFill>
                  <a:srgbClr val="78D64B"/>
                </a:solidFill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  4"/>
          <p:cNvSpPr>
            <a:spLocks noGrp="1"/>
          </p:cNvSpPr>
          <p:nvPr>
            <p:ph type="pic" sz="quarter" idx="16"/>
          </p:nvPr>
        </p:nvSpPr>
        <p:spPr>
          <a:xfrm>
            <a:off x="4745038" y="4429125"/>
            <a:ext cx="1498600" cy="1498600"/>
          </a:xfrm>
          <a:prstGeom prst="ellipse">
            <a:avLst/>
          </a:prstGeom>
          <a:ln w="25400">
            <a:gradFill>
              <a:gsLst>
                <a:gs pos="0">
                  <a:srgbClr val="78D64B"/>
                </a:gs>
                <a:gs pos="100000">
                  <a:srgbClr val="00AFD7"/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  4"/>
          <p:cNvSpPr>
            <a:spLocks noGrp="1"/>
          </p:cNvSpPr>
          <p:nvPr>
            <p:ph type="pic" sz="quarter" idx="17"/>
          </p:nvPr>
        </p:nvSpPr>
        <p:spPr>
          <a:xfrm>
            <a:off x="6667967" y="4429125"/>
            <a:ext cx="1498600" cy="1498600"/>
          </a:xfrm>
          <a:prstGeom prst="ellipse">
            <a:avLst/>
          </a:prstGeom>
          <a:ln w="25400">
            <a:gradFill>
              <a:gsLst>
                <a:gs pos="0">
                  <a:srgbClr val="78D64B"/>
                </a:gs>
                <a:gs pos="100000">
                  <a:srgbClr val="00AFD7"/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1530901" y="5178880"/>
            <a:ext cx="1511300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fld id="{E7D51270-E8B1-0F4A-A828-D52D23DC52CD}" type="datetime4">
              <a:rPr lang="fr-FR" smtClean="0"/>
              <a:t>14 juin 2017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813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1530901" y="5496120"/>
            <a:ext cx="2024062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r>
              <a:rPr lang="fr-FR" dirty="0" err="1"/>
              <a:t>www.aramislab.com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74" y="1718968"/>
            <a:ext cx="533400" cy="177800"/>
          </a:xfrm>
          <a:prstGeom prst="rect">
            <a:avLst/>
          </a:prstGeom>
        </p:spPr>
      </p:pic>
      <p:sp>
        <p:nvSpPr>
          <p:cNvPr id="8" name="Espace réservé du texte 12"/>
          <p:cNvSpPr>
            <a:spLocks noGrp="1"/>
          </p:cNvSpPr>
          <p:nvPr>
            <p:ph type="body" sz="quarter" idx="12" hasCustomPrompt="1"/>
          </p:nvPr>
        </p:nvSpPr>
        <p:spPr>
          <a:xfrm>
            <a:off x="4745038" y="2089345"/>
            <a:ext cx="5859462" cy="34067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200" b="0"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METHODS				02</a:t>
            </a:r>
          </a:p>
          <a:p>
            <a:pPr lvl="0"/>
            <a:r>
              <a:rPr lang="fr-FR" dirty="0"/>
              <a:t>RESULTS				10</a:t>
            </a:r>
          </a:p>
          <a:p>
            <a:pPr lvl="0"/>
            <a:r>
              <a:rPr lang="fr-FR" dirty="0"/>
              <a:t>DISCUSSION				15</a:t>
            </a:r>
          </a:p>
          <a:p>
            <a:pPr lvl="0"/>
            <a:r>
              <a:rPr lang="fr-FR" dirty="0"/>
              <a:t>REFERENCES			30</a:t>
            </a:r>
          </a:p>
        </p:txBody>
      </p:sp>
      <p:sp>
        <p:nvSpPr>
          <p:cNvPr id="9" name="Espace réservé du texte 12"/>
          <p:cNvSpPr>
            <a:spLocks noGrp="1"/>
          </p:cNvSpPr>
          <p:nvPr>
            <p:ph type="body" sz="quarter" idx="13" hasCustomPrompt="1"/>
          </p:nvPr>
        </p:nvSpPr>
        <p:spPr>
          <a:xfrm>
            <a:off x="4745038" y="1292420"/>
            <a:ext cx="5554662" cy="4265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0">
                <a:solidFill>
                  <a:srgbClr val="78D64B"/>
                </a:solidFill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1530901" y="5178880"/>
            <a:ext cx="1511300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fld id="{E7D51270-E8B1-0F4A-A828-D52D23DC52CD}" type="datetime4">
              <a:rPr lang="fr-FR" smtClean="0"/>
              <a:t>14 juin 2017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575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Ouverture_suj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1530901" y="5496120"/>
            <a:ext cx="2024062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r>
              <a:rPr lang="fr-FR" dirty="0" err="1"/>
              <a:t>www.aramislab.com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74" y="2572848"/>
            <a:ext cx="533400" cy="177800"/>
          </a:xfrm>
          <a:prstGeom prst="rect">
            <a:avLst/>
          </a:prstGeom>
        </p:spPr>
      </p:pic>
      <p:sp>
        <p:nvSpPr>
          <p:cNvPr id="13" name="Espace réservé du texte 12"/>
          <p:cNvSpPr>
            <a:spLocks noGrp="1"/>
          </p:cNvSpPr>
          <p:nvPr>
            <p:ph type="body" sz="quarter" idx="12"/>
          </p:nvPr>
        </p:nvSpPr>
        <p:spPr>
          <a:xfrm>
            <a:off x="4745038" y="2943225"/>
            <a:ext cx="5554662" cy="72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4745038" y="5178880"/>
            <a:ext cx="5554662" cy="3075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rgbClr val="00AFD7"/>
                </a:solidFill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4745038" y="5482890"/>
            <a:ext cx="5554662" cy="560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 i="0">
                <a:solidFill>
                  <a:schemeClr val="tx1"/>
                </a:solidFill>
                <a:effectLst/>
                <a:latin typeface="DIN-Regular" charset="0"/>
                <a:ea typeface="DIN-Regular" charset="0"/>
                <a:cs typeface="DIN-Regular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1530901" y="5178880"/>
            <a:ext cx="1511300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fld id="{E7D51270-E8B1-0F4A-A828-D52D23DC52CD}" type="datetime4">
              <a:rPr lang="fr-FR" smtClean="0"/>
              <a:t>14 juin 2017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047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ouverture_suj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1530901" y="5178880"/>
            <a:ext cx="1511300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fld id="{E7D51270-E8B1-0F4A-A828-D52D23DC52CD}" type="datetime4">
              <a:rPr lang="fr-FR" smtClean="0"/>
              <a:t>14 juin 2017</a:t>
            </a:fld>
            <a:endParaRPr lang="fr-FR" dirty="0"/>
          </a:p>
        </p:txBody>
      </p:sp>
      <p:sp>
        <p:nvSpPr>
          <p:cNvPr id="4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1530901" y="5496120"/>
            <a:ext cx="2024062" cy="30752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Nexa Bold" charset="0"/>
                <a:ea typeface="Nexa Bold" charset="0"/>
                <a:cs typeface="Nexa Bold" charset="0"/>
              </a:defRPr>
            </a:lvl2pPr>
          </a:lstStyle>
          <a:p>
            <a:pPr lvl="0"/>
            <a:r>
              <a:rPr lang="fr-FR" dirty="0" err="1"/>
              <a:t>www.aramislab.com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74" y="2572848"/>
            <a:ext cx="533400" cy="177800"/>
          </a:xfrm>
          <a:prstGeom prst="rect">
            <a:avLst/>
          </a:prstGeom>
        </p:spPr>
      </p:pic>
      <p:sp>
        <p:nvSpPr>
          <p:cNvPr id="8" name="Espace réservé du texte 12"/>
          <p:cNvSpPr>
            <a:spLocks noGrp="1"/>
          </p:cNvSpPr>
          <p:nvPr>
            <p:ph type="body" sz="quarter" idx="12"/>
          </p:nvPr>
        </p:nvSpPr>
        <p:spPr>
          <a:xfrm>
            <a:off x="4745038" y="2943225"/>
            <a:ext cx="5554662" cy="72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4745038" y="2146300"/>
            <a:ext cx="5554662" cy="4265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0">
                <a:solidFill>
                  <a:srgbClr val="78D64B"/>
                </a:solidFill>
                <a:effectLst/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  4"/>
          <p:cNvSpPr>
            <a:spLocks noGrp="1"/>
          </p:cNvSpPr>
          <p:nvPr>
            <p:ph type="pic" sz="quarter" idx="16"/>
          </p:nvPr>
        </p:nvSpPr>
        <p:spPr>
          <a:xfrm>
            <a:off x="4745038" y="4429125"/>
            <a:ext cx="1498600" cy="1498600"/>
          </a:xfrm>
          <a:prstGeom prst="ellipse">
            <a:avLst/>
          </a:prstGeom>
          <a:ln w="25400">
            <a:gradFill>
              <a:gsLst>
                <a:gs pos="0">
                  <a:srgbClr val="78D64B"/>
                </a:gs>
                <a:gs pos="100000">
                  <a:srgbClr val="00AFD7"/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  4"/>
          <p:cNvSpPr>
            <a:spLocks noGrp="1"/>
          </p:cNvSpPr>
          <p:nvPr>
            <p:ph type="pic" sz="quarter" idx="17"/>
          </p:nvPr>
        </p:nvSpPr>
        <p:spPr>
          <a:xfrm>
            <a:off x="6667967" y="4429125"/>
            <a:ext cx="1498600" cy="1498600"/>
          </a:xfrm>
          <a:prstGeom prst="ellipse">
            <a:avLst/>
          </a:prstGeom>
          <a:ln w="25400">
            <a:gradFill>
              <a:gsLst>
                <a:gs pos="0">
                  <a:srgbClr val="78D64B"/>
                </a:gs>
                <a:gs pos="100000">
                  <a:srgbClr val="00AFD7"/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98453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549400"/>
            <a:ext cx="8013700" cy="3517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>
              <a:lnSpc>
                <a:spcPct val="80000"/>
              </a:lnSpc>
              <a:buFontTx/>
              <a:buNone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767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xt+im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549400"/>
            <a:ext cx="5003800" cy="3517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>
              <a:lnSpc>
                <a:spcPct val="80000"/>
              </a:lnSpc>
              <a:buFontTx/>
              <a:buNone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sz="quarter" idx="14"/>
          </p:nvPr>
        </p:nvSpPr>
        <p:spPr>
          <a:xfrm>
            <a:off x="6388100" y="1549400"/>
            <a:ext cx="4800600" cy="35179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5"/>
          </p:nvPr>
        </p:nvSpPr>
        <p:spPr>
          <a:xfrm>
            <a:off x="6388100" y="5324475"/>
            <a:ext cx="4800600" cy="2829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0"/>
          <p:cNvSpPr>
            <a:spLocks noGrp="1"/>
          </p:cNvSpPr>
          <p:nvPr>
            <p:ph type="body" sz="quarter" idx="16"/>
          </p:nvPr>
        </p:nvSpPr>
        <p:spPr>
          <a:xfrm>
            <a:off x="6388100" y="5609105"/>
            <a:ext cx="4800600" cy="390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9014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Texte +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549400"/>
            <a:ext cx="5245100" cy="1536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>
              <a:lnSpc>
                <a:spcPct val="80000"/>
              </a:lnSpc>
              <a:buFontTx/>
              <a:buNone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sz="quarter" idx="14"/>
          </p:nvPr>
        </p:nvSpPr>
        <p:spPr>
          <a:xfrm>
            <a:off x="1028700" y="3390900"/>
            <a:ext cx="10160000" cy="23812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5"/>
          </p:nvPr>
        </p:nvSpPr>
        <p:spPr>
          <a:xfrm>
            <a:off x="102870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16"/>
          </p:nvPr>
        </p:nvSpPr>
        <p:spPr>
          <a:xfrm>
            <a:off x="521335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7"/>
          </p:nvPr>
        </p:nvSpPr>
        <p:spPr>
          <a:xfrm>
            <a:off x="906780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9751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ext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110017"/>
            <a:ext cx="6987144" cy="60789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buFont typeface="Arial" charset="0"/>
              <a:buChar char="•"/>
              <a:defRPr sz="13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742950" indent="-285750">
              <a:lnSpc>
                <a:spcPct val="80000"/>
              </a:lnSpc>
              <a:buFont typeface="Arial" charset="0"/>
              <a:buChar char="•"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r>
              <a:rPr lang="fr-FR" dirty="0"/>
              <a:t>Texte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1982686"/>
            <a:ext cx="10934700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space réservé du texte 23"/>
          <p:cNvSpPr>
            <a:spLocks noGrp="1"/>
          </p:cNvSpPr>
          <p:nvPr>
            <p:ph type="body" sz="quarter" idx="23"/>
          </p:nvPr>
        </p:nvSpPr>
        <p:spPr>
          <a:xfrm>
            <a:off x="1028700" y="1984448"/>
            <a:ext cx="10541000" cy="291707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Espace réservé pour une image  36"/>
          <p:cNvSpPr>
            <a:spLocks noGrp="1"/>
          </p:cNvSpPr>
          <p:nvPr>
            <p:ph type="pic" sz="quarter" idx="18"/>
          </p:nvPr>
        </p:nvSpPr>
        <p:spPr>
          <a:xfrm>
            <a:off x="1028700" y="2501286"/>
            <a:ext cx="3436422" cy="1286954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000" y="4310253"/>
            <a:ext cx="10934700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space réservé du texte 23"/>
          <p:cNvSpPr>
            <a:spLocks noGrp="1"/>
          </p:cNvSpPr>
          <p:nvPr>
            <p:ph type="body" sz="quarter" idx="24"/>
          </p:nvPr>
        </p:nvSpPr>
        <p:spPr>
          <a:xfrm>
            <a:off x="1028700" y="4312015"/>
            <a:ext cx="10541000" cy="291707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" name="Connecteur droit 2"/>
          <p:cNvCxnSpPr/>
          <p:nvPr/>
        </p:nvCxnSpPr>
        <p:spPr>
          <a:xfrm>
            <a:off x="6032658" y="2385834"/>
            <a:ext cx="0" cy="1426156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7410196" y="2385834"/>
            <a:ext cx="0" cy="1426156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H="1">
            <a:off x="4750850" y="3038419"/>
            <a:ext cx="4048764" cy="0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/>
          <p:cNvSpPr>
            <a:spLocks noGrp="1"/>
          </p:cNvSpPr>
          <p:nvPr>
            <p:ph type="body" sz="quarter" idx="25"/>
          </p:nvPr>
        </p:nvSpPr>
        <p:spPr>
          <a:xfrm>
            <a:off x="6140263" y="250128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0" name="Espace réservé du texte 9"/>
          <p:cNvSpPr>
            <a:spLocks noGrp="1"/>
          </p:cNvSpPr>
          <p:nvPr>
            <p:ph type="body" sz="quarter" idx="26"/>
          </p:nvPr>
        </p:nvSpPr>
        <p:spPr>
          <a:xfrm>
            <a:off x="7505275" y="250128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1" name="Espace réservé du texte 9"/>
          <p:cNvSpPr>
            <a:spLocks noGrp="1"/>
          </p:cNvSpPr>
          <p:nvPr>
            <p:ph type="body" sz="quarter" idx="27"/>
          </p:nvPr>
        </p:nvSpPr>
        <p:spPr>
          <a:xfrm>
            <a:off x="7505275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2" name="Espace réservé du texte 9"/>
          <p:cNvSpPr>
            <a:spLocks noGrp="1"/>
          </p:cNvSpPr>
          <p:nvPr>
            <p:ph type="body" sz="quarter" idx="28"/>
          </p:nvPr>
        </p:nvSpPr>
        <p:spPr>
          <a:xfrm>
            <a:off x="6140263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3" name="Espace réservé du texte 9"/>
          <p:cNvSpPr>
            <a:spLocks noGrp="1"/>
          </p:cNvSpPr>
          <p:nvPr>
            <p:ph type="body" sz="quarter" idx="29"/>
          </p:nvPr>
        </p:nvSpPr>
        <p:spPr>
          <a:xfrm>
            <a:off x="4750850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5" name="Espace réservé du texte 9"/>
          <p:cNvSpPr>
            <a:spLocks noGrp="1"/>
          </p:cNvSpPr>
          <p:nvPr>
            <p:ph type="body" sz="quarter" idx="30"/>
          </p:nvPr>
        </p:nvSpPr>
        <p:spPr>
          <a:xfrm>
            <a:off x="9167820" y="2515932"/>
            <a:ext cx="2125614" cy="113123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3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6" name="Espace réservé du texte 9"/>
          <p:cNvSpPr>
            <a:spLocks noGrp="1"/>
          </p:cNvSpPr>
          <p:nvPr>
            <p:ph type="body" sz="quarter" idx="31"/>
          </p:nvPr>
        </p:nvSpPr>
        <p:spPr>
          <a:xfrm>
            <a:off x="1028700" y="3846607"/>
            <a:ext cx="1625600" cy="248126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8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8" name="Espace réservé pour une image  36"/>
          <p:cNvSpPr>
            <a:spLocks noGrp="1"/>
          </p:cNvSpPr>
          <p:nvPr>
            <p:ph type="pic" sz="quarter" idx="32"/>
          </p:nvPr>
        </p:nvSpPr>
        <p:spPr>
          <a:xfrm>
            <a:off x="1028700" y="4899226"/>
            <a:ext cx="3436422" cy="1286954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59" name="Connecteur droit 58"/>
          <p:cNvCxnSpPr/>
          <p:nvPr/>
        </p:nvCxnSpPr>
        <p:spPr>
          <a:xfrm flipH="1">
            <a:off x="4750850" y="5436359"/>
            <a:ext cx="4048764" cy="0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9"/>
          <p:cNvSpPr>
            <a:spLocks noGrp="1"/>
          </p:cNvSpPr>
          <p:nvPr>
            <p:ph type="body" sz="quarter" idx="33"/>
          </p:nvPr>
        </p:nvSpPr>
        <p:spPr>
          <a:xfrm>
            <a:off x="6140263" y="489922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1" name="Espace réservé du texte 9"/>
          <p:cNvSpPr>
            <a:spLocks noGrp="1"/>
          </p:cNvSpPr>
          <p:nvPr>
            <p:ph type="body" sz="quarter" idx="34"/>
          </p:nvPr>
        </p:nvSpPr>
        <p:spPr>
          <a:xfrm>
            <a:off x="7505275" y="489922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2" name="Espace réservé du texte 9"/>
          <p:cNvSpPr>
            <a:spLocks noGrp="1"/>
          </p:cNvSpPr>
          <p:nvPr>
            <p:ph type="body" sz="quarter" idx="35"/>
          </p:nvPr>
        </p:nvSpPr>
        <p:spPr>
          <a:xfrm>
            <a:off x="7505275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3" name="Espace réservé du texte 9"/>
          <p:cNvSpPr>
            <a:spLocks noGrp="1"/>
          </p:cNvSpPr>
          <p:nvPr>
            <p:ph type="body" sz="quarter" idx="36"/>
          </p:nvPr>
        </p:nvSpPr>
        <p:spPr>
          <a:xfrm>
            <a:off x="6140263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4" name="Espace réservé du texte 9"/>
          <p:cNvSpPr>
            <a:spLocks noGrp="1"/>
          </p:cNvSpPr>
          <p:nvPr>
            <p:ph type="body" sz="quarter" idx="37"/>
          </p:nvPr>
        </p:nvSpPr>
        <p:spPr>
          <a:xfrm>
            <a:off x="4750850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5" name="Espace réservé du texte 9"/>
          <p:cNvSpPr>
            <a:spLocks noGrp="1"/>
          </p:cNvSpPr>
          <p:nvPr>
            <p:ph type="body" sz="quarter" idx="38"/>
          </p:nvPr>
        </p:nvSpPr>
        <p:spPr>
          <a:xfrm>
            <a:off x="9167820" y="4913872"/>
            <a:ext cx="2125614" cy="113123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3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6" name="Espace réservé du texte 9"/>
          <p:cNvSpPr>
            <a:spLocks noGrp="1"/>
          </p:cNvSpPr>
          <p:nvPr>
            <p:ph type="body" sz="quarter" idx="39"/>
          </p:nvPr>
        </p:nvSpPr>
        <p:spPr>
          <a:xfrm>
            <a:off x="1028700" y="6244547"/>
            <a:ext cx="1625600" cy="248126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8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49379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ablea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grpSp>
        <p:nvGrpSpPr>
          <p:cNvPr id="9" name="Grouper 8"/>
          <p:cNvGrpSpPr/>
          <p:nvPr/>
        </p:nvGrpSpPr>
        <p:grpSpPr>
          <a:xfrm>
            <a:off x="635001" y="1496290"/>
            <a:ext cx="1805388" cy="1758538"/>
            <a:chOff x="635000" y="1626919"/>
            <a:chExt cx="2466287" cy="2790702"/>
          </a:xfrm>
        </p:grpSpPr>
        <p:sp>
          <p:nvSpPr>
            <p:cNvPr id="7" name="Rectangle 6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9549884" y="1273629"/>
            <a:ext cx="1805388" cy="499654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/>
          <p:cNvSpPr/>
          <p:nvPr/>
        </p:nvSpPr>
        <p:spPr>
          <a:xfrm>
            <a:off x="9599944" y="1736289"/>
            <a:ext cx="1703838" cy="4457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v</a:t>
            </a:r>
          </a:p>
        </p:txBody>
      </p:sp>
      <p:grpSp>
        <p:nvGrpSpPr>
          <p:cNvPr id="38" name="Grouper 37"/>
          <p:cNvGrpSpPr/>
          <p:nvPr/>
        </p:nvGrpSpPr>
        <p:grpSpPr>
          <a:xfrm>
            <a:off x="3491561" y="1496290"/>
            <a:ext cx="1805388" cy="1758538"/>
            <a:chOff x="635000" y="1626919"/>
            <a:chExt cx="2466287" cy="2790702"/>
          </a:xfrm>
        </p:grpSpPr>
        <p:sp>
          <p:nvSpPr>
            <p:cNvPr id="39" name="Rectangle 38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41" name="Grouper 40"/>
          <p:cNvGrpSpPr/>
          <p:nvPr/>
        </p:nvGrpSpPr>
        <p:grpSpPr>
          <a:xfrm>
            <a:off x="635001" y="4000004"/>
            <a:ext cx="1805388" cy="1758538"/>
            <a:chOff x="635000" y="1626919"/>
            <a:chExt cx="2466287" cy="2790702"/>
          </a:xfrm>
        </p:grpSpPr>
        <p:sp>
          <p:nvSpPr>
            <p:cNvPr id="42" name="Rectangle 41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54" name="Grouper 53"/>
          <p:cNvGrpSpPr/>
          <p:nvPr/>
        </p:nvGrpSpPr>
        <p:grpSpPr>
          <a:xfrm>
            <a:off x="3491561" y="3949756"/>
            <a:ext cx="1805388" cy="1758538"/>
            <a:chOff x="635000" y="1626919"/>
            <a:chExt cx="2466287" cy="2790702"/>
          </a:xfrm>
        </p:grpSpPr>
        <p:sp>
          <p:nvSpPr>
            <p:cNvPr id="57" name="Rectangle 56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68" name="Grouper 67"/>
          <p:cNvGrpSpPr/>
          <p:nvPr/>
        </p:nvGrpSpPr>
        <p:grpSpPr>
          <a:xfrm>
            <a:off x="6403789" y="1038030"/>
            <a:ext cx="1805388" cy="1758538"/>
            <a:chOff x="635000" y="1626919"/>
            <a:chExt cx="2466287" cy="2790702"/>
          </a:xfrm>
        </p:grpSpPr>
        <p:sp>
          <p:nvSpPr>
            <p:cNvPr id="69" name="Rectangle 68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71" name="Grouper 70"/>
          <p:cNvGrpSpPr/>
          <p:nvPr/>
        </p:nvGrpSpPr>
        <p:grpSpPr>
          <a:xfrm>
            <a:off x="6402968" y="2943534"/>
            <a:ext cx="1805388" cy="1758538"/>
            <a:chOff x="635000" y="1626919"/>
            <a:chExt cx="2466287" cy="2790702"/>
          </a:xfrm>
        </p:grpSpPr>
        <p:sp>
          <p:nvSpPr>
            <p:cNvPr id="72" name="Rectangle 71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74" name="Grouper 73"/>
          <p:cNvGrpSpPr/>
          <p:nvPr/>
        </p:nvGrpSpPr>
        <p:grpSpPr>
          <a:xfrm>
            <a:off x="6403789" y="4859924"/>
            <a:ext cx="1805388" cy="1758538"/>
            <a:chOff x="635000" y="1626919"/>
            <a:chExt cx="2466287" cy="2790702"/>
          </a:xfrm>
        </p:grpSpPr>
        <p:sp>
          <p:nvSpPr>
            <p:cNvPr id="75" name="Rectangle 74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685061" y="156270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7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685061" y="4052618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8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3544315" y="156270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9" name="Espace réservé du texte 12"/>
          <p:cNvSpPr>
            <a:spLocks noGrp="1"/>
          </p:cNvSpPr>
          <p:nvPr>
            <p:ph type="body" sz="quarter" idx="16"/>
          </p:nvPr>
        </p:nvSpPr>
        <p:spPr>
          <a:xfrm>
            <a:off x="3544315" y="400962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0" name="Espace réservé du texte 12"/>
          <p:cNvSpPr>
            <a:spLocks noGrp="1"/>
          </p:cNvSpPr>
          <p:nvPr>
            <p:ph type="body" sz="quarter" idx="17"/>
          </p:nvPr>
        </p:nvSpPr>
        <p:spPr>
          <a:xfrm>
            <a:off x="6453028" y="1098250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1" name="Espace réservé du texte 12"/>
          <p:cNvSpPr>
            <a:spLocks noGrp="1"/>
          </p:cNvSpPr>
          <p:nvPr>
            <p:ph type="body" sz="quarter" idx="18"/>
          </p:nvPr>
        </p:nvSpPr>
        <p:spPr>
          <a:xfrm>
            <a:off x="9602638" y="1338983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2" name="Espace réservé du texte 12"/>
          <p:cNvSpPr>
            <a:spLocks noGrp="1"/>
          </p:cNvSpPr>
          <p:nvPr>
            <p:ph type="body" sz="quarter" idx="19"/>
          </p:nvPr>
        </p:nvSpPr>
        <p:spPr>
          <a:xfrm>
            <a:off x="6453028" y="3009913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3" name="Espace réservé du texte 12"/>
          <p:cNvSpPr>
            <a:spLocks noGrp="1"/>
          </p:cNvSpPr>
          <p:nvPr>
            <p:ph type="body" sz="quarter" idx="20"/>
          </p:nvPr>
        </p:nvSpPr>
        <p:spPr>
          <a:xfrm>
            <a:off x="6453028" y="4916678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21"/>
          </p:nvPr>
        </p:nvSpPr>
        <p:spPr>
          <a:xfrm>
            <a:off x="9669276" y="1819176"/>
            <a:ext cx="1573212" cy="43106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pour une image  17"/>
          <p:cNvSpPr>
            <a:spLocks noGrp="1"/>
          </p:cNvSpPr>
          <p:nvPr>
            <p:ph type="pic" sz="quarter" idx="22"/>
          </p:nvPr>
        </p:nvSpPr>
        <p:spPr>
          <a:xfrm>
            <a:off x="736092" y="2029969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4" name="Espace réservé pour une image  17"/>
          <p:cNvSpPr>
            <a:spLocks noGrp="1"/>
          </p:cNvSpPr>
          <p:nvPr>
            <p:ph type="pic" sz="quarter" idx="23"/>
          </p:nvPr>
        </p:nvSpPr>
        <p:spPr>
          <a:xfrm>
            <a:off x="736092" y="4548978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5" name="Espace réservé pour une image  17"/>
          <p:cNvSpPr>
            <a:spLocks noGrp="1"/>
          </p:cNvSpPr>
          <p:nvPr>
            <p:ph type="pic" sz="quarter" idx="24"/>
          </p:nvPr>
        </p:nvSpPr>
        <p:spPr>
          <a:xfrm>
            <a:off x="3596523" y="2029969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6" name="Espace réservé pour une image  17"/>
          <p:cNvSpPr>
            <a:spLocks noGrp="1"/>
          </p:cNvSpPr>
          <p:nvPr>
            <p:ph type="pic" sz="quarter" idx="25"/>
          </p:nvPr>
        </p:nvSpPr>
        <p:spPr>
          <a:xfrm>
            <a:off x="3596523" y="4495201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7" name="Espace réservé pour une image  17"/>
          <p:cNvSpPr>
            <a:spLocks noGrp="1"/>
          </p:cNvSpPr>
          <p:nvPr>
            <p:ph type="pic" sz="quarter" idx="26"/>
          </p:nvPr>
        </p:nvSpPr>
        <p:spPr>
          <a:xfrm>
            <a:off x="6503830" y="1564301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8" name="Espace réservé pour une image  17"/>
          <p:cNvSpPr>
            <a:spLocks noGrp="1"/>
          </p:cNvSpPr>
          <p:nvPr>
            <p:ph type="pic" sz="quarter" idx="27"/>
          </p:nvPr>
        </p:nvSpPr>
        <p:spPr>
          <a:xfrm>
            <a:off x="6503830" y="3477246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9" name="Espace réservé pour une image  17"/>
          <p:cNvSpPr>
            <a:spLocks noGrp="1"/>
          </p:cNvSpPr>
          <p:nvPr>
            <p:ph type="pic" sz="quarter" idx="28"/>
          </p:nvPr>
        </p:nvSpPr>
        <p:spPr>
          <a:xfrm>
            <a:off x="6503830" y="5384208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>
            <a:off x="2440389" y="1738103"/>
            <a:ext cx="879008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5296949" y="1738103"/>
            <a:ext cx="936771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/>
        </p:nvCxnSpPr>
        <p:spPr>
          <a:xfrm>
            <a:off x="2440389" y="4862856"/>
            <a:ext cx="879008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5296949" y="1736289"/>
            <a:ext cx="863706" cy="1409248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/>
        </p:nvCxnSpPr>
        <p:spPr>
          <a:xfrm>
            <a:off x="5296949" y="4862856"/>
            <a:ext cx="936771" cy="22638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 flipV="1">
            <a:off x="8232484" y="3145537"/>
            <a:ext cx="1127085" cy="1667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/>
        </p:nvCxnSpPr>
        <p:spPr>
          <a:xfrm>
            <a:off x="8209538" y="1658456"/>
            <a:ext cx="1150031" cy="1274995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 flipV="1">
            <a:off x="8213345" y="3404864"/>
            <a:ext cx="1169170" cy="1648121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47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ableau_3_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eur droit 32"/>
          <p:cNvCxnSpPr/>
          <p:nvPr/>
        </p:nvCxnSpPr>
        <p:spPr>
          <a:xfrm>
            <a:off x="7665849" y="1276925"/>
            <a:ext cx="0" cy="4806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03299" y="3009070"/>
            <a:ext cx="3349331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31"/>
          <p:cNvCxnSpPr/>
          <p:nvPr/>
        </p:nvCxnSpPr>
        <p:spPr>
          <a:xfrm>
            <a:off x="4352633" y="1276925"/>
            <a:ext cx="0" cy="4806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5981700" y="317500"/>
            <a:ext cx="25146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DIN-Regular" charset="0"/>
                <a:ea typeface="DIN-Regular" charset="0"/>
                <a:cs typeface="DIN-Regular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pour une image  14"/>
          <p:cNvSpPr>
            <a:spLocks noGrp="1"/>
          </p:cNvSpPr>
          <p:nvPr>
            <p:ph type="pic" sz="quarter" idx="14" hasCustomPrompt="1"/>
          </p:nvPr>
        </p:nvSpPr>
        <p:spPr>
          <a:xfrm>
            <a:off x="1846548" y="1126509"/>
            <a:ext cx="1435100" cy="1435100"/>
          </a:xfrm>
          <a:prstGeom prst="ellipse">
            <a:avLst/>
          </a:prstGeo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15"/>
          </p:nvPr>
        </p:nvSpPr>
        <p:spPr>
          <a:xfrm>
            <a:off x="1003300" y="3009069"/>
            <a:ext cx="3349330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Espace réservé pour une image  14"/>
          <p:cNvSpPr>
            <a:spLocks noGrp="1"/>
          </p:cNvSpPr>
          <p:nvPr>
            <p:ph type="pic" sz="quarter" idx="16"/>
          </p:nvPr>
        </p:nvSpPr>
        <p:spPr>
          <a:xfrm>
            <a:off x="5264150" y="1126509"/>
            <a:ext cx="1435100" cy="1435100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6" name="Espace réservé pour une image  14"/>
          <p:cNvSpPr>
            <a:spLocks noGrp="1"/>
          </p:cNvSpPr>
          <p:nvPr>
            <p:ph type="pic" sz="quarter" idx="17"/>
          </p:nvPr>
        </p:nvSpPr>
        <p:spPr>
          <a:xfrm>
            <a:off x="8838048" y="1126509"/>
            <a:ext cx="1435100" cy="1435100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299" y="3637644"/>
            <a:ext cx="3349331" cy="29523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352632" y="3637644"/>
            <a:ext cx="6836068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1003299" y="4269743"/>
            <a:ext cx="10185401" cy="29523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pour une image  36"/>
          <p:cNvSpPr>
            <a:spLocks noGrp="1"/>
          </p:cNvSpPr>
          <p:nvPr>
            <p:ph type="pic" sz="quarter" idx="18"/>
          </p:nvPr>
        </p:nvSpPr>
        <p:spPr>
          <a:xfrm>
            <a:off x="1766348" y="4965449"/>
            <a:ext cx="1595499" cy="159681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pour une image  36"/>
          <p:cNvSpPr>
            <a:spLocks noGrp="1"/>
          </p:cNvSpPr>
          <p:nvPr>
            <p:ph type="pic" sz="quarter" idx="19"/>
          </p:nvPr>
        </p:nvSpPr>
        <p:spPr>
          <a:xfrm>
            <a:off x="5183950" y="4965449"/>
            <a:ext cx="1595499" cy="159681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9" name="Espace réservé pour une image  36"/>
          <p:cNvSpPr>
            <a:spLocks noGrp="1"/>
          </p:cNvSpPr>
          <p:nvPr>
            <p:ph type="pic" sz="quarter" idx="20"/>
          </p:nvPr>
        </p:nvSpPr>
        <p:spPr>
          <a:xfrm>
            <a:off x="8771308" y="4965448"/>
            <a:ext cx="1595499" cy="159681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0" name="Espace réservé du texte 23"/>
          <p:cNvSpPr>
            <a:spLocks noGrp="1"/>
          </p:cNvSpPr>
          <p:nvPr>
            <p:ph type="body" sz="quarter" idx="21"/>
          </p:nvPr>
        </p:nvSpPr>
        <p:spPr>
          <a:xfrm>
            <a:off x="1003300" y="3642153"/>
            <a:ext cx="3349330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23"/>
          <p:cNvSpPr>
            <a:spLocks noGrp="1"/>
          </p:cNvSpPr>
          <p:nvPr>
            <p:ph type="body" sz="quarter" idx="22"/>
          </p:nvPr>
        </p:nvSpPr>
        <p:spPr>
          <a:xfrm>
            <a:off x="4352630" y="3642153"/>
            <a:ext cx="6836070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Espace réservé du texte 23"/>
          <p:cNvSpPr>
            <a:spLocks noGrp="1"/>
          </p:cNvSpPr>
          <p:nvPr>
            <p:ph type="body" sz="quarter" idx="23"/>
          </p:nvPr>
        </p:nvSpPr>
        <p:spPr>
          <a:xfrm>
            <a:off x="1003299" y="4269743"/>
            <a:ext cx="10185401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22" name="Connecteur droit avec flèche 21"/>
          <p:cNvCxnSpPr/>
          <p:nvPr/>
        </p:nvCxnSpPr>
        <p:spPr>
          <a:xfrm>
            <a:off x="2564098" y="2719146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2564098" y="3385265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>
            <a:off x="2564098" y="400293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>
            <a:off x="2564098" y="4641877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5981700" y="2719146"/>
            <a:ext cx="0" cy="835677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5981700" y="400572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5981700" y="4646981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9555598" y="2719146"/>
            <a:ext cx="0" cy="835677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/>
        </p:nvCxnSpPr>
        <p:spPr>
          <a:xfrm>
            <a:off x="9558108" y="400572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9569058" y="4646981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/>
          <p:cNvSpPr>
            <a:spLocks noGrp="1"/>
          </p:cNvSpPr>
          <p:nvPr>
            <p:ph type="body" sz="quarter" idx="24"/>
          </p:nvPr>
        </p:nvSpPr>
        <p:spPr>
          <a:xfrm>
            <a:off x="1003299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8" name="Espace réservé du texte 9"/>
          <p:cNvSpPr>
            <a:spLocks noGrp="1"/>
          </p:cNvSpPr>
          <p:nvPr>
            <p:ph type="body" sz="quarter" idx="25"/>
          </p:nvPr>
        </p:nvSpPr>
        <p:spPr>
          <a:xfrm>
            <a:off x="4552105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9" name="Espace réservé du texte 9"/>
          <p:cNvSpPr>
            <a:spLocks noGrp="1"/>
          </p:cNvSpPr>
          <p:nvPr>
            <p:ph type="body" sz="quarter" idx="26"/>
          </p:nvPr>
        </p:nvSpPr>
        <p:spPr>
          <a:xfrm>
            <a:off x="7891032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26455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182880"/>
            <a:ext cx="9156700" cy="52324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95917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xt+im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549400"/>
            <a:ext cx="5003800" cy="3517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>
              <a:lnSpc>
                <a:spcPct val="80000"/>
              </a:lnSpc>
              <a:buFontTx/>
              <a:buNone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sz="quarter" idx="14"/>
          </p:nvPr>
        </p:nvSpPr>
        <p:spPr>
          <a:xfrm>
            <a:off x="6388100" y="1549400"/>
            <a:ext cx="4800600" cy="35179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5"/>
          </p:nvPr>
        </p:nvSpPr>
        <p:spPr>
          <a:xfrm>
            <a:off x="6388100" y="5324475"/>
            <a:ext cx="4800600" cy="2829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0"/>
          <p:cNvSpPr>
            <a:spLocks noGrp="1"/>
          </p:cNvSpPr>
          <p:nvPr>
            <p:ph type="body" sz="quarter" idx="16"/>
          </p:nvPr>
        </p:nvSpPr>
        <p:spPr>
          <a:xfrm>
            <a:off x="6388100" y="5609105"/>
            <a:ext cx="4800600" cy="390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2710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Texte +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549400"/>
            <a:ext cx="5245100" cy="1536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457200" indent="0">
              <a:lnSpc>
                <a:spcPct val="80000"/>
              </a:lnSpc>
              <a:buFontTx/>
              <a:buNone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sz="quarter" idx="14"/>
          </p:nvPr>
        </p:nvSpPr>
        <p:spPr>
          <a:xfrm>
            <a:off x="1028700" y="3390900"/>
            <a:ext cx="10160000" cy="23812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5"/>
          </p:nvPr>
        </p:nvSpPr>
        <p:spPr>
          <a:xfrm>
            <a:off x="102870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16"/>
          </p:nvPr>
        </p:nvSpPr>
        <p:spPr>
          <a:xfrm>
            <a:off x="521335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7"/>
          </p:nvPr>
        </p:nvSpPr>
        <p:spPr>
          <a:xfrm>
            <a:off x="906780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94689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ext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110017"/>
            <a:ext cx="6987144" cy="60789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buFont typeface="Arial" charset="0"/>
              <a:buChar char="•"/>
              <a:defRPr sz="13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742950" indent="-285750">
              <a:lnSpc>
                <a:spcPct val="80000"/>
              </a:lnSpc>
              <a:buFont typeface="Arial" charset="0"/>
              <a:buChar char="•"/>
              <a:defRPr sz="15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r>
              <a:rPr lang="fr-FR" dirty="0"/>
              <a:t>Texte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1982686"/>
            <a:ext cx="10934700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space réservé du texte 23"/>
          <p:cNvSpPr>
            <a:spLocks noGrp="1"/>
          </p:cNvSpPr>
          <p:nvPr>
            <p:ph type="body" sz="quarter" idx="23"/>
          </p:nvPr>
        </p:nvSpPr>
        <p:spPr>
          <a:xfrm>
            <a:off x="1028700" y="1984448"/>
            <a:ext cx="10541000" cy="291707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Espace réservé pour une image  36"/>
          <p:cNvSpPr>
            <a:spLocks noGrp="1"/>
          </p:cNvSpPr>
          <p:nvPr>
            <p:ph type="pic" sz="quarter" idx="18"/>
          </p:nvPr>
        </p:nvSpPr>
        <p:spPr>
          <a:xfrm>
            <a:off x="1028700" y="2501286"/>
            <a:ext cx="3436422" cy="1286954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000" y="4310253"/>
            <a:ext cx="10934700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space réservé du texte 23"/>
          <p:cNvSpPr>
            <a:spLocks noGrp="1"/>
          </p:cNvSpPr>
          <p:nvPr>
            <p:ph type="body" sz="quarter" idx="24"/>
          </p:nvPr>
        </p:nvSpPr>
        <p:spPr>
          <a:xfrm>
            <a:off x="1028700" y="4312015"/>
            <a:ext cx="10541000" cy="291707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" name="Connecteur droit 2"/>
          <p:cNvCxnSpPr/>
          <p:nvPr/>
        </p:nvCxnSpPr>
        <p:spPr>
          <a:xfrm>
            <a:off x="6032658" y="2385834"/>
            <a:ext cx="0" cy="1426156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7410196" y="2385834"/>
            <a:ext cx="0" cy="1426156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H="1">
            <a:off x="4750850" y="3038419"/>
            <a:ext cx="4048764" cy="0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/>
          <p:cNvSpPr>
            <a:spLocks noGrp="1"/>
          </p:cNvSpPr>
          <p:nvPr>
            <p:ph type="body" sz="quarter" idx="25"/>
          </p:nvPr>
        </p:nvSpPr>
        <p:spPr>
          <a:xfrm>
            <a:off x="6140263" y="250128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0" name="Espace réservé du texte 9"/>
          <p:cNvSpPr>
            <a:spLocks noGrp="1"/>
          </p:cNvSpPr>
          <p:nvPr>
            <p:ph type="body" sz="quarter" idx="26"/>
          </p:nvPr>
        </p:nvSpPr>
        <p:spPr>
          <a:xfrm>
            <a:off x="7505275" y="250128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1" name="Espace réservé du texte 9"/>
          <p:cNvSpPr>
            <a:spLocks noGrp="1"/>
          </p:cNvSpPr>
          <p:nvPr>
            <p:ph type="body" sz="quarter" idx="27"/>
          </p:nvPr>
        </p:nvSpPr>
        <p:spPr>
          <a:xfrm>
            <a:off x="7505275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2" name="Espace réservé du texte 9"/>
          <p:cNvSpPr>
            <a:spLocks noGrp="1"/>
          </p:cNvSpPr>
          <p:nvPr>
            <p:ph type="body" sz="quarter" idx="28"/>
          </p:nvPr>
        </p:nvSpPr>
        <p:spPr>
          <a:xfrm>
            <a:off x="6140263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3" name="Espace réservé du texte 9"/>
          <p:cNvSpPr>
            <a:spLocks noGrp="1"/>
          </p:cNvSpPr>
          <p:nvPr>
            <p:ph type="body" sz="quarter" idx="29"/>
          </p:nvPr>
        </p:nvSpPr>
        <p:spPr>
          <a:xfrm>
            <a:off x="4750850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5" name="Espace réservé du texte 9"/>
          <p:cNvSpPr>
            <a:spLocks noGrp="1"/>
          </p:cNvSpPr>
          <p:nvPr>
            <p:ph type="body" sz="quarter" idx="30"/>
          </p:nvPr>
        </p:nvSpPr>
        <p:spPr>
          <a:xfrm>
            <a:off x="9167820" y="2515932"/>
            <a:ext cx="2125614" cy="113123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3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6" name="Espace réservé du texte 9"/>
          <p:cNvSpPr>
            <a:spLocks noGrp="1"/>
          </p:cNvSpPr>
          <p:nvPr>
            <p:ph type="body" sz="quarter" idx="31"/>
          </p:nvPr>
        </p:nvSpPr>
        <p:spPr>
          <a:xfrm>
            <a:off x="1028700" y="3846607"/>
            <a:ext cx="1625600" cy="248126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8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8" name="Espace réservé pour une image  36"/>
          <p:cNvSpPr>
            <a:spLocks noGrp="1"/>
          </p:cNvSpPr>
          <p:nvPr>
            <p:ph type="pic" sz="quarter" idx="32"/>
          </p:nvPr>
        </p:nvSpPr>
        <p:spPr>
          <a:xfrm>
            <a:off x="1028700" y="4899226"/>
            <a:ext cx="3436422" cy="1286954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59" name="Connecteur droit 58"/>
          <p:cNvCxnSpPr/>
          <p:nvPr/>
        </p:nvCxnSpPr>
        <p:spPr>
          <a:xfrm flipH="1">
            <a:off x="4750850" y="5436359"/>
            <a:ext cx="4048764" cy="0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9"/>
          <p:cNvSpPr>
            <a:spLocks noGrp="1"/>
          </p:cNvSpPr>
          <p:nvPr>
            <p:ph type="body" sz="quarter" idx="33"/>
          </p:nvPr>
        </p:nvSpPr>
        <p:spPr>
          <a:xfrm>
            <a:off x="6140263" y="489922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1" name="Espace réservé du texte 9"/>
          <p:cNvSpPr>
            <a:spLocks noGrp="1"/>
          </p:cNvSpPr>
          <p:nvPr>
            <p:ph type="body" sz="quarter" idx="34"/>
          </p:nvPr>
        </p:nvSpPr>
        <p:spPr>
          <a:xfrm>
            <a:off x="7505275" y="489922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2" name="Espace réservé du texte 9"/>
          <p:cNvSpPr>
            <a:spLocks noGrp="1"/>
          </p:cNvSpPr>
          <p:nvPr>
            <p:ph type="body" sz="quarter" idx="35"/>
          </p:nvPr>
        </p:nvSpPr>
        <p:spPr>
          <a:xfrm>
            <a:off x="7505275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3" name="Espace réservé du texte 9"/>
          <p:cNvSpPr>
            <a:spLocks noGrp="1"/>
          </p:cNvSpPr>
          <p:nvPr>
            <p:ph type="body" sz="quarter" idx="36"/>
          </p:nvPr>
        </p:nvSpPr>
        <p:spPr>
          <a:xfrm>
            <a:off x="6140263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4" name="Espace réservé du texte 9"/>
          <p:cNvSpPr>
            <a:spLocks noGrp="1"/>
          </p:cNvSpPr>
          <p:nvPr>
            <p:ph type="body" sz="quarter" idx="37"/>
          </p:nvPr>
        </p:nvSpPr>
        <p:spPr>
          <a:xfrm>
            <a:off x="4750850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5" name="Espace réservé du texte 9"/>
          <p:cNvSpPr>
            <a:spLocks noGrp="1"/>
          </p:cNvSpPr>
          <p:nvPr>
            <p:ph type="body" sz="quarter" idx="38"/>
          </p:nvPr>
        </p:nvSpPr>
        <p:spPr>
          <a:xfrm>
            <a:off x="9167820" y="4913872"/>
            <a:ext cx="2125614" cy="113123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3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6" name="Espace réservé du texte 9"/>
          <p:cNvSpPr>
            <a:spLocks noGrp="1"/>
          </p:cNvSpPr>
          <p:nvPr>
            <p:ph type="body" sz="quarter" idx="39"/>
          </p:nvPr>
        </p:nvSpPr>
        <p:spPr>
          <a:xfrm>
            <a:off x="1028700" y="6244547"/>
            <a:ext cx="1625600" cy="248126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8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30536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ablea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grpSp>
        <p:nvGrpSpPr>
          <p:cNvPr id="9" name="Grouper 8"/>
          <p:cNvGrpSpPr/>
          <p:nvPr/>
        </p:nvGrpSpPr>
        <p:grpSpPr>
          <a:xfrm>
            <a:off x="635001" y="1496290"/>
            <a:ext cx="1805388" cy="1758538"/>
            <a:chOff x="635000" y="1626919"/>
            <a:chExt cx="2466287" cy="2790702"/>
          </a:xfrm>
        </p:grpSpPr>
        <p:sp>
          <p:nvSpPr>
            <p:cNvPr id="7" name="Rectangle 6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9549884" y="1273629"/>
            <a:ext cx="1805388" cy="499654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/>
          <p:cNvSpPr/>
          <p:nvPr/>
        </p:nvSpPr>
        <p:spPr>
          <a:xfrm>
            <a:off x="9599944" y="1736289"/>
            <a:ext cx="1703838" cy="4457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v</a:t>
            </a:r>
          </a:p>
        </p:txBody>
      </p:sp>
      <p:grpSp>
        <p:nvGrpSpPr>
          <p:cNvPr id="38" name="Grouper 37"/>
          <p:cNvGrpSpPr/>
          <p:nvPr/>
        </p:nvGrpSpPr>
        <p:grpSpPr>
          <a:xfrm>
            <a:off x="3491561" y="1496290"/>
            <a:ext cx="1805388" cy="1758538"/>
            <a:chOff x="635000" y="1626919"/>
            <a:chExt cx="2466287" cy="2790702"/>
          </a:xfrm>
        </p:grpSpPr>
        <p:sp>
          <p:nvSpPr>
            <p:cNvPr id="39" name="Rectangle 38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41" name="Grouper 40"/>
          <p:cNvGrpSpPr/>
          <p:nvPr/>
        </p:nvGrpSpPr>
        <p:grpSpPr>
          <a:xfrm>
            <a:off x="635001" y="4000004"/>
            <a:ext cx="1805388" cy="1758538"/>
            <a:chOff x="635000" y="1626919"/>
            <a:chExt cx="2466287" cy="2790702"/>
          </a:xfrm>
        </p:grpSpPr>
        <p:sp>
          <p:nvSpPr>
            <p:cNvPr id="42" name="Rectangle 41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54" name="Grouper 53"/>
          <p:cNvGrpSpPr/>
          <p:nvPr/>
        </p:nvGrpSpPr>
        <p:grpSpPr>
          <a:xfrm>
            <a:off x="3491561" y="3949756"/>
            <a:ext cx="1805388" cy="1758538"/>
            <a:chOff x="635000" y="1626919"/>
            <a:chExt cx="2466287" cy="2790702"/>
          </a:xfrm>
        </p:grpSpPr>
        <p:sp>
          <p:nvSpPr>
            <p:cNvPr id="57" name="Rectangle 56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68" name="Grouper 67"/>
          <p:cNvGrpSpPr/>
          <p:nvPr/>
        </p:nvGrpSpPr>
        <p:grpSpPr>
          <a:xfrm>
            <a:off x="6403789" y="1038030"/>
            <a:ext cx="1805388" cy="1758538"/>
            <a:chOff x="635000" y="1626919"/>
            <a:chExt cx="2466287" cy="2790702"/>
          </a:xfrm>
        </p:grpSpPr>
        <p:sp>
          <p:nvSpPr>
            <p:cNvPr id="69" name="Rectangle 68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71" name="Grouper 70"/>
          <p:cNvGrpSpPr/>
          <p:nvPr/>
        </p:nvGrpSpPr>
        <p:grpSpPr>
          <a:xfrm>
            <a:off x="6402968" y="2943534"/>
            <a:ext cx="1805388" cy="1758538"/>
            <a:chOff x="635000" y="1626919"/>
            <a:chExt cx="2466287" cy="2790702"/>
          </a:xfrm>
        </p:grpSpPr>
        <p:sp>
          <p:nvSpPr>
            <p:cNvPr id="72" name="Rectangle 71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grpSp>
        <p:nvGrpSpPr>
          <p:cNvPr id="74" name="Grouper 73"/>
          <p:cNvGrpSpPr/>
          <p:nvPr/>
        </p:nvGrpSpPr>
        <p:grpSpPr>
          <a:xfrm>
            <a:off x="6403789" y="4859924"/>
            <a:ext cx="1805388" cy="1758538"/>
            <a:chOff x="635000" y="1626919"/>
            <a:chExt cx="2466287" cy="2790702"/>
          </a:xfrm>
        </p:grpSpPr>
        <p:sp>
          <p:nvSpPr>
            <p:cNvPr id="75" name="Rectangle 74"/>
            <p:cNvSpPr/>
            <p:nvPr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v</a:t>
              </a:r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685061" y="156270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7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685061" y="4052618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8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3544315" y="156270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9" name="Espace réservé du texte 12"/>
          <p:cNvSpPr>
            <a:spLocks noGrp="1"/>
          </p:cNvSpPr>
          <p:nvPr>
            <p:ph type="body" sz="quarter" idx="16"/>
          </p:nvPr>
        </p:nvSpPr>
        <p:spPr>
          <a:xfrm>
            <a:off x="3544315" y="400962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0" name="Espace réservé du texte 12"/>
          <p:cNvSpPr>
            <a:spLocks noGrp="1"/>
          </p:cNvSpPr>
          <p:nvPr>
            <p:ph type="body" sz="quarter" idx="17"/>
          </p:nvPr>
        </p:nvSpPr>
        <p:spPr>
          <a:xfrm>
            <a:off x="6453028" y="1098250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1" name="Espace réservé du texte 12"/>
          <p:cNvSpPr>
            <a:spLocks noGrp="1"/>
          </p:cNvSpPr>
          <p:nvPr>
            <p:ph type="body" sz="quarter" idx="18"/>
          </p:nvPr>
        </p:nvSpPr>
        <p:spPr>
          <a:xfrm>
            <a:off x="9602638" y="1338983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2" name="Espace réservé du texte 12"/>
          <p:cNvSpPr>
            <a:spLocks noGrp="1"/>
          </p:cNvSpPr>
          <p:nvPr>
            <p:ph type="body" sz="quarter" idx="19"/>
          </p:nvPr>
        </p:nvSpPr>
        <p:spPr>
          <a:xfrm>
            <a:off x="6453028" y="3009913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3" name="Espace réservé du texte 12"/>
          <p:cNvSpPr>
            <a:spLocks noGrp="1"/>
          </p:cNvSpPr>
          <p:nvPr>
            <p:ph type="body" sz="quarter" idx="20"/>
          </p:nvPr>
        </p:nvSpPr>
        <p:spPr>
          <a:xfrm>
            <a:off x="6453028" y="4916678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21"/>
          </p:nvPr>
        </p:nvSpPr>
        <p:spPr>
          <a:xfrm>
            <a:off x="9669276" y="1819176"/>
            <a:ext cx="1573212" cy="43106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pour une image  17"/>
          <p:cNvSpPr>
            <a:spLocks noGrp="1"/>
          </p:cNvSpPr>
          <p:nvPr>
            <p:ph type="pic" sz="quarter" idx="22"/>
          </p:nvPr>
        </p:nvSpPr>
        <p:spPr>
          <a:xfrm>
            <a:off x="736092" y="2029969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4" name="Espace réservé pour une image  17"/>
          <p:cNvSpPr>
            <a:spLocks noGrp="1"/>
          </p:cNvSpPr>
          <p:nvPr>
            <p:ph type="pic" sz="quarter" idx="23"/>
          </p:nvPr>
        </p:nvSpPr>
        <p:spPr>
          <a:xfrm>
            <a:off x="736092" y="4548978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5" name="Espace réservé pour une image  17"/>
          <p:cNvSpPr>
            <a:spLocks noGrp="1"/>
          </p:cNvSpPr>
          <p:nvPr>
            <p:ph type="pic" sz="quarter" idx="24"/>
          </p:nvPr>
        </p:nvSpPr>
        <p:spPr>
          <a:xfrm>
            <a:off x="3596523" y="2029969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6" name="Espace réservé pour une image  17"/>
          <p:cNvSpPr>
            <a:spLocks noGrp="1"/>
          </p:cNvSpPr>
          <p:nvPr>
            <p:ph type="pic" sz="quarter" idx="25"/>
          </p:nvPr>
        </p:nvSpPr>
        <p:spPr>
          <a:xfrm>
            <a:off x="3596523" y="4495201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7" name="Espace réservé pour une image  17"/>
          <p:cNvSpPr>
            <a:spLocks noGrp="1"/>
          </p:cNvSpPr>
          <p:nvPr>
            <p:ph type="pic" sz="quarter" idx="26"/>
          </p:nvPr>
        </p:nvSpPr>
        <p:spPr>
          <a:xfrm>
            <a:off x="6503830" y="1564301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8" name="Espace réservé pour une image  17"/>
          <p:cNvSpPr>
            <a:spLocks noGrp="1"/>
          </p:cNvSpPr>
          <p:nvPr>
            <p:ph type="pic" sz="quarter" idx="27"/>
          </p:nvPr>
        </p:nvSpPr>
        <p:spPr>
          <a:xfrm>
            <a:off x="6503830" y="3477246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9" name="Espace réservé pour une image  17"/>
          <p:cNvSpPr>
            <a:spLocks noGrp="1"/>
          </p:cNvSpPr>
          <p:nvPr>
            <p:ph type="pic" sz="quarter" idx="28"/>
          </p:nvPr>
        </p:nvSpPr>
        <p:spPr>
          <a:xfrm>
            <a:off x="6503830" y="5384208"/>
            <a:ext cx="1604772" cy="111556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>
            <a:off x="2440389" y="1738103"/>
            <a:ext cx="879008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5296949" y="1738103"/>
            <a:ext cx="936771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/>
        </p:nvCxnSpPr>
        <p:spPr>
          <a:xfrm>
            <a:off x="2440389" y="4862856"/>
            <a:ext cx="879008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5296949" y="1736289"/>
            <a:ext cx="863706" cy="1409248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/>
        </p:nvCxnSpPr>
        <p:spPr>
          <a:xfrm>
            <a:off x="5296949" y="4862856"/>
            <a:ext cx="936771" cy="22638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 flipV="1">
            <a:off x="8232484" y="3145537"/>
            <a:ext cx="1127085" cy="1667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/>
        </p:nvCxnSpPr>
        <p:spPr>
          <a:xfrm>
            <a:off x="8209538" y="1658456"/>
            <a:ext cx="1150031" cy="1274995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 flipV="1">
            <a:off x="8213345" y="3404864"/>
            <a:ext cx="1169170" cy="1648121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974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_tableau_3_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eur droit 32"/>
          <p:cNvCxnSpPr/>
          <p:nvPr/>
        </p:nvCxnSpPr>
        <p:spPr>
          <a:xfrm>
            <a:off x="7665849" y="1276925"/>
            <a:ext cx="0" cy="4806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03299" y="3009070"/>
            <a:ext cx="3349331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31"/>
          <p:cNvCxnSpPr/>
          <p:nvPr/>
        </p:nvCxnSpPr>
        <p:spPr>
          <a:xfrm>
            <a:off x="4352633" y="1276925"/>
            <a:ext cx="0" cy="4806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0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11188700" y="317500"/>
            <a:ext cx="381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702082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3</a:t>
            </a:r>
            <a:endParaRPr lang="fr-FR" dirty="0"/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5981700" y="317500"/>
            <a:ext cx="25146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DIN-Regular" charset="0"/>
                <a:ea typeface="DIN-Regular" charset="0"/>
                <a:cs typeface="DIN-Regular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pour une image  14"/>
          <p:cNvSpPr>
            <a:spLocks noGrp="1"/>
          </p:cNvSpPr>
          <p:nvPr>
            <p:ph type="pic" sz="quarter" idx="14" hasCustomPrompt="1"/>
          </p:nvPr>
        </p:nvSpPr>
        <p:spPr>
          <a:xfrm>
            <a:off x="1846548" y="1126509"/>
            <a:ext cx="1435100" cy="1435100"/>
          </a:xfrm>
          <a:prstGeom prst="ellipse">
            <a:avLst/>
          </a:prstGeo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15"/>
          </p:nvPr>
        </p:nvSpPr>
        <p:spPr>
          <a:xfrm>
            <a:off x="1003300" y="3009069"/>
            <a:ext cx="3349330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Espace réservé pour une image  14"/>
          <p:cNvSpPr>
            <a:spLocks noGrp="1"/>
          </p:cNvSpPr>
          <p:nvPr>
            <p:ph type="pic" sz="quarter" idx="16"/>
          </p:nvPr>
        </p:nvSpPr>
        <p:spPr>
          <a:xfrm>
            <a:off x="5264150" y="1126509"/>
            <a:ext cx="1435100" cy="1435100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6" name="Espace réservé pour une image  14"/>
          <p:cNvSpPr>
            <a:spLocks noGrp="1"/>
          </p:cNvSpPr>
          <p:nvPr>
            <p:ph type="pic" sz="quarter" idx="17"/>
          </p:nvPr>
        </p:nvSpPr>
        <p:spPr>
          <a:xfrm>
            <a:off x="8838048" y="1126509"/>
            <a:ext cx="1435100" cy="1435100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299" y="3637644"/>
            <a:ext cx="3349331" cy="29523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352632" y="3637644"/>
            <a:ext cx="6836068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1003299" y="4269743"/>
            <a:ext cx="10185401" cy="29523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pour une image  36"/>
          <p:cNvSpPr>
            <a:spLocks noGrp="1"/>
          </p:cNvSpPr>
          <p:nvPr>
            <p:ph type="pic" sz="quarter" idx="18"/>
          </p:nvPr>
        </p:nvSpPr>
        <p:spPr>
          <a:xfrm>
            <a:off x="1766348" y="4965449"/>
            <a:ext cx="1595499" cy="159681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pour une image  36"/>
          <p:cNvSpPr>
            <a:spLocks noGrp="1"/>
          </p:cNvSpPr>
          <p:nvPr>
            <p:ph type="pic" sz="quarter" idx="19"/>
          </p:nvPr>
        </p:nvSpPr>
        <p:spPr>
          <a:xfrm>
            <a:off x="5183950" y="4965449"/>
            <a:ext cx="1595499" cy="159681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9" name="Espace réservé pour une image  36"/>
          <p:cNvSpPr>
            <a:spLocks noGrp="1"/>
          </p:cNvSpPr>
          <p:nvPr>
            <p:ph type="pic" sz="quarter" idx="20"/>
          </p:nvPr>
        </p:nvSpPr>
        <p:spPr>
          <a:xfrm>
            <a:off x="8771308" y="4965448"/>
            <a:ext cx="1595499" cy="159681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0" name="Espace réservé du texte 23"/>
          <p:cNvSpPr>
            <a:spLocks noGrp="1"/>
          </p:cNvSpPr>
          <p:nvPr>
            <p:ph type="body" sz="quarter" idx="21"/>
          </p:nvPr>
        </p:nvSpPr>
        <p:spPr>
          <a:xfrm>
            <a:off x="1003300" y="3642153"/>
            <a:ext cx="3349330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23"/>
          <p:cNvSpPr>
            <a:spLocks noGrp="1"/>
          </p:cNvSpPr>
          <p:nvPr>
            <p:ph type="body" sz="quarter" idx="22"/>
          </p:nvPr>
        </p:nvSpPr>
        <p:spPr>
          <a:xfrm>
            <a:off x="4352630" y="3642153"/>
            <a:ext cx="6836070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Espace réservé du texte 23"/>
          <p:cNvSpPr>
            <a:spLocks noGrp="1"/>
          </p:cNvSpPr>
          <p:nvPr>
            <p:ph type="body" sz="quarter" idx="23"/>
          </p:nvPr>
        </p:nvSpPr>
        <p:spPr>
          <a:xfrm>
            <a:off x="1003299" y="4269743"/>
            <a:ext cx="10185401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22" name="Connecteur droit avec flèche 21"/>
          <p:cNvCxnSpPr/>
          <p:nvPr/>
        </p:nvCxnSpPr>
        <p:spPr>
          <a:xfrm>
            <a:off x="2564098" y="2719146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2564098" y="3385265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>
            <a:off x="2564098" y="400293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>
            <a:off x="2564098" y="4641877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5981700" y="2719146"/>
            <a:ext cx="0" cy="835677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5981700" y="400572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5981700" y="4646981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9555598" y="2719146"/>
            <a:ext cx="0" cy="835677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/>
        </p:nvCxnSpPr>
        <p:spPr>
          <a:xfrm>
            <a:off x="9558108" y="400572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9569058" y="4646981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/>
          <p:cNvSpPr>
            <a:spLocks noGrp="1"/>
          </p:cNvSpPr>
          <p:nvPr>
            <p:ph type="body" sz="quarter" idx="24"/>
          </p:nvPr>
        </p:nvSpPr>
        <p:spPr>
          <a:xfrm>
            <a:off x="1003299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8" name="Espace réservé du texte 9"/>
          <p:cNvSpPr>
            <a:spLocks noGrp="1"/>
          </p:cNvSpPr>
          <p:nvPr>
            <p:ph type="body" sz="quarter" idx="25"/>
          </p:nvPr>
        </p:nvSpPr>
        <p:spPr>
          <a:xfrm>
            <a:off x="4552105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9" name="Espace réservé du texte 9"/>
          <p:cNvSpPr>
            <a:spLocks noGrp="1"/>
          </p:cNvSpPr>
          <p:nvPr>
            <p:ph type="body" sz="quarter" idx="26"/>
          </p:nvPr>
        </p:nvSpPr>
        <p:spPr>
          <a:xfrm>
            <a:off x="7891032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05136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9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1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9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1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9" y="1549402"/>
            <a:ext cx="8013700" cy="3517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351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66" indent="0">
              <a:lnSpc>
                <a:spcPct val="80000"/>
              </a:lnSpc>
              <a:buFontTx/>
              <a:buNone/>
              <a:defRPr sz="112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317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50" y="2353228"/>
            <a:ext cx="3358409" cy="158631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25" y="491931"/>
            <a:ext cx="419100" cy="58801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5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09600"/>
            <a:ext cx="11493500" cy="4318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5"/>
          <a:stretch/>
        </p:blipFill>
        <p:spPr>
          <a:xfrm>
            <a:off x="9480839" y="199409"/>
            <a:ext cx="1155273" cy="54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29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09600"/>
            <a:ext cx="11493500" cy="4318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982" y="-30480"/>
            <a:ext cx="1844478" cy="87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7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23A4234-4F44-AF48-8547-22492D1C18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C35171-3051-6A43-A23E-01B75DDE5F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5037" y="2943225"/>
            <a:ext cx="6204613" cy="724885"/>
          </a:xfrm>
        </p:spPr>
        <p:txBody>
          <a:bodyPr/>
          <a:lstStyle/>
          <a:p>
            <a:r>
              <a:rPr lang="fr-FR" dirty="0" err="1"/>
              <a:t>Leaspy</a:t>
            </a:r>
            <a:r>
              <a:rPr lang="fr-FR" dirty="0"/>
              <a:t> : a non-</a:t>
            </a:r>
            <a:r>
              <a:rPr lang="fr-FR" dirty="0" err="1"/>
              <a:t>linear</a:t>
            </a:r>
            <a:r>
              <a:rPr lang="fr-FR" dirty="0"/>
              <a:t> mixed-</a:t>
            </a:r>
            <a:r>
              <a:rPr lang="fr-FR" dirty="0" err="1"/>
              <a:t>effect</a:t>
            </a:r>
            <a:r>
              <a:rPr lang="fr-FR" dirty="0"/>
              <a:t> model for </a:t>
            </a:r>
            <a:r>
              <a:rPr lang="fr-FR" dirty="0" err="1"/>
              <a:t>disease</a:t>
            </a:r>
            <a:r>
              <a:rPr lang="fr-FR" dirty="0"/>
              <a:t> course </a:t>
            </a:r>
            <a:r>
              <a:rPr lang="fr-FR" dirty="0" err="1"/>
              <a:t>mapping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2A0FCF-46D3-2A45-817E-02C2AE191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Winter AI </a:t>
            </a:r>
            <a:r>
              <a:rPr lang="fr-FR" dirty="0" err="1"/>
              <a:t>School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A3C40B-AB0C-1D42-87FE-27D762AAB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b="1" dirty="0" err="1"/>
              <a:t>Disease</a:t>
            </a:r>
            <a:r>
              <a:rPr lang="fr-FR" b="1" dirty="0"/>
              <a:t> course </a:t>
            </a:r>
            <a:r>
              <a:rPr lang="fr-FR" b="1" dirty="0" err="1"/>
              <a:t>mapping</a:t>
            </a:r>
            <a:r>
              <a:rPr lang="fr-FR" b="1" dirty="0"/>
              <a:t> </a:t>
            </a:r>
            <a:r>
              <a:rPr lang="fr-FR" b="1" dirty="0" err="1"/>
              <a:t>with</a:t>
            </a:r>
            <a:r>
              <a:rPr lang="fr-FR" b="1" dirty="0"/>
              <a:t> longitudinal data</a:t>
            </a: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B35DF94-E8F6-714B-9677-3D583B7AE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30900" y="5178880"/>
            <a:ext cx="1883631" cy="307521"/>
          </a:xfrm>
        </p:spPr>
        <p:txBody>
          <a:bodyPr/>
          <a:lstStyle/>
          <a:p>
            <a:r>
              <a:rPr lang="fr-FR" dirty="0"/>
              <a:t>7-8 janvier 2021</a:t>
            </a:r>
          </a:p>
        </p:txBody>
      </p:sp>
    </p:spTree>
    <p:extLst>
      <p:ext uri="{BB962C8B-B14F-4D97-AF65-F5344CB8AC3E}">
        <p14:creationId xmlns:p14="http://schemas.microsoft.com/office/powerpoint/2010/main" val="75585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7363106" cy="381000"/>
          </a:xfrm>
        </p:spPr>
        <p:txBody>
          <a:bodyPr/>
          <a:lstStyle/>
          <a:p>
            <a:r>
              <a:rPr lang="fr-FR" sz="2400" dirty="0" err="1"/>
              <a:t>Linear</a:t>
            </a:r>
            <a:r>
              <a:rPr lang="fr-FR" sz="2400" dirty="0"/>
              <a:t> </a:t>
            </a:r>
            <a:r>
              <a:rPr lang="fr-FR" sz="2400" dirty="0" err="1"/>
              <a:t>models</a:t>
            </a:r>
            <a:r>
              <a:rPr lang="fr-FR" sz="2400" dirty="0"/>
              <a:t> versus </a:t>
            </a:r>
            <a:r>
              <a:rPr lang="fr-FR" sz="2400" dirty="0" err="1"/>
              <a:t>medical</a:t>
            </a:r>
            <a:r>
              <a:rPr lang="fr-FR" sz="2400" dirty="0"/>
              <a:t> data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FDB7FB5-3032-824D-944D-E83F909EE3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5000" y="1233798"/>
            <a:ext cx="4800600" cy="282949"/>
          </a:xfrm>
        </p:spPr>
        <p:txBody>
          <a:bodyPr/>
          <a:lstStyle/>
          <a:p>
            <a:r>
              <a:rPr lang="fr-FR" sz="1600" dirty="0" err="1"/>
              <a:t>Linear</a:t>
            </a:r>
            <a:r>
              <a:rPr lang="fr-FR" sz="1600" dirty="0"/>
              <a:t> </a:t>
            </a:r>
            <a:r>
              <a:rPr lang="fr-FR" sz="1600" dirty="0" err="1"/>
              <a:t>models</a:t>
            </a:r>
            <a:r>
              <a:rPr lang="fr-FR" sz="1600" dirty="0"/>
              <a:t> (</a:t>
            </a:r>
            <a:r>
              <a:rPr lang="fr-FR" sz="1600" dirty="0" err="1"/>
              <a:t>from</a:t>
            </a:r>
            <a:r>
              <a:rPr lang="fr-FR" sz="1600" dirty="0"/>
              <a:t> </a:t>
            </a:r>
            <a:r>
              <a:rPr lang="fr-FR" sz="1600" dirty="0" err="1"/>
              <a:t>previous</a:t>
            </a:r>
            <a:r>
              <a:rPr lang="fr-FR" sz="1600" dirty="0"/>
              <a:t> </a:t>
            </a:r>
            <a:r>
              <a:rPr lang="fr-FR" sz="1600" dirty="0" err="1"/>
              <a:t>practical</a:t>
            </a:r>
            <a:r>
              <a:rPr lang="fr-FR" sz="1600" dirty="0"/>
              <a:t> session)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76240C-F83A-CC44-A945-2626D3B05E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5000" y="1514776"/>
            <a:ext cx="4800600" cy="86645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 err="1"/>
              <a:t>Accurate</a:t>
            </a:r>
            <a:r>
              <a:rPr lang="fr-FR" sz="1600" dirty="0"/>
              <a:t> on short </a:t>
            </a:r>
            <a:r>
              <a:rPr lang="fr-FR" sz="1600" dirty="0" err="1"/>
              <a:t>periods</a:t>
            </a:r>
            <a:r>
              <a:rPr lang="fr-FR" sz="1600" dirty="0"/>
              <a:t> of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 err="1"/>
              <a:t>Adequate</a:t>
            </a:r>
            <a:r>
              <a:rPr lang="fr-FR" sz="1600" dirty="0"/>
              <a:t> for close to </a:t>
            </a:r>
            <a:r>
              <a:rPr lang="fr-FR" sz="1600" dirty="0" err="1"/>
              <a:t>linear</a:t>
            </a:r>
            <a:r>
              <a:rPr lang="fr-FR" sz="1600" dirty="0"/>
              <a:t> </a:t>
            </a:r>
            <a:r>
              <a:rPr lang="fr-FR" sz="1600" dirty="0" err="1"/>
              <a:t>growth</a:t>
            </a:r>
            <a:endParaRPr lang="fr-FR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A6D6B5-BD78-374E-95A7-DB2E3585C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57"/>
          <a:stretch/>
        </p:blipFill>
        <p:spPr bwMode="auto">
          <a:xfrm>
            <a:off x="172495" y="3138021"/>
            <a:ext cx="6089409" cy="293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276E3D0-0327-794F-9A0C-0F901F88E02C}"/>
              </a:ext>
            </a:extLst>
          </p:cNvPr>
          <p:cNvCxnSpPr>
            <a:cxnSpLocks/>
          </p:cNvCxnSpPr>
          <p:nvPr/>
        </p:nvCxnSpPr>
        <p:spPr>
          <a:xfrm flipV="1">
            <a:off x="2968206" y="2476500"/>
            <a:ext cx="1957580" cy="1808953"/>
          </a:xfrm>
          <a:prstGeom prst="line">
            <a:avLst/>
          </a:prstGeom>
          <a:ln w="127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8001B20-04A8-C64C-9C9D-16AF8A6021B2}"/>
              </a:ext>
            </a:extLst>
          </p:cNvPr>
          <p:cNvCxnSpPr>
            <a:cxnSpLocks/>
          </p:cNvCxnSpPr>
          <p:nvPr/>
        </p:nvCxnSpPr>
        <p:spPr>
          <a:xfrm flipV="1">
            <a:off x="5745670" y="2911928"/>
            <a:ext cx="806433" cy="619585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18D3C497-DEA9-2447-A7A8-EFD414ED009D}"/>
              </a:ext>
            </a:extLst>
          </p:cNvPr>
          <p:cNvSpPr txBox="1"/>
          <p:nvPr/>
        </p:nvSpPr>
        <p:spPr>
          <a:xfrm>
            <a:off x="5477068" y="2427271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?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51619E6B-477A-3549-B61C-89085411FAF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804402" y="2658104"/>
            <a:ext cx="194800" cy="59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BDF5F7DD-18CE-B44D-9BF9-6379138EEDD4}"/>
              </a:ext>
            </a:extLst>
          </p:cNvPr>
          <p:cNvCxnSpPr>
            <a:stCxn id="25" idx="1"/>
          </p:cNvCxnSpPr>
          <p:nvPr/>
        </p:nvCxnSpPr>
        <p:spPr>
          <a:xfrm flipH="1">
            <a:off x="4746020" y="2658104"/>
            <a:ext cx="731048" cy="2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49C5B542-90A4-C040-8A5F-BA55150F6BE9}"/>
              </a:ext>
            </a:extLst>
          </p:cNvPr>
          <p:cNvSpPr txBox="1">
            <a:spLocks/>
          </p:cNvSpPr>
          <p:nvPr/>
        </p:nvSpPr>
        <p:spPr>
          <a:xfrm>
            <a:off x="7007446" y="1255710"/>
            <a:ext cx="4800600" cy="2829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 err="1"/>
              <a:t>Medical</a:t>
            </a:r>
            <a:r>
              <a:rPr lang="fr-FR" sz="1600" dirty="0"/>
              <a:t> data</a:t>
            </a:r>
          </a:p>
        </p:txBody>
      </p:sp>
      <p:sp>
        <p:nvSpPr>
          <p:cNvPr id="36" name="Espace réservé du texte 7">
            <a:extLst>
              <a:ext uri="{FF2B5EF4-FFF2-40B4-BE49-F238E27FC236}">
                <a16:creationId xmlns:a16="http://schemas.microsoft.com/office/drawing/2014/main" id="{AD9F50D7-BF30-E247-8CCB-E0D258541967}"/>
              </a:ext>
            </a:extLst>
          </p:cNvPr>
          <p:cNvSpPr txBox="1">
            <a:spLocks/>
          </p:cNvSpPr>
          <p:nvPr/>
        </p:nvSpPr>
        <p:spPr>
          <a:xfrm>
            <a:off x="7007446" y="1536688"/>
            <a:ext cx="4800600" cy="8664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/>
              <a:t>Non-</a:t>
            </a:r>
            <a:r>
              <a:rPr lang="fr-FR" sz="1600" dirty="0" err="1"/>
              <a:t>linear</a:t>
            </a:r>
            <a:r>
              <a:rPr lang="fr-FR" sz="1600" dirty="0"/>
              <a:t> in </a:t>
            </a:r>
            <a:r>
              <a:rPr lang="fr-FR" sz="1600" dirty="0" err="1"/>
              <a:t>most</a:t>
            </a:r>
            <a:r>
              <a:rPr lang="fr-FR" sz="1600" dirty="0"/>
              <a:t>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 err="1"/>
              <a:t>Sometimes</a:t>
            </a:r>
            <a:r>
              <a:rPr lang="fr-FR" sz="1600" dirty="0"/>
              <a:t> non-</a:t>
            </a:r>
            <a:r>
              <a:rPr lang="fr-FR" sz="1600" dirty="0" err="1"/>
              <a:t>monotonous</a:t>
            </a:r>
            <a:r>
              <a:rPr lang="fr-FR" sz="1600" dirty="0"/>
              <a:t>, or not </a:t>
            </a:r>
            <a:r>
              <a:rPr lang="fr-FR" sz="1600" dirty="0" err="1"/>
              <a:t>continuous</a:t>
            </a:r>
            <a:endParaRPr lang="fr-FR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35F55F3-B4B3-F84B-A482-79532531E2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2" t="25352" r="50000" b="50000"/>
          <a:stretch/>
        </p:blipFill>
        <p:spPr bwMode="auto">
          <a:xfrm>
            <a:off x="6720561" y="3670059"/>
            <a:ext cx="1679367" cy="210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F51C314-8BBA-0F46-92E0-0475AE860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17" b="19362"/>
          <a:stretch/>
        </p:blipFill>
        <p:spPr bwMode="auto">
          <a:xfrm>
            <a:off x="8858585" y="2843556"/>
            <a:ext cx="2553333" cy="349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36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7363106" cy="381000"/>
          </a:xfrm>
        </p:spPr>
        <p:txBody>
          <a:bodyPr/>
          <a:lstStyle/>
          <a:p>
            <a:r>
              <a:rPr lang="fr-FR" sz="2400" dirty="0"/>
              <a:t>Jack et al., 2010 : the </a:t>
            </a:r>
            <a:r>
              <a:rPr lang="fr-FR" sz="2400" dirty="0" err="1"/>
              <a:t>sigmoïd</a:t>
            </a:r>
            <a:r>
              <a:rPr lang="fr-FR" sz="2400" dirty="0"/>
              <a:t> </a:t>
            </a:r>
            <a:r>
              <a:rPr lang="fr-FR" sz="2400" dirty="0" err="1"/>
              <a:t>hypothesis</a:t>
            </a:r>
            <a:endParaRPr lang="fr-FR" sz="24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8" name="Picture 4" descr="Figure 1: 2010 model of dynamic biomarkers of the Alzheimers disease pathological cascade A is identifi ed by CSF A42 or PET amyloid imaging. Tau-mediated neuronal injury and dysfunction is identifi ed by CSF tau or fl uorodeoxyglucose PET. Brain structure is measured by structural MRI. A=amyloid . MCI=mild cognitive impairment. Reproduced from Jack and colleagues,18 by permission of Elsevier.">
            <a:extLst>
              <a:ext uri="{FF2B5EF4-FFF2-40B4-BE49-F238E27FC236}">
                <a16:creationId xmlns:a16="http://schemas.microsoft.com/office/drawing/2014/main" id="{274A57BD-EEA8-6D41-B74C-1F6EADDE367D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r="-881" b="16600"/>
          <a:stretch/>
        </p:blipFill>
        <p:spPr bwMode="auto">
          <a:xfrm>
            <a:off x="2249239" y="2512697"/>
            <a:ext cx="7693521" cy="434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49C5B542-90A4-C040-8A5F-BA55150F6BE9}"/>
              </a:ext>
            </a:extLst>
          </p:cNvPr>
          <p:cNvSpPr txBox="1">
            <a:spLocks/>
          </p:cNvSpPr>
          <p:nvPr/>
        </p:nvSpPr>
        <p:spPr>
          <a:xfrm>
            <a:off x="496918" y="1059756"/>
            <a:ext cx="11072782" cy="3188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err="1"/>
              <a:t>Biomarker</a:t>
            </a:r>
            <a:r>
              <a:rPr lang="fr-FR" sz="1800" dirty="0"/>
              <a:t>/scores </a:t>
            </a:r>
            <a:r>
              <a:rPr lang="fr-FR" sz="1800" dirty="0" err="1"/>
              <a:t>hypothesis</a:t>
            </a:r>
            <a:endParaRPr lang="fr-FR" sz="1800" dirty="0"/>
          </a:p>
        </p:txBody>
      </p:sp>
      <p:sp>
        <p:nvSpPr>
          <p:cNvPr id="36" name="Espace réservé du texte 7">
            <a:extLst>
              <a:ext uri="{FF2B5EF4-FFF2-40B4-BE49-F238E27FC236}">
                <a16:creationId xmlns:a16="http://schemas.microsoft.com/office/drawing/2014/main" id="{AD9F50D7-BF30-E247-8CCB-E0D258541967}"/>
              </a:ext>
            </a:extLst>
          </p:cNvPr>
          <p:cNvSpPr txBox="1">
            <a:spLocks/>
          </p:cNvSpPr>
          <p:nvPr/>
        </p:nvSpPr>
        <p:spPr>
          <a:xfrm>
            <a:off x="496918" y="1507134"/>
            <a:ext cx="11072782" cy="9765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Monotonous</a:t>
            </a:r>
            <a:r>
              <a:rPr lang="fr-FR" sz="1800" dirty="0"/>
              <a:t> progression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Logistic</a:t>
            </a:r>
            <a:r>
              <a:rPr lang="fr-FR" sz="1800" dirty="0"/>
              <a:t> </a:t>
            </a:r>
            <a:r>
              <a:rPr lang="fr-FR" sz="1800" dirty="0" err="1"/>
              <a:t>curves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48971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7363106" cy="381000"/>
          </a:xfrm>
        </p:spPr>
        <p:txBody>
          <a:bodyPr/>
          <a:lstStyle/>
          <a:p>
            <a:r>
              <a:rPr lang="fr-FR" sz="2400" dirty="0"/>
              <a:t>Non-</a:t>
            </a:r>
            <a:r>
              <a:rPr lang="fr-FR" sz="2400" dirty="0" err="1"/>
              <a:t>linear</a:t>
            </a:r>
            <a:r>
              <a:rPr lang="fr-FR" sz="2400" dirty="0"/>
              <a:t> mixed-</a:t>
            </a:r>
            <a:r>
              <a:rPr lang="fr-FR" sz="2400" dirty="0" err="1"/>
              <a:t>effect</a:t>
            </a:r>
            <a:r>
              <a:rPr lang="fr-FR" sz="2400" dirty="0"/>
              <a:t> model : how ?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49C5B542-90A4-C040-8A5F-BA55150F6BE9}"/>
              </a:ext>
            </a:extLst>
          </p:cNvPr>
          <p:cNvSpPr txBox="1">
            <a:spLocks/>
          </p:cNvSpPr>
          <p:nvPr/>
        </p:nvSpPr>
        <p:spPr>
          <a:xfrm>
            <a:off x="496918" y="1059756"/>
            <a:ext cx="5599082" cy="3188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Push </a:t>
            </a:r>
            <a:r>
              <a:rPr lang="fr-FR" sz="1800" dirty="0" err="1"/>
              <a:t>forward</a:t>
            </a:r>
            <a:r>
              <a:rPr lang="fr-FR" sz="1800" dirty="0"/>
              <a:t> transformation</a:t>
            </a:r>
          </a:p>
        </p:txBody>
      </p:sp>
      <p:sp>
        <p:nvSpPr>
          <p:cNvPr id="36" name="Espace réservé du texte 7">
            <a:extLst>
              <a:ext uri="{FF2B5EF4-FFF2-40B4-BE49-F238E27FC236}">
                <a16:creationId xmlns:a16="http://schemas.microsoft.com/office/drawing/2014/main" id="{AD9F50D7-BF30-E247-8CCB-E0D258541967}"/>
              </a:ext>
            </a:extLst>
          </p:cNvPr>
          <p:cNvSpPr txBox="1">
            <a:spLocks/>
          </p:cNvSpPr>
          <p:nvPr/>
        </p:nvSpPr>
        <p:spPr>
          <a:xfrm>
            <a:off x="496918" y="1507135"/>
            <a:ext cx="5306983" cy="85811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/>
              <a:t>Simple to </a:t>
            </a:r>
            <a:r>
              <a:rPr lang="fr-FR" sz="1800" dirty="0" err="1"/>
              <a:t>understand</a:t>
            </a:r>
            <a:endParaRPr lang="fr-FR" sz="1800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3DC8770-5EB9-1645-9E6F-E8467EF640B4}"/>
              </a:ext>
            </a:extLst>
          </p:cNvPr>
          <p:cNvCxnSpPr>
            <a:cxnSpLocks/>
          </p:cNvCxnSpPr>
          <p:nvPr/>
        </p:nvCxnSpPr>
        <p:spPr>
          <a:xfrm flipV="1">
            <a:off x="363728" y="3262985"/>
            <a:ext cx="1818131" cy="15803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03B3639-C0B1-A24E-8A83-298F2126B226}"/>
              </a:ext>
            </a:extLst>
          </p:cNvPr>
          <p:cNvCxnSpPr>
            <a:cxnSpLocks/>
          </p:cNvCxnSpPr>
          <p:nvPr/>
        </p:nvCxnSpPr>
        <p:spPr>
          <a:xfrm flipV="1">
            <a:off x="283972" y="3506825"/>
            <a:ext cx="2271269" cy="124968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en arc 10">
            <a:extLst>
              <a:ext uri="{FF2B5EF4-FFF2-40B4-BE49-F238E27FC236}">
                <a16:creationId xmlns:a16="http://schemas.microsoft.com/office/drawing/2014/main" id="{0876BBDA-4F1B-5243-B0BA-219A63609B86}"/>
              </a:ext>
            </a:extLst>
          </p:cNvPr>
          <p:cNvCxnSpPr>
            <a:cxnSpLocks/>
          </p:cNvCxnSpPr>
          <p:nvPr/>
        </p:nvCxnSpPr>
        <p:spPr>
          <a:xfrm flipV="1">
            <a:off x="3323083" y="3072384"/>
            <a:ext cx="1821941" cy="1770990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en arc 15">
            <a:extLst>
              <a:ext uri="{FF2B5EF4-FFF2-40B4-BE49-F238E27FC236}">
                <a16:creationId xmlns:a16="http://schemas.microsoft.com/office/drawing/2014/main" id="{3C0C39A7-B1D6-954F-9667-825F36A59BC9}"/>
              </a:ext>
            </a:extLst>
          </p:cNvPr>
          <p:cNvCxnSpPr>
            <a:cxnSpLocks/>
          </p:cNvCxnSpPr>
          <p:nvPr/>
        </p:nvCxnSpPr>
        <p:spPr>
          <a:xfrm flipV="1">
            <a:off x="2898521" y="3072385"/>
            <a:ext cx="3197479" cy="1770988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F35DA491-D6D5-3643-83BD-5E6699F93A67}"/>
              </a:ext>
            </a:extLst>
          </p:cNvPr>
          <p:cNvCxnSpPr/>
          <p:nvPr/>
        </p:nvCxnSpPr>
        <p:spPr>
          <a:xfrm>
            <a:off x="2181859" y="3998976"/>
            <a:ext cx="17683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F3BD6A80-BD8D-A946-A615-09CB675B45EB}"/>
              </a:ext>
            </a:extLst>
          </p:cNvPr>
          <p:cNvSpPr txBox="1"/>
          <p:nvPr/>
        </p:nvSpPr>
        <p:spPr>
          <a:xfrm>
            <a:off x="2972484" y="358854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86E0B257-BD40-7748-BA9E-B619470C52DF}"/>
              </a:ext>
            </a:extLst>
          </p:cNvPr>
          <p:cNvSpPr txBox="1">
            <a:spLocks/>
          </p:cNvSpPr>
          <p:nvPr/>
        </p:nvSpPr>
        <p:spPr>
          <a:xfrm>
            <a:off x="6592918" y="1037980"/>
            <a:ext cx="5599082" cy="3188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err="1"/>
              <a:t>Riemannian</a:t>
            </a:r>
            <a:r>
              <a:rPr lang="fr-FR" sz="1800" dirty="0"/>
              <a:t> manifold</a:t>
            </a:r>
          </a:p>
        </p:txBody>
      </p:sp>
      <p:sp>
        <p:nvSpPr>
          <p:cNvPr id="33" name="Espace réservé du texte 7">
            <a:extLst>
              <a:ext uri="{FF2B5EF4-FFF2-40B4-BE49-F238E27FC236}">
                <a16:creationId xmlns:a16="http://schemas.microsoft.com/office/drawing/2014/main" id="{BEF41734-E61C-A44B-BF1B-C3DC57B18861}"/>
              </a:ext>
            </a:extLst>
          </p:cNvPr>
          <p:cNvSpPr txBox="1">
            <a:spLocks/>
          </p:cNvSpPr>
          <p:nvPr/>
        </p:nvSpPr>
        <p:spPr>
          <a:xfrm>
            <a:off x="6592918" y="1485358"/>
            <a:ext cx="5306983" cy="109934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/>
              <a:t>Harder to </a:t>
            </a:r>
            <a:r>
              <a:rPr lang="fr-FR" sz="1800" dirty="0" err="1"/>
              <a:t>compute</a:t>
            </a:r>
            <a:endParaRPr lang="fr-F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However</a:t>
            </a:r>
            <a:r>
              <a:rPr lang="fr-FR" sz="1800" dirty="0"/>
              <a:t> a more   </a:t>
            </a:r>
            <a:r>
              <a:rPr lang="fr-FR" sz="1800" dirty="0" err="1"/>
              <a:t>proper</a:t>
            </a:r>
            <a:r>
              <a:rPr lang="fr-FR" sz="1800" dirty="0"/>
              <a:t> </a:t>
            </a:r>
            <a:r>
              <a:rPr lang="fr-FR" sz="1800" dirty="0" err="1"/>
              <a:t>mathematical</a:t>
            </a:r>
            <a:r>
              <a:rPr lang="fr-FR" sz="1800" dirty="0"/>
              <a:t> </a:t>
            </a:r>
            <a:r>
              <a:rPr lang="fr-FR" sz="1800" dirty="0" err="1"/>
              <a:t>framework</a:t>
            </a:r>
            <a:endParaRPr lang="fr-FR" sz="1800" dirty="0"/>
          </a:p>
        </p:txBody>
      </p:sp>
      <p:sp>
        <p:nvSpPr>
          <p:cNvPr id="37" name="Forme libre 36">
            <a:extLst>
              <a:ext uri="{FF2B5EF4-FFF2-40B4-BE49-F238E27FC236}">
                <a16:creationId xmlns:a16="http://schemas.microsoft.com/office/drawing/2014/main" id="{729A80E1-4564-CE4D-9142-4464A77C7BC6}"/>
              </a:ext>
            </a:extLst>
          </p:cNvPr>
          <p:cNvSpPr/>
          <p:nvPr/>
        </p:nvSpPr>
        <p:spPr>
          <a:xfrm>
            <a:off x="7443784" y="3574321"/>
            <a:ext cx="3744915" cy="1930839"/>
          </a:xfrm>
          <a:custGeom>
            <a:avLst/>
            <a:gdLst>
              <a:gd name="connsiteX0" fmla="*/ 0 w 2786062"/>
              <a:gd name="connsiteY0" fmla="*/ 1477444 h 1477444"/>
              <a:gd name="connsiteX1" fmla="*/ 200025 w 2786062"/>
              <a:gd name="connsiteY1" fmla="*/ 834507 h 1477444"/>
              <a:gd name="connsiteX2" fmla="*/ 1028700 w 2786062"/>
              <a:gd name="connsiteY2" fmla="*/ 634482 h 1477444"/>
              <a:gd name="connsiteX3" fmla="*/ 1385887 w 2786062"/>
              <a:gd name="connsiteY3" fmla="*/ 20119 h 1477444"/>
              <a:gd name="connsiteX4" fmla="*/ 2786062 w 2786062"/>
              <a:gd name="connsiteY4" fmla="*/ 148707 h 147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062" h="1477444">
                <a:moveTo>
                  <a:pt x="0" y="1477444"/>
                </a:moveTo>
                <a:cubicBezTo>
                  <a:pt x="14287" y="1226222"/>
                  <a:pt x="28575" y="975001"/>
                  <a:pt x="200025" y="834507"/>
                </a:cubicBezTo>
                <a:cubicBezTo>
                  <a:pt x="371475" y="694013"/>
                  <a:pt x="831056" y="770213"/>
                  <a:pt x="1028700" y="634482"/>
                </a:cubicBezTo>
                <a:cubicBezTo>
                  <a:pt x="1226344" y="498751"/>
                  <a:pt x="1092993" y="101081"/>
                  <a:pt x="1385887" y="20119"/>
                </a:cubicBezTo>
                <a:cubicBezTo>
                  <a:pt x="1678781" y="-60844"/>
                  <a:pt x="2543175" y="127276"/>
                  <a:pt x="2786062" y="148707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orme libre 37">
            <a:extLst>
              <a:ext uri="{FF2B5EF4-FFF2-40B4-BE49-F238E27FC236}">
                <a16:creationId xmlns:a16="http://schemas.microsoft.com/office/drawing/2014/main" id="{5582E599-95B6-D24F-B401-D9A63528B405}"/>
              </a:ext>
            </a:extLst>
          </p:cNvPr>
          <p:cNvSpPr/>
          <p:nvPr/>
        </p:nvSpPr>
        <p:spPr>
          <a:xfrm rot="20918210">
            <a:off x="7030446" y="2913959"/>
            <a:ext cx="3431618" cy="1894587"/>
          </a:xfrm>
          <a:custGeom>
            <a:avLst/>
            <a:gdLst>
              <a:gd name="connsiteX0" fmla="*/ 0 w 2786062"/>
              <a:gd name="connsiteY0" fmla="*/ 1477444 h 1477444"/>
              <a:gd name="connsiteX1" fmla="*/ 200025 w 2786062"/>
              <a:gd name="connsiteY1" fmla="*/ 834507 h 1477444"/>
              <a:gd name="connsiteX2" fmla="*/ 1028700 w 2786062"/>
              <a:gd name="connsiteY2" fmla="*/ 634482 h 1477444"/>
              <a:gd name="connsiteX3" fmla="*/ 1385887 w 2786062"/>
              <a:gd name="connsiteY3" fmla="*/ 20119 h 1477444"/>
              <a:gd name="connsiteX4" fmla="*/ 2786062 w 2786062"/>
              <a:gd name="connsiteY4" fmla="*/ 148707 h 147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062" h="1477444">
                <a:moveTo>
                  <a:pt x="0" y="1477444"/>
                </a:moveTo>
                <a:cubicBezTo>
                  <a:pt x="14287" y="1226222"/>
                  <a:pt x="28575" y="975001"/>
                  <a:pt x="200025" y="834507"/>
                </a:cubicBezTo>
                <a:cubicBezTo>
                  <a:pt x="371475" y="694013"/>
                  <a:pt x="831056" y="770213"/>
                  <a:pt x="1028700" y="634482"/>
                </a:cubicBezTo>
                <a:cubicBezTo>
                  <a:pt x="1226344" y="498751"/>
                  <a:pt x="1092993" y="101081"/>
                  <a:pt x="1385887" y="20119"/>
                </a:cubicBezTo>
                <a:cubicBezTo>
                  <a:pt x="1678781" y="-60844"/>
                  <a:pt x="2543175" y="127276"/>
                  <a:pt x="2786062" y="148707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34AB3CB5-8DDB-1A42-A895-035BDA9D9AEB}"/>
              </a:ext>
            </a:extLst>
          </p:cNvPr>
          <p:cNvCxnSpPr>
            <a:cxnSpLocks/>
            <a:stCxn id="37" idx="1"/>
            <a:endCxn id="38" idx="1"/>
          </p:cNvCxnSpPr>
          <p:nvPr/>
        </p:nvCxnSpPr>
        <p:spPr>
          <a:xfrm flipH="1" flipV="1">
            <a:off x="7329824" y="4271193"/>
            <a:ext cx="382826" cy="39372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AD508978-3286-444E-92EB-FF3037BFD19B}"/>
              </a:ext>
            </a:extLst>
          </p:cNvPr>
          <p:cNvCxnSpPr>
            <a:cxnSpLocks/>
            <a:endCxn id="38" idx="3"/>
          </p:cNvCxnSpPr>
          <p:nvPr/>
        </p:nvCxnSpPr>
        <p:spPr>
          <a:xfrm flipH="1" flipV="1">
            <a:off x="8556069" y="2959555"/>
            <a:ext cx="622533" cy="74325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63FA3556-640B-F143-996F-3C80BD72D586}"/>
              </a:ext>
            </a:extLst>
          </p:cNvPr>
          <p:cNvSpPr txBox="1"/>
          <p:nvPr/>
        </p:nvSpPr>
        <p:spPr>
          <a:xfrm>
            <a:off x="7554370" y="422883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</a:t>
            </a:r>
            <a:r>
              <a:rPr lang="fr-FR" baseline="-25000" dirty="0" err="1"/>
              <a:t>i</a:t>
            </a:r>
            <a:endParaRPr lang="fr-FR" dirty="0"/>
          </a:p>
        </p:txBody>
      </p:sp>
      <p:pic>
        <p:nvPicPr>
          <p:cNvPr id="42" name="Espace réservé pour une image  8">
            <a:extLst>
              <a:ext uri="{FF2B5EF4-FFF2-40B4-BE49-F238E27FC236}">
                <a16:creationId xmlns:a16="http://schemas.microsoft.com/office/drawing/2014/main" id="{F6496A20-15E0-794D-A156-537343CDAF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35" t="60059" r="53185" b="37305"/>
          <a:stretch/>
        </p:blipFill>
        <p:spPr>
          <a:xfrm>
            <a:off x="8967908" y="3091046"/>
            <a:ext cx="995013" cy="2787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E104EA31-93B3-AA49-94C6-A20D9E0E1B6D}"/>
                  </a:ext>
                </a:extLst>
              </p:cNvPr>
              <p:cNvSpPr txBox="1"/>
              <p:nvPr/>
            </p:nvSpPr>
            <p:spPr>
              <a:xfrm>
                <a:off x="8872535" y="4262148"/>
                <a:ext cx="459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E104EA31-93B3-AA49-94C6-A20D9E0E1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535" y="4262148"/>
                <a:ext cx="459035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779C4C90-F94C-BC4A-A800-2039D092E66D}"/>
                  </a:ext>
                </a:extLst>
              </p:cNvPr>
              <p:cNvSpPr txBox="1"/>
              <p:nvPr/>
            </p:nvSpPr>
            <p:spPr>
              <a:xfrm>
                <a:off x="7443784" y="3696017"/>
                <a:ext cx="426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779C4C90-F94C-BC4A-A800-2039D092E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784" y="3696017"/>
                <a:ext cx="426334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orme libre 44">
            <a:extLst>
              <a:ext uri="{FF2B5EF4-FFF2-40B4-BE49-F238E27FC236}">
                <a16:creationId xmlns:a16="http://schemas.microsoft.com/office/drawing/2014/main" id="{D1064159-1028-7643-85E7-0DA9B183580E}"/>
              </a:ext>
            </a:extLst>
          </p:cNvPr>
          <p:cNvSpPr/>
          <p:nvPr/>
        </p:nvSpPr>
        <p:spPr>
          <a:xfrm>
            <a:off x="6327648" y="2474976"/>
            <a:ext cx="5632704" cy="3767328"/>
          </a:xfrm>
          <a:custGeom>
            <a:avLst/>
            <a:gdLst>
              <a:gd name="connsiteX0" fmla="*/ 1328928 w 5632704"/>
              <a:gd name="connsiteY0" fmla="*/ 3742944 h 3767328"/>
              <a:gd name="connsiteX1" fmla="*/ 12192 w 5632704"/>
              <a:gd name="connsiteY1" fmla="*/ 2340864 h 3767328"/>
              <a:gd name="connsiteX2" fmla="*/ 0 w 5632704"/>
              <a:gd name="connsiteY2" fmla="*/ 2328672 h 3767328"/>
              <a:gd name="connsiteX3" fmla="*/ 12192 w 5632704"/>
              <a:gd name="connsiteY3" fmla="*/ 2060448 h 3767328"/>
              <a:gd name="connsiteX4" fmla="*/ 48768 w 5632704"/>
              <a:gd name="connsiteY4" fmla="*/ 1853184 h 3767328"/>
              <a:gd name="connsiteX5" fmla="*/ 85344 w 5632704"/>
              <a:gd name="connsiteY5" fmla="*/ 1767840 h 3767328"/>
              <a:gd name="connsiteX6" fmla="*/ 97536 w 5632704"/>
              <a:gd name="connsiteY6" fmla="*/ 1731264 h 3767328"/>
              <a:gd name="connsiteX7" fmla="*/ 170688 w 5632704"/>
              <a:gd name="connsiteY7" fmla="*/ 1645920 h 3767328"/>
              <a:gd name="connsiteX8" fmla="*/ 231648 w 5632704"/>
              <a:gd name="connsiteY8" fmla="*/ 1584960 h 3767328"/>
              <a:gd name="connsiteX9" fmla="*/ 292608 w 5632704"/>
              <a:gd name="connsiteY9" fmla="*/ 1511808 h 3767328"/>
              <a:gd name="connsiteX10" fmla="*/ 329184 w 5632704"/>
              <a:gd name="connsiteY10" fmla="*/ 1487424 h 3767328"/>
              <a:gd name="connsiteX11" fmla="*/ 377952 w 5632704"/>
              <a:gd name="connsiteY11" fmla="*/ 1438656 h 3767328"/>
              <a:gd name="connsiteX12" fmla="*/ 426720 w 5632704"/>
              <a:gd name="connsiteY12" fmla="*/ 1414272 h 3767328"/>
              <a:gd name="connsiteX13" fmla="*/ 475488 w 5632704"/>
              <a:gd name="connsiteY13" fmla="*/ 1377696 h 3767328"/>
              <a:gd name="connsiteX14" fmla="*/ 524256 w 5632704"/>
              <a:gd name="connsiteY14" fmla="*/ 1353312 h 3767328"/>
              <a:gd name="connsiteX15" fmla="*/ 560832 w 5632704"/>
              <a:gd name="connsiteY15" fmla="*/ 1328928 h 3767328"/>
              <a:gd name="connsiteX16" fmla="*/ 597408 w 5632704"/>
              <a:gd name="connsiteY16" fmla="*/ 1316736 h 3767328"/>
              <a:gd name="connsiteX17" fmla="*/ 694944 w 5632704"/>
              <a:gd name="connsiteY17" fmla="*/ 1292352 h 3767328"/>
              <a:gd name="connsiteX18" fmla="*/ 841248 w 5632704"/>
              <a:gd name="connsiteY18" fmla="*/ 1267968 h 3767328"/>
              <a:gd name="connsiteX19" fmla="*/ 1036320 w 5632704"/>
              <a:gd name="connsiteY19" fmla="*/ 1255776 h 3767328"/>
              <a:gd name="connsiteX20" fmla="*/ 1097280 w 5632704"/>
              <a:gd name="connsiteY20" fmla="*/ 1243584 h 3767328"/>
              <a:gd name="connsiteX21" fmla="*/ 1243584 w 5632704"/>
              <a:gd name="connsiteY21" fmla="*/ 1207008 h 3767328"/>
              <a:gd name="connsiteX22" fmla="*/ 1341120 w 5632704"/>
              <a:gd name="connsiteY22" fmla="*/ 1158240 h 3767328"/>
              <a:gd name="connsiteX23" fmla="*/ 1463040 w 5632704"/>
              <a:gd name="connsiteY23" fmla="*/ 1072896 h 3767328"/>
              <a:gd name="connsiteX24" fmla="*/ 1572768 w 5632704"/>
              <a:gd name="connsiteY24" fmla="*/ 975360 h 3767328"/>
              <a:gd name="connsiteX25" fmla="*/ 1645920 w 5632704"/>
              <a:gd name="connsiteY25" fmla="*/ 841248 h 3767328"/>
              <a:gd name="connsiteX26" fmla="*/ 1670304 w 5632704"/>
              <a:gd name="connsiteY26" fmla="*/ 768096 h 3767328"/>
              <a:gd name="connsiteX27" fmla="*/ 1682496 w 5632704"/>
              <a:gd name="connsiteY27" fmla="*/ 731520 h 3767328"/>
              <a:gd name="connsiteX28" fmla="*/ 1706880 w 5632704"/>
              <a:gd name="connsiteY28" fmla="*/ 682752 h 3767328"/>
              <a:gd name="connsiteX29" fmla="*/ 1731264 w 5632704"/>
              <a:gd name="connsiteY29" fmla="*/ 573024 h 3767328"/>
              <a:gd name="connsiteX30" fmla="*/ 1755648 w 5632704"/>
              <a:gd name="connsiteY30" fmla="*/ 390144 h 3767328"/>
              <a:gd name="connsiteX31" fmla="*/ 1780032 w 5632704"/>
              <a:gd name="connsiteY31" fmla="*/ 219456 h 3767328"/>
              <a:gd name="connsiteX32" fmla="*/ 1816608 w 5632704"/>
              <a:gd name="connsiteY32" fmla="*/ 121920 h 3767328"/>
              <a:gd name="connsiteX33" fmla="*/ 1840992 w 5632704"/>
              <a:gd name="connsiteY33" fmla="*/ 85344 h 3767328"/>
              <a:gd name="connsiteX34" fmla="*/ 1853184 w 5632704"/>
              <a:gd name="connsiteY34" fmla="*/ 48768 h 3767328"/>
              <a:gd name="connsiteX35" fmla="*/ 1926336 w 5632704"/>
              <a:gd name="connsiteY35" fmla="*/ 24384 h 3767328"/>
              <a:gd name="connsiteX36" fmla="*/ 2011680 w 5632704"/>
              <a:gd name="connsiteY36" fmla="*/ 0 h 3767328"/>
              <a:gd name="connsiteX37" fmla="*/ 3340608 w 5632704"/>
              <a:gd name="connsiteY37" fmla="*/ 24384 h 3767328"/>
              <a:gd name="connsiteX38" fmla="*/ 3681984 w 5632704"/>
              <a:gd name="connsiteY38" fmla="*/ 48768 h 3767328"/>
              <a:gd name="connsiteX39" fmla="*/ 3803904 w 5632704"/>
              <a:gd name="connsiteY39" fmla="*/ 48768 h 3767328"/>
              <a:gd name="connsiteX40" fmla="*/ 5632704 w 5632704"/>
              <a:gd name="connsiteY40" fmla="*/ 1365504 h 3767328"/>
              <a:gd name="connsiteX41" fmla="*/ 5632704 w 5632704"/>
              <a:gd name="connsiteY41" fmla="*/ 1365504 h 3767328"/>
              <a:gd name="connsiteX42" fmla="*/ 5522976 w 5632704"/>
              <a:gd name="connsiteY42" fmla="*/ 1389888 h 3767328"/>
              <a:gd name="connsiteX43" fmla="*/ 5486400 w 5632704"/>
              <a:gd name="connsiteY43" fmla="*/ 1414272 h 3767328"/>
              <a:gd name="connsiteX44" fmla="*/ 5449824 w 5632704"/>
              <a:gd name="connsiteY44" fmla="*/ 1426464 h 3767328"/>
              <a:gd name="connsiteX45" fmla="*/ 5413248 w 5632704"/>
              <a:gd name="connsiteY45" fmla="*/ 1450848 h 3767328"/>
              <a:gd name="connsiteX46" fmla="*/ 5376672 w 5632704"/>
              <a:gd name="connsiteY46" fmla="*/ 1463040 h 3767328"/>
              <a:gd name="connsiteX47" fmla="*/ 5340096 w 5632704"/>
              <a:gd name="connsiteY47" fmla="*/ 1487424 h 3767328"/>
              <a:gd name="connsiteX48" fmla="*/ 5266944 w 5632704"/>
              <a:gd name="connsiteY48" fmla="*/ 1511808 h 3767328"/>
              <a:gd name="connsiteX49" fmla="*/ 5230368 w 5632704"/>
              <a:gd name="connsiteY49" fmla="*/ 1524000 h 3767328"/>
              <a:gd name="connsiteX50" fmla="*/ 5181600 w 5632704"/>
              <a:gd name="connsiteY50" fmla="*/ 1548384 h 3767328"/>
              <a:gd name="connsiteX51" fmla="*/ 5108448 w 5632704"/>
              <a:gd name="connsiteY51" fmla="*/ 1572768 h 3767328"/>
              <a:gd name="connsiteX52" fmla="*/ 5071872 w 5632704"/>
              <a:gd name="connsiteY52" fmla="*/ 1584960 h 3767328"/>
              <a:gd name="connsiteX53" fmla="*/ 5035296 w 5632704"/>
              <a:gd name="connsiteY53" fmla="*/ 1597152 h 3767328"/>
              <a:gd name="connsiteX54" fmla="*/ 4986528 w 5632704"/>
              <a:gd name="connsiteY54" fmla="*/ 1609344 h 3767328"/>
              <a:gd name="connsiteX55" fmla="*/ 4949952 w 5632704"/>
              <a:gd name="connsiteY55" fmla="*/ 1621536 h 3767328"/>
              <a:gd name="connsiteX56" fmla="*/ 4901184 w 5632704"/>
              <a:gd name="connsiteY56" fmla="*/ 1633728 h 3767328"/>
              <a:gd name="connsiteX57" fmla="*/ 4815840 w 5632704"/>
              <a:gd name="connsiteY57" fmla="*/ 1658112 h 3767328"/>
              <a:gd name="connsiteX58" fmla="*/ 4645152 w 5632704"/>
              <a:gd name="connsiteY58" fmla="*/ 1682496 h 3767328"/>
              <a:gd name="connsiteX59" fmla="*/ 4596384 w 5632704"/>
              <a:gd name="connsiteY59" fmla="*/ 1694688 h 3767328"/>
              <a:gd name="connsiteX60" fmla="*/ 4535424 w 5632704"/>
              <a:gd name="connsiteY60" fmla="*/ 1706880 h 3767328"/>
              <a:gd name="connsiteX61" fmla="*/ 4401312 w 5632704"/>
              <a:gd name="connsiteY61" fmla="*/ 1743456 h 3767328"/>
              <a:gd name="connsiteX62" fmla="*/ 4315968 w 5632704"/>
              <a:gd name="connsiteY62" fmla="*/ 1755648 h 3767328"/>
              <a:gd name="connsiteX63" fmla="*/ 4218432 w 5632704"/>
              <a:gd name="connsiteY63" fmla="*/ 1804416 h 3767328"/>
              <a:gd name="connsiteX64" fmla="*/ 4133088 w 5632704"/>
              <a:gd name="connsiteY64" fmla="*/ 1840992 h 3767328"/>
              <a:gd name="connsiteX65" fmla="*/ 4059936 w 5632704"/>
              <a:gd name="connsiteY65" fmla="*/ 1901952 h 3767328"/>
              <a:gd name="connsiteX66" fmla="*/ 3986784 w 5632704"/>
              <a:gd name="connsiteY66" fmla="*/ 1950720 h 3767328"/>
              <a:gd name="connsiteX67" fmla="*/ 3950208 w 5632704"/>
              <a:gd name="connsiteY67" fmla="*/ 1987296 h 3767328"/>
              <a:gd name="connsiteX68" fmla="*/ 3803904 w 5632704"/>
              <a:gd name="connsiteY68" fmla="*/ 2109216 h 3767328"/>
              <a:gd name="connsiteX69" fmla="*/ 3742944 w 5632704"/>
              <a:gd name="connsiteY69" fmla="*/ 2218944 h 3767328"/>
              <a:gd name="connsiteX70" fmla="*/ 3718560 w 5632704"/>
              <a:gd name="connsiteY70" fmla="*/ 2267712 h 3767328"/>
              <a:gd name="connsiteX71" fmla="*/ 3681984 w 5632704"/>
              <a:gd name="connsiteY71" fmla="*/ 2365248 h 3767328"/>
              <a:gd name="connsiteX72" fmla="*/ 3669792 w 5632704"/>
              <a:gd name="connsiteY72" fmla="*/ 2426208 h 3767328"/>
              <a:gd name="connsiteX73" fmla="*/ 3633216 w 5632704"/>
              <a:gd name="connsiteY73" fmla="*/ 2767584 h 3767328"/>
              <a:gd name="connsiteX74" fmla="*/ 3621024 w 5632704"/>
              <a:gd name="connsiteY74" fmla="*/ 2804160 h 3767328"/>
              <a:gd name="connsiteX75" fmla="*/ 3523488 w 5632704"/>
              <a:gd name="connsiteY75" fmla="*/ 2889504 h 3767328"/>
              <a:gd name="connsiteX76" fmla="*/ 3438144 w 5632704"/>
              <a:gd name="connsiteY76" fmla="*/ 2962656 h 3767328"/>
              <a:gd name="connsiteX77" fmla="*/ 3364992 w 5632704"/>
              <a:gd name="connsiteY77" fmla="*/ 3035808 h 3767328"/>
              <a:gd name="connsiteX78" fmla="*/ 3328416 w 5632704"/>
              <a:gd name="connsiteY78" fmla="*/ 3048000 h 3767328"/>
              <a:gd name="connsiteX79" fmla="*/ 3218688 w 5632704"/>
              <a:gd name="connsiteY79" fmla="*/ 3096768 h 3767328"/>
              <a:gd name="connsiteX80" fmla="*/ 3157728 w 5632704"/>
              <a:gd name="connsiteY80" fmla="*/ 3108960 h 3767328"/>
              <a:gd name="connsiteX81" fmla="*/ 3121152 w 5632704"/>
              <a:gd name="connsiteY81" fmla="*/ 3121152 h 3767328"/>
              <a:gd name="connsiteX82" fmla="*/ 3011424 w 5632704"/>
              <a:gd name="connsiteY82" fmla="*/ 3145536 h 3767328"/>
              <a:gd name="connsiteX83" fmla="*/ 2804160 w 5632704"/>
              <a:gd name="connsiteY83" fmla="*/ 3169920 h 3767328"/>
              <a:gd name="connsiteX84" fmla="*/ 2596896 w 5632704"/>
              <a:gd name="connsiteY84" fmla="*/ 3182112 h 3767328"/>
              <a:gd name="connsiteX85" fmla="*/ 2121408 w 5632704"/>
              <a:gd name="connsiteY85" fmla="*/ 3169920 h 3767328"/>
              <a:gd name="connsiteX86" fmla="*/ 1767840 w 5632704"/>
              <a:gd name="connsiteY86" fmla="*/ 3194304 h 3767328"/>
              <a:gd name="connsiteX87" fmla="*/ 1682496 w 5632704"/>
              <a:gd name="connsiteY87" fmla="*/ 3218688 h 3767328"/>
              <a:gd name="connsiteX88" fmla="*/ 1645920 w 5632704"/>
              <a:gd name="connsiteY88" fmla="*/ 3243072 h 3767328"/>
              <a:gd name="connsiteX89" fmla="*/ 1560576 w 5632704"/>
              <a:gd name="connsiteY89" fmla="*/ 3340608 h 3767328"/>
              <a:gd name="connsiteX90" fmla="*/ 1524000 w 5632704"/>
              <a:gd name="connsiteY90" fmla="*/ 3413760 h 3767328"/>
              <a:gd name="connsiteX91" fmla="*/ 1499616 w 5632704"/>
              <a:gd name="connsiteY91" fmla="*/ 3486912 h 3767328"/>
              <a:gd name="connsiteX92" fmla="*/ 1475232 w 5632704"/>
              <a:gd name="connsiteY92" fmla="*/ 3523488 h 3767328"/>
              <a:gd name="connsiteX93" fmla="*/ 1438656 w 5632704"/>
              <a:gd name="connsiteY93" fmla="*/ 3633216 h 3767328"/>
              <a:gd name="connsiteX94" fmla="*/ 1414272 w 5632704"/>
              <a:gd name="connsiteY94" fmla="*/ 3706368 h 3767328"/>
              <a:gd name="connsiteX95" fmla="*/ 1402080 w 5632704"/>
              <a:gd name="connsiteY95" fmla="*/ 3742944 h 3767328"/>
              <a:gd name="connsiteX96" fmla="*/ 1402080 w 5632704"/>
              <a:gd name="connsiteY96" fmla="*/ 3767328 h 3767328"/>
              <a:gd name="connsiteX97" fmla="*/ 1328928 w 5632704"/>
              <a:gd name="connsiteY97" fmla="*/ 3742944 h 376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5632704" h="3767328">
                <a:moveTo>
                  <a:pt x="1328928" y="3742944"/>
                </a:moveTo>
                <a:lnTo>
                  <a:pt x="12192" y="2340864"/>
                </a:lnTo>
                <a:lnTo>
                  <a:pt x="0" y="2328672"/>
                </a:lnTo>
                <a:cubicBezTo>
                  <a:pt x="4064" y="2239264"/>
                  <a:pt x="4325" y="2149602"/>
                  <a:pt x="12192" y="2060448"/>
                </a:cubicBezTo>
                <a:cubicBezTo>
                  <a:pt x="12650" y="2055256"/>
                  <a:pt x="38336" y="1894912"/>
                  <a:pt x="48768" y="1853184"/>
                </a:cubicBezTo>
                <a:cubicBezTo>
                  <a:pt x="60205" y="1807436"/>
                  <a:pt x="64408" y="1816690"/>
                  <a:pt x="85344" y="1767840"/>
                </a:cubicBezTo>
                <a:cubicBezTo>
                  <a:pt x="90406" y="1756028"/>
                  <a:pt x="91160" y="1742422"/>
                  <a:pt x="97536" y="1731264"/>
                </a:cubicBezTo>
                <a:cubicBezTo>
                  <a:pt x="130743" y="1673152"/>
                  <a:pt x="131380" y="1693089"/>
                  <a:pt x="170688" y="1645920"/>
                </a:cubicBezTo>
                <a:cubicBezTo>
                  <a:pt x="221488" y="1584960"/>
                  <a:pt x="164592" y="1629664"/>
                  <a:pt x="231648" y="1584960"/>
                </a:cubicBezTo>
                <a:cubicBezTo>
                  <a:pt x="255624" y="1548996"/>
                  <a:pt x="257405" y="1541144"/>
                  <a:pt x="292608" y="1511808"/>
                </a:cubicBezTo>
                <a:cubicBezTo>
                  <a:pt x="303865" y="1502427"/>
                  <a:pt x="318059" y="1496960"/>
                  <a:pt x="329184" y="1487424"/>
                </a:cubicBezTo>
                <a:cubicBezTo>
                  <a:pt x="346639" y="1472463"/>
                  <a:pt x="359560" y="1452450"/>
                  <a:pt x="377952" y="1438656"/>
                </a:cubicBezTo>
                <a:cubicBezTo>
                  <a:pt x="392492" y="1427751"/>
                  <a:pt x="411308" y="1423905"/>
                  <a:pt x="426720" y="1414272"/>
                </a:cubicBezTo>
                <a:cubicBezTo>
                  <a:pt x="443951" y="1403502"/>
                  <a:pt x="458257" y="1388466"/>
                  <a:pt x="475488" y="1377696"/>
                </a:cubicBezTo>
                <a:cubicBezTo>
                  <a:pt x="490900" y="1368063"/>
                  <a:pt x="508476" y="1362329"/>
                  <a:pt x="524256" y="1353312"/>
                </a:cubicBezTo>
                <a:cubicBezTo>
                  <a:pt x="536978" y="1346042"/>
                  <a:pt x="547726" y="1335481"/>
                  <a:pt x="560832" y="1328928"/>
                </a:cubicBezTo>
                <a:cubicBezTo>
                  <a:pt x="572327" y="1323181"/>
                  <a:pt x="585009" y="1320117"/>
                  <a:pt x="597408" y="1316736"/>
                </a:cubicBezTo>
                <a:cubicBezTo>
                  <a:pt x="629740" y="1307918"/>
                  <a:pt x="662082" y="1298924"/>
                  <a:pt x="694944" y="1292352"/>
                </a:cubicBezTo>
                <a:cubicBezTo>
                  <a:pt x="746334" y="1282074"/>
                  <a:pt x="787737" y="1272621"/>
                  <a:pt x="841248" y="1267968"/>
                </a:cubicBezTo>
                <a:cubicBezTo>
                  <a:pt x="906154" y="1262324"/>
                  <a:pt x="971296" y="1259840"/>
                  <a:pt x="1036320" y="1255776"/>
                </a:cubicBezTo>
                <a:lnTo>
                  <a:pt x="1097280" y="1243584"/>
                </a:lnTo>
                <a:cubicBezTo>
                  <a:pt x="1151809" y="1233670"/>
                  <a:pt x="1192705" y="1232447"/>
                  <a:pt x="1243584" y="1207008"/>
                </a:cubicBezTo>
                <a:cubicBezTo>
                  <a:pt x="1276096" y="1190752"/>
                  <a:pt x="1310875" y="1178403"/>
                  <a:pt x="1341120" y="1158240"/>
                </a:cubicBezTo>
                <a:cubicBezTo>
                  <a:pt x="1509289" y="1046127"/>
                  <a:pt x="1336668" y="1163162"/>
                  <a:pt x="1463040" y="1072896"/>
                </a:cubicBezTo>
                <a:cubicBezTo>
                  <a:pt x="1509682" y="1039580"/>
                  <a:pt x="1533090" y="1034877"/>
                  <a:pt x="1572768" y="975360"/>
                </a:cubicBezTo>
                <a:cubicBezTo>
                  <a:pt x="1602448" y="930840"/>
                  <a:pt x="1627480" y="896569"/>
                  <a:pt x="1645920" y="841248"/>
                </a:cubicBezTo>
                <a:lnTo>
                  <a:pt x="1670304" y="768096"/>
                </a:lnTo>
                <a:cubicBezTo>
                  <a:pt x="1674368" y="755904"/>
                  <a:pt x="1676749" y="743015"/>
                  <a:pt x="1682496" y="731520"/>
                </a:cubicBezTo>
                <a:cubicBezTo>
                  <a:pt x="1690624" y="715264"/>
                  <a:pt x="1700498" y="699770"/>
                  <a:pt x="1706880" y="682752"/>
                </a:cubicBezTo>
                <a:cubicBezTo>
                  <a:pt x="1713456" y="665216"/>
                  <a:pt x="1728947" y="586928"/>
                  <a:pt x="1731264" y="573024"/>
                </a:cubicBezTo>
                <a:cubicBezTo>
                  <a:pt x="1738596" y="529035"/>
                  <a:pt x="1750717" y="432061"/>
                  <a:pt x="1755648" y="390144"/>
                </a:cubicBezTo>
                <a:cubicBezTo>
                  <a:pt x="1767630" y="288299"/>
                  <a:pt x="1762030" y="300467"/>
                  <a:pt x="1780032" y="219456"/>
                </a:cubicBezTo>
                <a:cubicBezTo>
                  <a:pt x="1790942" y="170361"/>
                  <a:pt x="1790902" y="166905"/>
                  <a:pt x="1816608" y="121920"/>
                </a:cubicBezTo>
                <a:cubicBezTo>
                  <a:pt x="1823878" y="109198"/>
                  <a:pt x="1834439" y="98450"/>
                  <a:pt x="1840992" y="85344"/>
                </a:cubicBezTo>
                <a:cubicBezTo>
                  <a:pt x="1846739" y="73849"/>
                  <a:pt x="1842726" y="56238"/>
                  <a:pt x="1853184" y="48768"/>
                </a:cubicBezTo>
                <a:cubicBezTo>
                  <a:pt x="1874099" y="33828"/>
                  <a:pt x="1901952" y="32512"/>
                  <a:pt x="1926336" y="24384"/>
                </a:cubicBezTo>
                <a:cubicBezTo>
                  <a:pt x="1978808" y="6893"/>
                  <a:pt x="1950444" y="15309"/>
                  <a:pt x="2011680" y="0"/>
                </a:cubicBezTo>
                <a:lnTo>
                  <a:pt x="3340608" y="24384"/>
                </a:lnTo>
                <a:cubicBezTo>
                  <a:pt x="3453689" y="33807"/>
                  <a:pt x="3568738" y="44412"/>
                  <a:pt x="3681984" y="48768"/>
                </a:cubicBezTo>
                <a:cubicBezTo>
                  <a:pt x="3722594" y="50330"/>
                  <a:pt x="3763264" y="48768"/>
                  <a:pt x="3803904" y="48768"/>
                </a:cubicBezTo>
                <a:lnTo>
                  <a:pt x="5632704" y="1365504"/>
                </a:lnTo>
                <a:lnTo>
                  <a:pt x="5632704" y="1365504"/>
                </a:lnTo>
                <a:cubicBezTo>
                  <a:pt x="5596128" y="1373632"/>
                  <a:pt x="5558521" y="1378040"/>
                  <a:pt x="5522976" y="1389888"/>
                </a:cubicBezTo>
                <a:cubicBezTo>
                  <a:pt x="5509075" y="1394522"/>
                  <a:pt x="5499506" y="1407719"/>
                  <a:pt x="5486400" y="1414272"/>
                </a:cubicBezTo>
                <a:cubicBezTo>
                  <a:pt x="5474905" y="1420019"/>
                  <a:pt x="5461319" y="1420717"/>
                  <a:pt x="5449824" y="1426464"/>
                </a:cubicBezTo>
                <a:cubicBezTo>
                  <a:pt x="5436718" y="1433017"/>
                  <a:pt x="5426354" y="1444295"/>
                  <a:pt x="5413248" y="1450848"/>
                </a:cubicBezTo>
                <a:cubicBezTo>
                  <a:pt x="5401753" y="1456595"/>
                  <a:pt x="5388167" y="1457293"/>
                  <a:pt x="5376672" y="1463040"/>
                </a:cubicBezTo>
                <a:cubicBezTo>
                  <a:pt x="5363566" y="1469593"/>
                  <a:pt x="5353486" y="1481473"/>
                  <a:pt x="5340096" y="1487424"/>
                </a:cubicBezTo>
                <a:cubicBezTo>
                  <a:pt x="5316608" y="1497863"/>
                  <a:pt x="5291328" y="1503680"/>
                  <a:pt x="5266944" y="1511808"/>
                </a:cubicBezTo>
                <a:cubicBezTo>
                  <a:pt x="5254752" y="1515872"/>
                  <a:pt x="5241863" y="1518253"/>
                  <a:pt x="5230368" y="1524000"/>
                </a:cubicBezTo>
                <a:cubicBezTo>
                  <a:pt x="5214112" y="1532128"/>
                  <a:pt x="5198475" y="1541634"/>
                  <a:pt x="5181600" y="1548384"/>
                </a:cubicBezTo>
                <a:cubicBezTo>
                  <a:pt x="5157735" y="1557930"/>
                  <a:pt x="5132832" y="1564640"/>
                  <a:pt x="5108448" y="1572768"/>
                </a:cubicBezTo>
                <a:lnTo>
                  <a:pt x="5071872" y="1584960"/>
                </a:lnTo>
                <a:cubicBezTo>
                  <a:pt x="5059680" y="1589024"/>
                  <a:pt x="5047764" y="1594035"/>
                  <a:pt x="5035296" y="1597152"/>
                </a:cubicBezTo>
                <a:cubicBezTo>
                  <a:pt x="5019040" y="1601216"/>
                  <a:pt x="5002640" y="1604741"/>
                  <a:pt x="4986528" y="1609344"/>
                </a:cubicBezTo>
                <a:cubicBezTo>
                  <a:pt x="4974171" y="1612875"/>
                  <a:pt x="4962309" y="1618005"/>
                  <a:pt x="4949952" y="1621536"/>
                </a:cubicBezTo>
                <a:cubicBezTo>
                  <a:pt x="4933840" y="1626139"/>
                  <a:pt x="4917296" y="1629125"/>
                  <a:pt x="4901184" y="1633728"/>
                </a:cubicBezTo>
                <a:cubicBezTo>
                  <a:pt x="4864009" y="1644349"/>
                  <a:pt x="4857130" y="1651760"/>
                  <a:pt x="4815840" y="1658112"/>
                </a:cubicBezTo>
                <a:cubicBezTo>
                  <a:pt x="4660076" y="1682076"/>
                  <a:pt x="4756524" y="1657747"/>
                  <a:pt x="4645152" y="1682496"/>
                </a:cubicBezTo>
                <a:cubicBezTo>
                  <a:pt x="4628795" y="1686131"/>
                  <a:pt x="4612741" y="1691053"/>
                  <a:pt x="4596384" y="1694688"/>
                </a:cubicBezTo>
                <a:cubicBezTo>
                  <a:pt x="4576155" y="1699183"/>
                  <a:pt x="4555528" y="1701854"/>
                  <a:pt x="4535424" y="1706880"/>
                </a:cubicBezTo>
                <a:cubicBezTo>
                  <a:pt x="4456064" y="1726720"/>
                  <a:pt x="4539977" y="1723647"/>
                  <a:pt x="4401312" y="1743456"/>
                </a:cubicBezTo>
                <a:lnTo>
                  <a:pt x="4315968" y="1755648"/>
                </a:lnTo>
                <a:cubicBezTo>
                  <a:pt x="4283456" y="1771904"/>
                  <a:pt x="4252916" y="1792921"/>
                  <a:pt x="4218432" y="1804416"/>
                </a:cubicBezTo>
                <a:cubicBezTo>
                  <a:pt x="4177398" y="1818094"/>
                  <a:pt x="4175272" y="1816887"/>
                  <a:pt x="4133088" y="1840992"/>
                </a:cubicBezTo>
                <a:cubicBezTo>
                  <a:pt x="4062711" y="1881207"/>
                  <a:pt x="4129766" y="1847640"/>
                  <a:pt x="4059936" y="1901952"/>
                </a:cubicBezTo>
                <a:cubicBezTo>
                  <a:pt x="4036803" y="1919944"/>
                  <a:pt x="4007506" y="1929998"/>
                  <a:pt x="3986784" y="1950720"/>
                </a:cubicBezTo>
                <a:cubicBezTo>
                  <a:pt x="3974592" y="1962912"/>
                  <a:pt x="3963454" y="1976258"/>
                  <a:pt x="3950208" y="1987296"/>
                </a:cubicBezTo>
                <a:cubicBezTo>
                  <a:pt x="3929417" y="2004622"/>
                  <a:pt x="3835087" y="2069124"/>
                  <a:pt x="3803904" y="2109216"/>
                </a:cubicBezTo>
                <a:cubicBezTo>
                  <a:pt x="3728300" y="2206421"/>
                  <a:pt x="3773045" y="2148707"/>
                  <a:pt x="3742944" y="2218944"/>
                </a:cubicBezTo>
                <a:cubicBezTo>
                  <a:pt x="3735785" y="2235649"/>
                  <a:pt x="3725941" y="2251104"/>
                  <a:pt x="3718560" y="2267712"/>
                </a:cubicBezTo>
                <a:cubicBezTo>
                  <a:pt x="3712167" y="2282096"/>
                  <a:pt x="3687729" y="2342267"/>
                  <a:pt x="3681984" y="2365248"/>
                </a:cubicBezTo>
                <a:cubicBezTo>
                  <a:pt x="3676958" y="2385352"/>
                  <a:pt x="3673856" y="2405888"/>
                  <a:pt x="3669792" y="2426208"/>
                </a:cubicBezTo>
                <a:cubicBezTo>
                  <a:pt x="3662229" y="2577466"/>
                  <a:pt x="3674743" y="2643004"/>
                  <a:pt x="3633216" y="2767584"/>
                </a:cubicBezTo>
                <a:cubicBezTo>
                  <a:pt x="3629152" y="2779776"/>
                  <a:pt x="3626771" y="2792665"/>
                  <a:pt x="3621024" y="2804160"/>
                </a:cubicBezTo>
                <a:cubicBezTo>
                  <a:pt x="3586480" y="2873248"/>
                  <a:pt x="3596640" y="2816352"/>
                  <a:pt x="3523488" y="2889504"/>
                </a:cubicBezTo>
                <a:cubicBezTo>
                  <a:pt x="3392916" y="3020076"/>
                  <a:pt x="3594548" y="2821892"/>
                  <a:pt x="3438144" y="2962656"/>
                </a:cubicBezTo>
                <a:cubicBezTo>
                  <a:pt x="3412512" y="2985725"/>
                  <a:pt x="3397707" y="3024903"/>
                  <a:pt x="3364992" y="3035808"/>
                </a:cubicBezTo>
                <a:cubicBezTo>
                  <a:pt x="3352800" y="3039872"/>
                  <a:pt x="3339911" y="3042253"/>
                  <a:pt x="3328416" y="3048000"/>
                </a:cubicBezTo>
                <a:cubicBezTo>
                  <a:pt x="3260309" y="3082053"/>
                  <a:pt x="3323535" y="3075799"/>
                  <a:pt x="3218688" y="3096768"/>
                </a:cubicBezTo>
                <a:cubicBezTo>
                  <a:pt x="3198368" y="3100832"/>
                  <a:pt x="3177832" y="3103934"/>
                  <a:pt x="3157728" y="3108960"/>
                </a:cubicBezTo>
                <a:cubicBezTo>
                  <a:pt x="3145260" y="3112077"/>
                  <a:pt x="3133509" y="3117621"/>
                  <a:pt x="3121152" y="3121152"/>
                </a:cubicBezTo>
                <a:cubicBezTo>
                  <a:pt x="3092836" y="3129242"/>
                  <a:pt x="3038660" y="3141346"/>
                  <a:pt x="3011424" y="3145536"/>
                </a:cubicBezTo>
                <a:cubicBezTo>
                  <a:pt x="2983946" y="3149763"/>
                  <a:pt x="2826749" y="3168182"/>
                  <a:pt x="2804160" y="3169920"/>
                </a:cubicBezTo>
                <a:cubicBezTo>
                  <a:pt x="2735156" y="3175228"/>
                  <a:pt x="2665984" y="3178048"/>
                  <a:pt x="2596896" y="3182112"/>
                </a:cubicBezTo>
                <a:cubicBezTo>
                  <a:pt x="2438400" y="3178048"/>
                  <a:pt x="2279956" y="3169920"/>
                  <a:pt x="2121408" y="3169920"/>
                </a:cubicBezTo>
                <a:cubicBezTo>
                  <a:pt x="1648250" y="3169920"/>
                  <a:pt x="1922151" y="3150215"/>
                  <a:pt x="1767840" y="3194304"/>
                </a:cubicBezTo>
                <a:cubicBezTo>
                  <a:pt x="1749610" y="3199512"/>
                  <a:pt x="1701984" y="3208944"/>
                  <a:pt x="1682496" y="3218688"/>
                </a:cubicBezTo>
                <a:cubicBezTo>
                  <a:pt x="1669390" y="3225241"/>
                  <a:pt x="1658112" y="3234944"/>
                  <a:pt x="1645920" y="3243072"/>
                </a:cubicBezTo>
                <a:cubicBezTo>
                  <a:pt x="1589024" y="3328416"/>
                  <a:pt x="1621536" y="3299968"/>
                  <a:pt x="1560576" y="3340608"/>
                </a:cubicBezTo>
                <a:cubicBezTo>
                  <a:pt x="1516112" y="3474000"/>
                  <a:pt x="1587025" y="3271953"/>
                  <a:pt x="1524000" y="3413760"/>
                </a:cubicBezTo>
                <a:cubicBezTo>
                  <a:pt x="1513561" y="3437248"/>
                  <a:pt x="1513873" y="3465526"/>
                  <a:pt x="1499616" y="3486912"/>
                </a:cubicBezTo>
                <a:cubicBezTo>
                  <a:pt x="1491488" y="3499104"/>
                  <a:pt x="1481183" y="3510098"/>
                  <a:pt x="1475232" y="3523488"/>
                </a:cubicBezTo>
                <a:lnTo>
                  <a:pt x="1438656" y="3633216"/>
                </a:lnTo>
                <a:lnTo>
                  <a:pt x="1414272" y="3706368"/>
                </a:lnTo>
                <a:cubicBezTo>
                  <a:pt x="1410208" y="3718560"/>
                  <a:pt x="1402080" y="3730093"/>
                  <a:pt x="1402080" y="3742944"/>
                </a:cubicBezTo>
                <a:lnTo>
                  <a:pt x="1402080" y="3767328"/>
                </a:lnTo>
                <a:lnTo>
                  <a:pt x="1328928" y="3742944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9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8326120" cy="381000"/>
          </a:xfrm>
        </p:spPr>
        <p:txBody>
          <a:bodyPr/>
          <a:lstStyle/>
          <a:p>
            <a:r>
              <a:rPr lang="fr-FR" sz="2400" dirty="0"/>
              <a:t>A taste of </a:t>
            </a:r>
            <a:r>
              <a:rPr lang="fr-FR" sz="2400" dirty="0" err="1"/>
              <a:t>Riemannian</a:t>
            </a:r>
            <a:r>
              <a:rPr lang="fr-FR" sz="2400" dirty="0"/>
              <a:t> manifolds in </a:t>
            </a:r>
            <a:r>
              <a:rPr lang="fr-FR" sz="2400" dirty="0" err="1"/>
              <a:t>medical</a:t>
            </a:r>
            <a:r>
              <a:rPr lang="fr-FR" sz="2400" dirty="0"/>
              <a:t> </a:t>
            </a:r>
            <a:r>
              <a:rPr lang="fr-FR" sz="2400" dirty="0" err="1"/>
              <a:t>imaging</a:t>
            </a:r>
            <a:endParaRPr lang="fr-FR" sz="24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4" name="Picture 4" descr="Diffusion tensor imaging of a human brain. Positive definite matrices... |  Download Scientific Diagram">
            <a:extLst>
              <a:ext uri="{FF2B5EF4-FFF2-40B4-BE49-F238E27FC236}">
                <a16:creationId xmlns:a16="http://schemas.microsoft.com/office/drawing/2014/main" id="{72B1B4EE-0643-BC49-81E4-26EFD337C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498" y="987044"/>
            <a:ext cx="4370776" cy="555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revious Works | Inria Asclepios web site">
            <a:extLst>
              <a:ext uri="{FF2B5EF4-FFF2-40B4-BE49-F238E27FC236}">
                <a16:creationId xmlns:a16="http://schemas.microsoft.com/office/drawing/2014/main" id="{B24E96D4-DBC4-6E45-B32F-A9BB3D21C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671" y="2036064"/>
            <a:ext cx="4575831" cy="36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856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7363106" cy="381000"/>
          </a:xfrm>
        </p:spPr>
        <p:txBody>
          <a:bodyPr/>
          <a:lstStyle/>
          <a:p>
            <a:r>
              <a:rPr lang="fr-FR" sz="2400" dirty="0"/>
              <a:t>The </a:t>
            </a:r>
            <a:r>
              <a:rPr lang="fr-FR" sz="2400" dirty="0" err="1"/>
              <a:t>disease</a:t>
            </a:r>
            <a:r>
              <a:rPr lang="fr-FR" sz="2400" dirty="0"/>
              <a:t> course </a:t>
            </a:r>
            <a:r>
              <a:rPr lang="fr-FR" sz="2400" dirty="0" err="1"/>
              <a:t>mapping</a:t>
            </a:r>
            <a:r>
              <a:rPr lang="fr-FR" sz="2400" dirty="0"/>
              <a:t> model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378F9D-3330-EE44-9F91-CB9FE6E73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743"/>
          <a:stretch/>
        </p:blipFill>
        <p:spPr>
          <a:xfrm>
            <a:off x="200297" y="2321052"/>
            <a:ext cx="2152759" cy="25425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383086C-20A3-7846-8C1A-E8A035A1FCF4}"/>
                  </a:ext>
                </a:extLst>
              </p:cNvPr>
              <p:cNvSpPr txBox="1"/>
              <p:nvPr/>
            </p:nvSpPr>
            <p:spPr>
              <a:xfrm>
                <a:off x="635000" y="5108448"/>
                <a:ext cx="134010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383086C-20A3-7846-8C1A-E8A035A1F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5108448"/>
                <a:ext cx="1340104" cy="369332"/>
              </a:xfrm>
              <a:prstGeom prst="rect">
                <a:avLst/>
              </a:prstGeom>
              <a:blipFill>
                <a:blip r:embed="rId3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436B4CEF-8AA5-3F4A-B2E4-150C0125A1C5}"/>
              </a:ext>
            </a:extLst>
          </p:cNvPr>
          <p:cNvSpPr txBox="1">
            <a:spLocks/>
          </p:cNvSpPr>
          <p:nvPr/>
        </p:nvSpPr>
        <p:spPr>
          <a:xfrm>
            <a:off x="504491" y="1218082"/>
            <a:ext cx="11183018" cy="85811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/>
              <a:t>Population </a:t>
            </a:r>
            <a:r>
              <a:rPr lang="fr-FR" sz="1800" dirty="0" err="1"/>
              <a:t>parameters</a:t>
            </a:r>
            <a:r>
              <a:rPr lang="fr-FR" sz="1800" dirty="0"/>
              <a:t> (</a:t>
            </a:r>
            <a:r>
              <a:rPr lang="fr-FR" sz="1800" dirty="0" err="1"/>
              <a:t>fixed</a:t>
            </a:r>
            <a:r>
              <a:rPr lang="fr-FR" sz="1800" dirty="0"/>
              <a:t> </a:t>
            </a:r>
            <a:r>
              <a:rPr lang="fr-FR" sz="1800" dirty="0" err="1"/>
              <a:t>effects</a:t>
            </a:r>
            <a:r>
              <a:rPr lang="fr-FR" sz="1800" dirty="0"/>
              <a:t> </a:t>
            </a:r>
            <a:r>
              <a:rPr lang="fr-FR" sz="1800" dirty="0" err="1"/>
              <a:t>parameters</a:t>
            </a:r>
            <a:r>
              <a:rPr lang="fr-FR" sz="1800" dirty="0"/>
              <a:t>) </a:t>
            </a:r>
            <a:r>
              <a:rPr lang="fr-FR" sz="1800" dirty="0" err="1"/>
              <a:t>describe</a:t>
            </a:r>
            <a:r>
              <a:rPr lang="fr-FR" sz="1800" dirty="0"/>
              <a:t> the </a:t>
            </a:r>
            <a:r>
              <a:rPr lang="fr-FR" sz="1800" dirty="0" err="1"/>
              <a:t>average</a:t>
            </a:r>
            <a:r>
              <a:rPr lang="fr-FR" sz="1800" dirty="0"/>
              <a:t> population </a:t>
            </a:r>
            <a:r>
              <a:rPr lang="fr-FR" sz="1800" dirty="0" err="1"/>
              <a:t>trajectory</a:t>
            </a:r>
            <a:r>
              <a:rPr lang="fr-FR" sz="1800" dirty="0"/>
              <a:t> of observations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/>
              <a:t>Observations </a:t>
            </a:r>
            <a:r>
              <a:rPr lang="fr-FR" sz="1800" dirty="0" err="1"/>
              <a:t>can</a:t>
            </a:r>
            <a:r>
              <a:rPr lang="fr-FR" sz="1800" dirty="0"/>
              <a:t> </a:t>
            </a:r>
            <a:r>
              <a:rPr lang="fr-FR" sz="1800" dirty="0" err="1"/>
              <a:t>be</a:t>
            </a:r>
            <a:r>
              <a:rPr lang="fr-FR" sz="1800" dirty="0"/>
              <a:t> </a:t>
            </a:r>
            <a:r>
              <a:rPr lang="fr-FR" sz="1800" dirty="0" err="1"/>
              <a:t>multidimensional</a:t>
            </a:r>
            <a:r>
              <a:rPr lang="fr-FR" sz="1800" dirty="0"/>
              <a:t> (</a:t>
            </a:r>
            <a:r>
              <a:rPr lang="fr-FR" sz="1800" dirty="0" err="1"/>
              <a:t>here</a:t>
            </a:r>
            <a:r>
              <a:rPr lang="fr-FR" sz="1800" dirty="0"/>
              <a:t> 2) </a:t>
            </a:r>
          </a:p>
        </p:txBody>
      </p:sp>
    </p:spTree>
    <p:extLst>
      <p:ext uri="{BB962C8B-B14F-4D97-AF65-F5344CB8AC3E}">
        <p14:creationId xmlns:p14="http://schemas.microsoft.com/office/powerpoint/2010/main" val="79923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9338056" cy="381000"/>
          </a:xfrm>
        </p:spPr>
        <p:txBody>
          <a:bodyPr/>
          <a:lstStyle/>
          <a:p>
            <a:r>
              <a:rPr lang="fr-FR" sz="2400" dirty="0"/>
              <a:t>The </a:t>
            </a:r>
            <a:r>
              <a:rPr lang="fr-FR" sz="2400" dirty="0" err="1"/>
              <a:t>disease</a:t>
            </a:r>
            <a:r>
              <a:rPr lang="fr-FR" sz="2400" dirty="0"/>
              <a:t> course </a:t>
            </a:r>
            <a:r>
              <a:rPr lang="fr-FR" sz="2400" dirty="0" err="1"/>
              <a:t>mapping</a:t>
            </a:r>
            <a:r>
              <a:rPr lang="fr-FR" sz="2400" dirty="0"/>
              <a:t> model : time </a:t>
            </a:r>
            <a:r>
              <a:rPr lang="fr-FR" sz="2400" dirty="0" err="1"/>
              <a:t>reparametrization</a:t>
            </a:r>
            <a:r>
              <a:rPr lang="fr-FR" sz="2400" dirty="0"/>
              <a:t>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378F9D-3330-EE44-9F91-CB9FE6E73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60959"/>
          <a:stretch/>
        </p:blipFill>
        <p:spPr>
          <a:xfrm>
            <a:off x="200297" y="2321052"/>
            <a:ext cx="4603351" cy="254254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605ABE6-8F10-2946-8433-6B32A6A59C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59" t="22592" r="53212" b="71458"/>
          <a:stretch/>
        </p:blipFill>
        <p:spPr>
          <a:xfrm>
            <a:off x="2901696" y="4863592"/>
            <a:ext cx="2083117" cy="964650"/>
          </a:xfrm>
          <a:prstGeom prst="rect">
            <a:avLst/>
          </a:prstGeom>
        </p:spPr>
      </p:pic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91D0DC84-82D7-114A-9398-B405BAE88ABC}"/>
              </a:ext>
            </a:extLst>
          </p:cNvPr>
          <p:cNvSpPr txBox="1">
            <a:spLocks/>
          </p:cNvSpPr>
          <p:nvPr/>
        </p:nvSpPr>
        <p:spPr>
          <a:xfrm>
            <a:off x="504491" y="1218082"/>
            <a:ext cx="11183018" cy="85811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Individual</a:t>
            </a:r>
            <a:r>
              <a:rPr lang="fr-FR" sz="1800" dirty="0"/>
              <a:t> </a:t>
            </a:r>
            <a:r>
              <a:rPr lang="fr-FR" sz="1800" dirty="0" err="1"/>
              <a:t>effects</a:t>
            </a:r>
            <a:r>
              <a:rPr lang="fr-FR" sz="1800" dirty="0"/>
              <a:t> are </a:t>
            </a:r>
            <a:r>
              <a:rPr lang="fr-FR" sz="1800" dirty="0" err="1"/>
              <a:t>divided</a:t>
            </a:r>
            <a:r>
              <a:rPr lang="fr-FR" sz="1800" dirty="0"/>
              <a:t> in </a:t>
            </a:r>
            <a:r>
              <a:rPr lang="fr-FR" sz="1800" dirty="0" err="1"/>
              <a:t>two</a:t>
            </a:r>
            <a:r>
              <a:rPr lang="fr-FR" sz="1800" dirty="0"/>
              <a:t> types :</a:t>
            </a:r>
            <a:endParaRPr lang="fr-FR" sz="3000" dirty="0"/>
          </a:p>
          <a:p>
            <a:pPr marL="857250" lvl="1" indent="-171450"/>
            <a:r>
              <a:rPr lang="fr-FR" sz="1800" dirty="0">
                <a:latin typeface="Nexa Light" panose="02000000000000000000" pitchFamily="2" charset="0"/>
              </a:rPr>
              <a:t>Time </a:t>
            </a:r>
            <a:r>
              <a:rPr lang="fr-FR" sz="1800" dirty="0" err="1">
                <a:latin typeface="Nexa Light" panose="02000000000000000000" pitchFamily="2" charset="0"/>
              </a:rPr>
              <a:t>effects</a:t>
            </a:r>
            <a:r>
              <a:rPr lang="fr-FR" sz="1800" dirty="0">
                <a:latin typeface="Nexa Light" panose="02000000000000000000" pitchFamily="2" charset="0"/>
              </a:rPr>
              <a:t> : patients </a:t>
            </a:r>
            <a:r>
              <a:rPr lang="fr-FR" sz="1800" dirty="0" err="1">
                <a:latin typeface="Nexa Light" panose="02000000000000000000" pitchFamily="2" charset="0"/>
              </a:rPr>
              <a:t>can</a:t>
            </a:r>
            <a:r>
              <a:rPr lang="fr-FR" sz="1800" dirty="0">
                <a:latin typeface="Nexa Light" panose="02000000000000000000" pitchFamily="2" charset="0"/>
              </a:rPr>
              <a:t> have a </a:t>
            </a:r>
            <a:r>
              <a:rPr lang="fr-FR" sz="1800" dirty="0" err="1">
                <a:latin typeface="Nexa Light" panose="02000000000000000000" pitchFamily="2" charset="0"/>
              </a:rPr>
              <a:t>late</a:t>
            </a:r>
            <a:r>
              <a:rPr lang="fr-FR" sz="1800" dirty="0">
                <a:latin typeface="Nexa Light" panose="02000000000000000000" pitchFamily="2" charset="0"/>
              </a:rPr>
              <a:t>/</a:t>
            </a:r>
            <a:r>
              <a:rPr lang="fr-FR" sz="1800" dirty="0" err="1">
                <a:latin typeface="Nexa Light" panose="02000000000000000000" pitchFamily="2" charset="0"/>
              </a:rPr>
              <a:t>early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onset</a:t>
            </a:r>
            <a:r>
              <a:rPr lang="fr-FR" sz="1800" dirty="0">
                <a:latin typeface="Nexa Light" panose="02000000000000000000" pitchFamily="2" charset="0"/>
              </a:rPr>
              <a:t> of the </a:t>
            </a:r>
            <a:r>
              <a:rPr lang="fr-FR" sz="1800" dirty="0" err="1">
                <a:latin typeface="Nexa Light" panose="02000000000000000000" pitchFamily="2" charset="0"/>
              </a:rPr>
              <a:t>disease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019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9338056" cy="381000"/>
          </a:xfrm>
        </p:spPr>
        <p:txBody>
          <a:bodyPr/>
          <a:lstStyle/>
          <a:p>
            <a:r>
              <a:rPr lang="fr-FR" sz="2400" dirty="0"/>
              <a:t>The </a:t>
            </a:r>
            <a:r>
              <a:rPr lang="fr-FR" sz="2400" dirty="0" err="1"/>
              <a:t>disease</a:t>
            </a:r>
            <a:r>
              <a:rPr lang="fr-FR" sz="2400" dirty="0"/>
              <a:t> course </a:t>
            </a:r>
            <a:r>
              <a:rPr lang="fr-FR" sz="2400" dirty="0" err="1"/>
              <a:t>mapping</a:t>
            </a:r>
            <a:r>
              <a:rPr lang="fr-FR" sz="2400" dirty="0"/>
              <a:t> model : time </a:t>
            </a:r>
            <a:r>
              <a:rPr lang="fr-FR" sz="2400" dirty="0" err="1"/>
              <a:t>reparametrization</a:t>
            </a:r>
            <a:r>
              <a:rPr lang="fr-FR" sz="2400" dirty="0"/>
              <a:t>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378F9D-3330-EE44-9F91-CB9FE6E73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40590"/>
          <a:stretch/>
        </p:blipFill>
        <p:spPr>
          <a:xfrm>
            <a:off x="200297" y="2321052"/>
            <a:ext cx="7005175" cy="254254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2812E41-F734-4C44-A058-9C0A0DF3C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697" t="22592" r="53212" b="71458"/>
          <a:stretch/>
        </p:blipFill>
        <p:spPr>
          <a:xfrm>
            <a:off x="1328928" y="4863592"/>
            <a:ext cx="3655885" cy="964650"/>
          </a:xfrm>
          <a:prstGeom prst="rect">
            <a:avLst/>
          </a:prstGeom>
        </p:spPr>
      </p:pic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C6DCC1FC-02E0-6549-BF80-308C6D8AA219}"/>
              </a:ext>
            </a:extLst>
          </p:cNvPr>
          <p:cNvSpPr txBox="1">
            <a:spLocks/>
          </p:cNvSpPr>
          <p:nvPr/>
        </p:nvSpPr>
        <p:spPr>
          <a:xfrm>
            <a:off x="504491" y="1218082"/>
            <a:ext cx="11183018" cy="85811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Individual</a:t>
            </a:r>
            <a:r>
              <a:rPr lang="fr-FR" sz="1800" dirty="0"/>
              <a:t> </a:t>
            </a:r>
            <a:r>
              <a:rPr lang="fr-FR" sz="1800" dirty="0" err="1"/>
              <a:t>effects</a:t>
            </a:r>
            <a:r>
              <a:rPr lang="fr-FR" sz="1800" dirty="0"/>
              <a:t> are </a:t>
            </a:r>
            <a:r>
              <a:rPr lang="fr-FR" sz="1800" dirty="0" err="1"/>
              <a:t>divided</a:t>
            </a:r>
            <a:r>
              <a:rPr lang="fr-FR" sz="1800" dirty="0"/>
              <a:t> in </a:t>
            </a:r>
            <a:r>
              <a:rPr lang="fr-FR" sz="1800" dirty="0" err="1"/>
              <a:t>two</a:t>
            </a:r>
            <a:r>
              <a:rPr lang="fr-FR" sz="1800" dirty="0"/>
              <a:t> types :</a:t>
            </a:r>
            <a:endParaRPr lang="fr-FR" sz="3000" dirty="0"/>
          </a:p>
          <a:p>
            <a:pPr marL="857250" lvl="1" indent="-171450"/>
            <a:r>
              <a:rPr lang="fr-FR" sz="1800" dirty="0">
                <a:latin typeface="Nexa Light" panose="02000000000000000000" pitchFamily="2" charset="0"/>
              </a:rPr>
              <a:t>Time </a:t>
            </a:r>
            <a:r>
              <a:rPr lang="fr-FR" sz="1800" dirty="0" err="1">
                <a:latin typeface="Nexa Light" panose="02000000000000000000" pitchFamily="2" charset="0"/>
              </a:rPr>
              <a:t>effects</a:t>
            </a:r>
            <a:r>
              <a:rPr lang="fr-FR" sz="1800" dirty="0">
                <a:latin typeface="Nexa Light" panose="02000000000000000000" pitchFamily="2" charset="0"/>
              </a:rPr>
              <a:t> : patients </a:t>
            </a:r>
            <a:r>
              <a:rPr lang="fr-FR" sz="1800" dirty="0" err="1">
                <a:latin typeface="Nexa Light" panose="02000000000000000000" pitchFamily="2" charset="0"/>
              </a:rPr>
              <a:t>can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experience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faster</a:t>
            </a:r>
            <a:r>
              <a:rPr lang="fr-FR" sz="1800" dirty="0">
                <a:latin typeface="Nexa Light" panose="02000000000000000000" pitchFamily="2" charset="0"/>
              </a:rPr>
              <a:t>/</a:t>
            </a:r>
            <a:r>
              <a:rPr lang="fr-FR" sz="1800" dirty="0" err="1">
                <a:latin typeface="Nexa Light" panose="02000000000000000000" pitchFamily="2" charset="0"/>
              </a:rPr>
              <a:t>slower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disease</a:t>
            </a:r>
            <a:r>
              <a:rPr lang="fr-FR" sz="1800" dirty="0">
                <a:latin typeface="Nexa Light" panose="02000000000000000000" pitchFamily="2" charset="0"/>
              </a:rPr>
              <a:t> progression</a:t>
            </a:r>
          </a:p>
          <a:p>
            <a:pPr lvl="1" indent="0">
              <a:buNone/>
            </a:pPr>
            <a:endParaRPr lang="fr-FR" sz="1800" dirty="0">
              <a:latin typeface="Nexa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02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9338056" cy="381000"/>
          </a:xfrm>
        </p:spPr>
        <p:txBody>
          <a:bodyPr/>
          <a:lstStyle/>
          <a:p>
            <a:r>
              <a:rPr lang="fr-FR" sz="2400" dirty="0"/>
              <a:t>The </a:t>
            </a:r>
            <a:r>
              <a:rPr lang="fr-FR" sz="2400" dirty="0" err="1"/>
              <a:t>disease</a:t>
            </a:r>
            <a:r>
              <a:rPr lang="fr-FR" sz="2400" dirty="0"/>
              <a:t> course </a:t>
            </a:r>
            <a:r>
              <a:rPr lang="fr-FR" sz="2400" dirty="0" err="1"/>
              <a:t>mapping</a:t>
            </a:r>
            <a:r>
              <a:rPr lang="fr-FR" sz="2400" dirty="0"/>
              <a:t> model : spatial variations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378F9D-3330-EE44-9F91-CB9FE6E73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20805"/>
          <a:stretch/>
        </p:blipFill>
        <p:spPr>
          <a:xfrm>
            <a:off x="200297" y="2321052"/>
            <a:ext cx="9338056" cy="2542540"/>
          </a:xfrm>
          <a:prstGeom prst="rect">
            <a:avLst/>
          </a:prstGeom>
        </p:spPr>
      </p:pic>
      <p:pic>
        <p:nvPicPr>
          <p:cNvPr id="5" name="Espace réservé pour une image  8">
            <a:extLst>
              <a:ext uri="{FF2B5EF4-FFF2-40B4-BE49-F238E27FC236}">
                <a16:creationId xmlns:a16="http://schemas.microsoft.com/office/drawing/2014/main" id="{98236757-FECD-F94D-8DDE-A813247B930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28406" t="58625" r="51485" b="36425"/>
          <a:stretch/>
        </p:blipFill>
        <p:spPr>
          <a:xfrm>
            <a:off x="4309799" y="4979548"/>
            <a:ext cx="5570048" cy="856933"/>
          </a:xfrm>
        </p:spPr>
      </p:pic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CD869A76-7623-EA48-9C27-EBE2323D0A47}"/>
              </a:ext>
            </a:extLst>
          </p:cNvPr>
          <p:cNvSpPr txBox="1">
            <a:spLocks/>
          </p:cNvSpPr>
          <p:nvPr/>
        </p:nvSpPr>
        <p:spPr>
          <a:xfrm>
            <a:off x="504491" y="1218082"/>
            <a:ext cx="11183018" cy="85811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Individual</a:t>
            </a:r>
            <a:r>
              <a:rPr lang="fr-FR" sz="1800" dirty="0"/>
              <a:t> </a:t>
            </a:r>
            <a:r>
              <a:rPr lang="fr-FR" sz="1800" dirty="0" err="1"/>
              <a:t>effects</a:t>
            </a:r>
            <a:r>
              <a:rPr lang="fr-FR" sz="1800" dirty="0"/>
              <a:t> are </a:t>
            </a:r>
            <a:r>
              <a:rPr lang="fr-FR" sz="1800" dirty="0" err="1"/>
              <a:t>divided</a:t>
            </a:r>
            <a:r>
              <a:rPr lang="fr-FR" sz="1800" dirty="0"/>
              <a:t> in </a:t>
            </a:r>
            <a:r>
              <a:rPr lang="fr-FR" sz="1800" dirty="0" err="1"/>
              <a:t>two</a:t>
            </a:r>
            <a:r>
              <a:rPr lang="fr-FR" sz="1800" dirty="0"/>
              <a:t> types :</a:t>
            </a:r>
            <a:endParaRPr lang="fr-FR" sz="3000" dirty="0"/>
          </a:p>
          <a:p>
            <a:pPr marL="857250" lvl="1" indent="-171450"/>
            <a:r>
              <a:rPr lang="fr-FR" sz="1800" dirty="0">
                <a:latin typeface="Nexa Light" panose="02000000000000000000" pitchFamily="2" charset="0"/>
              </a:rPr>
              <a:t>Spatial </a:t>
            </a:r>
            <a:r>
              <a:rPr lang="fr-FR" sz="1800" dirty="0" err="1">
                <a:latin typeface="Nexa Light" panose="02000000000000000000" pitchFamily="2" charset="0"/>
              </a:rPr>
              <a:t>effects</a:t>
            </a:r>
            <a:r>
              <a:rPr lang="fr-FR" sz="1800" dirty="0">
                <a:latin typeface="Nexa Light" panose="02000000000000000000" pitchFamily="2" charset="0"/>
              </a:rPr>
              <a:t> : positions of markers relative to </a:t>
            </a:r>
            <a:r>
              <a:rPr lang="fr-FR" sz="1800" dirty="0" err="1">
                <a:latin typeface="Nexa Light" panose="02000000000000000000" pitchFamily="2" charset="0"/>
              </a:rPr>
              <a:t>each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other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can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be</a:t>
            </a:r>
            <a:r>
              <a:rPr lang="fr-FR" sz="1800" dirty="0">
                <a:latin typeface="Nexa Light" panose="02000000000000000000" pitchFamily="2" charset="0"/>
              </a:rPr>
              <a:t> </a:t>
            </a:r>
            <a:r>
              <a:rPr lang="fr-FR" sz="1800" dirty="0" err="1">
                <a:latin typeface="Nexa Light" panose="02000000000000000000" pitchFamily="2" charset="0"/>
              </a:rPr>
              <a:t>shifted</a:t>
            </a:r>
            <a:endParaRPr lang="fr-FR" sz="1800" dirty="0">
              <a:latin typeface="Nexa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01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8240776" cy="381000"/>
          </a:xfrm>
        </p:spPr>
        <p:txBody>
          <a:bodyPr/>
          <a:lstStyle/>
          <a:p>
            <a:r>
              <a:rPr lang="fr-FR" sz="2400" dirty="0"/>
              <a:t>The </a:t>
            </a:r>
            <a:r>
              <a:rPr lang="fr-FR" sz="2400" dirty="0" err="1"/>
              <a:t>disease</a:t>
            </a:r>
            <a:r>
              <a:rPr lang="fr-FR" sz="2400" dirty="0"/>
              <a:t> course </a:t>
            </a:r>
            <a:r>
              <a:rPr lang="fr-FR" sz="2400" dirty="0" err="1"/>
              <a:t>mapping</a:t>
            </a:r>
            <a:r>
              <a:rPr lang="fr-FR" sz="2400" dirty="0"/>
              <a:t> model : </a:t>
            </a:r>
            <a:r>
              <a:rPr lang="fr-FR" sz="2400" dirty="0" err="1"/>
              <a:t>individual</a:t>
            </a:r>
            <a:r>
              <a:rPr lang="fr-FR" sz="2400" dirty="0"/>
              <a:t> data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378F9D-3330-EE44-9F91-CB9FE6E7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7" y="2321052"/>
            <a:ext cx="11791405" cy="254254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4E9473C-D80B-A143-AA15-82DCA2C3F1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424" t="57296" r="53286" b="38121"/>
          <a:stretch/>
        </p:blipFill>
        <p:spPr>
          <a:xfrm>
            <a:off x="7643243" y="5002154"/>
            <a:ext cx="4348460" cy="8147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6DC957-26A2-F845-81B6-B4DF9FA836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955" t="61880" r="63368" b="33537"/>
          <a:stretch/>
        </p:blipFill>
        <p:spPr>
          <a:xfrm>
            <a:off x="8064198" y="5816860"/>
            <a:ext cx="3036618" cy="814705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C45E895-90A2-BE46-A914-6FBF7CB5A06B}"/>
              </a:ext>
            </a:extLst>
          </p:cNvPr>
          <p:cNvSpPr txBox="1">
            <a:spLocks/>
          </p:cNvSpPr>
          <p:nvPr/>
        </p:nvSpPr>
        <p:spPr>
          <a:xfrm>
            <a:off x="504491" y="1218082"/>
            <a:ext cx="11183018" cy="85811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Individual</a:t>
            </a:r>
            <a:r>
              <a:rPr lang="fr-FR" sz="1800" dirty="0"/>
              <a:t> model </a:t>
            </a:r>
            <a:r>
              <a:rPr lang="fr-FR" sz="1800" dirty="0" err="1"/>
              <a:t>aims</a:t>
            </a:r>
            <a:r>
              <a:rPr lang="fr-FR" sz="1800" dirty="0"/>
              <a:t> at </a:t>
            </a:r>
            <a:r>
              <a:rPr lang="fr-FR" sz="1800" dirty="0" err="1"/>
              <a:t>being</a:t>
            </a:r>
            <a:r>
              <a:rPr lang="fr-FR" sz="1800" dirty="0"/>
              <a:t> as close as possible to the observations, i.e. </a:t>
            </a:r>
            <a:r>
              <a:rPr lang="fr-FR" sz="1800" dirty="0" err="1"/>
              <a:t>mean</a:t>
            </a:r>
            <a:r>
              <a:rPr lang="fr-FR" sz="1800" dirty="0"/>
              <a:t> </a:t>
            </a:r>
            <a:r>
              <a:rPr lang="fr-FR" sz="1800" dirty="0" err="1"/>
              <a:t>squared</a:t>
            </a:r>
            <a:r>
              <a:rPr lang="fr-FR" sz="1800" dirty="0"/>
              <a:t> </a:t>
            </a:r>
            <a:r>
              <a:rPr lang="fr-FR" sz="1800" dirty="0" err="1"/>
              <a:t>error</a:t>
            </a:r>
            <a:r>
              <a:rPr lang="fr-FR" sz="1800" dirty="0"/>
              <a:t> </a:t>
            </a:r>
            <a:r>
              <a:rPr lang="fr-FR" sz="1800" dirty="0" err="1"/>
              <a:t>should</a:t>
            </a:r>
            <a:r>
              <a:rPr lang="fr-FR" sz="1800" dirty="0"/>
              <a:t> </a:t>
            </a:r>
            <a:r>
              <a:rPr lang="fr-FR" sz="1800" dirty="0" err="1"/>
              <a:t>be</a:t>
            </a:r>
            <a:r>
              <a:rPr lang="fr-FR" sz="1800" dirty="0"/>
              <a:t> as </a:t>
            </a:r>
            <a:r>
              <a:rPr lang="fr-FR" sz="1800" dirty="0" err="1"/>
              <a:t>low</a:t>
            </a:r>
            <a:r>
              <a:rPr lang="fr-FR" sz="1800" dirty="0"/>
              <a:t> as possible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>
                <a:latin typeface="Nexa Light" panose="02000000000000000000" pitchFamily="2" charset="0"/>
              </a:rPr>
              <a:t>Estimation uses the expectation maximisation (EM) </a:t>
            </a:r>
            <a:r>
              <a:rPr lang="fr-FR" sz="1800" dirty="0" err="1">
                <a:latin typeface="Nexa Light" panose="02000000000000000000" pitchFamily="2" charset="0"/>
              </a:rPr>
              <a:t>algorithm</a:t>
            </a:r>
            <a:endParaRPr lang="fr-FR" sz="1800" dirty="0">
              <a:latin typeface="Nexa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70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465C97F-839F-5041-B47B-4FFE55CA7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000" y="317500"/>
            <a:ext cx="8240776" cy="381000"/>
          </a:xfrm>
        </p:spPr>
        <p:txBody>
          <a:bodyPr/>
          <a:lstStyle/>
          <a:p>
            <a:r>
              <a:rPr lang="fr-FR" sz="2400" dirty="0" err="1"/>
              <a:t>References</a:t>
            </a:r>
            <a:endParaRPr lang="fr-FR" sz="24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D69CC1-BE65-BD4B-A604-5576285D2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C45E895-90A2-BE46-A914-6FBF7CB5A06B}"/>
              </a:ext>
            </a:extLst>
          </p:cNvPr>
          <p:cNvSpPr txBox="1">
            <a:spLocks/>
          </p:cNvSpPr>
          <p:nvPr/>
        </p:nvSpPr>
        <p:spPr>
          <a:xfrm>
            <a:off x="504491" y="1218082"/>
            <a:ext cx="11183018" cy="47681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 err="1"/>
              <a:t>Leaspy</a:t>
            </a:r>
            <a:r>
              <a:rPr lang="fr-FR" sz="1800" dirty="0"/>
              <a:t> :</a:t>
            </a:r>
          </a:p>
          <a:p>
            <a:r>
              <a:rPr lang="fr-FR" sz="1600" dirty="0"/>
              <a:t>-</a:t>
            </a:r>
            <a:r>
              <a:rPr lang="fr-FR" sz="1600" dirty="0" err="1"/>
              <a:t>Schiratti</a:t>
            </a:r>
            <a:r>
              <a:rPr lang="fr-FR" sz="1600" dirty="0"/>
              <a:t>, J.B., </a:t>
            </a:r>
            <a:r>
              <a:rPr lang="fr-FR" sz="1600" dirty="0" err="1"/>
              <a:t>Allassonniere</a:t>
            </a:r>
            <a:r>
              <a:rPr lang="fr-FR" sz="1600" dirty="0"/>
              <a:t>, S., </a:t>
            </a:r>
            <a:r>
              <a:rPr lang="fr-FR" sz="1600" dirty="0" err="1"/>
              <a:t>Colliot</a:t>
            </a:r>
            <a:r>
              <a:rPr lang="fr-FR" sz="1600" dirty="0"/>
              <a:t>, O., </a:t>
            </a:r>
            <a:r>
              <a:rPr lang="fr-FR" sz="1600" dirty="0" err="1"/>
              <a:t>Durrleman</a:t>
            </a:r>
            <a:r>
              <a:rPr lang="fr-FR" sz="1600" dirty="0"/>
              <a:t>, S.: A </a:t>
            </a:r>
            <a:r>
              <a:rPr lang="fr-FR" sz="1600" dirty="0" err="1"/>
              <a:t>Bayesian</a:t>
            </a:r>
            <a:r>
              <a:rPr lang="fr-FR" sz="1600" dirty="0"/>
              <a:t> Mixed-</a:t>
            </a:r>
            <a:r>
              <a:rPr lang="fr-FR" sz="1600" dirty="0" err="1"/>
              <a:t>Effects</a:t>
            </a:r>
            <a:r>
              <a:rPr lang="fr-FR" sz="1600" dirty="0"/>
              <a:t> Model to </a:t>
            </a:r>
            <a:r>
              <a:rPr lang="fr-FR" sz="1600" dirty="0" err="1"/>
              <a:t>Learn</a:t>
            </a:r>
            <a:r>
              <a:rPr lang="fr-FR" sz="1600" dirty="0"/>
              <a:t> </a:t>
            </a:r>
            <a:r>
              <a:rPr lang="fr-FR" sz="1600" dirty="0" err="1"/>
              <a:t>Trajectories</a:t>
            </a:r>
            <a:r>
              <a:rPr lang="fr-FR" sz="1600" dirty="0"/>
              <a:t> of Changes </a:t>
            </a:r>
            <a:r>
              <a:rPr lang="fr-FR" sz="1600" dirty="0" err="1"/>
              <a:t>from</a:t>
            </a:r>
            <a:r>
              <a:rPr lang="fr-FR" sz="1600" dirty="0"/>
              <a:t> </a:t>
            </a:r>
            <a:r>
              <a:rPr lang="fr-FR" sz="1600" dirty="0" err="1"/>
              <a:t>Repeated</a:t>
            </a:r>
            <a:r>
              <a:rPr lang="fr-FR" sz="1600" dirty="0"/>
              <a:t> Manifold-</a:t>
            </a:r>
            <a:r>
              <a:rPr lang="fr-FR" sz="1600" dirty="0" err="1"/>
              <a:t>Valued</a:t>
            </a:r>
            <a:r>
              <a:rPr lang="fr-FR" sz="1600" dirty="0"/>
              <a:t> Observations. The Journal of Machine Learning </a:t>
            </a:r>
            <a:r>
              <a:rPr lang="fr-FR" sz="1600" dirty="0" err="1"/>
              <a:t>Research</a:t>
            </a:r>
            <a:r>
              <a:rPr lang="fr-FR" sz="1600" dirty="0"/>
              <a:t> 18 (Jan 2017)</a:t>
            </a:r>
          </a:p>
          <a:p>
            <a:r>
              <a:rPr lang="fr-FR" sz="1600" dirty="0"/>
              <a:t>-</a:t>
            </a:r>
            <a:r>
              <a:rPr lang="fr-FR" sz="1600" dirty="0" err="1"/>
              <a:t>Koval</a:t>
            </a:r>
            <a:r>
              <a:rPr lang="fr-FR" sz="1600" dirty="0"/>
              <a:t>, I., </a:t>
            </a:r>
            <a:r>
              <a:rPr lang="fr-FR" sz="1600" dirty="0" err="1"/>
              <a:t>Schiratti</a:t>
            </a:r>
            <a:r>
              <a:rPr lang="fr-FR" sz="1600" dirty="0"/>
              <a:t>, J.B., Routier, A., </a:t>
            </a:r>
            <a:r>
              <a:rPr lang="fr-FR" sz="1600" dirty="0" err="1"/>
              <a:t>Bacci</a:t>
            </a:r>
            <a:r>
              <a:rPr lang="fr-FR" sz="1600" dirty="0"/>
              <a:t>, M., </a:t>
            </a:r>
            <a:r>
              <a:rPr lang="fr-FR" sz="1600" dirty="0" err="1"/>
              <a:t>Colliot</a:t>
            </a:r>
            <a:r>
              <a:rPr lang="fr-FR" sz="1600" dirty="0"/>
              <a:t>, O., </a:t>
            </a:r>
            <a:r>
              <a:rPr lang="fr-FR" sz="1600" dirty="0" err="1"/>
              <a:t>Allassonniere</a:t>
            </a:r>
            <a:r>
              <a:rPr lang="fr-FR" sz="1600" dirty="0"/>
              <a:t>, S.,</a:t>
            </a:r>
            <a:r>
              <a:rPr lang="fr-FR" sz="1600" dirty="0" err="1"/>
              <a:t>Durrleman</a:t>
            </a:r>
            <a:r>
              <a:rPr lang="fr-FR" sz="1600" dirty="0"/>
              <a:t>, S.: </a:t>
            </a:r>
            <a:r>
              <a:rPr lang="fr-FR" sz="1600" dirty="0" err="1"/>
              <a:t>Statistical</a:t>
            </a:r>
            <a:r>
              <a:rPr lang="fr-FR" sz="1600" dirty="0"/>
              <a:t> Learning of </a:t>
            </a:r>
            <a:r>
              <a:rPr lang="fr-FR" sz="1600" dirty="0" err="1"/>
              <a:t>Spatiotemporal</a:t>
            </a:r>
            <a:r>
              <a:rPr lang="fr-FR" sz="1600" dirty="0"/>
              <a:t> Patterns </a:t>
            </a:r>
            <a:r>
              <a:rPr lang="fr-FR" sz="1600" dirty="0" err="1"/>
              <a:t>from</a:t>
            </a:r>
            <a:r>
              <a:rPr lang="fr-FR" sz="1600" dirty="0"/>
              <a:t> Longitudinal Manifold-</a:t>
            </a:r>
            <a:r>
              <a:rPr lang="fr-FR" sz="1600" dirty="0" err="1"/>
              <a:t>Valued</a:t>
            </a:r>
            <a:r>
              <a:rPr lang="fr-FR" sz="1600" dirty="0"/>
              <a:t> Networks. In: </a:t>
            </a:r>
            <a:r>
              <a:rPr lang="fr-FR" sz="1600" dirty="0" err="1"/>
              <a:t>Descoteaux</a:t>
            </a:r>
            <a:r>
              <a:rPr lang="fr-FR" sz="1600" dirty="0"/>
              <a:t>, M., </a:t>
            </a:r>
            <a:r>
              <a:rPr lang="fr-FR" sz="1600" dirty="0" err="1"/>
              <a:t>Maier</a:t>
            </a:r>
            <a:r>
              <a:rPr lang="fr-FR" sz="1600" dirty="0"/>
              <a:t>-Hein, L., Franz, A., </a:t>
            </a:r>
            <a:r>
              <a:rPr lang="fr-FR" sz="1600" dirty="0" err="1"/>
              <a:t>Jannin</a:t>
            </a:r>
            <a:r>
              <a:rPr lang="fr-FR" sz="1600" dirty="0"/>
              <a:t>, P., Collins, D.L., Duchesne, S. (</a:t>
            </a:r>
            <a:r>
              <a:rPr lang="fr-FR" sz="1600" dirty="0" err="1"/>
              <a:t>eds</a:t>
            </a:r>
            <a:r>
              <a:rPr lang="fr-FR" sz="1600" dirty="0"/>
              <a:t>.) </a:t>
            </a:r>
            <a:r>
              <a:rPr lang="fr-FR" sz="1600" dirty="0" err="1"/>
              <a:t>Medical</a:t>
            </a:r>
            <a:r>
              <a:rPr lang="fr-FR" sz="1600" dirty="0"/>
              <a:t> Image </a:t>
            </a:r>
            <a:r>
              <a:rPr lang="fr-FR" sz="1600" dirty="0" err="1"/>
              <a:t>Computing</a:t>
            </a:r>
            <a:r>
              <a:rPr lang="fr-FR" sz="1600" dirty="0"/>
              <a:t> and Computer </a:t>
            </a:r>
            <a:r>
              <a:rPr lang="fr-FR" sz="1600" dirty="0" err="1"/>
              <a:t>Assisted</a:t>
            </a:r>
            <a:r>
              <a:rPr lang="fr-FR" sz="1600" dirty="0"/>
              <a:t> Intervention MICCAI 2017, vol. 10433, pp. 451{459. Cham (2017)</a:t>
            </a:r>
            <a:endParaRPr lang="fr-FR" sz="1800" dirty="0">
              <a:latin typeface="Nexa Light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800" dirty="0">
              <a:latin typeface="Nexa Light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800" dirty="0">
                <a:latin typeface="Nexa Light" panose="02000000000000000000" pitchFamily="2" charset="0"/>
              </a:rPr>
              <a:t>Estimation </a:t>
            </a:r>
            <a:r>
              <a:rPr lang="fr-FR" sz="1800" dirty="0" err="1">
                <a:latin typeface="Nexa Light" panose="02000000000000000000" pitchFamily="2" charset="0"/>
              </a:rPr>
              <a:t>algorithm</a:t>
            </a:r>
            <a:r>
              <a:rPr lang="fr-FR" sz="1800" dirty="0">
                <a:latin typeface="Nexa Light" panose="02000000000000000000" pitchFamily="2" charset="0"/>
              </a:rPr>
              <a:t> :</a:t>
            </a:r>
            <a:endParaRPr lang="fr-FR" sz="2000" dirty="0">
              <a:latin typeface="Nexa Light" panose="02000000000000000000" pitchFamily="2" charset="0"/>
            </a:endParaRPr>
          </a:p>
          <a:p>
            <a:r>
              <a:rPr lang="fr-FR" sz="1600" dirty="0"/>
              <a:t>-</a:t>
            </a:r>
            <a:r>
              <a:rPr lang="fr-FR" sz="1600" dirty="0" err="1"/>
              <a:t>Delyon</a:t>
            </a:r>
            <a:r>
              <a:rPr lang="fr-FR" sz="1600" dirty="0"/>
              <a:t>, B., </a:t>
            </a:r>
            <a:r>
              <a:rPr lang="fr-FR" sz="1600" dirty="0" err="1"/>
              <a:t>Lavielle</a:t>
            </a:r>
            <a:r>
              <a:rPr lang="fr-FR" sz="1600" dirty="0"/>
              <a:t>, M., Moulines, E.: Convergence of a </a:t>
            </a:r>
            <a:r>
              <a:rPr lang="fr-FR" sz="1600" dirty="0" err="1"/>
              <a:t>Stochastic</a:t>
            </a:r>
            <a:r>
              <a:rPr lang="fr-FR" sz="1600" dirty="0"/>
              <a:t> Approximation Version of the EM </a:t>
            </a:r>
            <a:r>
              <a:rPr lang="fr-FR" sz="1600" dirty="0" err="1"/>
              <a:t>Algorithm</a:t>
            </a:r>
            <a:r>
              <a:rPr lang="fr-FR" sz="1600" dirty="0"/>
              <a:t>. The </a:t>
            </a:r>
            <a:r>
              <a:rPr lang="fr-FR" sz="1600" dirty="0" err="1"/>
              <a:t>Annals</a:t>
            </a:r>
            <a:r>
              <a:rPr lang="fr-FR" sz="1600" dirty="0"/>
              <a:t> of </a:t>
            </a:r>
            <a:r>
              <a:rPr lang="fr-FR" sz="1600" dirty="0" err="1"/>
              <a:t>Statistics</a:t>
            </a:r>
            <a:r>
              <a:rPr lang="fr-FR" sz="1600" dirty="0"/>
              <a:t> 27(1), 94{128 (1999)</a:t>
            </a:r>
          </a:p>
          <a:p>
            <a:r>
              <a:rPr lang="fr-FR" sz="1600" dirty="0"/>
              <a:t>-Kuhn, E., </a:t>
            </a:r>
            <a:r>
              <a:rPr lang="fr-FR" sz="1600" dirty="0" err="1"/>
              <a:t>Lavielle</a:t>
            </a:r>
            <a:r>
              <a:rPr lang="fr-FR" sz="1600" dirty="0"/>
              <a:t>, M.: </a:t>
            </a:r>
            <a:r>
              <a:rPr lang="fr-FR" sz="1600" dirty="0" err="1"/>
              <a:t>Coupling</a:t>
            </a:r>
            <a:r>
              <a:rPr lang="fr-FR" sz="1600" dirty="0"/>
              <a:t> a </a:t>
            </a:r>
            <a:r>
              <a:rPr lang="fr-FR" sz="1600" dirty="0" err="1"/>
              <a:t>stochastic</a:t>
            </a:r>
            <a:r>
              <a:rPr lang="fr-FR" sz="1600" dirty="0"/>
              <a:t> approximation version of EM </a:t>
            </a:r>
            <a:r>
              <a:rPr lang="fr-FR" sz="1600" dirty="0" err="1"/>
              <a:t>with</a:t>
            </a:r>
            <a:r>
              <a:rPr lang="fr-FR" sz="1600" dirty="0"/>
              <a:t> an MCMC </a:t>
            </a:r>
            <a:r>
              <a:rPr lang="fr-FR" sz="1600" dirty="0" err="1"/>
              <a:t>procedure</a:t>
            </a:r>
            <a:r>
              <a:rPr lang="fr-FR" sz="1600" dirty="0"/>
              <a:t>. ESAIM: </a:t>
            </a:r>
            <a:r>
              <a:rPr lang="fr-FR" sz="1600" dirty="0" err="1"/>
              <a:t>Probability</a:t>
            </a:r>
            <a:r>
              <a:rPr lang="fr-FR" sz="1600" dirty="0"/>
              <a:t> and </a:t>
            </a:r>
            <a:r>
              <a:rPr lang="fr-FR" sz="1600" dirty="0" err="1"/>
              <a:t>Statistics</a:t>
            </a:r>
            <a:r>
              <a:rPr lang="fr-FR" sz="1600" dirty="0"/>
              <a:t> 8, 115{131 (2004)</a:t>
            </a:r>
          </a:p>
          <a:p>
            <a:endParaRPr lang="fr-F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800" dirty="0">
              <a:latin typeface="Nexa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845391"/>
      </p:ext>
    </p:extLst>
  </p:cSld>
  <p:clrMapOvr>
    <a:masterClrMapping/>
  </p:clrMapOvr>
</p:sld>
</file>

<file path=ppt/theme/theme1.xml><?xml version="1.0" encoding="utf-8"?>
<a:theme xmlns:a="http://schemas.openxmlformats.org/drawingml/2006/main" name="ARAMIS_Lab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AMIS_Lab" id="{22C8807F-11D0-7047-9E61-DB33B3129279}" vid="{D353D8BE-E1CC-0849-A42A-40290CD4D097}"/>
    </a:ext>
  </a:extLst>
</a:theme>
</file>

<file path=ppt/theme/theme2.xml><?xml version="1.0" encoding="utf-8"?>
<a:theme xmlns:a="http://schemas.openxmlformats.org/drawingml/2006/main" name="Page contenu 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age contenu 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ARAMIS_Lab</Template>
  <TotalTime>2879</TotalTime>
  <Words>482</Words>
  <Application>Microsoft Macintosh PowerPoint</Application>
  <PresentationFormat>Grand écran</PresentationFormat>
  <Paragraphs>51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Cambria Math</vt:lpstr>
      <vt:lpstr>DIN-Regular</vt:lpstr>
      <vt:lpstr>Nexa Bold</vt:lpstr>
      <vt:lpstr>Nexa Light</vt:lpstr>
      <vt:lpstr>ARAMIS_Lab</vt:lpstr>
      <vt:lpstr>Page contenu </vt:lpstr>
      <vt:lpstr>1_Page contenu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17</cp:revision>
  <dcterms:created xsi:type="dcterms:W3CDTF">2021-01-04T14:24:52Z</dcterms:created>
  <dcterms:modified xsi:type="dcterms:W3CDTF">2021-01-06T14:24:30Z</dcterms:modified>
</cp:coreProperties>
</file>