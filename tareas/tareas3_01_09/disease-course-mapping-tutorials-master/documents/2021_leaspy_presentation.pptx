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image69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67" r:id="rId3"/>
    <p:sldId id="602" r:id="rId4"/>
    <p:sldId id="289" r:id="rId5"/>
    <p:sldId id="607" r:id="rId6"/>
    <p:sldId id="290" r:id="rId7"/>
    <p:sldId id="291" r:id="rId8"/>
    <p:sldId id="575" r:id="rId9"/>
    <p:sldId id="603" r:id="rId10"/>
    <p:sldId id="577" r:id="rId11"/>
    <p:sldId id="580" r:id="rId12"/>
    <p:sldId id="581" r:id="rId13"/>
    <p:sldId id="582" r:id="rId14"/>
    <p:sldId id="604" r:id="rId15"/>
    <p:sldId id="583" r:id="rId16"/>
    <p:sldId id="584" r:id="rId17"/>
    <p:sldId id="586" r:id="rId18"/>
    <p:sldId id="587" r:id="rId19"/>
    <p:sldId id="285" r:id="rId20"/>
    <p:sldId id="601" r:id="rId21"/>
    <p:sldId id="588" r:id="rId22"/>
    <p:sldId id="591" r:id="rId23"/>
    <p:sldId id="592" r:id="rId24"/>
    <p:sldId id="593" r:id="rId25"/>
    <p:sldId id="594" r:id="rId26"/>
    <p:sldId id="589" r:id="rId27"/>
    <p:sldId id="269" r:id="rId28"/>
    <p:sldId id="605" r:id="rId29"/>
    <p:sldId id="606" r:id="rId30"/>
    <p:sldId id="268" r:id="rId31"/>
    <p:sldId id="278" r:id="rId32"/>
    <p:sldId id="590" r:id="rId33"/>
    <p:sldId id="597" r:id="rId34"/>
    <p:sldId id="596" r:id="rId35"/>
    <p:sldId id="595" r:id="rId36"/>
    <p:sldId id="598" r:id="rId37"/>
    <p:sldId id="599" r:id="rId38"/>
    <p:sldId id="600" r:id="rId39"/>
  </p:sldIdLst>
  <p:sldSz cx="9144000" cy="5143500" type="screen16x9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4616"/>
    <a:srgbClr val="FF40FF"/>
    <a:srgbClr val="FF85FF"/>
    <a:srgbClr val="1A75B3"/>
    <a:srgbClr val="FE7E0A"/>
    <a:srgbClr val="1C1C58"/>
    <a:srgbClr val="D53D22"/>
    <a:srgbClr val="281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42" autoAdjust="0"/>
    <p:restoredTop sz="86951" autoAdjust="0"/>
  </p:normalViewPr>
  <p:slideViewPr>
    <p:cSldViewPr snapToGrid="0" snapToObjects="1">
      <p:cViewPr varScale="1">
        <p:scale>
          <a:sx n="146" d="100"/>
          <a:sy n="146" d="100"/>
        </p:scale>
        <p:origin x="168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302BB-5BAE-894B-82D4-3C04B046A5E0}" type="datetimeFigureOut">
              <a:rPr lang="en-FR" smtClean="0"/>
              <a:t>9/3/20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42643-C7A0-EE4A-89C4-327165196316}" type="slidenum">
              <a:rPr lang="en-FR" smtClean="0"/>
              <a:t>‹N°›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585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Key message : Need time re-alignement and data normalization </a:t>
            </a:r>
            <a:r>
              <a:rPr lang="en-FR" dirty="0">
                <a:sym typeface="Wingdings" pitchFamily="2" charset="2"/>
              </a:rPr>
              <a:t> difficult </a:t>
            </a:r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42643-C7A0-EE4A-89C4-327165196316}" type="slidenum">
              <a:rPr lang="en-FR" smtClean="0"/>
              <a:t>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3858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Key message : Need time re-alignement and data normalization </a:t>
            </a:r>
            <a:r>
              <a:rPr lang="en-FR" dirty="0">
                <a:sym typeface="Wingdings" pitchFamily="2" charset="2"/>
              </a:rPr>
              <a:t> </a:t>
            </a:r>
            <a:r>
              <a:rPr lang="en-FR">
                <a:sym typeface="Wingdings" pitchFamily="2" charset="2"/>
              </a:rPr>
              <a:t>difficult </a:t>
            </a:r>
            <a:endParaRPr lang="fr-FR" dirty="0">
              <a:sym typeface="Wingdings" pitchFamily="2" charset="2"/>
            </a:endParaRPr>
          </a:p>
          <a:p>
            <a:endParaRPr lang="fr-FR" dirty="0">
              <a:sym typeface="Wingdings" pitchFamily="2" charset="2"/>
            </a:endParaRPr>
          </a:p>
          <a:p>
            <a:r>
              <a:rPr lang="en-FR"/>
              <a:t>Key message: </a:t>
            </a:r>
          </a:p>
          <a:p>
            <a:r>
              <a:rPr lang="en-FR"/>
              <a:t>1/ We combine short sequence of individual data to build a long-term scenario of disease progression</a:t>
            </a:r>
            <a:br>
              <a:rPr lang="en-FR"/>
            </a:br>
            <a:r>
              <a:rPr lang="en-FR"/>
              <a:t>2/ We learn how the individual sequence differ one from each others</a:t>
            </a:r>
          </a:p>
          <a:p>
            <a:r>
              <a:rPr lang="en-FR"/>
              <a:t>3/ We personalize the model to subjects’ data to determine the disease stage and predict his or her future progression</a:t>
            </a:r>
          </a:p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42643-C7A0-EE4A-89C4-327165196316}" type="slidenum">
              <a:rPr lang="en-FR" smtClean="0"/>
              <a:t>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41851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Key message: </a:t>
            </a:r>
          </a:p>
          <a:p>
            <a:r>
              <a:rPr lang="en-FR" dirty="0"/>
              <a:t>1/ We combine short sequence of individual data to build a long-term scenario of disease progression</a:t>
            </a:r>
            <a:br>
              <a:rPr lang="en-FR" dirty="0"/>
            </a:br>
            <a:r>
              <a:rPr lang="en-FR" dirty="0"/>
              <a:t>2/ We learn how the individual sequence differ one from each others</a:t>
            </a:r>
          </a:p>
          <a:p>
            <a:r>
              <a:rPr lang="en-FR" dirty="0"/>
              <a:t>3/ We personalize the model to subjects’ data to determine the disease stage and predict his or her future progression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42643-C7A0-EE4A-89C4-327165196316}" type="slidenum">
              <a:rPr lang="en-FR" smtClean="0"/>
              <a:t>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39485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b="1" dirty="0"/>
              <a:t>Il manque la durée de suivi et le nombre moyen de time-point par sujets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42643-C7A0-EE4A-89C4-327165196316}" type="slidenum">
              <a:rPr lang="en-FR" smtClean="0"/>
              <a:t>10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68877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Message: such a abnormality sequence allows selection of candidate biomarkers for testing drug at different disease stage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42643-C7A0-EE4A-89C4-327165196316}" type="slidenum">
              <a:rPr lang="en-FR" smtClean="0"/>
              <a:t>13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59730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b="1" dirty="0"/>
              <a:t>Il manque la durée de suivi et le nombre moyen de time-point par sujets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42643-C7A0-EE4A-89C4-327165196316}" type="slidenum">
              <a:rPr lang="en-FR" smtClean="0"/>
              <a:t>14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07991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Il faut refaire la figure de droite car les valeurs ne correspondent pas avec le graphe de droite…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42643-C7A0-EE4A-89C4-327165196316}" type="slidenum">
              <a:rPr lang="en-FR" smtClean="0"/>
              <a:t>16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20423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Il faut refaire la figure de droite car les valeurs ne correspondent pas avec le graphe de droite…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42643-C7A0-EE4A-89C4-327165196316}" type="slidenum">
              <a:rPr lang="en-FR" smtClean="0"/>
              <a:t>17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78615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Il faut refaire la figure de droite car les valeurs ne correspondent pas avec le graphe de droite…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42643-C7A0-EE4A-89C4-327165196316}" type="slidenum">
              <a:rPr lang="en-FR" smtClean="0"/>
              <a:t>18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56568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42643-C7A0-EE4A-89C4-327165196316}" type="slidenum">
              <a:rPr lang="en-FR" smtClean="0"/>
              <a:t>22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96818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42643-C7A0-EE4A-89C4-327165196316}" type="slidenum">
              <a:rPr lang="en-FR" smtClean="0"/>
              <a:t>38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14031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76AB-BFDC-1A45-9029-F3C46923FB43}" type="datetimeFigureOut">
              <a:rPr lang="fr-FR" smtClean="0"/>
              <a:t>03/09/2020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69D5D-3C54-E347-B3D4-70BDFA7C65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440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76AB-BFDC-1A45-9029-F3C46923FB43}" type="datetimeFigureOut">
              <a:rPr lang="fr-FR" smtClean="0"/>
              <a:t>03/09/2020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69D5D-3C54-E347-B3D4-70BDFA7C65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955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76AB-BFDC-1A45-9029-F3C46923FB43}" type="datetimeFigureOut">
              <a:rPr lang="fr-FR" smtClean="0"/>
              <a:t>03/09/2020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69D5D-3C54-E347-B3D4-70BDFA7C65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00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76AB-BFDC-1A45-9029-F3C46923FB43}" type="datetimeFigureOut">
              <a:rPr lang="fr-FR" smtClean="0"/>
              <a:t>03/09/2020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69D5D-3C54-E347-B3D4-70BDFA7C65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11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32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76AB-BFDC-1A45-9029-F3C46923FB43}" type="datetimeFigureOut">
              <a:rPr lang="fr-FR" smtClean="0"/>
              <a:t>03/09/2020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69D5D-3C54-E347-B3D4-70BDFA7C65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441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76AB-BFDC-1A45-9029-F3C46923FB43}" type="datetimeFigureOut">
              <a:rPr lang="fr-FR" smtClean="0"/>
              <a:t>03/09/2020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69D5D-3C54-E347-B3D4-70BDFA7C65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0060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76AB-BFDC-1A45-9029-F3C46923FB43}" type="datetimeFigureOut">
              <a:rPr lang="fr-FR" smtClean="0"/>
              <a:t>03/09/2020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69D5D-3C54-E347-B3D4-70BDFA7C65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9274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76AB-BFDC-1A45-9029-F3C46923FB43}" type="datetimeFigureOut">
              <a:rPr lang="fr-FR" smtClean="0"/>
              <a:t>03/09/2020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69D5D-3C54-E347-B3D4-70BDFA7C65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2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76AB-BFDC-1A45-9029-F3C46923FB43}" type="datetimeFigureOut">
              <a:rPr lang="fr-FR" smtClean="0"/>
              <a:t>03/09/2020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69D5D-3C54-E347-B3D4-70BDFA7C65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760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76AB-BFDC-1A45-9029-F3C46923FB43}" type="datetimeFigureOut">
              <a:rPr lang="fr-FR" smtClean="0"/>
              <a:t>03/09/2020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69D5D-3C54-E347-B3D4-70BDFA7C65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697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76AB-BFDC-1A45-9029-F3C46923FB43}" type="datetimeFigureOut">
              <a:rPr lang="fr-FR" smtClean="0"/>
              <a:t>03/09/2020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69D5D-3C54-E347-B3D4-70BDFA7C65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7216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38125"/>
            <a:ext cx="1514475" cy="2857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 dirty="0"/>
              <a:t>S Durrleman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2209800" y="238125"/>
            <a:ext cx="2478206" cy="2857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 baseline="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 dirty="0"/>
              <a:t>Digital </a:t>
            </a:r>
            <a:r>
              <a:rPr lang="fr-FR" dirty="0" err="1"/>
              <a:t>Models</a:t>
            </a:r>
            <a:r>
              <a:rPr lang="fr-FR" dirty="0"/>
              <a:t> of Brain </a:t>
            </a:r>
            <a:r>
              <a:rPr lang="fr-FR" dirty="0" err="1"/>
              <a:t>Aging</a:t>
            </a:r>
            <a:endParaRPr lang="fr-FR" dirty="0"/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8291015" y="238125"/>
            <a:ext cx="345317" cy="285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fld id="{109FBCB3-8AB5-464B-BD37-25CACA316880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71525" y="1162050"/>
            <a:ext cx="6010275" cy="2638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35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900" indent="0">
              <a:lnSpc>
                <a:spcPct val="80000"/>
              </a:lnSpc>
              <a:buFontTx/>
              <a:buNone/>
              <a:defRPr sz="1125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524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676AB-BFDC-1A45-9029-F3C46923FB43}" type="datetimeFigureOut">
              <a:rPr lang="fr-FR" smtClean="0"/>
              <a:t>03/09/2020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69D5D-3C54-E347-B3D4-70BDFA7C65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233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884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62" indent="-257162" algn="l" defTabSz="342884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85" indent="-214303" algn="l" defTabSz="342884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342884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342884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342884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342884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342884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342884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342884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34288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34288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34288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34288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34288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34288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34288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34288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34288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70.png"/><Relationship Id="rId26" Type="http://schemas.openxmlformats.org/officeDocument/2006/relationships/image" Target="../media/image250.png"/><Relationship Id="rId39" Type="http://schemas.openxmlformats.org/officeDocument/2006/relationships/image" Target="../media/image47.png"/><Relationship Id="rId3" Type="http://schemas.openxmlformats.org/officeDocument/2006/relationships/image" Target="../media/image30.png"/><Relationship Id="rId34" Type="http://schemas.openxmlformats.org/officeDocument/2006/relationships/image" Target="../media/image42.png"/><Relationship Id="rId33" Type="http://schemas.openxmlformats.org/officeDocument/2006/relationships/image" Target="../media/image41.png"/><Relationship Id="rId38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20" Type="http://schemas.openxmlformats.org/officeDocument/2006/relationships/image" Target="../media/image38.png"/><Relationship Id="rId29" Type="http://schemas.openxmlformats.org/officeDocument/2006/relationships/image" Target="../media/image280.png"/><Relationship Id="rId41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32" Type="http://schemas.openxmlformats.org/officeDocument/2006/relationships/image" Target="../media/image40.png"/><Relationship Id="rId37" Type="http://schemas.openxmlformats.org/officeDocument/2006/relationships/image" Target="../media/image45.png"/><Relationship Id="rId40" Type="http://schemas.openxmlformats.org/officeDocument/2006/relationships/image" Target="../media/image48.png"/><Relationship Id="rId5" Type="http://schemas.openxmlformats.org/officeDocument/2006/relationships/image" Target="../media/image320.png"/><Relationship Id="rId28" Type="http://schemas.openxmlformats.org/officeDocument/2006/relationships/image" Target="../media/image270.png"/><Relationship Id="rId36" Type="http://schemas.openxmlformats.org/officeDocument/2006/relationships/image" Target="../media/image44.png"/><Relationship Id="rId19" Type="http://schemas.openxmlformats.org/officeDocument/2006/relationships/image" Target="../media/image180.png"/><Relationship Id="rId31" Type="http://schemas.openxmlformats.org/officeDocument/2006/relationships/image" Target="../media/image39.png"/><Relationship Id="rId4" Type="http://schemas.openxmlformats.org/officeDocument/2006/relationships/image" Target="../media/image310.png"/><Relationship Id="rId27" Type="http://schemas.openxmlformats.org/officeDocument/2006/relationships/image" Target="../media/image260.png"/><Relationship Id="rId30" Type="http://schemas.openxmlformats.org/officeDocument/2006/relationships/image" Target="../media/image290.png"/><Relationship Id="rId35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60.jpeg"/><Relationship Id="rId7" Type="http://schemas.openxmlformats.org/officeDocument/2006/relationships/image" Target="../media/image64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icm-institute/aramislab/leaspy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jpg"/><Relationship Id="rId4" Type="http://schemas.openxmlformats.org/officeDocument/2006/relationships/hyperlink" Target="https://hal.inria.fr/hal-0196482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2736" y="72736"/>
            <a:ext cx="8988137" cy="4987637"/>
          </a:xfrm>
          <a:prstGeom prst="rect">
            <a:avLst/>
          </a:prstGeom>
          <a:solidFill>
            <a:srgbClr val="1C1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281E78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198186" y="1564750"/>
            <a:ext cx="6072978" cy="125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70000"/>
              </a:lnSpc>
            </a:pPr>
            <a:r>
              <a:rPr lang="en-US" sz="2400" b="1">
                <a:solidFill>
                  <a:schemeClr val="bg1"/>
                </a:solidFill>
                <a:latin typeface="Avenir Book" panose="02000503020000020003" pitchFamily="2" charset="0"/>
                <a:cs typeface="Arial"/>
              </a:rPr>
              <a:t>Disease Course Maps</a:t>
            </a:r>
          </a:p>
          <a:p>
            <a:pPr algn="r">
              <a:lnSpc>
                <a:spcPct val="70000"/>
              </a:lnSpc>
            </a:pPr>
            <a:endParaRPr lang="en-US" sz="2700" b="1">
              <a:solidFill>
                <a:schemeClr val="bg1"/>
              </a:solidFill>
              <a:latin typeface="Avenir Book" panose="02000503020000020003" pitchFamily="2" charset="0"/>
              <a:cs typeface="Arial"/>
            </a:endParaRPr>
          </a:p>
          <a:p>
            <a:pPr algn="r">
              <a:lnSpc>
                <a:spcPct val="70000"/>
              </a:lnSpc>
            </a:pPr>
            <a:r>
              <a:rPr lang="en-US" sz="2100" i="1">
                <a:solidFill>
                  <a:schemeClr val="bg1"/>
                </a:solidFill>
                <a:latin typeface="Avenir Book" panose="02000503020000020003" pitchFamily="2" charset="0"/>
                <a:cs typeface="Arial"/>
              </a:rPr>
              <a:t>allow the monitoring of disease progression</a:t>
            </a:r>
            <a:endParaRPr lang="en-US" sz="2100">
              <a:solidFill>
                <a:schemeClr val="bg1"/>
              </a:solidFill>
              <a:latin typeface="Avenir Book" panose="02000503020000020003" pitchFamily="2" charset="0"/>
              <a:cs typeface="Arial"/>
            </a:endParaRPr>
          </a:p>
          <a:p>
            <a:pPr algn="r">
              <a:lnSpc>
                <a:spcPct val="70000"/>
              </a:lnSpc>
            </a:pPr>
            <a:endParaRPr lang="en-US" sz="3300" b="1">
              <a:solidFill>
                <a:schemeClr val="bg1"/>
              </a:solidFill>
              <a:latin typeface="Avenir Book" panose="02000503020000020003" pitchFamily="2" charset="0"/>
              <a:cs typeface="Arial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043075" y="2907136"/>
            <a:ext cx="5228089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75">
                <a:solidFill>
                  <a:srgbClr val="D53D22"/>
                </a:solidFill>
                <a:latin typeface="Arial"/>
                <a:cs typeface="Arial"/>
              </a:rPr>
              <a:t>Igor Koval, PhD</a:t>
            </a:r>
          </a:p>
          <a:p>
            <a:pPr algn="r"/>
            <a:r>
              <a:rPr lang="en-US" sz="1875">
                <a:solidFill>
                  <a:srgbClr val="D53D22"/>
                </a:solidFill>
                <a:latin typeface="Arial"/>
                <a:cs typeface="Arial"/>
              </a:rPr>
              <a:t>Post-doctoral fellow @ ARAMIS Lab</a:t>
            </a:r>
          </a:p>
        </p:txBody>
      </p:sp>
      <p:cxnSp>
        <p:nvCxnSpPr>
          <p:cNvPr id="16" name="Connecteur droit 15"/>
          <p:cNvCxnSpPr>
            <a:cxnSpLocks/>
          </p:cNvCxnSpPr>
          <p:nvPr/>
        </p:nvCxnSpPr>
        <p:spPr>
          <a:xfrm>
            <a:off x="779318" y="1057217"/>
            <a:ext cx="7491846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er 36"/>
          <p:cNvGrpSpPr/>
          <p:nvPr/>
        </p:nvGrpSpPr>
        <p:grpSpPr>
          <a:xfrm>
            <a:off x="530485" y="4357437"/>
            <a:ext cx="5067411" cy="447674"/>
            <a:chOff x="3390540" y="6041447"/>
            <a:chExt cx="5388685" cy="420383"/>
          </a:xfrm>
        </p:grpSpPr>
        <p:pic>
          <p:nvPicPr>
            <p:cNvPr id="38" name="Image 37" descr="APHP_logo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0540" y="6079776"/>
              <a:ext cx="1672032" cy="336176"/>
            </a:xfrm>
            <a:prstGeom prst="rect">
              <a:avLst/>
            </a:prstGeom>
          </p:spPr>
        </p:pic>
        <p:pic>
          <p:nvPicPr>
            <p:cNvPr id="39" name="Image 3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9614" y="6045571"/>
              <a:ext cx="412134" cy="412134"/>
            </a:xfrm>
            <a:prstGeom prst="rect">
              <a:avLst/>
            </a:prstGeom>
          </p:spPr>
        </p:pic>
        <p:pic>
          <p:nvPicPr>
            <p:cNvPr id="40" name="Image 39" descr="INSERM_logo blanc.pn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31" t="18200" r="9091" b="16697"/>
            <a:stretch/>
          </p:blipFill>
          <p:spPr>
            <a:xfrm>
              <a:off x="6088808" y="6041447"/>
              <a:ext cx="1330303" cy="420383"/>
            </a:xfrm>
            <a:prstGeom prst="rect">
              <a:avLst/>
            </a:prstGeom>
          </p:spPr>
        </p:pic>
        <p:pic>
          <p:nvPicPr>
            <p:cNvPr id="41" name="Image 40" descr="Sorbonne_logo blanc.psd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02895" y="6054866"/>
              <a:ext cx="976330" cy="393545"/>
            </a:xfrm>
            <a:prstGeom prst="rect">
              <a:avLst/>
            </a:prstGeom>
          </p:spPr>
        </p:pic>
        <p:cxnSp>
          <p:nvCxnSpPr>
            <p:cNvPr id="42" name="Connecteur droit 41"/>
            <p:cNvCxnSpPr/>
            <p:nvPr/>
          </p:nvCxnSpPr>
          <p:spPr>
            <a:xfrm flipV="1">
              <a:off x="5998717" y="6054866"/>
              <a:ext cx="0" cy="406964"/>
            </a:xfrm>
            <a:prstGeom prst="line">
              <a:avLst/>
            </a:prstGeom>
            <a:ln w="9525" cmpd="sng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42"/>
            <p:cNvCxnSpPr/>
            <p:nvPr/>
          </p:nvCxnSpPr>
          <p:spPr>
            <a:xfrm flipV="1">
              <a:off x="7593096" y="6054866"/>
              <a:ext cx="0" cy="406964"/>
            </a:xfrm>
            <a:prstGeom prst="line">
              <a:avLst/>
            </a:prstGeom>
            <a:ln w="9525" cmpd="sng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43"/>
            <p:cNvCxnSpPr/>
            <p:nvPr/>
          </p:nvCxnSpPr>
          <p:spPr>
            <a:xfrm flipV="1">
              <a:off x="5186957" y="6054866"/>
              <a:ext cx="0" cy="406964"/>
            </a:xfrm>
            <a:prstGeom prst="line">
              <a:avLst/>
            </a:prstGeom>
            <a:ln w="9525" cmpd="sng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Connecteur droit 16"/>
          <p:cNvCxnSpPr>
            <a:cxnSpLocks/>
          </p:cNvCxnSpPr>
          <p:nvPr/>
        </p:nvCxnSpPr>
        <p:spPr>
          <a:xfrm>
            <a:off x="530485" y="4288832"/>
            <a:ext cx="7740679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ag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64" y="297079"/>
            <a:ext cx="1971000" cy="601189"/>
          </a:xfrm>
          <a:prstGeom prst="rect">
            <a:avLst/>
          </a:prstGeom>
        </p:spPr>
      </p:pic>
      <p:pic>
        <p:nvPicPr>
          <p:cNvPr id="6" name="Picture 5" descr="A picture containing clock, meter&#10;&#10;Description automatically generated">
            <a:extLst>
              <a:ext uri="{FF2B5EF4-FFF2-40B4-BE49-F238E27FC236}">
                <a16:creationId xmlns:a16="http://schemas.microsoft.com/office/drawing/2014/main" id="{1DD3F733-1BC7-2E4C-92B2-BFC21FCE47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668" y="4371727"/>
            <a:ext cx="1250986" cy="529697"/>
          </a:xfrm>
          <a:prstGeom prst="rect">
            <a:avLst/>
          </a:prstGeom>
        </p:spPr>
      </p:pic>
      <p:cxnSp>
        <p:nvCxnSpPr>
          <p:cNvPr id="20" name="Connecteur droit 42">
            <a:extLst>
              <a:ext uri="{FF2B5EF4-FFF2-40B4-BE49-F238E27FC236}">
                <a16:creationId xmlns:a16="http://schemas.microsoft.com/office/drawing/2014/main" id="{CE088388-A506-C343-9A97-3376626DA156}"/>
              </a:ext>
            </a:extLst>
          </p:cNvPr>
          <p:cNvCxnSpPr/>
          <p:nvPr/>
        </p:nvCxnSpPr>
        <p:spPr>
          <a:xfrm flipV="1">
            <a:off x="5658210" y="4471325"/>
            <a:ext cx="0" cy="30522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871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D0829B42-F1EF-2846-A554-524976144BB0}"/>
              </a:ext>
            </a:extLst>
          </p:cNvPr>
          <p:cNvSpPr txBox="1">
            <a:spLocks/>
          </p:cNvSpPr>
          <p:nvPr/>
        </p:nvSpPr>
        <p:spPr>
          <a:xfrm>
            <a:off x="1291761" y="2831630"/>
            <a:ext cx="6798013" cy="724841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ts val="0"/>
              </a:spcBef>
              <a:buNone/>
              <a:defRPr/>
            </a:pPr>
            <a:r>
              <a:rPr lang="fr-FR" altLang="x-none" b="1" dirty="0" err="1">
                <a:solidFill>
                  <a:srgbClr val="7030A0"/>
                </a:solidFill>
                <a:ea typeface="ＭＳ Ｐゴシック" charset="-128"/>
              </a:rPr>
              <a:t>Build</a:t>
            </a:r>
            <a:r>
              <a:rPr lang="fr-FR" altLang="x-none" b="1" dirty="0">
                <a:solidFill>
                  <a:srgbClr val="7030A0"/>
                </a:solidFill>
                <a:ea typeface="ＭＳ Ｐゴシック" charset="-128"/>
              </a:rPr>
              <a:t> </a:t>
            </a:r>
            <a:r>
              <a:rPr lang="fr-FR" altLang="x-none" b="1" dirty="0" err="1">
                <a:solidFill>
                  <a:srgbClr val="7030A0"/>
                </a:solidFill>
                <a:ea typeface="ＭＳ Ｐゴシック" charset="-128"/>
              </a:rPr>
              <a:t>computational</a:t>
            </a:r>
            <a:r>
              <a:rPr lang="fr-FR" altLang="x-none" b="1" dirty="0">
                <a:solidFill>
                  <a:srgbClr val="7030A0"/>
                </a:solidFill>
                <a:ea typeface="ＭＳ Ｐゴシック" charset="-128"/>
              </a:rPr>
              <a:t> model of </a:t>
            </a:r>
            <a:r>
              <a:rPr lang="fr-FR" altLang="x-none" b="1" dirty="0" err="1">
                <a:solidFill>
                  <a:srgbClr val="7030A0"/>
                </a:solidFill>
                <a:ea typeface="ＭＳ Ｐゴシック" charset="-128"/>
              </a:rPr>
              <a:t>disease</a:t>
            </a:r>
            <a:r>
              <a:rPr lang="fr-FR" altLang="x-none" b="1" dirty="0">
                <a:solidFill>
                  <a:srgbClr val="7030A0"/>
                </a:solidFill>
                <a:ea typeface="ＭＳ Ｐゴシック" charset="-128"/>
              </a:rPr>
              <a:t> progression</a:t>
            </a:r>
          </a:p>
          <a:p>
            <a:pPr marL="0" indent="0" algn="ctr" defTabSz="685800">
              <a:spcBef>
                <a:spcPts val="0"/>
              </a:spcBef>
              <a:buNone/>
              <a:defRPr/>
            </a:pPr>
            <a:r>
              <a:rPr lang="fr-FR" altLang="x-none" dirty="0" err="1">
                <a:ea typeface="ＭＳ Ｐゴシック" charset="-128"/>
              </a:rPr>
              <a:t>from</a:t>
            </a:r>
            <a:r>
              <a:rPr lang="fr-FR" altLang="x-none" dirty="0">
                <a:ea typeface="ＭＳ Ｐゴシック" charset="-128"/>
              </a:rPr>
              <a:t> </a:t>
            </a:r>
            <a:r>
              <a:rPr lang="fr-FR" altLang="x-none" dirty="0" err="1">
                <a:ea typeface="ＭＳ Ｐゴシック" charset="-128"/>
              </a:rPr>
              <a:t>clinical</a:t>
            </a:r>
            <a:r>
              <a:rPr lang="fr-FR" altLang="x-none" dirty="0">
                <a:ea typeface="ＭＳ Ｐゴシック" charset="-128"/>
              </a:rPr>
              <a:t> and </a:t>
            </a:r>
            <a:r>
              <a:rPr lang="fr-FR" altLang="x-none" dirty="0" err="1">
                <a:ea typeface="ＭＳ Ｐゴシック" charset="-128"/>
              </a:rPr>
              <a:t>imaging</a:t>
            </a:r>
            <a:r>
              <a:rPr lang="fr-FR" altLang="x-none" dirty="0">
                <a:ea typeface="ＭＳ Ｐゴシック" charset="-128"/>
              </a:rPr>
              <a:t> data</a:t>
            </a:r>
          </a:p>
        </p:txBody>
      </p:sp>
      <p:grpSp>
        <p:nvGrpSpPr>
          <p:cNvPr id="11" name="Grouper 4">
            <a:extLst>
              <a:ext uri="{FF2B5EF4-FFF2-40B4-BE49-F238E27FC236}">
                <a16:creationId xmlns:a16="http://schemas.microsoft.com/office/drawing/2014/main" id="{1DE79AA5-C718-1142-947E-5AEC3CC3B461}"/>
              </a:ext>
            </a:extLst>
          </p:cNvPr>
          <p:cNvGrpSpPr>
            <a:grpSpLocks/>
          </p:cNvGrpSpPr>
          <p:nvPr/>
        </p:nvGrpSpPr>
        <p:grpSpPr bwMode="auto">
          <a:xfrm>
            <a:off x="945356" y="670646"/>
            <a:ext cx="7253288" cy="2188602"/>
            <a:chOff x="323850" y="476672"/>
            <a:chExt cx="8143875" cy="2584228"/>
          </a:xfrm>
        </p:grpSpPr>
        <p:grpSp>
          <p:nvGrpSpPr>
            <p:cNvPr id="12" name="Grouper 34">
              <a:extLst>
                <a:ext uri="{FF2B5EF4-FFF2-40B4-BE49-F238E27FC236}">
                  <a16:creationId xmlns:a16="http://schemas.microsoft.com/office/drawing/2014/main" id="{BD5240A7-B9EA-5B4D-A545-8A68FE24A0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3850" y="980729"/>
              <a:ext cx="6382162" cy="446415"/>
              <a:chOff x="179512" y="375280"/>
              <a:chExt cx="6383160" cy="447102"/>
            </a:xfrm>
          </p:grpSpPr>
          <p:sp>
            <p:nvSpPr>
              <p:cNvPr id="33" name="ZoneTexte 15">
                <a:extLst>
                  <a:ext uri="{FF2B5EF4-FFF2-40B4-BE49-F238E27FC236}">
                    <a16:creationId xmlns:a16="http://schemas.microsoft.com/office/drawing/2014/main" id="{6FA51D13-2CA1-424E-8299-AF004D6B6C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15785" y="522105"/>
                <a:ext cx="946887" cy="300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9pPr>
              </a:lstStyle>
              <a:p>
                <a:pPr algn="ctr"/>
                <a:r>
                  <a:rPr lang="fr-FR" altLang="x-none" sz="1050" dirty="0"/>
                  <a:t>~65 </a:t>
                </a:r>
                <a:r>
                  <a:rPr lang="fr-FR" altLang="x-none" sz="1050" dirty="0" err="1"/>
                  <a:t>years</a:t>
                </a:r>
                <a:endParaRPr lang="fr-FR" altLang="x-none" sz="1050" dirty="0"/>
              </a:p>
            </p:txBody>
          </p:sp>
          <p:cxnSp>
            <p:nvCxnSpPr>
              <p:cNvPr id="34" name="Connecteur droit avec flèche 16">
                <a:extLst>
                  <a:ext uri="{FF2B5EF4-FFF2-40B4-BE49-F238E27FC236}">
                    <a16:creationId xmlns:a16="http://schemas.microsoft.com/office/drawing/2014/main" id="{6075E15F-BCE0-9A42-8B42-0F382CDBDA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13700" y="663408"/>
                <a:ext cx="2510230" cy="31799"/>
              </a:xfrm>
              <a:prstGeom prst="straightConnector1">
                <a:avLst/>
              </a:prstGeom>
              <a:noFill/>
              <a:ln w="25400">
                <a:solidFill>
                  <a:schemeClr val="accent1"/>
                </a:solidFill>
                <a:round/>
                <a:headEnd type="arrow" w="med" len="med"/>
                <a:tailEnd type="arrow" w="med" len="med"/>
              </a:ln>
              <a:effectLst>
                <a:outerShdw blurRad="40000" dist="20000" dir="5400000" rotWithShape="0">
                  <a:srgbClr val="00000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grpSp>
            <p:nvGrpSpPr>
              <p:cNvPr id="35" name="Grouper 17">
                <a:extLst>
                  <a:ext uri="{FF2B5EF4-FFF2-40B4-BE49-F238E27FC236}">
                    <a16:creationId xmlns:a16="http://schemas.microsoft.com/office/drawing/2014/main" id="{4FC30857-8602-CF4F-93AE-30D193248B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512" y="690297"/>
                <a:ext cx="3022971" cy="10411"/>
                <a:chOff x="582401" y="2076918"/>
                <a:chExt cx="3022971" cy="10411"/>
              </a:xfrm>
            </p:grpSpPr>
            <p:cxnSp>
              <p:nvCxnSpPr>
                <p:cNvPr id="38" name="Connecteur droit avec flèche 18">
                  <a:extLst>
                    <a:ext uri="{FF2B5EF4-FFF2-40B4-BE49-F238E27FC236}">
                      <a16:creationId xmlns:a16="http://schemas.microsoft.com/office/drawing/2014/main" id="{B84763F7-26AA-D344-8F0C-BAEB128D2E5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66692" y="2081829"/>
                  <a:ext cx="2438782" cy="4769"/>
                </a:xfrm>
                <a:prstGeom prst="straightConnector1">
                  <a:avLst/>
                </a:prstGeom>
                <a:noFill/>
                <a:ln w="25400">
                  <a:solidFill>
                    <a:schemeClr val="accent1"/>
                  </a:solidFill>
                  <a:round/>
                  <a:headEnd/>
                  <a:tailEnd type="arrow" w="med" len="med"/>
                </a:ln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</p:cxnSp>
            <p:cxnSp>
              <p:nvCxnSpPr>
                <p:cNvPr id="39" name="Connecteur droit 19">
                  <a:extLst>
                    <a:ext uri="{FF2B5EF4-FFF2-40B4-BE49-F238E27FC236}">
                      <a16:creationId xmlns:a16="http://schemas.microsoft.com/office/drawing/2014/main" id="{02292ABF-F6E1-2B49-AE06-3DA16A51E6B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582401" y="2077058"/>
                  <a:ext cx="554125" cy="0"/>
                </a:xfrm>
                <a:prstGeom prst="line">
                  <a:avLst/>
                </a:prstGeom>
                <a:noFill/>
                <a:ln w="25400">
                  <a:solidFill>
                    <a:schemeClr val="accent1"/>
                  </a:solidFill>
                  <a:prstDash val="dash"/>
                  <a:round/>
                  <a:headEnd/>
                  <a:tailEnd/>
                </a:ln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</p:cxnSp>
          </p:grpSp>
          <p:sp>
            <p:nvSpPr>
              <p:cNvPr id="36" name="ZoneTexte 27">
                <a:extLst>
                  <a:ext uri="{FF2B5EF4-FFF2-40B4-BE49-F238E27FC236}">
                    <a16:creationId xmlns:a16="http://schemas.microsoft.com/office/drawing/2014/main" id="{563C7246-267E-F24D-BDB5-6BFBCCCD9A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4236" y="375280"/>
                <a:ext cx="1162664" cy="300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9pPr>
              </a:lstStyle>
              <a:p>
                <a:pPr algn="ctr"/>
                <a:r>
                  <a:rPr lang="fr-FR" altLang="x-none" sz="1050" dirty="0"/>
                  <a:t>6 – 8 y</a:t>
                </a:r>
              </a:p>
            </p:txBody>
          </p:sp>
          <p:sp>
            <p:nvSpPr>
              <p:cNvPr id="37" name="ZoneTexte 28">
                <a:extLst>
                  <a:ext uri="{FF2B5EF4-FFF2-40B4-BE49-F238E27FC236}">
                    <a16:creationId xmlns:a16="http://schemas.microsoft.com/office/drawing/2014/main" id="{FB7EE399-0E81-4F48-BAE7-85FFED132C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8541" y="375280"/>
                <a:ext cx="1162664" cy="300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9pPr>
              </a:lstStyle>
              <a:p>
                <a:pPr algn="ctr"/>
                <a:r>
                  <a:rPr lang="fr-FR" altLang="x-none" sz="1050" dirty="0"/>
                  <a:t>&gt; 10 y</a:t>
                </a:r>
              </a:p>
            </p:txBody>
          </p:sp>
        </p:grpSp>
        <p:grpSp>
          <p:nvGrpSpPr>
            <p:cNvPr id="14" name="Grouper 3">
              <a:extLst>
                <a:ext uri="{FF2B5EF4-FFF2-40B4-BE49-F238E27FC236}">
                  <a16:creationId xmlns:a16="http://schemas.microsoft.com/office/drawing/2014/main" id="{853C51F2-750D-AB44-89AB-C90940B3D7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188" y="476672"/>
              <a:ext cx="7856537" cy="2584228"/>
              <a:chOff x="611188" y="476250"/>
              <a:chExt cx="7856537" cy="2584228"/>
            </a:xfrm>
          </p:grpSpPr>
          <p:pic>
            <p:nvPicPr>
              <p:cNvPr id="16" name="Image 10" descr="PETScan_PIB-.png">
                <a:extLst>
                  <a:ext uri="{FF2B5EF4-FFF2-40B4-BE49-F238E27FC236}">
                    <a16:creationId xmlns:a16="http://schemas.microsoft.com/office/drawing/2014/main" id="{27E57F22-B2BF-9346-A604-313A6B674C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2788" y="1349375"/>
                <a:ext cx="1079500" cy="1296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" name="Image 11" descr="PETScan_PIB+.png">
                <a:extLst>
                  <a:ext uri="{FF2B5EF4-FFF2-40B4-BE49-F238E27FC236}">
                    <a16:creationId xmlns:a16="http://schemas.microsoft.com/office/drawing/2014/main" id="{1F668CEA-7E58-FA4D-993F-48AF77F945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08188" y="1349375"/>
                <a:ext cx="1008062" cy="1296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Image 12">
                <a:extLst>
                  <a:ext uri="{FF2B5EF4-FFF2-40B4-BE49-F238E27FC236}">
                    <a16:creationId xmlns:a16="http://schemas.microsoft.com/office/drawing/2014/main" id="{4A6F3276-0887-324C-A3F9-8C2E92EFE7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92" r="12177"/>
              <a:stretch>
                <a:fillRect/>
              </a:stretch>
            </p:blipFill>
            <p:spPr bwMode="auto">
              <a:xfrm>
                <a:off x="4745038" y="1422400"/>
                <a:ext cx="1316037" cy="1152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Image 13">
                <a:extLst>
                  <a:ext uri="{FF2B5EF4-FFF2-40B4-BE49-F238E27FC236}">
                    <a16:creationId xmlns:a16="http://schemas.microsoft.com/office/drawing/2014/main" id="{D146DDC1-36BC-2C4A-9563-207A3E2FCD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29363" y="1422400"/>
                <a:ext cx="993775" cy="1152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" name="Image 14">
                <a:extLst>
                  <a:ext uri="{FF2B5EF4-FFF2-40B4-BE49-F238E27FC236}">
                    <a16:creationId xmlns:a16="http://schemas.microsoft.com/office/drawing/2014/main" id="{5E9058D0-1FD0-FE4A-9E1F-704F19B9A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08863" y="1493838"/>
                <a:ext cx="1058862" cy="1057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" name="Picture 5" descr="C:\Donnees\Dropbox\LENA\InProgress\Exposes\2016_05_DemiHeureDeScience\figures alex\2013.png">
                <a:extLst>
                  <a:ext uri="{FF2B5EF4-FFF2-40B4-BE49-F238E27FC236}">
                    <a16:creationId xmlns:a16="http://schemas.microsoft.com/office/drawing/2014/main" id="{CB90DE8A-B036-F74E-BC36-41B80F4F2B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99" t="4456" r="39983" b="3241"/>
              <a:stretch>
                <a:fillRect/>
              </a:stretch>
            </p:blipFill>
            <p:spPr bwMode="auto">
              <a:xfrm>
                <a:off x="3376613" y="1422400"/>
                <a:ext cx="1233487" cy="1149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4" name="Grouper 33">
                <a:extLst>
                  <a:ext uri="{FF2B5EF4-FFF2-40B4-BE49-F238E27FC236}">
                    <a16:creationId xmlns:a16="http://schemas.microsoft.com/office/drawing/2014/main" id="{CA6085B3-8A66-5E4B-9CA4-85BF25FE46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1188" y="476250"/>
                <a:ext cx="7848600" cy="506413"/>
                <a:chOff x="467544" y="823077"/>
                <a:chExt cx="7704857" cy="505229"/>
              </a:xfrm>
            </p:grpSpPr>
            <p:sp>
              <p:nvSpPr>
                <p:cNvPr id="29" name="Chevron 28">
                  <a:extLst>
                    <a:ext uri="{FF2B5EF4-FFF2-40B4-BE49-F238E27FC236}">
                      <a16:creationId xmlns:a16="http://schemas.microsoft.com/office/drawing/2014/main" id="{DDCE0E70-FCB5-3549-A2CB-72ED8EE5FE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7537" y="837332"/>
                  <a:ext cx="431683" cy="490974"/>
                </a:xfrm>
                <a:prstGeom prst="chevron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tx2"/>
                    </a:gs>
                  </a:gsLst>
                  <a:lin ang="5400000" scaled="0"/>
                </a:gradFill>
                <a:ln w="9525">
                  <a:solidFill>
                    <a:schemeClr val="accent6"/>
                  </a:solidFill>
                  <a:miter lim="800000"/>
                  <a:headEnd/>
                  <a:tailEnd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9pPr>
                </a:lstStyle>
                <a:p>
                  <a:pPr algn="ctr"/>
                  <a:endParaRPr lang="x-none" altLang="x-none" sz="1350"/>
                </a:p>
              </p:txBody>
            </p:sp>
            <p:sp>
              <p:nvSpPr>
                <p:cNvPr id="30" name="Chevron 29">
                  <a:extLst>
                    <a:ext uri="{FF2B5EF4-FFF2-40B4-BE49-F238E27FC236}">
                      <a16:creationId xmlns:a16="http://schemas.microsoft.com/office/drawing/2014/main" id="{327A13EE-48C3-A846-978D-75BD29E08E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9220" y="823077"/>
                  <a:ext cx="6553181" cy="490974"/>
                </a:xfrm>
                <a:prstGeom prst="chevron">
                  <a:avLst>
                    <a:gd name="adj" fmla="val 49991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tx2"/>
                    </a:gs>
                  </a:gsLst>
                  <a:lin ang="5400000" scaled="0"/>
                </a:gradFill>
                <a:ln w="9525">
                  <a:solidFill>
                    <a:schemeClr val="accent6"/>
                  </a:solidFill>
                  <a:miter lim="800000"/>
                  <a:headEnd/>
                  <a:tailEnd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9pPr>
                </a:lstStyle>
                <a:p>
                  <a:pPr algn="ctr"/>
                  <a:r>
                    <a:rPr lang="fr-FR" altLang="x-none" sz="1350" dirty="0" err="1">
                      <a:solidFill>
                        <a:schemeClr val="bg1"/>
                      </a:solidFill>
                    </a:rPr>
                    <a:t>Alzheimer’s</a:t>
                  </a:r>
                  <a:r>
                    <a:rPr lang="fr-FR" altLang="x-none" sz="135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fr-FR" altLang="x-none" sz="1350" dirty="0" err="1">
                      <a:solidFill>
                        <a:schemeClr val="bg1"/>
                      </a:solidFill>
                    </a:rPr>
                    <a:t>Disease</a:t>
                  </a:r>
                  <a:endParaRPr lang="fr-FR" altLang="x-none" sz="13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1" name="Chevron 30">
                  <a:extLst>
                    <a:ext uri="{FF2B5EF4-FFF2-40B4-BE49-F238E27FC236}">
                      <a16:creationId xmlns:a16="http://schemas.microsoft.com/office/drawing/2014/main" id="{499BA9E3-8626-BB48-BA89-D48FCF94C2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7540" y="837332"/>
                  <a:ext cx="431684" cy="490974"/>
                </a:xfrm>
                <a:prstGeom prst="chevron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tx2"/>
                    </a:gs>
                  </a:gsLst>
                  <a:lin ang="5400000" scaled="0"/>
                </a:gradFill>
                <a:ln w="9525">
                  <a:solidFill>
                    <a:schemeClr val="accent6"/>
                  </a:solidFill>
                  <a:miter lim="800000"/>
                  <a:headEnd/>
                  <a:tailEnd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9pPr>
                </a:lstStyle>
                <a:p>
                  <a:pPr algn="ctr"/>
                  <a:endParaRPr lang="x-none" altLang="x-none" sz="1350"/>
                </a:p>
              </p:txBody>
            </p:sp>
            <p:sp>
              <p:nvSpPr>
                <p:cNvPr id="32" name="Chevron 31">
                  <a:extLst>
                    <a:ext uri="{FF2B5EF4-FFF2-40B4-BE49-F238E27FC236}">
                      <a16:creationId xmlns:a16="http://schemas.microsoft.com/office/drawing/2014/main" id="{7D5C2B14-C156-C74F-BEA3-DA92AD8A6C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544" y="837332"/>
                  <a:ext cx="431683" cy="490974"/>
                </a:xfrm>
                <a:prstGeom prst="chevron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tx2"/>
                    </a:gs>
                  </a:gsLst>
                  <a:lin ang="5400000" scaled="0"/>
                </a:gradFill>
                <a:ln w="9525">
                  <a:solidFill>
                    <a:schemeClr val="accent6"/>
                  </a:solidFill>
                  <a:miter lim="800000"/>
                  <a:headEnd/>
                  <a:tailEnd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charset="0"/>
                      <a:ea typeface="ＭＳ Ｐゴシック" charset="-128"/>
                    </a:defRPr>
                  </a:lvl9pPr>
                </a:lstStyle>
                <a:p>
                  <a:pPr algn="ctr"/>
                  <a:endParaRPr lang="x-none" altLang="x-none" sz="1350"/>
                </a:p>
              </p:txBody>
            </p:sp>
          </p:grpSp>
          <p:sp>
            <p:nvSpPr>
              <p:cNvPr id="25" name="ZoneTexte 39">
                <a:extLst>
                  <a:ext uri="{FF2B5EF4-FFF2-40B4-BE49-F238E27FC236}">
                    <a16:creationId xmlns:a16="http://schemas.microsoft.com/office/drawing/2014/main" id="{12C1B582-FC1F-2B4D-97B7-9D8AD75665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4525" y="2636838"/>
                <a:ext cx="1079500" cy="299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9pPr>
              </a:lstStyle>
              <a:p>
                <a:pPr algn="ctr"/>
                <a:r>
                  <a:rPr lang="fr-FR" altLang="x-none" sz="1050" dirty="0" err="1"/>
                  <a:t>diagnosis</a:t>
                </a:r>
                <a:endParaRPr lang="fr-FR" altLang="x-none" sz="1050" dirty="0"/>
              </a:p>
            </p:txBody>
          </p:sp>
          <p:cxnSp>
            <p:nvCxnSpPr>
              <p:cNvPr id="26" name="Connecteur droit avec flèche 41">
                <a:extLst>
                  <a:ext uri="{FF2B5EF4-FFF2-40B4-BE49-F238E27FC236}">
                    <a16:creationId xmlns:a16="http://schemas.microsoft.com/office/drawing/2014/main" id="{39E2F257-ECBB-764A-8FAF-1A1A796B18F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804025" y="2781300"/>
                <a:ext cx="1655763" cy="9525"/>
              </a:xfrm>
              <a:prstGeom prst="straightConnector1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 type="arrow" w="med" len="med"/>
              </a:ln>
              <a:effectLst>
                <a:outerShdw blurRad="40000" dist="20000" dir="5400000" rotWithShape="0">
                  <a:srgbClr val="00000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7" name="ZoneTexte 44">
                <a:extLst>
                  <a:ext uri="{FF2B5EF4-FFF2-40B4-BE49-F238E27FC236}">
                    <a16:creationId xmlns:a16="http://schemas.microsoft.com/office/drawing/2014/main" id="{DDFAA509-BADD-FF40-83E2-5CD415C3D6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4025" y="2760663"/>
                <a:ext cx="1655763" cy="299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charset="0"/>
                    <a:ea typeface="ＭＳ Ｐゴシック" charset="-128"/>
                  </a:defRPr>
                </a:lvl9pPr>
              </a:lstStyle>
              <a:p>
                <a:pPr algn="ctr"/>
                <a:r>
                  <a:rPr lang="fr-FR" altLang="x-none" sz="1050" dirty="0"/>
                  <a:t>care</a:t>
                </a:r>
              </a:p>
            </p:txBody>
          </p:sp>
          <p:cxnSp>
            <p:nvCxnSpPr>
              <p:cNvPr id="28" name="Connecteur droit avec flèche 28">
                <a:extLst>
                  <a:ext uri="{FF2B5EF4-FFF2-40B4-BE49-F238E27FC236}">
                    <a16:creationId xmlns:a16="http://schemas.microsoft.com/office/drawing/2014/main" id="{E5472CEA-E414-1F45-9EED-6EB460BEF0F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598096" y="1268760"/>
                <a:ext cx="1862336" cy="0"/>
              </a:xfrm>
              <a:prstGeom prst="straightConnector1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 type="arrow" w="med" len="med"/>
              </a:ln>
              <a:effectLst>
                <a:outerShdw blurRad="40000" dist="20000" dir="5400000" rotWithShape="0">
                  <a:srgbClr val="00000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</p:grpSp>
      </p:grpSp>
      <p:sp>
        <p:nvSpPr>
          <p:cNvPr id="40" name="ZoneTexte 2">
            <a:extLst>
              <a:ext uri="{FF2B5EF4-FFF2-40B4-BE49-F238E27FC236}">
                <a16:creationId xmlns:a16="http://schemas.microsoft.com/office/drawing/2014/main" id="{E00D0479-3181-814F-A0A2-DD883EDC2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78678"/>
            <a:ext cx="4690767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algn="just"/>
            <a:r>
              <a:rPr lang="fr-FR" altLang="x-none" sz="1350" b="1" dirty="0" err="1">
                <a:solidFill>
                  <a:srgbClr val="7030A0"/>
                </a:solidFill>
              </a:rPr>
              <a:t>Sumarize</a:t>
            </a:r>
            <a:r>
              <a:rPr lang="fr-FR" altLang="x-none" sz="1350" dirty="0">
                <a:solidFill>
                  <a:srgbClr val="7030A0"/>
                </a:solidFill>
              </a:rPr>
              <a:t> </a:t>
            </a:r>
            <a:r>
              <a:rPr lang="fr-FR" altLang="x-none" sz="1350" dirty="0"/>
              <a:t>the </a:t>
            </a:r>
            <a:r>
              <a:rPr lang="fr-FR" altLang="x-none" sz="1350" dirty="0" err="1"/>
              <a:t>variability</a:t>
            </a:r>
            <a:r>
              <a:rPr lang="fr-FR" altLang="x-none" sz="1350" dirty="0"/>
              <a:t> of </a:t>
            </a:r>
            <a:r>
              <a:rPr lang="fr-FR" altLang="x-none" sz="1350" dirty="0" err="1"/>
              <a:t>disease</a:t>
            </a:r>
            <a:r>
              <a:rPr lang="fr-FR" altLang="x-none" sz="1350" dirty="0"/>
              <a:t> progression profiles</a:t>
            </a:r>
          </a:p>
          <a:p>
            <a:pPr algn="just"/>
            <a:endParaRPr lang="fr-FR" altLang="x-none" sz="1350" dirty="0">
              <a:solidFill>
                <a:srgbClr val="7030A0"/>
              </a:solidFill>
            </a:endParaRPr>
          </a:p>
          <a:p>
            <a:pPr algn="just"/>
            <a:r>
              <a:rPr lang="fr-FR" altLang="x-none" sz="1350" b="1" dirty="0">
                <a:solidFill>
                  <a:srgbClr val="7030A0"/>
                </a:solidFill>
              </a:rPr>
              <a:t>Position</a:t>
            </a:r>
            <a:r>
              <a:rPr lang="fr-FR" altLang="x-none" sz="1350" dirty="0">
                <a:solidFill>
                  <a:srgbClr val="7030A0"/>
                </a:solidFill>
              </a:rPr>
              <a:t> </a:t>
            </a:r>
            <a:r>
              <a:rPr lang="fr-FR" altLang="x-none" sz="1350" dirty="0" err="1"/>
              <a:t>individual</a:t>
            </a:r>
            <a:r>
              <a:rPr lang="fr-FR" altLang="x-none" sz="1350" dirty="0"/>
              <a:t> </a:t>
            </a:r>
            <a:r>
              <a:rPr lang="fr-FR" altLang="x-none" sz="1350" dirty="0" err="1"/>
              <a:t>subject</a:t>
            </a:r>
            <a:r>
              <a:rPr lang="fr-FR" altLang="x-none" sz="1350" dirty="0"/>
              <a:t> on </a:t>
            </a:r>
            <a:r>
              <a:rPr lang="fr-FR" altLang="x-none" sz="1350" dirty="0" err="1"/>
              <a:t>his</a:t>
            </a:r>
            <a:r>
              <a:rPr lang="fr-FR" altLang="x-none" sz="1350" dirty="0"/>
              <a:t> </a:t>
            </a:r>
            <a:r>
              <a:rPr lang="fr-FR" altLang="x-none" sz="1350" dirty="0" err="1"/>
              <a:t>own</a:t>
            </a:r>
            <a:r>
              <a:rPr lang="fr-FR" altLang="x-none" sz="1350" dirty="0"/>
              <a:t> </a:t>
            </a:r>
            <a:r>
              <a:rPr lang="fr-FR" altLang="x-none" sz="1350" dirty="0" err="1"/>
              <a:t>trajectory</a:t>
            </a:r>
            <a:endParaRPr lang="fr-FR" altLang="x-none" sz="1350" dirty="0">
              <a:solidFill>
                <a:srgbClr val="7030A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51E9D3-EB5B-1E43-9983-5E4A086EC7AC}"/>
              </a:ext>
            </a:extLst>
          </p:cNvPr>
          <p:cNvSpPr/>
          <p:nvPr/>
        </p:nvSpPr>
        <p:spPr>
          <a:xfrm>
            <a:off x="4762876" y="3992026"/>
            <a:ext cx="4381124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altLang="x-none" sz="1350" b="1" dirty="0" err="1">
                <a:solidFill>
                  <a:srgbClr val="7030A0"/>
                </a:solidFill>
                <a:latin typeface="Tahoma" charset="0"/>
                <a:ea typeface="ＭＳ Ｐゴシック" charset="-128"/>
              </a:rPr>
              <a:t>Predict</a:t>
            </a:r>
            <a:r>
              <a:rPr lang="fr-FR" altLang="x-none" sz="1350" dirty="0">
                <a:latin typeface="Tahoma" charset="0"/>
                <a:ea typeface="ＭＳ Ｐゴシック" charset="-128"/>
              </a:rPr>
              <a:t> the future progression</a:t>
            </a:r>
          </a:p>
          <a:p>
            <a:pPr algn="just"/>
            <a:endParaRPr lang="fr-FR" altLang="x-none" sz="1350" dirty="0">
              <a:latin typeface="Tahoma" charset="0"/>
              <a:ea typeface="ＭＳ Ｐゴシック" charset="-128"/>
            </a:endParaRPr>
          </a:p>
          <a:p>
            <a:pPr algn="just"/>
            <a:r>
              <a:rPr lang="fr-FR" altLang="x-none" sz="1350" b="1" dirty="0" err="1">
                <a:solidFill>
                  <a:srgbClr val="7030A0"/>
                </a:solidFill>
                <a:latin typeface="Tahoma" charset="0"/>
                <a:ea typeface="ＭＳ Ｐゴシック" charset="-128"/>
              </a:rPr>
              <a:t>Determine</a:t>
            </a:r>
            <a:r>
              <a:rPr lang="fr-FR" altLang="x-none" sz="1350" dirty="0">
                <a:latin typeface="Tahoma" charset="0"/>
                <a:ea typeface="ＭＳ Ｐゴシック" charset="-128"/>
              </a:rPr>
              <a:t> </a:t>
            </a:r>
            <a:r>
              <a:rPr lang="fr-FR" altLang="x-none" sz="1350" i="1" dirty="0" err="1">
                <a:latin typeface="Tahoma" charset="0"/>
                <a:ea typeface="ＭＳ Ｐゴシック" charset="-128"/>
              </a:rPr>
              <a:t>who</a:t>
            </a:r>
            <a:r>
              <a:rPr lang="fr-FR" altLang="x-none" sz="1350" dirty="0">
                <a:latin typeface="Tahoma" charset="0"/>
                <a:ea typeface="ＭＳ Ｐゴシック" charset="-128"/>
              </a:rPr>
              <a:t> and </a:t>
            </a:r>
            <a:r>
              <a:rPr lang="fr-FR" altLang="x-none" sz="1350" i="1" dirty="0" err="1">
                <a:latin typeface="Tahoma" charset="0"/>
                <a:ea typeface="ＭＳ Ｐゴシック" charset="-128"/>
              </a:rPr>
              <a:t>when</a:t>
            </a:r>
            <a:r>
              <a:rPr lang="fr-FR" altLang="x-none" sz="1350" dirty="0">
                <a:latin typeface="Tahoma" charset="0"/>
                <a:ea typeface="ＭＳ Ｐゴシック" charset="-128"/>
              </a:rPr>
              <a:t> to </a:t>
            </a:r>
            <a:r>
              <a:rPr lang="fr-FR" altLang="x-none" sz="1350" dirty="0" err="1">
                <a:latin typeface="Tahoma" charset="0"/>
                <a:ea typeface="ＭＳ Ｐゴシック" charset="-128"/>
              </a:rPr>
              <a:t>treat</a:t>
            </a:r>
            <a:r>
              <a:rPr lang="fr-FR" altLang="x-none" sz="1350" dirty="0">
                <a:latin typeface="Tahoma" charset="0"/>
                <a:ea typeface="ＭＳ Ｐゴシック" charset="-128"/>
              </a:rPr>
              <a:t> or </a:t>
            </a:r>
            <a:r>
              <a:rPr lang="fr-FR" altLang="x-none" sz="1350" dirty="0" err="1">
                <a:latin typeface="Tahoma" charset="0"/>
                <a:ea typeface="ＭＳ Ｐゴシック" charset="-128"/>
              </a:rPr>
              <a:t>intervene</a:t>
            </a:r>
            <a:endParaRPr lang="fr-FR" altLang="x-none" sz="1350" dirty="0">
              <a:latin typeface="Tahoma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7119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0308DD6F-6B73-D34F-9A11-C2446161A00E}"/>
              </a:ext>
            </a:extLst>
          </p:cNvPr>
          <p:cNvSpPr/>
          <p:nvPr/>
        </p:nvSpPr>
        <p:spPr>
          <a:xfrm>
            <a:off x="0" y="944015"/>
            <a:ext cx="9144001" cy="1960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FA0863E2-17F5-6A40-B870-298F1E049275}"/>
              </a:ext>
            </a:extLst>
          </p:cNvPr>
          <p:cNvSpPr txBox="1"/>
          <p:nvPr/>
        </p:nvSpPr>
        <p:spPr>
          <a:xfrm>
            <a:off x="312149" y="3377873"/>
            <a:ext cx="7184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Summarize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 the </a:t>
            </a:r>
            <a:r>
              <a: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disease progression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profile &amp; its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variability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in the population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AFC61278-F049-964E-AC9E-3FB1A9EA272C}"/>
              </a:ext>
            </a:extLst>
          </p:cNvPr>
          <p:cNvGrpSpPr/>
          <p:nvPr/>
        </p:nvGrpSpPr>
        <p:grpSpPr>
          <a:xfrm>
            <a:off x="808470" y="1415153"/>
            <a:ext cx="1874145" cy="784433"/>
            <a:chOff x="4358189" y="1271462"/>
            <a:chExt cx="2842974" cy="1189941"/>
          </a:xfrm>
          <a:solidFill>
            <a:schemeClr val="accent6">
              <a:lumMod val="75000"/>
            </a:schemeClr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59F96D2-0DC1-694C-836A-E0A4496DF916}"/>
                </a:ext>
              </a:extLst>
            </p:cNvPr>
            <p:cNvSpPr/>
            <p:nvPr/>
          </p:nvSpPr>
          <p:spPr>
            <a:xfrm>
              <a:off x="4521263" y="1488374"/>
              <a:ext cx="108000" cy="97302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0ED5A76-996F-5844-9C56-1E689056BF15}"/>
                </a:ext>
              </a:extLst>
            </p:cNvPr>
            <p:cNvSpPr/>
            <p:nvPr/>
          </p:nvSpPr>
          <p:spPr>
            <a:xfrm>
              <a:off x="6539533" y="1488374"/>
              <a:ext cx="108000" cy="973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C0538AC-55B8-4B47-B971-F9D8E4A62F0D}"/>
                </a:ext>
              </a:extLst>
            </p:cNvPr>
            <p:cNvSpPr/>
            <p:nvPr/>
          </p:nvSpPr>
          <p:spPr>
            <a:xfrm>
              <a:off x="6028787" y="1488374"/>
              <a:ext cx="108000" cy="97302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808BCEF-469A-F541-A2CA-304E9F6843FB}"/>
                </a:ext>
              </a:extLst>
            </p:cNvPr>
            <p:cNvSpPr/>
            <p:nvPr/>
          </p:nvSpPr>
          <p:spPr>
            <a:xfrm>
              <a:off x="5518041" y="1488374"/>
              <a:ext cx="108000" cy="97302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48" name="Rectangle : coins arrondis 47">
              <a:extLst>
                <a:ext uri="{FF2B5EF4-FFF2-40B4-BE49-F238E27FC236}">
                  <a16:creationId xmlns:a16="http://schemas.microsoft.com/office/drawing/2014/main" id="{D7388319-E43F-4B4A-B466-97BF71A4ABA1}"/>
                </a:ext>
              </a:extLst>
            </p:cNvPr>
            <p:cNvSpPr/>
            <p:nvPr/>
          </p:nvSpPr>
          <p:spPr>
            <a:xfrm>
              <a:off x="4358189" y="1271462"/>
              <a:ext cx="2842974" cy="38099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latin typeface="Avenir Book" panose="02000503020000020003" pitchFamily="2" charset="0"/>
                </a:rPr>
                <a:t>Prodromal signs</a:t>
              </a:r>
            </a:p>
          </p:txBody>
        </p:sp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D14128DE-48AE-5A49-B4AE-889BC7EECA4B}"/>
              </a:ext>
            </a:extLst>
          </p:cNvPr>
          <p:cNvGrpSpPr/>
          <p:nvPr/>
        </p:nvGrpSpPr>
        <p:grpSpPr>
          <a:xfrm>
            <a:off x="2779287" y="1411890"/>
            <a:ext cx="961275" cy="784433"/>
            <a:chOff x="4358189" y="1271462"/>
            <a:chExt cx="1458201" cy="118994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306AAE3-CFBB-0543-83D9-CFA6DDD719DC}"/>
                </a:ext>
              </a:extLst>
            </p:cNvPr>
            <p:cNvSpPr/>
            <p:nvPr/>
          </p:nvSpPr>
          <p:spPr>
            <a:xfrm>
              <a:off x="4521263" y="1488374"/>
              <a:ext cx="108000" cy="97302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51" name="Rectangle : coins arrondis 50">
              <a:extLst>
                <a:ext uri="{FF2B5EF4-FFF2-40B4-BE49-F238E27FC236}">
                  <a16:creationId xmlns:a16="http://schemas.microsoft.com/office/drawing/2014/main" id="{8E7FE69A-ED8D-5047-83A9-6D329460EB50}"/>
                </a:ext>
              </a:extLst>
            </p:cNvPr>
            <p:cNvSpPr/>
            <p:nvPr/>
          </p:nvSpPr>
          <p:spPr>
            <a:xfrm>
              <a:off x="4358189" y="1271462"/>
              <a:ext cx="1458201" cy="38099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latin typeface="Avenir Book" panose="02000503020000020003" pitchFamily="2" charset="0"/>
                </a:rPr>
                <a:t>Cognitive</a:t>
              </a:r>
            </a:p>
          </p:txBody>
        </p:sp>
      </p:grp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7CAAEF0E-158A-B04E-AC83-21AC99F96DF5}"/>
              </a:ext>
            </a:extLst>
          </p:cNvPr>
          <p:cNvGrpSpPr/>
          <p:nvPr/>
        </p:nvGrpSpPr>
        <p:grpSpPr>
          <a:xfrm>
            <a:off x="3725761" y="1190101"/>
            <a:ext cx="853521" cy="1092269"/>
            <a:chOff x="4358189" y="1271462"/>
            <a:chExt cx="1294744" cy="165691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17ADD36-82F0-1846-AB5A-EEE911CDC19E}"/>
                </a:ext>
              </a:extLst>
            </p:cNvPr>
            <p:cNvSpPr/>
            <p:nvPr/>
          </p:nvSpPr>
          <p:spPr>
            <a:xfrm>
              <a:off x="4521263" y="1488373"/>
              <a:ext cx="108000" cy="14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54" name="Rectangle : coins arrondis 53">
              <a:extLst>
                <a:ext uri="{FF2B5EF4-FFF2-40B4-BE49-F238E27FC236}">
                  <a16:creationId xmlns:a16="http://schemas.microsoft.com/office/drawing/2014/main" id="{ED27E636-FC54-8B45-9B58-21BBAD620DD4}"/>
                </a:ext>
              </a:extLst>
            </p:cNvPr>
            <p:cNvSpPr/>
            <p:nvPr/>
          </p:nvSpPr>
          <p:spPr>
            <a:xfrm>
              <a:off x="4358189" y="1271462"/>
              <a:ext cx="1294744" cy="38099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latin typeface="Avenir Book" panose="02000503020000020003" pitchFamily="2" charset="0"/>
                </a:rPr>
                <a:t>Motor</a:t>
              </a:r>
            </a:p>
          </p:txBody>
        </p:sp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5270DF52-75D8-9C4B-B17C-0E061D9CD356}"/>
              </a:ext>
            </a:extLst>
          </p:cNvPr>
          <p:cNvGrpSpPr/>
          <p:nvPr/>
        </p:nvGrpSpPr>
        <p:grpSpPr>
          <a:xfrm>
            <a:off x="4129958" y="1542288"/>
            <a:ext cx="1420374" cy="784433"/>
            <a:chOff x="4358188" y="1271462"/>
            <a:chExt cx="2154629" cy="118994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57E345C-FE73-034F-8EF5-5A46C979EBC1}"/>
                </a:ext>
              </a:extLst>
            </p:cNvPr>
            <p:cNvSpPr/>
            <p:nvPr/>
          </p:nvSpPr>
          <p:spPr>
            <a:xfrm>
              <a:off x="4521263" y="1488374"/>
              <a:ext cx="108000" cy="97302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57" name="Rectangle : coins arrondis 56">
              <a:extLst>
                <a:ext uri="{FF2B5EF4-FFF2-40B4-BE49-F238E27FC236}">
                  <a16:creationId xmlns:a16="http://schemas.microsoft.com/office/drawing/2014/main" id="{CC961785-02BD-9A41-AFF7-D6B010D0D6A1}"/>
                </a:ext>
              </a:extLst>
            </p:cNvPr>
            <p:cNvSpPr/>
            <p:nvPr/>
          </p:nvSpPr>
          <p:spPr>
            <a:xfrm>
              <a:off x="4358188" y="1271462"/>
              <a:ext cx="2154629" cy="38099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latin typeface="Avenir Book" panose="02000503020000020003" pitchFamily="2" charset="0"/>
                </a:rPr>
                <a:t>Neuropsychologic</a:t>
              </a:r>
            </a:p>
          </p:txBody>
        </p:sp>
      </p:grpSp>
      <p:sp>
        <p:nvSpPr>
          <p:cNvPr id="58" name="Chevron 57">
            <a:extLst>
              <a:ext uri="{FF2B5EF4-FFF2-40B4-BE49-F238E27FC236}">
                <a16:creationId xmlns:a16="http://schemas.microsoft.com/office/drawing/2014/main" id="{9CF19BAF-FCEB-544D-BC13-79467570F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204" y="2106037"/>
            <a:ext cx="3288575" cy="370412"/>
          </a:xfrm>
          <a:prstGeom prst="chevron">
            <a:avLst>
              <a:gd name="adj" fmla="val 49991"/>
            </a:avLst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Book" panose="02000503020000020003" pitchFamily="2" charset="0"/>
                <a:ea typeface="Nexa Bold" charset="0"/>
                <a:cs typeface="Nexa Bold" charset="0"/>
              </a:rPr>
              <a:t>Neurodegenerative disease timeli</a:t>
            </a:r>
            <a:r>
              <a:rPr lang="en-US" altLang="x-none" sz="1100">
                <a:solidFill>
                  <a:prstClr val="white"/>
                </a:solidFill>
                <a:latin typeface="Avenir Book" panose="02000503020000020003" pitchFamily="2" charset="0"/>
                <a:ea typeface="Nexa Bold" charset="0"/>
                <a:cs typeface="Nexa Bold" charset="0"/>
              </a:rPr>
              <a:t>ne</a:t>
            </a:r>
            <a:endParaRPr kumimoji="0" lang="en-US" altLang="x-none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  <a:ea typeface="Nexa Bold" charset="0"/>
              <a:cs typeface="Nexa Bold" charset="0"/>
            </a:endParaRPr>
          </a:p>
        </p:txBody>
      </p:sp>
      <p:sp>
        <p:nvSpPr>
          <p:cNvPr id="59" name="Chevron 58">
            <a:extLst>
              <a:ext uri="{FF2B5EF4-FFF2-40B4-BE49-F238E27FC236}">
                <a16:creationId xmlns:a16="http://schemas.microsoft.com/office/drawing/2014/main" id="{B75E2A84-6258-9A4A-8166-BD6B5782F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784" y="2108280"/>
            <a:ext cx="436228" cy="370412"/>
          </a:xfrm>
          <a:prstGeom prst="chevron">
            <a:avLst>
              <a:gd name="adj" fmla="val 49991"/>
            </a:avLst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x-none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  <a:ea typeface="ＭＳ Ｐゴシック" charset="-128"/>
              <a:cs typeface="+mn-cs"/>
            </a:endParaRPr>
          </a:p>
        </p:txBody>
      </p:sp>
      <p:sp>
        <p:nvSpPr>
          <p:cNvPr id="60" name="Chevron 59">
            <a:extLst>
              <a:ext uri="{FF2B5EF4-FFF2-40B4-BE49-F238E27FC236}">
                <a16:creationId xmlns:a16="http://schemas.microsoft.com/office/drawing/2014/main" id="{C8830A1E-5A5B-2F4E-B790-60A38F409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137" y="2106027"/>
            <a:ext cx="436228" cy="370412"/>
          </a:xfrm>
          <a:prstGeom prst="chevron">
            <a:avLst>
              <a:gd name="adj" fmla="val 49991"/>
            </a:avLst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x-none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  <a:ea typeface="ＭＳ Ｐゴシック" charset="-128"/>
              <a:cs typeface="+mn-cs"/>
            </a:endParaRPr>
          </a:p>
        </p:txBody>
      </p:sp>
      <p:sp>
        <p:nvSpPr>
          <p:cNvPr id="61" name="Chevron 60">
            <a:extLst>
              <a:ext uri="{FF2B5EF4-FFF2-40B4-BE49-F238E27FC236}">
                <a16:creationId xmlns:a16="http://schemas.microsoft.com/office/drawing/2014/main" id="{281A61BA-350A-8F49-8054-8F0CCF8B8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6308" y="2106027"/>
            <a:ext cx="319980" cy="370412"/>
          </a:xfrm>
          <a:prstGeom prst="chevron">
            <a:avLst>
              <a:gd name="adj" fmla="val 49991"/>
            </a:avLst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x-none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  <a:ea typeface="ＭＳ Ｐゴシック" charset="-128"/>
              <a:cs typeface="+mn-cs"/>
            </a:endParaRPr>
          </a:p>
        </p:txBody>
      </p:sp>
      <p:sp>
        <p:nvSpPr>
          <p:cNvPr id="62" name="Chevron 61">
            <a:extLst>
              <a:ext uri="{FF2B5EF4-FFF2-40B4-BE49-F238E27FC236}">
                <a16:creationId xmlns:a16="http://schemas.microsoft.com/office/drawing/2014/main" id="{65003A61-CECE-B945-9112-5DA11A51D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2966" y="2106027"/>
            <a:ext cx="289460" cy="370412"/>
          </a:xfrm>
          <a:prstGeom prst="chevron">
            <a:avLst>
              <a:gd name="adj" fmla="val 49991"/>
            </a:avLst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x-none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  <a:ea typeface="ＭＳ Ｐゴシック" charset="-128"/>
              <a:cs typeface="+mn-cs"/>
            </a:endParaRPr>
          </a:p>
        </p:txBody>
      </p:sp>
      <p:sp>
        <p:nvSpPr>
          <p:cNvPr id="63" name="Chevron 62">
            <a:extLst>
              <a:ext uri="{FF2B5EF4-FFF2-40B4-BE49-F238E27FC236}">
                <a16:creationId xmlns:a16="http://schemas.microsoft.com/office/drawing/2014/main" id="{3ED3C643-ADDA-994E-834B-1BF78920E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038" y="2106027"/>
            <a:ext cx="289460" cy="370412"/>
          </a:xfrm>
          <a:prstGeom prst="chevron">
            <a:avLst>
              <a:gd name="adj" fmla="val 49991"/>
            </a:avLst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x-none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  <a:ea typeface="ＭＳ Ｐゴシック" charset="-128"/>
              <a:cs typeface="+mn-cs"/>
            </a:endParaRPr>
          </a:p>
        </p:txBody>
      </p:sp>
      <p:sp>
        <p:nvSpPr>
          <p:cNvPr id="64" name="Chevron 63">
            <a:extLst>
              <a:ext uri="{FF2B5EF4-FFF2-40B4-BE49-F238E27FC236}">
                <a16:creationId xmlns:a16="http://schemas.microsoft.com/office/drawing/2014/main" id="{EABE35BE-01B0-364E-9000-121E75CAE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341" y="2106027"/>
            <a:ext cx="289460" cy="370412"/>
          </a:xfrm>
          <a:prstGeom prst="chevron">
            <a:avLst>
              <a:gd name="adj" fmla="val 49991"/>
            </a:avLst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x-none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  <a:ea typeface="ＭＳ Ｐゴシック" charset="-128"/>
              <a:cs typeface="+mn-cs"/>
            </a:endParaRPr>
          </a:p>
        </p:txBody>
      </p: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FA5FD728-82CD-E048-A42E-FC4D10C7FB0C}"/>
              </a:ext>
            </a:extLst>
          </p:cNvPr>
          <p:cNvGrpSpPr/>
          <p:nvPr/>
        </p:nvGrpSpPr>
        <p:grpSpPr>
          <a:xfrm>
            <a:off x="3228802" y="1727968"/>
            <a:ext cx="856492" cy="380312"/>
            <a:chOff x="4358189" y="1271462"/>
            <a:chExt cx="1299250" cy="576912"/>
          </a:xfrm>
          <a:solidFill>
            <a:schemeClr val="accent2">
              <a:lumMod val="75000"/>
            </a:schemeClr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8A9C1D9-AA78-6648-B7EA-2080FEA0FD9F}"/>
                </a:ext>
              </a:extLst>
            </p:cNvPr>
            <p:cNvSpPr/>
            <p:nvPr/>
          </p:nvSpPr>
          <p:spPr>
            <a:xfrm>
              <a:off x="4521263" y="1488374"/>
              <a:ext cx="108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4D940971-28EB-2D49-AE1A-2724749D3169}"/>
                </a:ext>
              </a:extLst>
            </p:cNvPr>
            <p:cNvSpPr/>
            <p:nvPr/>
          </p:nvSpPr>
          <p:spPr>
            <a:xfrm>
              <a:off x="4358189" y="1271462"/>
              <a:ext cx="1299250" cy="38099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latin typeface="Avenir Book" panose="02000503020000020003" pitchFamily="2" charset="0"/>
                </a:rPr>
                <a:t>diagnosis</a:t>
              </a:r>
            </a:p>
          </p:txBody>
        </p:sp>
      </p:grpSp>
      <p:sp>
        <p:nvSpPr>
          <p:cNvPr id="68" name="Triangle 67">
            <a:extLst>
              <a:ext uri="{FF2B5EF4-FFF2-40B4-BE49-F238E27FC236}">
                <a16:creationId xmlns:a16="http://schemas.microsoft.com/office/drawing/2014/main" id="{DF040000-BEB6-A44D-B40C-C7DB7DCD519C}"/>
              </a:ext>
            </a:extLst>
          </p:cNvPr>
          <p:cNvSpPr/>
          <p:nvPr/>
        </p:nvSpPr>
        <p:spPr>
          <a:xfrm rot="16200000" flipV="1">
            <a:off x="150735" y="3462469"/>
            <a:ext cx="205822" cy="106639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9A1A109B-C974-0542-B0EB-E268A1E1D3A5}"/>
              </a:ext>
            </a:extLst>
          </p:cNvPr>
          <p:cNvSpPr txBox="1"/>
          <p:nvPr/>
        </p:nvSpPr>
        <p:spPr>
          <a:xfrm>
            <a:off x="-24406" y="2980658"/>
            <a:ext cx="920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Objective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: Build computational model of disease progression from clinical &amp; imaging data</a:t>
            </a:r>
          </a:p>
        </p:txBody>
      </p:sp>
      <p:pic>
        <p:nvPicPr>
          <p:cNvPr id="70" name="Picture 2" descr="Anesthésie et maladie d'Alzheimer : actualités - ScienceDirect">
            <a:extLst>
              <a:ext uri="{FF2B5EF4-FFF2-40B4-BE49-F238E27FC236}">
                <a16:creationId xmlns:a16="http://schemas.microsoft.com/office/drawing/2014/main" id="{767E3232-6992-5048-84DA-9209845906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2"/>
          <a:stretch/>
        </p:blipFill>
        <p:spPr bwMode="auto">
          <a:xfrm>
            <a:off x="6014009" y="1039307"/>
            <a:ext cx="3041374" cy="160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ZoneTexte 70">
            <a:extLst>
              <a:ext uri="{FF2B5EF4-FFF2-40B4-BE49-F238E27FC236}">
                <a16:creationId xmlns:a16="http://schemas.microsoft.com/office/drawing/2014/main" id="{B4B12B9D-97BC-9E44-9823-0BB40A7C05F6}"/>
              </a:ext>
            </a:extLst>
          </p:cNvPr>
          <p:cNvSpPr txBox="1"/>
          <p:nvPr/>
        </p:nvSpPr>
        <p:spPr>
          <a:xfrm>
            <a:off x="6126227" y="2627508"/>
            <a:ext cx="2844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 panose="02000503020000020003" pitchFamily="2" charset="0"/>
              </a:rPr>
              <a:t>AD progression [ Jack et al, 2013 ] </a:t>
            </a:r>
            <a:endParaRPr kumimoji="0" lang="en-US" sz="120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venir Book" panose="02000503020000020003" pitchFamily="2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FF2DE149-A996-FF4D-9511-06BADB0007E3}"/>
              </a:ext>
            </a:extLst>
          </p:cNvPr>
          <p:cNvSpPr txBox="1"/>
          <p:nvPr/>
        </p:nvSpPr>
        <p:spPr>
          <a:xfrm>
            <a:off x="312148" y="4086915"/>
            <a:ext cx="8831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venir Book" panose="02000503020000020003" pitchFamily="2" charset="0"/>
              </a:rPr>
              <a:t>Determine how </a:t>
            </a:r>
            <a:r>
              <a:rPr lang="en-US" sz="1400" b="1" dirty="0">
                <a:solidFill>
                  <a:prstClr val="black"/>
                </a:solidFill>
                <a:latin typeface="Avenir Book" panose="02000503020000020003" pitchFamily="2" charset="0"/>
              </a:rPr>
              <a:t>cofactors</a:t>
            </a:r>
            <a:r>
              <a:rPr lang="en-US" sz="1400" dirty="0">
                <a:solidFill>
                  <a:prstClr val="black"/>
                </a:solidFill>
                <a:latin typeface="Avenir Book" panose="02000503020000020003" pitchFamily="2" charset="0"/>
              </a:rPr>
              <a:t> (education, genetic mutations, environmental factors, …) modulate this progression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00503020000020003" pitchFamily="2" charset="0"/>
            </a:endParaRPr>
          </a:p>
        </p:txBody>
      </p:sp>
      <p:sp>
        <p:nvSpPr>
          <p:cNvPr id="73" name="Triangle 72">
            <a:extLst>
              <a:ext uri="{FF2B5EF4-FFF2-40B4-BE49-F238E27FC236}">
                <a16:creationId xmlns:a16="http://schemas.microsoft.com/office/drawing/2014/main" id="{AD90DBDE-7E28-5142-A5AC-EDE2962A5460}"/>
              </a:ext>
            </a:extLst>
          </p:cNvPr>
          <p:cNvSpPr/>
          <p:nvPr/>
        </p:nvSpPr>
        <p:spPr>
          <a:xfrm rot="16200000" flipV="1">
            <a:off x="150735" y="4159509"/>
            <a:ext cx="205822" cy="106639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B2997446-A846-0046-B10B-2AAB5D59877A}"/>
              </a:ext>
            </a:extLst>
          </p:cNvPr>
          <p:cNvSpPr txBox="1"/>
          <p:nvPr/>
        </p:nvSpPr>
        <p:spPr>
          <a:xfrm>
            <a:off x="312149" y="4419837"/>
            <a:ext cx="7434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Predict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 the future progression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sp>
        <p:nvSpPr>
          <p:cNvPr id="75" name="Triangle 74">
            <a:extLst>
              <a:ext uri="{FF2B5EF4-FFF2-40B4-BE49-F238E27FC236}">
                <a16:creationId xmlns:a16="http://schemas.microsoft.com/office/drawing/2014/main" id="{78523139-BB06-4D4C-9EB6-D8DF77ECC41A}"/>
              </a:ext>
            </a:extLst>
          </p:cNvPr>
          <p:cNvSpPr/>
          <p:nvPr/>
        </p:nvSpPr>
        <p:spPr>
          <a:xfrm rot="16200000" flipV="1">
            <a:off x="150735" y="4508029"/>
            <a:ext cx="205822" cy="106639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04A54B2F-BB5A-DD47-8198-09B45AFBEAD2}"/>
              </a:ext>
            </a:extLst>
          </p:cNvPr>
          <p:cNvSpPr txBox="1"/>
          <p:nvPr/>
        </p:nvSpPr>
        <p:spPr>
          <a:xfrm>
            <a:off x="312149" y="3714803"/>
            <a:ext cx="7901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Position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 individual subject on this disease timeline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sp>
        <p:nvSpPr>
          <p:cNvPr id="77" name="Triangle 76">
            <a:extLst>
              <a:ext uri="{FF2B5EF4-FFF2-40B4-BE49-F238E27FC236}">
                <a16:creationId xmlns:a16="http://schemas.microsoft.com/office/drawing/2014/main" id="{EF9D3764-42B3-7E42-B83E-B05FE640710E}"/>
              </a:ext>
            </a:extLst>
          </p:cNvPr>
          <p:cNvSpPr/>
          <p:nvPr/>
        </p:nvSpPr>
        <p:spPr>
          <a:xfrm rot="16200000" flipV="1">
            <a:off x="150735" y="3810989"/>
            <a:ext cx="205822" cy="106639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5173DF04-0E17-7843-A3B2-CEAA7E789076}"/>
              </a:ext>
            </a:extLst>
          </p:cNvPr>
          <p:cNvSpPr txBox="1"/>
          <p:nvPr/>
        </p:nvSpPr>
        <p:spPr>
          <a:xfrm>
            <a:off x="312149" y="4782728"/>
            <a:ext cx="7434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Determine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who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 and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when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 to intervene &amp; treat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sp>
        <p:nvSpPr>
          <p:cNvPr id="79" name="Triangle 78">
            <a:extLst>
              <a:ext uri="{FF2B5EF4-FFF2-40B4-BE49-F238E27FC236}">
                <a16:creationId xmlns:a16="http://schemas.microsoft.com/office/drawing/2014/main" id="{D11D718F-ADB9-0849-B91A-D360B1E4EE7E}"/>
              </a:ext>
            </a:extLst>
          </p:cNvPr>
          <p:cNvSpPr/>
          <p:nvPr/>
        </p:nvSpPr>
        <p:spPr>
          <a:xfrm rot="16200000" flipV="1">
            <a:off x="150735" y="4856548"/>
            <a:ext cx="205822" cy="106639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6E2DDBC3-6273-344E-8EBF-1E07657EC57D}"/>
              </a:ext>
            </a:extLst>
          </p:cNvPr>
          <p:cNvSpPr txBox="1"/>
          <p:nvPr/>
        </p:nvSpPr>
        <p:spPr>
          <a:xfrm>
            <a:off x="-63595" y="2573764"/>
            <a:ext cx="16366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Schematic example</a:t>
            </a:r>
            <a:endParaRPr kumimoji="0" lang="en-US" sz="120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sp>
        <p:nvSpPr>
          <p:cNvPr id="81" name="Espace réservé du texte 4">
            <a:extLst>
              <a:ext uri="{FF2B5EF4-FFF2-40B4-BE49-F238E27FC236}">
                <a16:creationId xmlns:a16="http://schemas.microsoft.com/office/drawing/2014/main" id="{FD8ECFBD-5A61-6345-9E32-104B410E8876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Neurodegenerative disease timeline</a:t>
            </a:r>
          </a:p>
        </p:txBody>
      </p:sp>
    </p:spTree>
    <p:extLst>
      <p:ext uri="{BB962C8B-B14F-4D97-AF65-F5344CB8AC3E}">
        <p14:creationId xmlns:p14="http://schemas.microsoft.com/office/powerpoint/2010/main" val="183556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68" grpId="0" animBg="1"/>
      <p:bldP spid="69" grpId="0"/>
      <p:bldP spid="71" grpId="0"/>
      <p:bldP spid="72" grpId="0"/>
      <p:bldP spid="73" grpId="0" animBg="1"/>
      <p:bldP spid="74" grpId="0"/>
      <p:bldP spid="75" grpId="0" animBg="1"/>
      <p:bldP spid="76" grpId="0"/>
      <p:bldP spid="77" grpId="0" animBg="1"/>
      <p:bldP spid="78" grpId="0"/>
      <p:bldP spid="7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C0766D-6B0E-7D4F-B564-0B47D3C0760C}"/>
              </a:ext>
            </a:extLst>
          </p:cNvPr>
          <p:cNvSpPr txBox="1">
            <a:spLocks/>
          </p:cNvSpPr>
          <p:nvPr/>
        </p:nvSpPr>
        <p:spPr>
          <a:xfrm>
            <a:off x="1485900" y="825501"/>
            <a:ext cx="6172200" cy="403135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marL="557213" lvl="1" indent="-214313" defTabSz="342900">
              <a:spcBef>
                <a:spcPct val="20000"/>
              </a:spcBef>
              <a:buFont typeface="Arial"/>
              <a:buChar char="–"/>
              <a:defRPr/>
            </a:pPr>
            <a:endParaRPr lang="en-US" sz="3300" dirty="0">
              <a:sym typeface="Wingdings"/>
            </a:endParaRPr>
          </a:p>
          <a:p>
            <a:pPr marL="557213" lvl="1" indent="-214313" defTabSz="342900">
              <a:spcBef>
                <a:spcPct val="20000"/>
              </a:spcBef>
              <a:buFont typeface="Arial"/>
              <a:buChar char="–"/>
              <a:defRPr/>
            </a:pPr>
            <a:endParaRPr lang="en-US" sz="2100" dirty="0">
              <a:sym typeface="Wingdings"/>
            </a:endParaRPr>
          </a:p>
          <a:p>
            <a:pPr marL="557213" lvl="1" indent="-214313" defTabSz="342900">
              <a:spcBef>
                <a:spcPct val="20000"/>
              </a:spcBef>
              <a:buFont typeface="Arial"/>
              <a:buChar char="–"/>
              <a:defRPr/>
            </a:pPr>
            <a:endParaRPr lang="en-US" sz="2100" dirty="0"/>
          </a:p>
        </p:txBody>
      </p:sp>
      <p:sp>
        <p:nvSpPr>
          <p:cNvPr id="5" name="TextBox 70">
            <a:extLst>
              <a:ext uri="{FF2B5EF4-FFF2-40B4-BE49-F238E27FC236}">
                <a16:creationId xmlns:a16="http://schemas.microsoft.com/office/drawing/2014/main" id="{9859CAC9-B932-C144-A8B2-832811A55C1C}"/>
              </a:ext>
            </a:extLst>
          </p:cNvPr>
          <p:cNvSpPr txBox="1"/>
          <p:nvPr/>
        </p:nvSpPr>
        <p:spPr>
          <a:xfrm>
            <a:off x="1153181" y="3026493"/>
            <a:ext cx="2583908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b="1" dirty="0">
                <a:ea typeface="Nexa Light" charset="0"/>
                <a:cs typeface="Nexa Light" charset="0"/>
              </a:rPr>
              <a:t>Temporal marker</a:t>
            </a:r>
            <a:r>
              <a:rPr lang="en-US" sz="1200" dirty="0">
                <a:ea typeface="Nexa Light" charset="0"/>
                <a:cs typeface="Nexa Light" charset="0"/>
              </a:rPr>
              <a:t> of progression</a:t>
            </a:r>
          </a:p>
          <a:p>
            <a:pPr algn="ctr"/>
            <a:r>
              <a:rPr lang="en-US" sz="1050" i="1" dirty="0">
                <a:ea typeface="Nexa Light" charset="0"/>
                <a:cs typeface="Nexa Light" charset="0"/>
              </a:rPr>
              <a:t>(e.g. time since drug injection, seeding, birth, etc..)</a:t>
            </a:r>
            <a:endParaRPr lang="en-US" sz="1200" i="1" dirty="0">
              <a:ea typeface="Nexa Light" charset="0"/>
              <a:cs typeface="Nexa Light" charset="0"/>
            </a:endParaRPr>
          </a:p>
        </p:txBody>
      </p:sp>
      <p:cxnSp>
        <p:nvCxnSpPr>
          <p:cNvPr id="6" name="Straight Arrow Connector 35">
            <a:extLst>
              <a:ext uri="{FF2B5EF4-FFF2-40B4-BE49-F238E27FC236}">
                <a16:creationId xmlns:a16="http://schemas.microsoft.com/office/drawing/2014/main" id="{A79BD7C5-5F10-0E44-A0DF-15678408E450}"/>
              </a:ext>
            </a:extLst>
          </p:cNvPr>
          <p:cNvCxnSpPr>
            <a:cxnSpLocks/>
          </p:cNvCxnSpPr>
          <p:nvPr/>
        </p:nvCxnSpPr>
        <p:spPr>
          <a:xfrm flipV="1">
            <a:off x="2669835" y="1250129"/>
            <a:ext cx="1815060" cy="1088987"/>
          </a:xfrm>
          <a:prstGeom prst="straightConnector1">
            <a:avLst/>
          </a:prstGeom>
          <a:ln w="41275"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36">
            <a:extLst>
              <a:ext uri="{FF2B5EF4-FFF2-40B4-BE49-F238E27FC236}">
                <a16:creationId xmlns:a16="http://schemas.microsoft.com/office/drawing/2014/main" id="{87126AFF-348B-F04A-9FCE-541ECD6B7B86}"/>
              </a:ext>
            </a:extLst>
          </p:cNvPr>
          <p:cNvCxnSpPr>
            <a:cxnSpLocks/>
          </p:cNvCxnSpPr>
          <p:nvPr/>
        </p:nvCxnSpPr>
        <p:spPr>
          <a:xfrm flipV="1">
            <a:off x="3821958" y="1250129"/>
            <a:ext cx="2061260" cy="1154472"/>
          </a:xfrm>
          <a:prstGeom prst="straightConnector1">
            <a:avLst/>
          </a:prstGeom>
          <a:ln w="41275"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37">
            <a:extLst>
              <a:ext uri="{FF2B5EF4-FFF2-40B4-BE49-F238E27FC236}">
                <a16:creationId xmlns:a16="http://schemas.microsoft.com/office/drawing/2014/main" id="{9A485A03-F66F-6647-81E0-02DDDEA1FDCB}"/>
              </a:ext>
            </a:extLst>
          </p:cNvPr>
          <p:cNvCxnSpPr>
            <a:cxnSpLocks/>
          </p:cNvCxnSpPr>
          <p:nvPr/>
        </p:nvCxnSpPr>
        <p:spPr>
          <a:xfrm flipV="1">
            <a:off x="5114917" y="1250129"/>
            <a:ext cx="1824932" cy="1088987"/>
          </a:xfrm>
          <a:prstGeom prst="straightConnector1">
            <a:avLst/>
          </a:prstGeom>
          <a:ln w="41275"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38" descr="Multimodal.png">
            <a:extLst>
              <a:ext uri="{FF2B5EF4-FFF2-40B4-BE49-F238E27FC236}">
                <a16:creationId xmlns:a16="http://schemas.microsoft.com/office/drawing/2014/main" id="{E03664B2-F454-7042-A757-DB2A5B202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956" y="2019778"/>
            <a:ext cx="506402" cy="319339"/>
          </a:xfrm>
          <a:prstGeom prst="rect">
            <a:avLst/>
          </a:prstGeom>
        </p:spPr>
      </p:pic>
      <p:pic>
        <p:nvPicPr>
          <p:cNvPr id="10" name="Picture 39" descr="Multimodal.png">
            <a:extLst>
              <a:ext uri="{FF2B5EF4-FFF2-40B4-BE49-F238E27FC236}">
                <a16:creationId xmlns:a16="http://schemas.microsoft.com/office/drawing/2014/main" id="{3A4EE3AD-8B62-BF42-9245-F7BC83CF4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895" y="1700440"/>
            <a:ext cx="506402" cy="319339"/>
          </a:xfrm>
          <a:prstGeom prst="rect">
            <a:avLst/>
          </a:prstGeom>
        </p:spPr>
      </p:pic>
      <p:pic>
        <p:nvPicPr>
          <p:cNvPr id="11" name="Picture 49" descr="Multimodal.png">
            <a:extLst>
              <a:ext uri="{FF2B5EF4-FFF2-40B4-BE49-F238E27FC236}">
                <a16:creationId xmlns:a16="http://schemas.microsoft.com/office/drawing/2014/main" id="{60B5236C-BF60-C54D-8F76-56627C7FF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828" y="1381101"/>
            <a:ext cx="506402" cy="319339"/>
          </a:xfrm>
          <a:prstGeom prst="rect">
            <a:avLst/>
          </a:prstGeom>
        </p:spPr>
      </p:pic>
      <p:pic>
        <p:nvPicPr>
          <p:cNvPr id="12" name="Picture 52" descr="Multimodal.png">
            <a:extLst>
              <a:ext uri="{FF2B5EF4-FFF2-40B4-BE49-F238E27FC236}">
                <a16:creationId xmlns:a16="http://schemas.microsoft.com/office/drawing/2014/main" id="{BF0A8598-7FF5-1042-BF4F-41306955D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551" y="1915419"/>
            <a:ext cx="506402" cy="319339"/>
          </a:xfrm>
          <a:prstGeom prst="rect">
            <a:avLst/>
          </a:prstGeom>
        </p:spPr>
      </p:pic>
      <p:pic>
        <p:nvPicPr>
          <p:cNvPr id="13" name="Picture 66" descr="Multimodal.png">
            <a:extLst>
              <a:ext uri="{FF2B5EF4-FFF2-40B4-BE49-F238E27FC236}">
                <a16:creationId xmlns:a16="http://schemas.microsoft.com/office/drawing/2014/main" id="{842D773B-9264-5F46-8AD5-BBC67B259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407" y="1462501"/>
            <a:ext cx="506402" cy="319339"/>
          </a:xfrm>
          <a:prstGeom prst="rect">
            <a:avLst/>
          </a:prstGeom>
        </p:spPr>
      </p:pic>
      <p:pic>
        <p:nvPicPr>
          <p:cNvPr id="14" name="Picture 68" descr="Multimodal.png">
            <a:extLst>
              <a:ext uri="{FF2B5EF4-FFF2-40B4-BE49-F238E27FC236}">
                <a16:creationId xmlns:a16="http://schemas.microsoft.com/office/drawing/2014/main" id="{A6A2A86E-8F02-554D-9D47-77EBB1F0A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106" y="1764367"/>
            <a:ext cx="506402" cy="319339"/>
          </a:xfrm>
          <a:prstGeom prst="rect">
            <a:avLst/>
          </a:prstGeom>
        </p:spPr>
      </p:pic>
      <p:pic>
        <p:nvPicPr>
          <p:cNvPr id="15" name="Picture 69" descr="Multimodal.png">
            <a:extLst>
              <a:ext uri="{FF2B5EF4-FFF2-40B4-BE49-F238E27FC236}">
                <a16:creationId xmlns:a16="http://schemas.microsoft.com/office/drawing/2014/main" id="{BCFEC52F-8C12-3444-82BA-CF7535964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949" y="1381101"/>
            <a:ext cx="506402" cy="319339"/>
          </a:xfrm>
          <a:prstGeom prst="rect">
            <a:avLst/>
          </a:prstGeom>
        </p:spPr>
      </p:pic>
      <p:cxnSp>
        <p:nvCxnSpPr>
          <p:cNvPr id="16" name="Straight Arrow Connector 73">
            <a:extLst>
              <a:ext uri="{FF2B5EF4-FFF2-40B4-BE49-F238E27FC236}">
                <a16:creationId xmlns:a16="http://schemas.microsoft.com/office/drawing/2014/main" id="{967210FD-3AE3-DB4C-A949-076AB35666A0}"/>
              </a:ext>
            </a:extLst>
          </p:cNvPr>
          <p:cNvCxnSpPr>
            <a:cxnSpLocks/>
            <a:stCxn id="15" idx="1"/>
            <a:endCxn id="11" idx="3"/>
          </p:cNvCxnSpPr>
          <p:nvPr/>
        </p:nvCxnSpPr>
        <p:spPr>
          <a:xfrm flipH="1">
            <a:off x="5599230" y="1540771"/>
            <a:ext cx="641719" cy="0"/>
          </a:xfrm>
          <a:prstGeom prst="straightConnector1">
            <a:avLst/>
          </a:prstGeom>
          <a:ln w="34925">
            <a:solidFill>
              <a:schemeClr val="accent2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8">
            <a:extLst>
              <a:ext uri="{FF2B5EF4-FFF2-40B4-BE49-F238E27FC236}">
                <a16:creationId xmlns:a16="http://schemas.microsoft.com/office/drawing/2014/main" id="{0054A322-2D8E-9E48-9798-BE15855EE66B}"/>
              </a:ext>
            </a:extLst>
          </p:cNvPr>
          <p:cNvSpPr txBox="1"/>
          <p:nvPr/>
        </p:nvSpPr>
        <p:spPr>
          <a:xfrm>
            <a:off x="2085165" y="2490883"/>
            <a:ext cx="1169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subject #1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5F339B65-0B5E-354D-B2B3-CFF9083D386B}"/>
              </a:ext>
            </a:extLst>
          </p:cNvPr>
          <p:cNvSpPr txBox="1"/>
          <p:nvPr/>
        </p:nvSpPr>
        <p:spPr>
          <a:xfrm>
            <a:off x="3315555" y="2492561"/>
            <a:ext cx="1169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subject #2</a:t>
            </a: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17CB8AAA-3094-5E49-99F1-6C427BD453F4}"/>
              </a:ext>
            </a:extLst>
          </p:cNvPr>
          <p:cNvSpPr txBox="1"/>
          <p:nvPr/>
        </p:nvSpPr>
        <p:spPr>
          <a:xfrm>
            <a:off x="4571909" y="2458512"/>
            <a:ext cx="1169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subject #3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2FA07DA5-5C5E-904E-BC07-88E05C7A495B}"/>
              </a:ext>
            </a:extLst>
          </p:cNvPr>
          <p:cNvSpPr txBox="1"/>
          <p:nvPr/>
        </p:nvSpPr>
        <p:spPr>
          <a:xfrm rot="19585585">
            <a:off x="2445701" y="1428163"/>
            <a:ext cx="1169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Time (age)</a:t>
            </a:r>
          </a:p>
        </p:txBody>
      </p:sp>
      <p:sp>
        <p:nvSpPr>
          <p:cNvPr id="21" name="TextBox 70">
            <a:extLst>
              <a:ext uri="{FF2B5EF4-FFF2-40B4-BE49-F238E27FC236}">
                <a16:creationId xmlns:a16="http://schemas.microsoft.com/office/drawing/2014/main" id="{885F0A7C-50D9-D848-A71C-67B67F374776}"/>
              </a:ext>
            </a:extLst>
          </p:cNvPr>
          <p:cNvSpPr txBox="1"/>
          <p:nvPr/>
        </p:nvSpPr>
        <p:spPr>
          <a:xfrm>
            <a:off x="3782688" y="3026493"/>
            <a:ext cx="1910425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b="1" dirty="0"/>
              <a:t>Regression</a:t>
            </a:r>
          </a:p>
          <a:p>
            <a:pPr algn="ctr"/>
            <a:r>
              <a:rPr lang="en-US" sz="1050" i="1" dirty="0"/>
              <a:t>(e.g. compare measurements at same time-point)</a:t>
            </a:r>
          </a:p>
        </p:txBody>
      </p:sp>
      <p:sp>
        <p:nvSpPr>
          <p:cNvPr id="22" name="TextBox 70">
            <a:extLst>
              <a:ext uri="{FF2B5EF4-FFF2-40B4-BE49-F238E27FC236}">
                <a16:creationId xmlns:a16="http://schemas.microsoft.com/office/drawing/2014/main" id="{F4654455-DAF6-3747-B53E-61C156B61516}"/>
              </a:ext>
            </a:extLst>
          </p:cNvPr>
          <p:cNvSpPr txBox="1"/>
          <p:nvPr/>
        </p:nvSpPr>
        <p:spPr>
          <a:xfrm>
            <a:off x="1153181" y="4004847"/>
            <a:ext cx="2583908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b="1" dirty="0"/>
              <a:t>No temporal marker</a:t>
            </a:r>
            <a:r>
              <a:rPr lang="en-US" sz="1200" dirty="0"/>
              <a:t> of progression</a:t>
            </a:r>
          </a:p>
          <a:p>
            <a:pPr algn="ctr"/>
            <a:r>
              <a:rPr lang="en-US" sz="1050" i="1" dirty="0"/>
              <a:t>(e.g. in aging, neurodegenerative diseases, etc..)</a:t>
            </a:r>
          </a:p>
        </p:txBody>
      </p:sp>
      <p:sp>
        <p:nvSpPr>
          <p:cNvPr id="23" name="TextBox 70">
            <a:extLst>
              <a:ext uri="{FF2B5EF4-FFF2-40B4-BE49-F238E27FC236}">
                <a16:creationId xmlns:a16="http://schemas.microsoft.com/office/drawing/2014/main" id="{043FA05D-7741-7A4B-84DF-48983803664F}"/>
              </a:ext>
            </a:extLst>
          </p:cNvPr>
          <p:cNvSpPr txBox="1"/>
          <p:nvPr/>
        </p:nvSpPr>
        <p:spPr>
          <a:xfrm>
            <a:off x="5693113" y="2998706"/>
            <a:ext cx="2307887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dirty="0"/>
              <a:t>Linear mixed-effects models</a:t>
            </a:r>
          </a:p>
          <a:p>
            <a:pPr algn="ctr"/>
            <a:r>
              <a:rPr lang="en-US" sz="1050" i="1" dirty="0"/>
              <a:t>[Laird&amp;Ware’82, </a:t>
            </a:r>
            <a:r>
              <a:rPr lang="en-US" sz="1050" i="1" dirty="0" err="1"/>
              <a:t>Diggle</a:t>
            </a:r>
            <a:r>
              <a:rPr lang="en-US" sz="1050" i="1" dirty="0"/>
              <a:t> et al., Fitzmaurice et al.]</a:t>
            </a:r>
          </a:p>
        </p:txBody>
      </p:sp>
      <p:sp>
        <p:nvSpPr>
          <p:cNvPr id="24" name="TextBox 70">
            <a:extLst>
              <a:ext uri="{FF2B5EF4-FFF2-40B4-BE49-F238E27FC236}">
                <a16:creationId xmlns:a16="http://schemas.microsoft.com/office/drawing/2014/main" id="{DC36C7A5-1D7F-5844-9DB8-38A45D819981}"/>
              </a:ext>
            </a:extLst>
          </p:cNvPr>
          <p:cNvSpPr txBox="1"/>
          <p:nvPr/>
        </p:nvSpPr>
        <p:spPr>
          <a:xfrm>
            <a:off x="5883217" y="3845378"/>
            <a:ext cx="211778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dirty="0"/>
              <a:t>Needs to disentangle differences in:</a:t>
            </a:r>
          </a:p>
          <a:p>
            <a:pPr marL="214313" indent="-214313" algn="ctr">
              <a:buFontTx/>
              <a:buChar char="-"/>
            </a:pPr>
            <a:r>
              <a:rPr lang="en-US" sz="1200" i="1" dirty="0"/>
              <a:t>Measurements </a:t>
            </a:r>
          </a:p>
          <a:p>
            <a:pPr marL="214313" indent="-214313" algn="ctr">
              <a:buFontTx/>
              <a:buChar char="-"/>
            </a:pPr>
            <a:r>
              <a:rPr lang="en-US" sz="1200" i="1" dirty="0"/>
              <a:t>Dynamics of measurement changes</a:t>
            </a:r>
            <a:endParaRPr lang="en-US" sz="1050" i="1" dirty="0"/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5ED983AB-CA86-0846-B5BA-614F7D4C99CC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Longitudinal Data Analysis</a:t>
            </a:r>
          </a:p>
        </p:txBody>
      </p:sp>
      <p:sp>
        <p:nvSpPr>
          <p:cNvPr id="28" name="TextBox 70">
            <a:extLst>
              <a:ext uri="{FF2B5EF4-FFF2-40B4-BE49-F238E27FC236}">
                <a16:creationId xmlns:a16="http://schemas.microsoft.com/office/drawing/2014/main" id="{702211E8-3597-2143-A5C4-07C265A970DF}"/>
              </a:ext>
            </a:extLst>
          </p:cNvPr>
          <p:cNvSpPr txBox="1"/>
          <p:nvPr/>
        </p:nvSpPr>
        <p:spPr>
          <a:xfrm>
            <a:off x="3779524" y="3762713"/>
            <a:ext cx="2146127" cy="126957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dirty="0"/>
              <a:t>Learning </a:t>
            </a:r>
            <a:r>
              <a:rPr lang="en-US" sz="1200" b="1" dirty="0"/>
              <a:t>spatiotemporal distribution </a:t>
            </a:r>
            <a:r>
              <a:rPr lang="en-US" sz="1200" dirty="0"/>
              <a:t>of trajectories</a:t>
            </a:r>
          </a:p>
          <a:p>
            <a:pPr marL="214313" indent="-214313" algn="ctr">
              <a:buFontTx/>
              <a:buChar char="-"/>
            </a:pPr>
            <a:r>
              <a:rPr lang="en-US" sz="1050" i="1" dirty="0"/>
              <a:t>Find temporal correspondences</a:t>
            </a:r>
          </a:p>
          <a:p>
            <a:pPr marL="214313" indent="-214313" algn="ctr">
              <a:buFontTx/>
              <a:buChar char="-"/>
            </a:pPr>
            <a:r>
              <a:rPr lang="en-US" sz="1050" i="1" dirty="0"/>
              <a:t>Compare data at corresponding stages of progression</a:t>
            </a:r>
          </a:p>
        </p:txBody>
      </p:sp>
    </p:spTree>
    <p:extLst>
      <p:ext uri="{BB962C8B-B14F-4D97-AF65-F5344CB8AC3E}">
        <p14:creationId xmlns:p14="http://schemas.microsoft.com/office/powerpoint/2010/main" val="350593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88295E-7 3.57788E-6 L -0.08215 0.0578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16" y="289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33333E-6 L -0.08351 0.0581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84" y="2894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73 2.36288E-6 L -0.10941 0.07961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66" y="3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  <p:bldP spid="22" grpId="0"/>
      <p:bldP spid="23" grpId="0"/>
      <p:bldP spid="24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5ED983AB-CA86-0846-B5BA-614F7D4C99CC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Longitudinal Data Analysis</a:t>
            </a:r>
          </a:p>
        </p:txBody>
      </p:sp>
      <p:sp>
        <p:nvSpPr>
          <p:cNvPr id="153" name="Triangle 152">
            <a:extLst>
              <a:ext uri="{FF2B5EF4-FFF2-40B4-BE49-F238E27FC236}">
                <a16:creationId xmlns:a16="http://schemas.microsoft.com/office/drawing/2014/main" id="{91BFD870-9D6E-9B4E-9DF2-AF1541425E69}"/>
              </a:ext>
            </a:extLst>
          </p:cNvPr>
          <p:cNvSpPr/>
          <p:nvPr/>
        </p:nvSpPr>
        <p:spPr>
          <a:xfrm rot="16200000" flipV="1">
            <a:off x="5363140" y="1482305"/>
            <a:ext cx="314562" cy="146072"/>
          </a:xfrm>
          <a:prstGeom prst="triangle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sp>
        <p:nvSpPr>
          <p:cNvPr id="197" name="ZoneTexte 196">
            <a:extLst>
              <a:ext uri="{FF2B5EF4-FFF2-40B4-BE49-F238E27FC236}">
                <a16:creationId xmlns:a16="http://schemas.microsoft.com/office/drawing/2014/main" id="{49CAE57B-6B7C-204D-A702-8551F4A207A4}"/>
              </a:ext>
            </a:extLst>
          </p:cNvPr>
          <p:cNvSpPr txBox="1"/>
          <p:nvPr/>
        </p:nvSpPr>
        <p:spPr>
          <a:xfrm>
            <a:off x="5689014" y="1284917"/>
            <a:ext cx="34448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latin typeface="Avenir Book" panose="02000503020000020003" pitchFamily="2" charset="0"/>
              </a:rPr>
              <a:t>Realign temporally the individual data </a:t>
            </a:r>
            <a:r>
              <a:rPr lang="en-US" sz="1400" i="1" dirty="0">
                <a:latin typeface="Avenir Book" panose="02000503020000020003" pitchFamily="2" charset="0"/>
              </a:rPr>
              <a:t>to</a:t>
            </a:r>
            <a:r>
              <a:rPr lang="en-US" sz="1400" dirty="0">
                <a:latin typeface="Avenir Book" panose="02000503020000020003" pitchFamily="2" charset="0"/>
              </a:rPr>
              <a:t> reconstruct long-term scenario of disease progression from short sequences of individual data</a:t>
            </a:r>
          </a:p>
          <a:p>
            <a:pPr algn="just"/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201" name="Triangle 200">
            <a:extLst>
              <a:ext uri="{FF2B5EF4-FFF2-40B4-BE49-F238E27FC236}">
                <a16:creationId xmlns:a16="http://schemas.microsoft.com/office/drawing/2014/main" id="{E0BAC5D8-51A9-B641-8F7C-13F2A2FEDE6A}"/>
              </a:ext>
            </a:extLst>
          </p:cNvPr>
          <p:cNvSpPr/>
          <p:nvPr/>
        </p:nvSpPr>
        <p:spPr>
          <a:xfrm rot="16200000" flipV="1">
            <a:off x="5363140" y="2841768"/>
            <a:ext cx="314562" cy="146072"/>
          </a:xfrm>
          <a:prstGeom prst="triangle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sp>
        <p:nvSpPr>
          <p:cNvPr id="202" name="ZoneTexte 201">
            <a:extLst>
              <a:ext uri="{FF2B5EF4-FFF2-40B4-BE49-F238E27FC236}">
                <a16:creationId xmlns:a16="http://schemas.microsoft.com/office/drawing/2014/main" id="{8E596446-C8ED-324A-84EA-70F3AB584F78}"/>
              </a:ext>
            </a:extLst>
          </p:cNvPr>
          <p:cNvSpPr txBox="1"/>
          <p:nvPr/>
        </p:nvSpPr>
        <p:spPr>
          <a:xfrm>
            <a:off x="5689014" y="2644380"/>
            <a:ext cx="34448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latin typeface="Avenir Book" panose="02000503020000020003" pitchFamily="2" charset="0"/>
              </a:rPr>
              <a:t>Disentangle the individual characteristics from the average progression </a:t>
            </a:r>
            <a:r>
              <a:rPr lang="en-US" sz="1400" i="1" dirty="0">
                <a:latin typeface="Avenir Book" panose="02000503020000020003" pitchFamily="2" charset="0"/>
              </a:rPr>
              <a:t>to</a:t>
            </a:r>
            <a:r>
              <a:rPr lang="en-US" sz="1400" dirty="0">
                <a:latin typeface="Avenir Book" panose="02000503020000020003" pitchFamily="2" charset="0"/>
              </a:rPr>
              <a:t> compare them</a:t>
            </a:r>
          </a:p>
        </p:txBody>
      </p:sp>
      <p:sp>
        <p:nvSpPr>
          <p:cNvPr id="203" name="Triangle 202">
            <a:extLst>
              <a:ext uri="{FF2B5EF4-FFF2-40B4-BE49-F238E27FC236}">
                <a16:creationId xmlns:a16="http://schemas.microsoft.com/office/drawing/2014/main" id="{397638A0-9C0C-6742-8982-812E78AB049D}"/>
              </a:ext>
            </a:extLst>
          </p:cNvPr>
          <p:cNvSpPr/>
          <p:nvPr/>
        </p:nvSpPr>
        <p:spPr>
          <a:xfrm rot="16200000" flipV="1">
            <a:off x="5363140" y="3945663"/>
            <a:ext cx="314562" cy="146072"/>
          </a:xfrm>
          <a:prstGeom prst="triangle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sp>
        <p:nvSpPr>
          <p:cNvPr id="204" name="ZoneTexte 203">
            <a:extLst>
              <a:ext uri="{FF2B5EF4-FFF2-40B4-BE49-F238E27FC236}">
                <a16:creationId xmlns:a16="http://schemas.microsoft.com/office/drawing/2014/main" id="{E75753C6-555F-AB4B-BA79-EC56A360B9FE}"/>
              </a:ext>
            </a:extLst>
          </p:cNvPr>
          <p:cNvSpPr txBox="1"/>
          <p:nvPr/>
        </p:nvSpPr>
        <p:spPr>
          <a:xfrm>
            <a:off x="5689014" y="3902615"/>
            <a:ext cx="34448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latin typeface="Avenir Book" panose="02000503020000020003" pitchFamily="2" charset="0"/>
              </a:rPr>
              <a:t>Disentangle the measurement values from the measurement dynamics to predict future disease stages</a:t>
            </a:r>
          </a:p>
        </p:txBody>
      </p:sp>
      <p:sp>
        <p:nvSpPr>
          <p:cNvPr id="226" name="Forme libre 225">
            <a:extLst>
              <a:ext uri="{FF2B5EF4-FFF2-40B4-BE49-F238E27FC236}">
                <a16:creationId xmlns:a16="http://schemas.microsoft.com/office/drawing/2014/main" id="{1D7B923F-3BFC-AE49-AD7C-109733DA0173}"/>
              </a:ext>
            </a:extLst>
          </p:cNvPr>
          <p:cNvSpPr/>
          <p:nvPr/>
        </p:nvSpPr>
        <p:spPr>
          <a:xfrm rot="21334058">
            <a:off x="-86618" y="2481793"/>
            <a:ext cx="5361105" cy="628526"/>
          </a:xfrm>
          <a:custGeom>
            <a:avLst/>
            <a:gdLst>
              <a:gd name="connsiteX0" fmla="*/ 0 w 4895996"/>
              <a:gd name="connsiteY0" fmla="*/ 801624 h 801624"/>
              <a:gd name="connsiteX1" fmla="*/ 1600200 w 4895996"/>
              <a:gd name="connsiteY1" fmla="*/ 152400 h 801624"/>
              <a:gd name="connsiteX2" fmla="*/ 3465576 w 4895996"/>
              <a:gd name="connsiteY2" fmla="*/ 353568 h 801624"/>
              <a:gd name="connsiteX3" fmla="*/ 4791456 w 4895996"/>
              <a:gd name="connsiteY3" fmla="*/ 24384 h 801624"/>
              <a:gd name="connsiteX4" fmla="*/ 4809744 w 4895996"/>
              <a:gd name="connsiteY4" fmla="*/ 24384 h 801624"/>
              <a:gd name="connsiteX0" fmla="*/ 0 w 5477256"/>
              <a:gd name="connsiteY0" fmla="*/ 789157 h 789157"/>
              <a:gd name="connsiteX1" fmla="*/ 1600200 w 5477256"/>
              <a:gd name="connsiteY1" fmla="*/ 139933 h 789157"/>
              <a:gd name="connsiteX2" fmla="*/ 3465576 w 5477256"/>
              <a:gd name="connsiteY2" fmla="*/ 341101 h 789157"/>
              <a:gd name="connsiteX3" fmla="*/ 4791456 w 5477256"/>
              <a:gd name="connsiteY3" fmla="*/ 11917 h 789157"/>
              <a:gd name="connsiteX4" fmla="*/ 5477256 w 5477256"/>
              <a:gd name="connsiteY4" fmla="*/ 66781 h 789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7256" h="789157">
                <a:moveTo>
                  <a:pt x="0" y="789157"/>
                </a:moveTo>
                <a:cubicBezTo>
                  <a:pt x="511302" y="501883"/>
                  <a:pt x="1022604" y="214609"/>
                  <a:pt x="1600200" y="139933"/>
                </a:cubicBezTo>
                <a:cubicBezTo>
                  <a:pt x="2177796" y="65257"/>
                  <a:pt x="2933700" y="362437"/>
                  <a:pt x="3465576" y="341101"/>
                </a:cubicBezTo>
                <a:cubicBezTo>
                  <a:pt x="3997452" y="319765"/>
                  <a:pt x="4456176" y="57637"/>
                  <a:pt x="4791456" y="11917"/>
                </a:cubicBezTo>
                <a:cubicBezTo>
                  <a:pt x="5126736" y="-33803"/>
                  <a:pt x="5477256" y="66781"/>
                  <a:pt x="5477256" y="66781"/>
                </a:cubicBezTo>
              </a:path>
            </a:pathLst>
          </a:custGeom>
          <a:noFill/>
          <a:ln w="127000" cap="flat" cmpd="sng" algn="ctr">
            <a:solidFill>
              <a:srgbClr val="4472C4">
                <a:lumMod val="40000"/>
                <a:lumOff val="60000"/>
              </a:srgbClr>
            </a:solidFill>
            <a:prstDash val="solid"/>
            <a:miter lim="800000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sp>
        <p:nvSpPr>
          <p:cNvPr id="227" name="Forme libre 226">
            <a:extLst>
              <a:ext uri="{FF2B5EF4-FFF2-40B4-BE49-F238E27FC236}">
                <a16:creationId xmlns:a16="http://schemas.microsoft.com/office/drawing/2014/main" id="{5CF87514-56B4-DD4E-8FCB-4E37B9070E8D}"/>
              </a:ext>
            </a:extLst>
          </p:cNvPr>
          <p:cNvSpPr/>
          <p:nvPr/>
        </p:nvSpPr>
        <p:spPr>
          <a:xfrm rot="21303549">
            <a:off x="155380" y="1505284"/>
            <a:ext cx="3140078" cy="461564"/>
          </a:xfrm>
          <a:custGeom>
            <a:avLst/>
            <a:gdLst>
              <a:gd name="connsiteX0" fmla="*/ 0 w 4895996"/>
              <a:gd name="connsiteY0" fmla="*/ 801624 h 801624"/>
              <a:gd name="connsiteX1" fmla="*/ 1600200 w 4895996"/>
              <a:gd name="connsiteY1" fmla="*/ 152400 h 801624"/>
              <a:gd name="connsiteX2" fmla="*/ 3465576 w 4895996"/>
              <a:gd name="connsiteY2" fmla="*/ 353568 h 801624"/>
              <a:gd name="connsiteX3" fmla="*/ 4791456 w 4895996"/>
              <a:gd name="connsiteY3" fmla="*/ 24384 h 801624"/>
              <a:gd name="connsiteX4" fmla="*/ 4809744 w 4895996"/>
              <a:gd name="connsiteY4" fmla="*/ 24384 h 801624"/>
              <a:gd name="connsiteX0" fmla="*/ 0 w 5477256"/>
              <a:gd name="connsiteY0" fmla="*/ 789157 h 789157"/>
              <a:gd name="connsiteX1" fmla="*/ 1600200 w 5477256"/>
              <a:gd name="connsiteY1" fmla="*/ 139933 h 789157"/>
              <a:gd name="connsiteX2" fmla="*/ 3465576 w 5477256"/>
              <a:gd name="connsiteY2" fmla="*/ 341101 h 789157"/>
              <a:gd name="connsiteX3" fmla="*/ 4791456 w 5477256"/>
              <a:gd name="connsiteY3" fmla="*/ 11917 h 789157"/>
              <a:gd name="connsiteX4" fmla="*/ 5477256 w 5477256"/>
              <a:gd name="connsiteY4" fmla="*/ 66781 h 789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7256" h="789157">
                <a:moveTo>
                  <a:pt x="0" y="789157"/>
                </a:moveTo>
                <a:cubicBezTo>
                  <a:pt x="511302" y="501883"/>
                  <a:pt x="1022604" y="214609"/>
                  <a:pt x="1600200" y="139933"/>
                </a:cubicBezTo>
                <a:cubicBezTo>
                  <a:pt x="2177796" y="65257"/>
                  <a:pt x="2933700" y="362437"/>
                  <a:pt x="3465576" y="341101"/>
                </a:cubicBezTo>
                <a:cubicBezTo>
                  <a:pt x="3997452" y="319765"/>
                  <a:pt x="4456176" y="57637"/>
                  <a:pt x="4791456" y="11917"/>
                </a:cubicBezTo>
                <a:cubicBezTo>
                  <a:pt x="5126736" y="-33803"/>
                  <a:pt x="5477256" y="66781"/>
                  <a:pt x="5477256" y="66781"/>
                </a:cubicBezTo>
              </a:path>
            </a:pathLst>
          </a:custGeom>
          <a:noFill/>
          <a:ln w="76200" cap="flat" cmpd="sng" algn="ctr">
            <a:solidFill>
              <a:srgbClr val="4472C4">
                <a:lumMod val="40000"/>
                <a:lumOff val="60000"/>
              </a:srgbClr>
            </a:solidFill>
            <a:prstDash val="solid"/>
            <a:miter lim="800000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pic>
        <p:nvPicPr>
          <p:cNvPr id="228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2713664B-4D99-EF42-B6DE-12705D88E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1562323" flipH="1">
            <a:off x="142258" y="1469288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72DC6FD6-1AFC-E748-9144-DE73526E8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ED7D31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57849" y="1222110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C900F67D-7274-A642-9508-4584921AE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972840" y="1066625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1" name="Forme libre 230">
            <a:extLst>
              <a:ext uri="{FF2B5EF4-FFF2-40B4-BE49-F238E27FC236}">
                <a16:creationId xmlns:a16="http://schemas.microsoft.com/office/drawing/2014/main" id="{F0355532-0C82-0E41-88FB-09C9BBD83C50}"/>
              </a:ext>
            </a:extLst>
          </p:cNvPr>
          <p:cNvSpPr/>
          <p:nvPr/>
        </p:nvSpPr>
        <p:spPr>
          <a:xfrm rot="20890048">
            <a:off x="338623" y="3898231"/>
            <a:ext cx="2062876" cy="303225"/>
          </a:xfrm>
          <a:custGeom>
            <a:avLst/>
            <a:gdLst>
              <a:gd name="connsiteX0" fmla="*/ 0 w 4895996"/>
              <a:gd name="connsiteY0" fmla="*/ 801624 h 801624"/>
              <a:gd name="connsiteX1" fmla="*/ 1600200 w 4895996"/>
              <a:gd name="connsiteY1" fmla="*/ 152400 h 801624"/>
              <a:gd name="connsiteX2" fmla="*/ 3465576 w 4895996"/>
              <a:gd name="connsiteY2" fmla="*/ 353568 h 801624"/>
              <a:gd name="connsiteX3" fmla="*/ 4791456 w 4895996"/>
              <a:gd name="connsiteY3" fmla="*/ 24384 h 801624"/>
              <a:gd name="connsiteX4" fmla="*/ 4809744 w 4895996"/>
              <a:gd name="connsiteY4" fmla="*/ 24384 h 801624"/>
              <a:gd name="connsiteX0" fmla="*/ 0 w 5477256"/>
              <a:gd name="connsiteY0" fmla="*/ 789157 h 789157"/>
              <a:gd name="connsiteX1" fmla="*/ 1600200 w 5477256"/>
              <a:gd name="connsiteY1" fmla="*/ 139933 h 789157"/>
              <a:gd name="connsiteX2" fmla="*/ 3465576 w 5477256"/>
              <a:gd name="connsiteY2" fmla="*/ 341101 h 789157"/>
              <a:gd name="connsiteX3" fmla="*/ 4791456 w 5477256"/>
              <a:gd name="connsiteY3" fmla="*/ 11917 h 789157"/>
              <a:gd name="connsiteX4" fmla="*/ 5477256 w 5477256"/>
              <a:gd name="connsiteY4" fmla="*/ 66781 h 789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7256" h="789157">
                <a:moveTo>
                  <a:pt x="0" y="789157"/>
                </a:moveTo>
                <a:cubicBezTo>
                  <a:pt x="511302" y="501883"/>
                  <a:pt x="1022604" y="214609"/>
                  <a:pt x="1600200" y="139933"/>
                </a:cubicBezTo>
                <a:cubicBezTo>
                  <a:pt x="2177796" y="65257"/>
                  <a:pt x="2933700" y="362437"/>
                  <a:pt x="3465576" y="341101"/>
                </a:cubicBezTo>
                <a:cubicBezTo>
                  <a:pt x="3997452" y="319765"/>
                  <a:pt x="4456176" y="57637"/>
                  <a:pt x="4791456" y="11917"/>
                </a:cubicBezTo>
                <a:cubicBezTo>
                  <a:pt x="5126736" y="-33803"/>
                  <a:pt x="5477256" y="66781"/>
                  <a:pt x="5477256" y="66781"/>
                </a:cubicBezTo>
              </a:path>
            </a:pathLst>
          </a:custGeom>
          <a:noFill/>
          <a:ln w="76200" cap="flat" cmpd="sng" algn="ctr">
            <a:solidFill>
              <a:srgbClr val="4472C4">
                <a:lumMod val="40000"/>
                <a:lumOff val="60000"/>
              </a:srgbClr>
            </a:solidFill>
            <a:prstDash val="solid"/>
            <a:miter lim="800000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pic>
        <p:nvPicPr>
          <p:cNvPr id="232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A6CEA34F-966A-A242-9722-2C6889FFF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422040" y="3713631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63536022-C400-A841-A433-FFDA390FB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ED7D31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183887" y="3579680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" name="Forme libre 233">
            <a:extLst>
              <a:ext uri="{FF2B5EF4-FFF2-40B4-BE49-F238E27FC236}">
                <a16:creationId xmlns:a16="http://schemas.microsoft.com/office/drawing/2014/main" id="{6769ABAB-0198-844E-89D7-4B452DF75849}"/>
              </a:ext>
            </a:extLst>
          </p:cNvPr>
          <p:cNvSpPr/>
          <p:nvPr/>
        </p:nvSpPr>
        <p:spPr>
          <a:xfrm rot="20890048">
            <a:off x="3010105" y="3457824"/>
            <a:ext cx="2353170" cy="441149"/>
          </a:xfrm>
          <a:custGeom>
            <a:avLst/>
            <a:gdLst>
              <a:gd name="connsiteX0" fmla="*/ 0 w 4895996"/>
              <a:gd name="connsiteY0" fmla="*/ 801624 h 801624"/>
              <a:gd name="connsiteX1" fmla="*/ 1600200 w 4895996"/>
              <a:gd name="connsiteY1" fmla="*/ 152400 h 801624"/>
              <a:gd name="connsiteX2" fmla="*/ 3465576 w 4895996"/>
              <a:gd name="connsiteY2" fmla="*/ 353568 h 801624"/>
              <a:gd name="connsiteX3" fmla="*/ 4791456 w 4895996"/>
              <a:gd name="connsiteY3" fmla="*/ 24384 h 801624"/>
              <a:gd name="connsiteX4" fmla="*/ 4809744 w 4895996"/>
              <a:gd name="connsiteY4" fmla="*/ 24384 h 801624"/>
              <a:gd name="connsiteX0" fmla="*/ 0 w 5477256"/>
              <a:gd name="connsiteY0" fmla="*/ 789157 h 789157"/>
              <a:gd name="connsiteX1" fmla="*/ 1600200 w 5477256"/>
              <a:gd name="connsiteY1" fmla="*/ 139933 h 789157"/>
              <a:gd name="connsiteX2" fmla="*/ 3465576 w 5477256"/>
              <a:gd name="connsiteY2" fmla="*/ 341101 h 789157"/>
              <a:gd name="connsiteX3" fmla="*/ 4791456 w 5477256"/>
              <a:gd name="connsiteY3" fmla="*/ 11917 h 789157"/>
              <a:gd name="connsiteX4" fmla="*/ 5477256 w 5477256"/>
              <a:gd name="connsiteY4" fmla="*/ 66781 h 789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7256" h="789157">
                <a:moveTo>
                  <a:pt x="0" y="789157"/>
                </a:moveTo>
                <a:cubicBezTo>
                  <a:pt x="511302" y="501883"/>
                  <a:pt x="1022604" y="214609"/>
                  <a:pt x="1600200" y="139933"/>
                </a:cubicBezTo>
                <a:cubicBezTo>
                  <a:pt x="2177796" y="65257"/>
                  <a:pt x="2933700" y="362437"/>
                  <a:pt x="3465576" y="341101"/>
                </a:cubicBezTo>
                <a:cubicBezTo>
                  <a:pt x="3997452" y="319765"/>
                  <a:pt x="4456176" y="57637"/>
                  <a:pt x="4791456" y="11917"/>
                </a:cubicBezTo>
                <a:cubicBezTo>
                  <a:pt x="5126736" y="-33803"/>
                  <a:pt x="5477256" y="66781"/>
                  <a:pt x="5477256" y="66781"/>
                </a:cubicBezTo>
              </a:path>
            </a:pathLst>
          </a:custGeom>
          <a:noFill/>
          <a:ln w="76200" cap="flat" cmpd="sng" algn="ctr">
            <a:solidFill>
              <a:srgbClr val="4472C4">
                <a:lumMod val="40000"/>
                <a:lumOff val="60000"/>
              </a:srgbClr>
            </a:solidFill>
            <a:prstDash val="solid"/>
            <a:miter lim="800000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pic>
        <p:nvPicPr>
          <p:cNvPr id="235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A048B271-85C5-944A-B975-8B1FB3E6B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ED7D31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3591179" y="3243188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7CDB49F1-B660-994B-9B54-409A2DC23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4151712" y="3065673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75CEB4B4-6B68-4641-88E4-B024595CD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ED7D31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2999318" y="3501722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C4AB1126-7283-5A47-BC4A-AFD4BE14A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ED7D31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084745" y="2332745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7208E6F6-E531-C443-AB5D-37DE980FA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ED7D31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843932" y="2282681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44A2E765-3825-0F41-8516-F61593BB6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ED7D31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2428589" y="2411921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1FB5276B-2470-0845-B0E5-E8A1C5A67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508548" y="2479145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Picture 2" descr="ésultat de recherche d'images pour &quot;icon alzheimer&quot;">
            <a:extLst>
              <a:ext uri="{FF2B5EF4-FFF2-40B4-BE49-F238E27FC236}">
                <a16:creationId xmlns:a16="http://schemas.microsoft.com/office/drawing/2014/main" id="{F6761ACF-72BE-DC4D-A339-7E2C1D82D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4060494" y="2036802"/>
            <a:ext cx="660857" cy="6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" name="Arc 244">
            <a:extLst>
              <a:ext uri="{FF2B5EF4-FFF2-40B4-BE49-F238E27FC236}">
                <a16:creationId xmlns:a16="http://schemas.microsoft.com/office/drawing/2014/main" id="{8C2D008C-0757-4A46-9A58-A7EE3BBBB6AC}"/>
              </a:ext>
            </a:extLst>
          </p:cNvPr>
          <p:cNvSpPr/>
          <p:nvPr/>
        </p:nvSpPr>
        <p:spPr>
          <a:xfrm rot="19393999">
            <a:off x="3933293" y="1061127"/>
            <a:ext cx="282249" cy="1079244"/>
          </a:xfrm>
          <a:prstGeom prst="arc">
            <a:avLst>
              <a:gd name="adj1" fmla="val 17908763"/>
              <a:gd name="adj2" fmla="val 5003748"/>
            </a:avLst>
          </a:prstGeom>
          <a:noFill/>
          <a:ln w="57150" cap="flat" cmpd="sng" algn="ctr">
            <a:solidFill>
              <a:srgbClr val="5B9BD5">
                <a:lumMod val="75000"/>
              </a:srgbClr>
            </a:solidFill>
            <a:prstDash val="solid"/>
            <a:miter lim="800000"/>
            <a:head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392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2.22222E-6 L 0.03993 0.19629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1" y="10123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97531E-6 L -0.04635 -0.17839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6" y="-892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59259E-6 L -0.01094 -0.24228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2" y="-1216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07407E-6 L 0.09704 0.206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65" y="1012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95062E-6 L -0.06232 -0.21173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3" y="-10525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0.00308 L -0.06684 -0.1777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51" y="-9043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83951E-6 L 0.17309 0.21543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10772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59259E-6 L -0.0099 -0.2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1" y="-1012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45679E-6 L -0.01388 -0.21605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9" y="-11049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08642E-6 L -0.02917 -0.20247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8" y="-10123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44444E-6 L -0.01059 -0.25865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8" y="-12932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48148E-6 L -0.03993 -0.1963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4" y="-9136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59259E-6 L -0.06771 -0.20803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85" y="-104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nimBg="1"/>
      <p:bldP spid="197" grpId="0"/>
      <p:bldP spid="201" grpId="0" animBg="1"/>
      <p:bldP spid="202" grpId="0"/>
      <p:bldP spid="203" grpId="0" animBg="1"/>
      <p:bldP spid="204" grpId="0"/>
      <p:bldP spid="226" grpId="0" animBg="1"/>
      <p:bldP spid="231" grpId="0" animBg="1"/>
      <p:bldP spid="234" grpId="0" animBg="1"/>
      <p:bldP spid="2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>
            <a:spLocks/>
          </p:cNvSpPr>
          <p:nvPr/>
        </p:nvSpPr>
        <p:spPr bwMode="auto">
          <a:xfrm rot="20690600">
            <a:off x="1383304" y="1086858"/>
            <a:ext cx="4134583" cy="527882"/>
          </a:xfrm>
          <a:custGeom>
            <a:avLst/>
            <a:gdLst>
              <a:gd name="T0" fmla="*/ 0 w 6939858"/>
              <a:gd name="T1" fmla="*/ 96785 h 1254984"/>
              <a:gd name="T2" fmla="*/ 933658 w 6939858"/>
              <a:gd name="T3" fmla="*/ 24817 h 1254984"/>
              <a:gd name="T4" fmla="*/ 2917680 w 6939858"/>
              <a:gd name="T5" fmla="*/ 245685 h 1254984"/>
              <a:gd name="T6" fmla="*/ 4464050 w 6939858"/>
              <a:gd name="T7" fmla="*/ 198533 h 12549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939858" h="1254984">
                <a:moveTo>
                  <a:pt x="0" y="442268"/>
                </a:moveTo>
                <a:cubicBezTo>
                  <a:pt x="347749" y="221134"/>
                  <a:pt x="695498" y="0"/>
                  <a:pt x="1451474" y="113402"/>
                </a:cubicBezTo>
                <a:cubicBezTo>
                  <a:pt x="2207450" y="226804"/>
                  <a:pt x="3621125" y="990380"/>
                  <a:pt x="4535855" y="1122682"/>
                </a:cubicBezTo>
                <a:cubicBezTo>
                  <a:pt x="5450585" y="1254984"/>
                  <a:pt x="6939858" y="907217"/>
                  <a:pt x="6939858" y="907217"/>
                </a:cubicBezTo>
              </a:path>
            </a:pathLst>
          </a:custGeom>
          <a:noFill/>
          <a:ln w="28575" cap="flat" cmpd="sng">
            <a:solidFill>
              <a:schemeClr val="accent6"/>
            </a:solidFill>
            <a:prstDash val="dash"/>
            <a:round/>
            <a:headEnd/>
            <a:tailEnd type="stealth" w="lg" len="lg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 sz="1534"/>
          </a:p>
        </p:txBody>
      </p:sp>
      <p:pic>
        <p:nvPicPr>
          <p:cNvPr id="11" name="Image 29" descr="Multimodal_structure_retouch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3008478" y="1106053"/>
            <a:ext cx="884233" cy="59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30" descr="Multimodal_structure_retouch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4416941" y="834142"/>
            <a:ext cx="884233" cy="59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27" descr="Multimodal_structure_retouch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451629" y="1241139"/>
            <a:ext cx="884233" cy="59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Freeform 28"/>
          <p:cNvSpPr>
            <a:spLocks/>
          </p:cNvSpPr>
          <p:nvPr/>
        </p:nvSpPr>
        <p:spPr bwMode="auto">
          <a:xfrm rot="20416410">
            <a:off x="4937841" y="3813182"/>
            <a:ext cx="2984054" cy="296466"/>
          </a:xfrm>
          <a:custGeom>
            <a:avLst/>
            <a:gdLst>
              <a:gd name="T0" fmla="*/ 0 w 6939858"/>
              <a:gd name="T1" fmla="*/ 139303 h 1254984"/>
              <a:gd name="T2" fmla="*/ 786902 w 6939858"/>
              <a:gd name="T3" fmla="*/ 35719 h 1254984"/>
              <a:gd name="T4" fmla="*/ 2459069 w 6939858"/>
              <a:gd name="T5" fmla="*/ 353616 h 1254984"/>
              <a:gd name="T6" fmla="*/ 3762375 w 6939858"/>
              <a:gd name="T7" fmla="*/ 285750 h 12549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939858" h="1254984">
                <a:moveTo>
                  <a:pt x="0" y="442268"/>
                </a:moveTo>
                <a:cubicBezTo>
                  <a:pt x="347749" y="221134"/>
                  <a:pt x="695498" y="0"/>
                  <a:pt x="1451474" y="113402"/>
                </a:cubicBezTo>
                <a:cubicBezTo>
                  <a:pt x="2207450" y="226804"/>
                  <a:pt x="3621125" y="990380"/>
                  <a:pt x="4535855" y="1122682"/>
                </a:cubicBezTo>
                <a:cubicBezTo>
                  <a:pt x="5450585" y="1254984"/>
                  <a:pt x="6939858" y="907217"/>
                  <a:pt x="6939858" y="907217"/>
                </a:cubicBezTo>
              </a:path>
            </a:pathLst>
          </a:custGeom>
          <a:noFill/>
          <a:ln w="28575" cap="flat" cmpd="sng">
            <a:solidFill>
              <a:schemeClr val="accent6"/>
            </a:solidFill>
            <a:prstDash val="dash"/>
            <a:round/>
            <a:headEnd/>
            <a:tailEnd type="stealth" w="lg" len="lg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 sz="1534"/>
          </a:p>
        </p:txBody>
      </p:sp>
      <p:pic>
        <p:nvPicPr>
          <p:cNvPr id="15" name="Image 31" descr="Multimodal_structure_retouch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6629717" y="3538321"/>
            <a:ext cx="884233" cy="59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Image 33" descr="Multimodal_structure_retouch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5225971" y="3862171"/>
            <a:ext cx="884233" cy="59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reeform 28"/>
          <p:cNvSpPr>
            <a:spLocks/>
          </p:cNvSpPr>
          <p:nvPr/>
        </p:nvSpPr>
        <p:spPr bwMode="auto">
          <a:xfrm rot="20416410">
            <a:off x="1234022" y="3621371"/>
            <a:ext cx="2739179" cy="296466"/>
          </a:xfrm>
          <a:custGeom>
            <a:avLst/>
            <a:gdLst>
              <a:gd name="T0" fmla="*/ 0 w 6939858"/>
              <a:gd name="T1" fmla="*/ 139303 h 1254984"/>
              <a:gd name="T2" fmla="*/ 671689 w 6939858"/>
              <a:gd name="T3" fmla="*/ 35719 h 1254984"/>
              <a:gd name="T4" fmla="*/ 2099027 w 6939858"/>
              <a:gd name="T5" fmla="*/ 353616 h 1254984"/>
              <a:gd name="T6" fmla="*/ 3211512 w 6939858"/>
              <a:gd name="T7" fmla="*/ 285750 h 12549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939858" h="1254984">
                <a:moveTo>
                  <a:pt x="0" y="442268"/>
                </a:moveTo>
                <a:cubicBezTo>
                  <a:pt x="347749" y="221134"/>
                  <a:pt x="695498" y="0"/>
                  <a:pt x="1451474" y="113402"/>
                </a:cubicBezTo>
                <a:cubicBezTo>
                  <a:pt x="2207450" y="226804"/>
                  <a:pt x="3621125" y="990380"/>
                  <a:pt x="4535855" y="1122682"/>
                </a:cubicBezTo>
                <a:cubicBezTo>
                  <a:pt x="5450585" y="1254984"/>
                  <a:pt x="6939858" y="907217"/>
                  <a:pt x="6939858" y="907217"/>
                </a:cubicBezTo>
              </a:path>
            </a:pathLst>
          </a:custGeom>
          <a:noFill/>
          <a:ln w="28575" cap="flat" cmpd="sng">
            <a:solidFill>
              <a:schemeClr val="accent6"/>
            </a:solidFill>
            <a:prstDash val="dash"/>
            <a:round/>
            <a:headEnd/>
            <a:tailEnd type="stealth" w="lg" len="lg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 sz="1534"/>
          </a:p>
        </p:txBody>
      </p:sp>
      <p:pic>
        <p:nvPicPr>
          <p:cNvPr id="18" name="Image 38" descr="Multimodal_structure_retouch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2816586" y="3373670"/>
            <a:ext cx="884233" cy="59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 39" descr="Multimodal_structure_retouch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525899" y="3689061"/>
            <a:ext cx="884233" cy="59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Freeform 28"/>
          <p:cNvSpPr>
            <a:spLocks/>
          </p:cNvSpPr>
          <p:nvPr/>
        </p:nvSpPr>
        <p:spPr bwMode="auto">
          <a:xfrm rot="20740070">
            <a:off x="1737440" y="2364266"/>
            <a:ext cx="5359003" cy="295275"/>
          </a:xfrm>
          <a:custGeom>
            <a:avLst/>
            <a:gdLst>
              <a:gd name="T0" fmla="*/ 0 w 6939858"/>
              <a:gd name="T1" fmla="*/ 138744 h 1254984"/>
              <a:gd name="T2" fmla="*/ 1494450 w 6939858"/>
              <a:gd name="T3" fmla="*/ 35575 h 1254984"/>
              <a:gd name="T4" fmla="*/ 4670155 w 6939858"/>
              <a:gd name="T5" fmla="*/ 352196 h 1254984"/>
              <a:gd name="T6" fmla="*/ 7145337 w 6939858"/>
              <a:gd name="T7" fmla="*/ 284602 h 12549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939858" h="1254984">
                <a:moveTo>
                  <a:pt x="0" y="442268"/>
                </a:moveTo>
                <a:cubicBezTo>
                  <a:pt x="347749" y="221134"/>
                  <a:pt x="695498" y="0"/>
                  <a:pt x="1451474" y="113402"/>
                </a:cubicBezTo>
                <a:cubicBezTo>
                  <a:pt x="2207450" y="226804"/>
                  <a:pt x="3621125" y="990380"/>
                  <a:pt x="4535855" y="1122682"/>
                </a:cubicBezTo>
                <a:cubicBezTo>
                  <a:pt x="5450585" y="1254984"/>
                  <a:pt x="6939858" y="907217"/>
                  <a:pt x="6939858" y="907217"/>
                </a:cubicBezTo>
              </a:path>
            </a:pathLst>
          </a:custGeom>
          <a:noFill/>
          <a:ln w="28575" cap="flat" cmpd="sng">
            <a:solidFill>
              <a:schemeClr val="accent1"/>
            </a:solidFill>
            <a:prstDash val="dash"/>
            <a:round/>
            <a:headEnd/>
            <a:tailEnd type="stealth" w="lg" len="lg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 sz="1534"/>
          </a:p>
        </p:txBody>
      </p:sp>
      <p:sp>
        <p:nvSpPr>
          <p:cNvPr id="21" name="ZoneTexte 1"/>
          <p:cNvSpPr txBox="1">
            <a:spLocks noChangeArrowheads="1"/>
          </p:cNvSpPr>
          <p:nvPr/>
        </p:nvSpPr>
        <p:spPr bwMode="auto">
          <a:xfrm>
            <a:off x="6467792" y="555526"/>
            <a:ext cx="3238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r>
              <a:rPr lang="fr-FR" altLang="x-none" sz="30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421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4.81481E-6 L 0.06458 0.26042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29" y="1300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85185E-6 L -0.00078 -0.1838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919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59259E-6 L 0.07175 0.23194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81" y="11597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96296E-6 L -0.0888 -0.3159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40" y="-1581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7 L 0.09205 0.21944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6" y="10972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07407E-6 L -0.06523 -0.32893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85" y="-16458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-0.00885 -0.17037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-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85 -0.17037 L -0.10091 -0.42569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09" y="-12778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58 0.26041 L 1.25E-6 -4.81481E-6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9" y="-12894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1838 L -0.07448 -0.43982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85" y="-12801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175 0.23194 L -1.25E-6 2.59259E-6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94" y="-11597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8 -0.31598 L -0.16484 -0.54977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02" y="-1169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205 0.21944 L 2.5E-6 3.7037E-7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09" y="-10972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523 -0.32893 L -0.1194 -0.57245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-12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7" grpId="0" animBg="1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/>
          <p:cNvSpPr txBox="1"/>
          <p:nvPr/>
        </p:nvSpPr>
        <p:spPr>
          <a:xfrm>
            <a:off x="2198186" y="1564750"/>
            <a:ext cx="6072978" cy="125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70000"/>
              </a:lnSpc>
            </a:pPr>
            <a:r>
              <a:rPr lang="fr-FR" sz="2400" b="1">
                <a:latin typeface="Avenir Book" panose="02000503020000020003" pitchFamily="2" charset="0"/>
                <a:cs typeface="Arial"/>
              </a:rPr>
              <a:t>Disease Course Map:</a:t>
            </a:r>
          </a:p>
          <a:p>
            <a:pPr algn="r">
              <a:lnSpc>
                <a:spcPct val="70000"/>
              </a:lnSpc>
            </a:pPr>
            <a:endParaRPr lang="fr-FR" sz="2700" b="1">
              <a:solidFill>
                <a:schemeClr val="bg1"/>
              </a:solidFill>
              <a:latin typeface="Avenir Book" panose="02000503020000020003" pitchFamily="2" charset="0"/>
              <a:cs typeface="Arial"/>
            </a:endParaRPr>
          </a:p>
          <a:p>
            <a:pPr algn="r">
              <a:lnSpc>
                <a:spcPct val="70000"/>
              </a:lnSpc>
            </a:pPr>
            <a:r>
              <a:rPr lang="fr-FR" sz="2100" i="1">
                <a:latin typeface="Avenir Book" panose="02000503020000020003" pitchFamily="2" charset="0"/>
                <a:cs typeface="Arial"/>
              </a:rPr>
              <a:t>an atlas of disease progression</a:t>
            </a:r>
            <a:endParaRPr lang="fr-FR" sz="2100">
              <a:latin typeface="Avenir Book" panose="02000503020000020003" pitchFamily="2" charset="0"/>
              <a:cs typeface="Arial"/>
            </a:endParaRPr>
          </a:p>
          <a:p>
            <a:pPr algn="r">
              <a:lnSpc>
                <a:spcPct val="70000"/>
              </a:lnSpc>
            </a:pPr>
            <a:endParaRPr lang="fr-FR" sz="3300" b="1">
              <a:solidFill>
                <a:schemeClr val="bg1"/>
              </a:solidFill>
              <a:latin typeface="Avenir Book" panose="02000503020000020003" pitchFamily="2" charset="0"/>
              <a:cs typeface="Arial"/>
            </a:endParaRPr>
          </a:p>
        </p:txBody>
      </p:sp>
      <p:cxnSp>
        <p:nvCxnSpPr>
          <p:cNvPr id="16" name="Connecteur droit 15"/>
          <p:cNvCxnSpPr>
            <a:cxnSpLocks/>
          </p:cNvCxnSpPr>
          <p:nvPr/>
        </p:nvCxnSpPr>
        <p:spPr>
          <a:xfrm>
            <a:off x="779318" y="1057217"/>
            <a:ext cx="7491846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>
            <a:cxnSpLocks/>
          </p:cNvCxnSpPr>
          <p:nvPr/>
        </p:nvCxnSpPr>
        <p:spPr>
          <a:xfrm>
            <a:off x="6084247" y="4288832"/>
            <a:ext cx="1435530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42">
            <a:extLst>
              <a:ext uri="{FF2B5EF4-FFF2-40B4-BE49-F238E27FC236}">
                <a16:creationId xmlns:a16="http://schemas.microsoft.com/office/drawing/2014/main" id="{CE088388-A506-C343-9A97-3376626DA156}"/>
              </a:ext>
            </a:extLst>
          </p:cNvPr>
          <p:cNvCxnSpPr>
            <a:cxnSpLocks/>
          </p:cNvCxnSpPr>
          <p:nvPr/>
        </p:nvCxnSpPr>
        <p:spPr>
          <a:xfrm flipV="1">
            <a:off x="5658210" y="4471325"/>
            <a:ext cx="0" cy="30522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608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3913D83-D4FB-824F-B488-04F3A9E1872F}"/>
              </a:ext>
            </a:extLst>
          </p:cNvPr>
          <p:cNvSpPr/>
          <p:nvPr/>
        </p:nvSpPr>
        <p:spPr>
          <a:xfrm>
            <a:off x="1100546" y="3717273"/>
            <a:ext cx="7124782" cy="1355944"/>
          </a:xfrm>
          <a:prstGeom prst="roundRect">
            <a:avLst>
              <a:gd name="adj" fmla="val 1782"/>
            </a:avLst>
          </a:prstGeom>
          <a:solidFill>
            <a:srgbClr val="FEFCFF"/>
          </a:solidFill>
          <a:ln w="19050">
            <a:solidFill>
              <a:schemeClr val="bg2">
                <a:lumMod val="50000"/>
              </a:schemeClr>
            </a:solidFill>
          </a:ln>
          <a:effectLst>
            <a:outerShdw blurRad="127000" dist="127000" dir="6000000" sx="102000" sy="102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321C4F-1A55-2C4C-85BC-F6A499F0BC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202190" y="1620189"/>
            <a:ext cx="2896488" cy="206718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B36ABA4-CE4D-2446-8A59-E0E5F9B98EF0}"/>
              </a:ext>
            </a:extLst>
          </p:cNvPr>
          <p:cNvSpPr txBox="1"/>
          <p:nvPr/>
        </p:nvSpPr>
        <p:spPr>
          <a:xfrm>
            <a:off x="0" y="1218277"/>
            <a:ext cx="506037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venir Book" panose="02000503020000020003" pitchFamily="2" charset="0"/>
              </a:rPr>
              <a:t>Longitudinal progression of two biomarkers for three patients </a:t>
            </a:r>
            <a:br>
              <a:rPr lang="en-US" sz="1400" dirty="0">
                <a:latin typeface="Avenir Book" panose="02000503020000020003" pitchFamily="2" charset="0"/>
              </a:rPr>
            </a:br>
            <a:r>
              <a:rPr lang="en-US" sz="1100" dirty="0">
                <a:latin typeface="Avenir Book" panose="02000503020000020003" pitchFamily="2" charset="0"/>
              </a:rPr>
              <a:t>NB: All biomarkers are normalized between 0 and 1 (increasing progression)</a:t>
            </a:r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9EEC8062-045A-7E46-A6E6-56465CC848F7}"/>
              </a:ext>
            </a:extLst>
          </p:cNvPr>
          <p:cNvSpPr/>
          <p:nvPr/>
        </p:nvSpPr>
        <p:spPr>
          <a:xfrm rot="5400000">
            <a:off x="4298835" y="2409637"/>
            <a:ext cx="784565" cy="1562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A3D2E78-71DA-4741-B3A6-A279F316CF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366"/>
          <a:stretch/>
        </p:blipFill>
        <p:spPr>
          <a:xfrm>
            <a:off x="5336597" y="1536883"/>
            <a:ext cx="3211949" cy="196299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C068C10-3FF3-3246-BDD2-B35725079EC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t="7682" b="28281"/>
          <a:stretch/>
        </p:blipFill>
        <p:spPr>
          <a:xfrm>
            <a:off x="1272808" y="3755272"/>
            <a:ext cx="6776035" cy="1238715"/>
          </a:xfrm>
          <a:prstGeom prst="rect">
            <a:avLst/>
          </a:prstGeom>
        </p:spPr>
      </p:pic>
      <p:grpSp>
        <p:nvGrpSpPr>
          <p:cNvPr id="25" name="Groupe 24">
            <a:extLst>
              <a:ext uri="{FF2B5EF4-FFF2-40B4-BE49-F238E27FC236}">
                <a16:creationId xmlns:a16="http://schemas.microsoft.com/office/drawing/2014/main" id="{4452A105-9718-9540-95BA-991A914045E3}"/>
              </a:ext>
            </a:extLst>
          </p:cNvPr>
          <p:cNvGrpSpPr/>
          <p:nvPr/>
        </p:nvGrpSpPr>
        <p:grpSpPr>
          <a:xfrm>
            <a:off x="4316734" y="2251677"/>
            <a:ext cx="2883419" cy="1673204"/>
            <a:chOff x="4316734" y="2251677"/>
            <a:chExt cx="2883419" cy="1673204"/>
          </a:xfrm>
        </p:grpSpPr>
        <p:pic>
          <p:nvPicPr>
            <p:cNvPr id="10" name="Picture 6" descr="Magnifying Glass Vector SVG Icon (43) - SVG Repo Free SVG Icons">
              <a:extLst>
                <a:ext uri="{FF2B5EF4-FFF2-40B4-BE49-F238E27FC236}">
                  <a16:creationId xmlns:a16="http://schemas.microsoft.com/office/drawing/2014/main" id="{9E2BA1A0-7272-F748-9462-EC81E59B6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209248">
              <a:off x="4316734" y="3236702"/>
              <a:ext cx="688179" cy="6881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B604F7E9-F148-BA48-BDE9-A3DBCEE0353F}"/>
                </a:ext>
              </a:extLst>
            </p:cNvPr>
            <p:cNvCxnSpPr>
              <a:cxnSpLocks/>
              <a:stCxn id="10" idx="3"/>
              <a:endCxn id="12" idx="5"/>
            </p:cNvCxnSpPr>
            <p:nvPr/>
          </p:nvCxnSpPr>
          <p:spPr>
            <a:xfrm flipV="1">
              <a:off x="4983844" y="2842084"/>
              <a:ext cx="2021253" cy="857263"/>
            </a:xfrm>
            <a:prstGeom prst="line">
              <a:avLst/>
            </a:prstGeom>
            <a:ln w="38100">
              <a:solidFill>
                <a:srgbClr val="B7BC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BA6A692A-E592-3548-917F-501133D72C9E}"/>
                </a:ext>
              </a:extLst>
            </p:cNvPr>
            <p:cNvSpPr/>
            <p:nvPr/>
          </p:nvSpPr>
          <p:spPr>
            <a:xfrm rot="21500063">
              <a:off x="5819924" y="2251677"/>
              <a:ext cx="1380229" cy="708447"/>
            </a:xfrm>
            <a:prstGeom prst="ellipse">
              <a:avLst/>
            </a:prstGeom>
            <a:noFill/>
            <a:ln w="38100">
              <a:solidFill>
                <a:srgbClr val="B7BC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0502106A-F482-764C-B96A-4CAA6F1AC0D9}"/>
                </a:ext>
              </a:extLst>
            </p:cNvPr>
            <p:cNvCxnSpPr>
              <a:cxnSpLocks/>
              <a:stCxn id="10" idx="0"/>
              <a:endCxn id="12" idx="2"/>
            </p:cNvCxnSpPr>
            <p:nvPr/>
          </p:nvCxnSpPr>
          <p:spPr>
            <a:xfrm flipV="1">
              <a:off x="4779379" y="2625960"/>
              <a:ext cx="1040837" cy="631811"/>
            </a:xfrm>
            <a:prstGeom prst="line">
              <a:avLst/>
            </a:prstGeom>
            <a:ln w="38100">
              <a:solidFill>
                <a:srgbClr val="B7BC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DF94ADFE-9D65-CD43-8D4B-5B2084F46689}"/>
              </a:ext>
            </a:extLst>
          </p:cNvPr>
          <p:cNvSpPr txBox="1"/>
          <p:nvPr/>
        </p:nvSpPr>
        <p:spPr>
          <a:xfrm>
            <a:off x="5809919" y="1042154"/>
            <a:ext cx="2896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venir Book" panose="02000503020000020003" pitchFamily="2" charset="0"/>
              </a:rPr>
              <a:t>Average progression of the biomarkers: 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latin typeface="Avenir Book" panose="02000503020000020003" pitchFamily="2" charset="0"/>
              </a:rPr>
              <a:t>Long temporal description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latin typeface="Avenir Book" panose="02000503020000020003" pitchFamily="2" charset="0"/>
              </a:rPr>
              <a:t>Without individual variability</a:t>
            </a:r>
          </a:p>
          <a:p>
            <a:pPr marL="285750" indent="-285750">
              <a:buFontTx/>
              <a:buChar char="-"/>
            </a:pP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F4C1C955-F4DF-E743-8F1F-E4FB98445288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Model intuition</a:t>
            </a:r>
          </a:p>
        </p:txBody>
      </p:sp>
    </p:spTree>
    <p:extLst>
      <p:ext uri="{BB962C8B-B14F-4D97-AF65-F5344CB8AC3E}">
        <p14:creationId xmlns:p14="http://schemas.microsoft.com/office/powerpoint/2010/main" val="243265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466FE0F-7473-3A44-A801-7D61853DD28D}"/>
              </a:ext>
            </a:extLst>
          </p:cNvPr>
          <p:cNvSpPr/>
          <p:nvPr/>
        </p:nvSpPr>
        <p:spPr>
          <a:xfrm>
            <a:off x="1704975" y="1081512"/>
            <a:ext cx="5681868" cy="2065358"/>
          </a:xfrm>
          <a:prstGeom prst="roundRect">
            <a:avLst>
              <a:gd name="adj" fmla="val 1782"/>
            </a:avLst>
          </a:prstGeom>
          <a:solidFill>
            <a:srgbClr val="FEFCFF"/>
          </a:solidFill>
          <a:ln w="19050">
            <a:solidFill>
              <a:schemeClr val="bg2">
                <a:lumMod val="50000"/>
              </a:schemeClr>
            </a:solidFill>
          </a:ln>
          <a:effectLst>
            <a:outerShdw blurRad="127000" dist="127000" dir="6000000" sx="102000" sy="102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321C4F-1A55-2C4C-85BC-F6A499F0BC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949904" y="1482572"/>
            <a:ext cx="2220874" cy="158500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B36ABA4-CE4D-2446-8A59-E0E5F9B98EF0}"/>
              </a:ext>
            </a:extLst>
          </p:cNvPr>
          <p:cNvSpPr txBox="1"/>
          <p:nvPr/>
        </p:nvSpPr>
        <p:spPr>
          <a:xfrm>
            <a:off x="1921706" y="1078858"/>
            <a:ext cx="237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Avenir Book" panose="02000503020000020003" pitchFamily="2" charset="0"/>
              </a:rPr>
              <a:t>Longitudinal progression of two biomarkers for three patients 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9EEC8062-045A-7E46-A6E6-56465CC848F7}"/>
              </a:ext>
            </a:extLst>
          </p:cNvPr>
          <p:cNvSpPr/>
          <p:nvPr/>
        </p:nvSpPr>
        <p:spPr>
          <a:xfrm rot="5400000">
            <a:off x="4155151" y="2084622"/>
            <a:ext cx="784565" cy="1562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A3D2E78-71DA-4741-B3A6-A279F316CF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822" b="14366"/>
          <a:stretch/>
        </p:blipFill>
        <p:spPr>
          <a:xfrm>
            <a:off x="4876464" y="1410206"/>
            <a:ext cx="2220874" cy="1505123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DF94ADFE-9D65-CD43-8D4B-5B2084F46689}"/>
              </a:ext>
            </a:extLst>
          </p:cNvPr>
          <p:cNvSpPr txBox="1"/>
          <p:nvPr/>
        </p:nvSpPr>
        <p:spPr>
          <a:xfrm>
            <a:off x="5241311" y="1078858"/>
            <a:ext cx="1828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Avenir Book" panose="02000503020000020003" pitchFamily="2" charset="0"/>
              </a:rPr>
              <a:t>Average progression of the biomarkers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F4C1C955-F4DF-E743-8F1F-E4FB98445288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Model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">
                <a:extLst>
                  <a:ext uri="{FF2B5EF4-FFF2-40B4-BE49-F238E27FC236}">
                    <a16:creationId xmlns:a16="http://schemas.microsoft.com/office/drawing/2014/main" id="{BA4BAB27-3031-4242-9D66-C7D94CB0183E}"/>
                  </a:ext>
                </a:extLst>
              </p:cNvPr>
              <p:cNvSpPr txBox="1"/>
              <p:nvPr/>
            </p:nvSpPr>
            <p:spPr>
              <a:xfrm>
                <a:off x="882869" y="3468639"/>
                <a:ext cx="750794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200" dirty="0">
                    <a:latin typeface="Avenir Book" panose="02000503020000020003" pitchFamily="2" charset="0"/>
                  </a:rPr>
                  <a:t>We estimate simultaneously:</a:t>
                </a:r>
              </a:p>
              <a:p>
                <a:pPr marL="285750" indent="-285750">
                  <a:buFontTx/>
                  <a:buChar char="-"/>
                </a:pPr>
                <a:r>
                  <a:rPr lang="en-AU" sz="1200" b="1" dirty="0">
                    <a:latin typeface="Avenir Book" panose="02000503020000020003" pitchFamily="2" charset="0"/>
                  </a:rPr>
                  <a:t>population</a:t>
                </a:r>
                <a:r>
                  <a:rPr lang="en-AU" sz="1200" dirty="0">
                    <a:latin typeface="Avenir Book" panose="02000503020000020003" pitchFamily="2" charset="0"/>
                  </a:rPr>
                  <a:t> </a:t>
                </a:r>
                <a:r>
                  <a:rPr lang="en-AU" sz="1200" b="1" dirty="0">
                    <a:latin typeface="Avenir Book" panose="02000503020000020003" pitchFamily="2" charset="0"/>
                  </a:rPr>
                  <a:t>parameters</a:t>
                </a:r>
                <a:r>
                  <a:rPr lang="en-AU" sz="1200" dirty="0">
                    <a:latin typeface="Avenir Book" panose="02000503020000020003" pitchFamily="2" charset="0"/>
                  </a:rPr>
                  <a:t>: shape and position of the logistic curves so that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AU" sz="1200" dirty="0">
                    <a:latin typeface="Avenir Book" panose="02000503020000020003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AU" sz="1200" dirty="0">
                    <a:latin typeface="Avenir Book" panose="02000503020000020003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AU" sz="1200" dirty="0">
                    <a:latin typeface="Avenir Book" panose="02000503020000020003" pitchFamily="2" charset="0"/>
                  </a:rPr>
                  <a:t> across patients are zero-mean</a:t>
                </a:r>
              </a:p>
              <a:p>
                <a:pPr marL="285750" indent="-285750">
                  <a:buFontTx/>
                  <a:buChar char="-"/>
                </a:pPr>
                <a:r>
                  <a:rPr lang="en-AU" sz="1200" b="1" dirty="0">
                    <a:latin typeface="Avenir Book" panose="02000503020000020003" pitchFamily="2" charset="0"/>
                  </a:rPr>
                  <a:t>individual parameters</a:t>
                </a:r>
                <a:r>
                  <a:rPr lang="en-AU" sz="1200" dirty="0">
                    <a:latin typeface="Avenir Book" panose="02000503020000020003" pitchFamily="2" charset="0"/>
                  </a:rPr>
                  <a:t>: one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AU" sz="1200" dirty="0">
                    <a:latin typeface="Avenir Book" panose="02000503020000020003" pitchFamily="2" charset="0"/>
                  </a:rPr>
                  <a:t>, one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AU" sz="1200" dirty="0">
                    <a:latin typeface="Avenir Book" panose="02000503020000020003" pitchFamily="2" charset="0"/>
                  </a:rPr>
                  <a:t> and one </a:t>
                </a:r>
                <a14:m>
                  <m:oMath xmlns:m="http://schemas.openxmlformats.org/officeDocument/2006/math">
                    <m:r>
                      <a:rPr lang="en-AU" sz="1200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AU" sz="1200" dirty="0">
                    <a:latin typeface="Avenir Book" panose="02000503020000020003" pitchFamily="2" charset="0"/>
                  </a:rPr>
                  <a:t> per biomarkers</a:t>
                </a:r>
              </a:p>
              <a:p>
                <a:pPr marL="285750" indent="-285750">
                  <a:buFontTx/>
                  <a:buChar char="-"/>
                </a:pPr>
                <a:endParaRPr lang="en-AU" sz="1200" dirty="0">
                  <a:latin typeface="Avenir Book" panose="02000503020000020003" pitchFamily="2" charset="0"/>
                </a:endParaRPr>
              </a:p>
              <a:p>
                <a:r>
                  <a:rPr lang="en-AU" sz="1200" dirty="0">
                    <a:latin typeface="Avenir Book" panose="02000503020000020003" pitchFamily="2" charset="0"/>
                  </a:rPr>
                  <a:t>Non-linear mixed-effect model estimated by stochastic approximation of the EM algorithm: MCMC-SAEM [</a:t>
                </a:r>
                <a:r>
                  <a:rPr lang="en-AU" sz="1200" dirty="0" err="1">
                    <a:latin typeface="Avenir Book" panose="02000503020000020003" pitchFamily="2" charset="0"/>
                  </a:rPr>
                  <a:t>Delyon</a:t>
                </a:r>
                <a:r>
                  <a:rPr lang="en-AU" sz="1200" dirty="0">
                    <a:latin typeface="Avenir Book" panose="02000503020000020003" pitchFamily="2" charset="0"/>
                  </a:rPr>
                  <a:t> et al, 1999; </a:t>
                </a:r>
                <a:r>
                  <a:rPr lang="en-AU" sz="1200" dirty="0" err="1">
                    <a:latin typeface="Avenir Book" panose="02000503020000020003" pitchFamily="2" charset="0"/>
                  </a:rPr>
                  <a:t>Allassonnière</a:t>
                </a:r>
                <a:r>
                  <a:rPr lang="en-AU" sz="1200" dirty="0">
                    <a:latin typeface="Avenir Book" panose="02000503020000020003" pitchFamily="2" charset="0"/>
                  </a:rPr>
                  <a:t> et al, 2010 ]. Further identifiability </a:t>
                </a:r>
                <a:r>
                  <a:rPr lang="en-AU" sz="1200" dirty="0" err="1">
                    <a:latin typeface="Avenir Book" panose="02000503020000020003" pitchFamily="2" charset="0"/>
                  </a:rPr>
                  <a:t>condictions</a:t>
                </a:r>
                <a:r>
                  <a:rPr lang="en-AU" sz="1200" dirty="0">
                    <a:latin typeface="Avenir Book" panose="02000503020000020003" pitchFamily="2" charset="0"/>
                  </a:rPr>
                  <a:t> in [</a:t>
                </a:r>
                <a:r>
                  <a:rPr lang="en-AU" sz="1200" dirty="0" err="1">
                    <a:latin typeface="Avenir Book" panose="02000503020000020003" pitchFamily="2" charset="0"/>
                  </a:rPr>
                  <a:t>Schiratti</a:t>
                </a:r>
                <a:r>
                  <a:rPr lang="en-AU" sz="1200" dirty="0">
                    <a:latin typeface="Avenir Book" panose="02000503020000020003" pitchFamily="2" charset="0"/>
                  </a:rPr>
                  <a:t> et al, 2015]</a:t>
                </a:r>
              </a:p>
            </p:txBody>
          </p:sp>
        </mc:Choice>
        <mc:Fallback xmlns="">
          <p:sp>
            <p:nvSpPr>
              <p:cNvPr id="15" name="TextBox 1">
                <a:extLst>
                  <a:ext uri="{FF2B5EF4-FFF2-40B4-BE49-F238E27FC236}">
                    <a16:creationId xmlns:a16="http://schemas.microsoft.com/office/drawing/2014/main" id="{BA4BAB27-3031-4242-9D66-C7D94CB01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69" y="3468639"/>
                <a:ext cx="7507946" cy="1384995"/>
              </a:xfrm>
              <a:prstGeom prst="rect">
                <a:avLst/>
              </a:prstGeom>
              <a:blipFill>
                <a:blip r:embed="rId4"/>
                <a:stretch>
                  <a:fillRect l="-169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870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DF0C4EA4-0DCF-2244-BEAC-13EAF960A095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Huntington Disease Course 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D723F-BECD-8644-BDAF-CE0BD430B2ED}"/>
              </a:ext>
            </a:extLst>
          </p:cNvPr>
          <p:cNvSpPr txBox="1"/>
          <p:nvPr/>
        </p:nvSpPr>
        <p:spPr>
          <a:xfrm>
            <a:off x="69328" y="1427145"/>
            <a:ext cx="436932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Avenir Book" panose="02000503020000020003" pitchFamily="2" charset="0"/>
              </a:rPr>
              <a:t>Selected subjects:</a:t>
            </a:r>
            <a:endParaRPr lang="en-US" sz="1600" b="1" dirty="0">
              <a:solidFill>
                <a:prstClr val="black"/>
              </a:solidFill>
              <a:latin typeface="Avenir Book" panose="02000503020000020003" pitchFamily="2" charset="0"/>
            </a:endParaRPr>
          </a:p>
          <a:p>
            <a:endParaRPr lang="en-AU" sz="1600" dirty="0">
              <a:latin typeface="Avenir Book" panose="02000503020000020003" pitchFamily="2" charset="0"/>
            </a:endParaRPr>
          </a:p>
          <a:p>
            <a:r>
              <a:rPr lang="en-AU" sz="1400" i="1" dirty="0">
                <a:latin typeface="Avenir Book" panose="02000503020000020003" pitchFamily="2" charset="0"/>
              </a:rPr>
              <a:t>TRACK-HD:</a:t>
            </a:r>
          </a:p>
          <a:p>
            <a:pPr marL="285750" indent="-285750">
              <a:buFontTx/>
              <a:buChar char="-"/>
            </a:pPr>
            <a:r>
              <a:rPr lang="en-AU" sz="1400" dirty="0">
                <a:latin typeface="Avenir Book" panose="02000503020000020003" pitchFamily="2" charset="0"/>
              </a:rPr>
              <a:t>117 pre-symptomatic HD mutation carriers</a:t>
            </a:r>
          </a:p>
          <a:p>
            <a:pPr marL="285750" indent="-285750">
              <a:buFontTx/>
              <a:buChar char="-"/>
            </a:pPr>
            <a:r>
              <a:rPr lang="en-AU" sz="1400" dirty="0">
                <a:latin typeface="Avenir Book" panose="02000503020000020003" pitchFamily="2" charset="0"/>
              </a:rPr>
              <a:t>116 subjects with early-stage HD</a:t>
            </a:r>
          </a:p>
          <a:p>
            <a:r>
              <a:rPr lang="en-AU" sz="1400" i="1" dirty="0">
                <a:latin typeface="Avenir Book" panose="02000503020000020003" pitchFamily="2" charset="0"/>
              </a:rPr>
              <a:t>TRACK-ON:</a:t>
            </a:r>
          </a:p>
          <a:p>
            <a:pPr marL="285750" indent="-285750">
              <a:buFontTx/>
              <a:buChar char="-"/>
            </a:pPr>
            <a:r>
              <a:rPr lang="en-AU" sz="1400" dirty="0">
                <a:latin typeface="Avenir Book" panose="02000503020000020003" pitchFamily="2" charset="0"/>
              </a:rPr>
              <a:t>239 roller participants + new pre-symptomatic mutation carriers</a:t>
            </a:r>
          </a:p>
          <a:p>
            <a:endParaRPr lang="en-AU" sz="1400" dirty="0">
              <a:latin typeface="Avenir Book" panose="02000503020000020003" pitchFamily="2" charset="0"/>
            </a:endParaRPr>
          </a:p>
          <a:p>
            <a:r>
              <a:rPr lang="en-AU" sz="1400" dirty="0">
                <a:latin typeface="Avenir Book" panose="02000503020000020003" pitchFamily="2" charset="0"/>
              </a:rPr>
              <a:t>NB: Controls: 186 relatives without pathogenic HD-mutation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C38A6-F6B9-DE4D-879B-58E4E8D04B7B}"/>
              </a:ext>
            </a:extLst>
          </p:cNvPr>
          <p:cNvSpPr txBox="1"/>
          <p:nvPr/>
        </p:nvSpPr>
        <p:spPr>
          <a:xfrm>
            <a:off x="4571999" y="1412859"/>
            <a:ext cx="436932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Avenir Book" panose="02000503020000020003" pitchFamily="2" charset="0"/>
              </a:rPr>
              <a:t>Selected biomarkers:</a:t>
            </a:r>
            <a:endParaRPr lang="en-US" sz="1600" b="1" dirty="0">
              <a:solidFill>
                <a:prstClr val="black"/>
              </a:solidFill>
              <a:latin typeface="Avenir Book" panose="02000503020000020003" pitchFamily="2" charset="0"/>
            </a:endParaRPr>
          </a:p>
          <a:p>
            <a:endParaRPr lang="en-AU" sz="1600" dirty="0">
              <a:latin typeface="Avenir Book" panose="02000503020000020003" pitchFamily="2" charset="0"/>
            </a:endParaRPr>
          </a:p>
          <a:p>
            <a:r>
              <a:rPr lang="en-AU" sz="1400" dirty="0">
                <a:latin typeface="Avenir Book" panose="02000503020000020003" pitchFamily="2" charset="0"/>
              </a:rPr>
              <a:t>15 biomarkers:</a:t>
            </a:r>
          </a:p>
          <a:p>
            <a:pPr marL="285750" indent="-285750">
              <a:buFontTx/>
              <a:buChar char="-"/>
            </a:pPr>
            <a:r>
              <a:rPr lang="en-AU" sz="1400" dirty="0">
                <a:latin typeface="Avenir Book" panose="02000503020000020003" pitchFamily="2" charset="0"/>
              </a:rPr>
              <a:t>3 </a:t>
            </a:r>
            <a:r>
              <a:rPr lang="en-AU" sz="1400" b="1" dirty="0">
                <a:latin typeface="Avenir Book" panose="02000503020000020003" pitchFamily="2" charset="0"/>
              </a:rPr>
              <a:t>clinical biomarkers: </a:t>
            </a:r>
            <a:r>
              <a:rPr lang="en-AU" sz="1400" dirty="0">
                <a:latin typeface="Avenir Book" panose="02000503020000020003" pitchFamily="2" charset="0"/>
              </a:rPr>
              <a:t>Total Motor Score, Total Functional Capacity, Apathy</a:t>
            </a:r>
          </a:p>
          <a:p>
            <a:pPr marL="285750" indent="-285750">
              <a:buFontTx/>
              <a:buChar char="-"/>
            </a:pPr>
            <a:endParaRPr lang="en-AU" sz="1400" dirty="0">
              <a:latin typeface="Avenir Book" panose="02000503020000020003" pitchFamily="2" charset="0"/>
            </a:endParaRPr>
          </a:p>
          <a:p>
            <a:pPr marL="285750" indent="-285750">
              <a:buFontTx/>
              <a:buChar char="-"/>
            </a:pPr>
            <a:r>
              <a:rPr lang="en-AU" sz="1400" dirty="0">
                <a:latin typeface="Avenir Book" panose="02000503020000020003" pitchFamily="2" charset="0"/>
              </a:rPr>
              <a:t>4 </a:t>
            </a:r>
            <a:r>
              <a:rPr lang="en-AU" sz="1400" b="1" dirty="0">
                <a:latin typeface="Avenir Book" panose="02000503020000020003" pitchFamily="2" charset="0"/>
              </a:rPr>
              <a:t>cognitive biomarkers: </a:t>
            </a:r>
            <a:r>
              <a:rPr lang="en-AU" sz="1400" dirty="0">
                <a:latin typeface="Avenir Book" panose="02000503020000020003" pitchFamily="2" charset="0"/>
              </a:rPr>
              <a:t>Stroop reading test, Symbol Digit Modality Test, Direct and indirect Circle Tracing</a:t>
            </a:r>
          </a:p>
          <a:p>
            <a:pPr marL="285750" indent="-285750">
              <a:buFontTx/>
              <a:buChar char="-"/>
            </a:pPr>
            <a:endParaRPr lang="en-AU" sz="1400" dirty="0">
              <a:latin typeface="Avenir Book" panose="02000503020000020003" pitchFamily="2" charset="0"/>
            </a:endParaRPr>
          </a:p>
          <a:p>
            <a:pPr marL="285750" indent="-285750">
              <a:buFontTx/>
              <a:buChar char="-"/>
            </a:pPr>
            <a:r>
              <a:rPr lang="en-AU" sz="1400" dirty="0">
                <a:latin typeface="Avenir Book" panose="02000503020000020003" pitchFamily="2" charset="0"/>
              </a:rPr>
              <a:t>8 </a:t>
            </a:r>
            <a:r>
              <a:rPr lang="en-AU" sz="1400" b="1" dirty="0">
                <a:latin typeface="Avenir Book" panose="02000503020000020003" pitchFamily="2" charset="0"/>
              </a:rPr>
              <a:t>imaging biomarkers: </a:t>
            </a:r>
            <a:r>
              <a:rPr lang="en-AU" sz="1400" dirty="0">
                <a:latin typeface="Avenir Book" panose="02000503020000020003" pitchFamily="2" charset="0"/>
              </a:rPr>
              <a:t>striatum, </a:t>
            </a:r>
            <a:r>
              <a:rPr lang="en-AU" sz="1400" dirty="0" err="1">
                <a:latin typeface="Avenir Book" panose="02000503020000020003" pitchFamily="2" charset="0"/>
              </a:rPr>
              <a:t>globus</a:t>
            </a:r>
            <a:r>
              <a:rPr lang="en-AU" sz="1400" dirty="0">
                <a:latin typeface="Avenir Book" panose="02000503020000020003" pitchFamily="2" charset="0"/>
              </a:rPr>
              <a:t> pallidus, putamen, ventricles, caudate, white matter, grey matter and total brain volume - all normalized to total intracranial volume</a:t>
            </a:r>
          </a:p>
        </p:txBody>
      </p:sp>
    </p:spTree>
    <p:extLst>
      <p:ext uri="{BB962C8B-B14F-4D97-AF65-F5344CB8AC3E}">
        <p14:creationId xmlns:p14="http://schemas.microsoft.com/office/powerpoint/2010/main" val="3292237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9.png">
            <a:extLst>
              <a:ext uri="{FF2B5EF4-FFF2-40B4-BE49-F238E27FC236}">
                <a16:creationId xmlns:a16="http://schemas.microsoft.com/office/drawing/2014/main" id="{A7793FE6-DA41-3648-9BCF-E6E87CDBDC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65" t="14295" r="8721" b="5748"/>
          <a:stretch/>
        </p:blipFill>
        <p:spPr bwMode="auto">
          <a:xfrm>
            <a:off x="6544660" y="173419"/>
            <a:ext cx="1816100" cy="219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image4.png">
            <a:extLst>
              <a:ext uri="{FF2B5EF4-FFF2-40B4-BE49-F238E27FC236}">
                <a16:creationId xmlns:a16="http://schemas.microsoft.com/office/drawing/2014/main" id="{2D8C7A6E-4141-BA4C-AA88-0E7435A738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6" t="13793" r="9721" b="6250"/>
          <a:stretch/>
        </p:blipFill>
        <p:spPr bwMode="auto">
          <a:xfrm>
            <a:off x="6544660" y="2351034"/>
            <a:ext cx="2000250" cy="219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19.png">
            <a:extLst>
              <a:ext uri="{FF2B5EF4-FFF2-40B4-BE49-F238E27FC236}">
                <a16:creationId xmlns:a16="http://schemas.microsoft.com/office/drawing/2014/main" id="{F0353599-22A2-B142-ACB4-71F3783ECCF3}"/>
              </a:ext>
            </a:extLst>
          </p:cNvPr>
          <p:cNvPicPr/>
          <p:nvPr/>
        </p:nvPicPr>
        <p:blipFill rotWithShape="1">
          <a:blip r:embed="rId4"/>
          <a:srcRect l="7334" t="9171" r="50000" b="8289"/>
          <a:stretch/>
        </p:blipFill>
        <p:spPr>
          <a:xfrm>
            <a:off x="599090" y="15764"/>
            <a:ext cx="5864772" cy="4668563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58ED70-CA8D-F540-A038-B5E46BC7D3F8}"/>
              </a:ext>
            </a:extLst>
          </p:cNvPr>
          <p:cNvSpPr txBox="1"/>
          <p:nvPr/>
        </p:nvSpPr>
        <p:spPr>
          <a:xfrm>
            <a:off x="2215055" y="4684327"/>
            <a:ext cx="2632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dirty="0"/>
              <a:t>Huntingtonian Age</a:t>
            </a:r>
          </a:p>
        </p:txBody>
      </p:sp>
    </p:spTree>
    <p:extLst>
      <p:ext uri="{BB962C8B-B14F-4D97-AF65-F5344CB8AC3E}">
        <p14:creationId xmlns:p14="http://schemas.microsoft.com/office/powerpoint/2010/main" val="827153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55D9F0A4-74E3-6342-B90D-F50D854128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044" t="8627" r="4091" b="16033"/>
          <a:stretch/>
        </p:blipFill>
        <p:spPr>
          <a:xfrm>
            <a:off x="399099" y="2680412"/>
            <a:ext cx="2777080" cy="2323689"/>
          </a:xfrm>
          <a:prstGeom prst="rect">
            <a:avLst/>
          </a:prstGeom>
        </p:spPr>
      </p:pic>
      <p:pic>
        <p:nvPicPr>
          <p:cNvPr id="3" name="Image 6">
            <a:extLst>
              <a:ext uri="{FF2B5EF4-FFF2-40B4-BE49-F238E27FC236}">
                <a16:creationId xmlns:a16="http://schemas.microsoft.com/office/drawing/2014/main" id="{28A5DF4F-5411-C64A-9C03-C9DDAE1970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35" t="14985" r="5624" b="12160"/>
          <a:stretch/>
        </p:blipFill>
        <p:spPr>
          <a:xfrm>
            <a:off x="5016816" y="248061"/>
            <a:ext cx="3858333" cy="2638443"/>
          </a:xfrm>
          <a:prstGeom prst="rect">
            <a:avLst/>
          </a:prstGeom>
        </p:spPr>
      </p:pic>
      <p:pic>
        <p:nvPicPr>
          <p:cNvPr id="4" name="Image 8">
            <a:extLst>
              <a:ext uri="{FF2B5EF4-FFF2-40B4-BE49-F238E27FC236}">
                <a16:creationId xmlns:a16="http://schemas.microsoft.com/office/drawing/2014/main" id="{2AE2A7AE-F366-484C-A44A-FD588E8E98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1304"/>
          <a:stretch/>
        </p:blipFill>
        <p:spPr>
          <a:xfrm>
            <a:off x="4128084" y="2972355"/>
            <a:ext cx="4743774" cy="168302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B878182-FF22-9643-831A-14A88FFAC6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27" r="56073" b="16033"/>
          <a:stretch/>
        </p:blipFill>
        <p:spPr>
          <a:xfrm>
            <a:off x="399099" y="248059"/>
            <a:ext cx="2869325" cy="2342808"/>
          </a:xfrm>
          <a:prstGeom prst="rect">
            <a:avLst/>
          </a:prstGeom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F5533D77-6849-8649-BE1B-15FE0E68AA4F}"/>
              </a:ext>
            </a:extLst>
          </p:cNvPr>
          <p:cNvSpPr/>
          <p:nvPr/>
        </p:nvSpPr>
        <p:spPr>
          <a:xfrm rot="16200000" flipV="1">
            <a:off x="2480728" y="2361621"/>
            <a:ext cx="2342807" cy="270409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78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4">
            <a:extLst>
              <a:ext uri="{FF2B5EF4-FFF2-40B4-BE49-F238E27FC236}">
                <a16:creationId xmlns:a16="http://schemas.microsoft.com/office/drawing/2014/main" id="{23EDD08E-5C0C-B441-8CEE-9C34F6BD2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1" y="0"/>
            <a:ext cx="82144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23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DF0C4EA4-0DCF-2244-BEAC-13EAF960A095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Parkinson’s Disease Course 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D723F-BECD-8644-BDAF-CE0BD430B2ED}"/>
              </a:ext>
            </a:extLst>
          </p:cNvPr>
          <p:cNvSpPr txBox="1"/>
          <p:nvPr/>
        </p:nvSpPr>
        <p:spPr>
          <a:xfrm>
            <a:off x="69328" y="1427145"/>
            <a:ext cx="43693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Avenir Book" panose="02000503020000020003" pitchFamily="2" charset="0"/>
              </a:rPr>
              <a:t>Selected subjects:</a:t>
            </a:r>
            <a:endParaRPr lang="en-US" sz="1600" b="1" dirty="0">
              <a:solidFill>
                <a:prstClr val="black"/>
              </a:solidFill>
              <a:latin typeface="Avenir Book" panose="02000503020000020003" pitchFamily="2" charset="0"/>
            </a:endParaRPr>
          </a:p>
          <a:p>
            <a:endParaRPr lang="en-AU" sz="1600" dirty="0">
              <a:latin typeface="Avenir Book" panose="02000503020000020003" pitchFamily="2" charset="0"/>
            </a:endParaRPr>
          </a:p>
          <a:p>
            <a:r>
              <a:rPr lang="en-FR" sz="1400" b="1" i="1">
                <a:latin typeface="Avenir Book" panose="02000503020000020003" pitchFamily="2" charset="0"/>
              </a:rPr>
              <a:t>PPMI</a:t>
            </a:r>
            <a:r>
              <a:rPr lang="en-FR" sz="1400" i="1">
                <a:latin typeface="Avenir Book" panose="02000503020000020003" pitchFamily="2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FR" sz="1400">
                <a:latin typeface="Avenir Book" panose="02000503020000020003" pitchFamily="2" charset="0"/>
              </a:rPr>
              <a:t>362 patients with idiopathic PD</a:t>
            </a:r>
          </a:p>
          <a:p>
            <a:pPr marL="285750" indent="-285750">
              <a:buFontTx/>
              <a:buChar char="-"/>
            </a:pPr>
            <a:r>
              <a:rPr lang="en-FR" sz="1400">
                <a:latin typeface="Avenir Book" panose="02000503020000020003" pitchFamily="2" charset="0"/>
              </a:rPr>
              <a:t>65 patients with idiopathic REM sleep behavior disorder (iRBD)</a:t>
            </a:r>
          </a:p>
          <a:p>
            <a:pPr marL="285750" indent="-285750">
              <a:buFontTx/>
              <a:buChar char="-"/>
            </a:pPr>
            <a:r>
              <a:rPr lang="en-FR" sz="1400">
                <a:latin typeface="Avenir Book" panose="02000503020000020003" pitchFamily="2" charset="0"/>
              </a:rPr>
              <a:t>192 controls</a:t>
            </a:r>
          </a:p>
          <a:p>
            <a:endParaRPr lang="en-FR" sz="1400">
              <a:latin typeface="Avenir Book" panose="02000503020000020003" pitchFamily="2" charset="0"/>
            </a:endParaRPr>
          </a:p>
          <a:p>
            <a:r>
              <a:rPr lang="en-FR" sz="1400" b="1" i="1">
                <a:latin typeface="Avenir Book" panose="02000503020000020003" pitchFamily="2" charset="0"/>
              </a:rPr>
              <a:t>D</a:t>
            </a:r>
            <a:r>
              <a:rPr lang="en-GB" sz="1400" b="1" i="1" dirty="0" err="1">
                <a:latin typeface="Avenir Book" panose="02000503020000020003" pitchFamily="2" charset="0"/>
              </a:rPr>
              <a:t>i</a:t>
            </a:r>
            <a:r>
              <a:rPr lang="en-FR" sz="1400" b="1" i="1">
                <a:latin typeface="Avenir Book" panose="02000503020000020003" pitchFamily="2" charset="0"/>
              </a:rPr>
              <a:t>g-PD:</a:t>
            </a:r>
          </a:p>
          <a:p>
            <a:pPr marL="285750" indent="-285750">
              <a:buFontTx/>
              <a:buChar char="-"/>
            </a:pPr>
            <a:r>
              <a:rPr lang="en-FR" sz="1400">
                <a:latin typeface="Avenir Book" panose="02000503020000020003" pitchFamily="2" charset="0"/>
              </a:rPr>
              <a:t>411 patients with PD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venir Book" panose="02000503020000020003" pitchFamily="2" charset="0"/>
              </a:rPr>
              <a:t>A</a:t>
            </a:r>
            <a:r>
              <a:rPr lang="en-FR" sz="1400">
                <a:latin typeface="Avenir Book" panose="02000503020000020003" pitchFamily="2" charset="0"/>
              </a:rPr>
              <a:t>verage follow-up 3.3 years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Avenir Book" panose="02000503020000020003" pitchFamily="2" charset="0"/>
              </a:rPr>
              <a:t>C</a:t>
            </a:r>
            <a:r>
              <a:rPr lang="en-FR" sz="1400">
                <a:latin typeface="Avenir Book" panose="02000503020000020003" pitchFamily="2" charset="0"/>
              </a:rPr>
              <a:t>ontrols</a:t>
            </a:r>
            <a:endParaRPr lang="en-FR" sz="1400" dirty="0">
              <a:latin typeface="Avenir Book" panose="02000503020000020003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C38A6-F6B9-DE4D-879B-58E4E8D04B7B}"/>
              </a:ext>
            </a:extLst>
          </p:cNvPr>
          <p:cNvSpPr txBox="1"/>
          <p:nvPr/>
        </p:nvSpPr>
        <p:spPr>
          <a:xfrm>
            <a:off x="4571999" y="1412859"/>
            <a:ext cx="4369322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Avenir Book" panose="02000503020000020003" pitchFamily="2" charset="0"/>
              </a:rPr>
              <a:t>Selected biomarkers:</a:t>
            </a:r>
            <a:endParaRPr lang="en-US" sz="1600" b="1" dirty="0">
              <a:solidFill>
                <a:prstClr val="black"/>
              </a:solidFill>
              <a:latin typeface="Avenir Book" panose="02000503020000020003" pitchFamily="2" charset="0"/>
            </a:endParaRPr>
          </a:p>
          <a:p>
            <a:endParaRPr lang="en-AU" sz="1600" dirty="0">
              <a:latin typeface="Avenir Book" panose="02000503020000020003" pitchFamily="2" charset="0"/>
            </a:endParaRPr>
          </a:p>
          <a:p>
            <a:r>
              <a:rPr lang="en-FR" sz="1400">
                <a:latin typeface="Avenir Book" panose="02000503020000020003" pitchFamily="2" charset="0"/>
              </a:rPr>
              <a:t>10 biomarkers:</a:t>
            </a:r>
          </a:p>
          <a:p>
            <a:pPr marL="285750" indent="-285750">
              <a:buFontTx/>
              <a:buChar char="-"/>
            </a:pPr>
            <a:r>
              <a:rPr lang="en-FR" sz="1400">
                <a:latin typeface="Avenir Book" panose="02000503020000020003" pitchFamily="2" charset="0"/>
              </a:rPr>
              <a:t>6 </a:t>
            </a:r>
            <a:r>
              <a:rPr lang="en-FR" sz="1400" b="1">
                <a:latin typeface="Avenir Book" panose="02000503020000020003" pitchFamily="2" charset="0"/>
              </a:rPr>
              <a:t>clinical biomarkers</a:t>
            </a:r>
          </a:p>
          <a:p>
            <a:pPr marL="742950" lvl="1" indent="-285750">
              <a:buFontTx/>
              <a:buChar char="-"/>
            </a:pPr>
            <a:r>
              <a:rPr lang="en-GB" sz="1400" dirty="0">
                <a:latin typeface="Avenir Book" panose="02000503020000020003" pitchFamily="2" charset="0"/>
              </a:rPr>
              <a:t>M</a:t>
            </a:r>
            <a:r>
              <a:rPr lang="en-FR" sz="1400">
                <a:latin typeface="Avenir Book" panose="02000503020000020003" pitchFamily="2" charset="0"/>
              </a:rPr>
              <a:t>otor score (MDS-UPDRS III)</a:t>
            </a:r>
          </a:p>
          <a:p>
            <a:pPr marL="742950" lvl="1" indent="-285750">
              <a:buFontTx/>
              <a:buChar char="-"/>
            </a:pPr>
            <a:r>
              <a:rPr lang="en-FR" sz="1400">
                <a:latin typeface="Avenir Book" panose="02000503020000020003" pitchFamily="2" charset="0"/>
              </a:rPr>
              <a:t>Self-reported daily living (MDS-UPDRS II)</a:t>
            </a:r>
          </a:p>
          <a:p>
            <a:pPr marL="742950" lvl="1" indent="-285750">
              <a:buFontTx/>
              <a:buChar char="-"/>
            </a:pPr>
            <a:r>
              <a:rPr lang="en-FR" sz="1400">
                <a:latin typeface="Avenir Book" panose="02000503020000020003" pitchFamily="2" charset="0"/>
              </a:rPr>
              <a:t>Behavior and mood (MDS-UPDRS I)</a:t>
            </a:r>
          </a:p>
          <a:p>
            <a:pPr marL="742950" lvl="1" indent="-285750">
              <a:buFontTx/>
              <a:buChar char="-"/>
            </a:pPr>
            <a:r>
              <a:rPr lang="en-GB" sz="1400" dirty="0">
                <a:latin typeface="Avenir Book" panose="02000503020000020003" pitchFamily="2" charset="0"/>
              </a:rPr>
              <a:t>D</a:t>
            </a:r>
            <a:r>
              <a:rPr lang="en-FR" sz="1400">
                <a:latin typeface="Avenir Book" panose="02000503020000020003" pitchFamily="2" charset="0"/>
              </a:rPr>
              <a:t>ysautonomy (SCOPA-AUT)</a:t>
            </a:r>
          </a:p>
          <a:p>
            <a:pPr marL="742950" lvl="1" indent="-285750">
              <a:buFontTx/>
              <a:buChar char="-"/>
            </a:pPr>
            <a:r>
              <a:rPr lang="en-FR" sz="1400">
                <a:latin typeface="Avenir Book" panose="02000503020000020003" pitchFamily="2" charset="0"/>
              </a:rPr>
              <a:t>Cognition (MoCA or MMSE)</a:t>
            </a:r>
          </a:p>
          <a:p>
            <a:pPr marL="742950" lvl="1" indent="-285750">
              <a:buFontTx/>
              <a:buChar char="-"/>
            </a:pPr>
            <a:r>
              <a:rPr lang="en-FR" sz="1400">
                <a:latin typeface="Avenir Book" panose="02000503020000020003" pitchFamily="2" charset="0"/>
              </a:rPr>
              <a:t>Sleep disorders </a:t>
            </a:r>
          </a:p>
          <a:p>
            <a:pPr marL="285750" indent="-285750">
              <a:buFontTx/>
              <a:buChar char="-"/>
            </a:pPr>
            <a:r>
              <a:rPr lang="en-FR" sz="1400">
                <a:latin typeface="Avenir Book" panose="02000503020000020003" pitchFamily="2" charset="0"/>
              </a:rPr>
              <a:t>4 </a:t>
            </a:r>
            <a:r>
              <a:rPr lang="en-FR" sz="1400" b="1">
                <a:latin typeface="Avenir Book" panose="02000503020000020003" pitchFamily="2" charset="0"/>
              </a:rPr>
              <a:t>imaging biomarkers: </a:t>
            </a:r>
            <a:r>
              <a:rPr lang="en-FR" sz="1400">
                <a:latin typeface="Avenir Book" panose="02000503020000020003" pitchFamily="2" charset="0"/>
              </a:rPr>
              <a:t>DAT-scan binding ratio in</a:t>
            </a:r>
          </a:p>
          <a:p>
            <a:pPr marL="742950" lvl="1" indent="-285750">
              <a:buFontTx/>
              <a:buChar char="-"/>
            </a:pPr>
            <a:r>
              <a:rPr lang="en-GB" sz="1400" dirty="0">
                <a:latin typeface="Avenir Book" panose="02000503020000020003" pitchFamily="2" charset="0"/>
              </a:rPr>
              <a:t>Putamen (L/R)</a:t>
            </a:r>
          </a:p>
          <a:p>
            <a:pPr marL="742950" lvl="1" indent="-285750">
              <a:buFontTx/>
              <a:buChar char="-"/>
            </a:pPr>
            <a:r>
              <a:rPr lang="en-GB" sz="1400" dirty="0">
                <a:latin typeface="Avenir Book" panose="02000503020000020003" pitchFamily="2" charset="0"/>
              </a:rPr>
              <a:t>C</a:t>
            </a:r>
            <a:r>
              <a:rPr lang="en-FR" sz="1400">
                <a:latin typeface="Avenir Book" panose="02000503020000020003" pitchFamily="2" charset="0"/>
              </a:rPr>
              <a:t>audate (L/R)</a:t>
            </a:r>
            <a:endParaRPr lang="en-FR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11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6D48648-A380-6641-8F6E-2F0D54E3D2A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715" y="0"/>
            <a:ext cx="4922195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0611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D27976C2-0B64-5F49-A131-77DE0456A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35" y="1091226"/>
            <a:ext cx="3974403" cy="3005930"/>
          </a:xfrm>
          <a:prstGeom prst="rect">
            <a:avLst/>
          </a:prstGeom>
        </p:spPr>
      </p:pic>
      <p:pic>
        <p:nvPicPr>
          <p:cNvPr id="11" name="Picture 10" descr="A close up of a map&#10;&#10;Description automatically generated">
            <a:extLst>
              <a:ext uri="{FF2B5EF4-FFF2-40B4-BE49-F238E27FC236}">
                <a16:creationId xmlns:a16="http://schemas.microsoft.com/office/drawing/2014/main" id="{787E003D-C540-D34F-9EAA-EBC04D260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127" y="1066606"/>
            <a:ext cx="3577833" cy="31392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668E87-C113-A449-B912-61B2C3CDA160}"/>
              </a:ext>
            </a:extLst>
          </p:cNvPr>
          <p:cNvSpPr txBox="1"/>
          <p:nvPr/>
        </p:nvSpPr>
        <p:spPr>
          <a:xfrm rot="16200000">
            <a:off x="-1106252" y="2346467"/>
            <a:ext cx="2462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B</a:t>
            </a:r>
            <a:r>
              <a:rPr lang="en-FR" sz="1600" b="1" dirty="0"/>
              <a:t>iomarker 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31509B-3742-AA45-961C-BE328FADBF75}"/>
              </a:ext>
            </a:extLst>
          </p:cNvPr>
          <p:cNvSpPr txBox="1"/>
          <p:nvPr/>
        </p:nvSpPr>
        <p:spPr>
          <a:xfrm>
            <a:off x="880948" y="4036623"/>
            <a:ext cx="2462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Age (</a:t>
            </a:r>
            <a:r>
              <a:rPr lang="fr-FR" sz="1600" b="1" dirty="0" err="1"/>
              <a:t>years</a:t>
            </a:r>
            <a:r>
              <a:rPr lang="fr-FR" sz="1600" b="1" dirty="0"/>
              <a:t>)</a:t>
            </a:r>
            <a:endParaRPr lang="en-FR" sz="1600" b="1" dirty="0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9BE2AEC3-394F-9943-9B42-84274442351A}"/>
              </a:ext>
            </a:extLst>
          </p:cNvPr>
          <p:cNvSpPr/>
          <p:nvPr/>
        </p:nvSpPr>
        <p:spPr>
          <a:xfrm rot="16200000" flipV="1">
            <a:off x="2856979" y="2308862"/>
            <a:ext cx="3139293" cy="654781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14E508-C6FE-0243-BFF9-EFCD5ED904EB}"/>
              </a:ext>
            </a:extLst>
          </p:cNvPr>
          <p:cNvSpPr/>
          <p:nvPr/>
        </p:nvSpPr>
        <p:spPr>
          <a:xfrm rot="16200000">
            <a:off x="4577722" y="2331078"/>
            <a:ext cx="1342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FR" b="1" dirty="0">
                <a:solidFill>
                  <a:srgbClr val="1A75B3"/>
                </a:solidFill>
              </a:rPr>
              <a:t>biomarker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AA2ACB-1027-8244-B7D0-BABA6AA9FA8C}"/>
              </a:ext>
            </a:extLst>
          </p:cNvPr>
          <p:cNvSpPr/>
          <p:nvPr/>
        </p:nvSpPr>
        <p:spPr>
          <a:xfrm>
            <a:off x="6627962" y="4190511"/>
            <a:ext cx="1342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FR" b="1" dirty="0">
                <a:solidFill>
                  <a:srgbClr val="FE7E0A"/>
                </a:solidFill>
              </a:rPr>
              <a:t>biomarker 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24EC2C2-9CCD-2542-B1C4-4156F9C9657F}"/>
              </a:ext>
            </a:extLst>
          </p:cNvPr>
          <p:cNvGrpSpPr/>
          <p:nvPr/>
        </p:nvGrpSpPr>
        <p:grpSpPr>
          <a:xfrm>
            <a:off x="294114" y="4375177"/>
            <a:ext cx="1561757" cy="646331"/>
            <a:chOff x="463390" y="403719"/>
            <a:chExt cx="1561757" cy="6463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ED5890F-A1BF-3849-B37B-4C5C1DAC8B6D}"/>
                </a:ext>
              </a:extLst>
            </p:cNvPr>
            <p:cNvSpPr/>
            <p:nvPr/>
          </p:nvSpPr>
          <p:spPr>
            <a:xfrm>
              <a:off x="706581" y="403719"/>
              <a:ext cx="131856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FR" dirty="0">
                  <a:solidFill>
                    <a:srgbClr val="1A75B3"/>
                  </a:solidFill>
                </a:rPr>
                <a:t>biomarker 1</a:t>
              </a:r>
            </a:p>
            <a:p>
              <a:pPr algn="ctr"/>
              <a:r>
                <a:rPr lang="en-FR" dirty="0">
                  <a:solidFill>
                    <a:srgbClr val="FE7E0A"/>
                  </a:solidFill>
                </a:rPr>
                <a:t>biomarker 2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3CCA06F-52E5-9D49-901F-C78E9E1602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390" y="583637"/>
              <a:ext cx="243191" cy="0"/>
            </a:xfrm>
            <a:prstGeom prst="line">
              <a:avLst/>
            </a:prstGeom>
            <a:ln>
              <a:solidFill>
                <a:srgbClr val="1A75B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B18F95-C8AC-4941-95CD-C467CF31AD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3117" y="862497"/>
              <a:ext cx="243191" cy="0"/>
            </a:xfrm>
            <a:prstGeom prst="line">
              <a:avLst/>
            </a:prstGeom>
            <a:ln>
              <a:solidFill>
                <a:srgbClr val="FE7E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B0316B2-D2C0-F241-BD6B-48715F2A059F}"/>
              </a:ext>
            </a:extLst>
          </p:cNvPr>
          <p:cNvSpPr txBox="1"/>
          <p:nvPr/>
        </p:nvSpPr>
        <p:spPr>
          <a:xfrm>
            <a:off x="5700407" y="3672048"/>
            <a:ext cx="599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t=30y</a:t>
            </a:r>
            <a:endParaRPr lang="en-FR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467063-0269-594C-A239-CC629878F9D6}"/>
              </a:ext>
            </a:extLst>
          </p:cNvPr>
          <p:cNvSpPr txBox="1"/>
          <p:nvPr/>
        </p:nvSpPr>
        <p:spPr>
          <a:xfrm>
            <a:off x="5739319" y="3407061"/>
            <a:ext cx="599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t=40y</a:t>
            </a:r>
            <a:endParaRPr lang="en-F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26CDA8-C8C3-4548-A75B-FD784133397D}"/>
              </a:ext>
            </a:extLst>
          </p:cNvPr>
          <p:cNvSpPr txBox="1"/>
          <p:nvPr/>
        </p:nvSpPr>
        <p:spPr>
          <a:xfrm>
            <a:off x="5968550" y="2676109"/>
            <a:ext cx="599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t=50y</a:t>
            </a:r>
            <a:endParaRPr lang="en-FR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73560-32AA-194E-9F22-D07B5F8A7189}"/>
              </a:ext>
            </a:extLst>
          </p:cNvPr>
          <p:cNvSpPr txBox="1"/>
          <p:nvPr/>
        </p:nvSpPr>
        <p:spPr>
          <a:xfrm>
            <a:off x="6310013" y="2014389"/>
            <a:ext cx="599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t=60y</a:t>
            </a:r>
            <a:endParaRPr lang="en-FR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595506-BECE-1341-AC4F-4D32BD6E701B}"/>
              </a:ext>
            </a:extLst>
          </p:cNvPr>
          <p:cNvSpPr txBox="1"/>
          <p:nvPr/>
        </p:nvSpPr>
        <p:spPr>
          <a:xfrm>
            <a:off x="6918260" y="1515018"/>
            <a:ext cx="599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t=70y</a:t>
            </a:r>
            <a:endParaRPr lang="en-FR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5D9094-CDB3-6A4A-8B28-95F174C68520}"/>
              </a:ext>
            </a:extLst>
          </p:cNvPr>
          <p:cNvSpPr txBox="1"/>
          <p:nvPr/>
        </p:nvSpPr>
        <p:spPr>
          <a:xfrm>
            <a:off x="8178373" y="1130767"/>
            <a:ext cx="599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t=80y</a:t>
            </a:r>
            <a:endParaRPr lang="en-FR" sz="14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4417ED-8415-8449-B24E-CF8452A03B7A}"/>
              </a:ext>
            </a:extLst>
          </p:cNvPr>
          <p:cNvSpPr/>
          <p:nvPr/>
        </p:nvSpPr>
        <p:spPr>
          <a:xfrm>
            <a:off x="7636377" y="3772064"/>
            <a:ext cx="151223" cy="153888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70F97E5-B50B-0F44-800A-C6185B33C4AB}"/>
              </a:ext>
            </a:extLst>
          </p:cNvPr>
          <p:cNvSpPr/>
          <p:nvPr/>
        </p:nvSpPr>
        <p:spPr>
          <a:xfrm>
            <a:off x="8274566" y="3481544"/>
            <a:ext cx="151223" cy="153888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4D43372-A801-2A4F-87BE-900CD5A28D53}"/>
              </a:ext>
            </a:extLst>
          </p:cNvPr>
          <p:cNvSpPr/>
          <p:nvPr/>
        </p:nvSpPr>
        <p:spPr>
          <a:xfrm>
            <a:off x="8674611" y="3195792"/>
            <a:ext cx="151223" cy="153888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9DE1AD3-E1B1-F943-945B-83223B31E2E7}"/>
              </a:ext>
            </a:extLst>
          </p:cNvPr>
          <p:cNvSpPr/>
          <p:nvPr/>
        </p:nvSpPr>
        <p:spPr>
          <a:xfrm>
            <a:off x="1374886" y="2168277"/>
            <a:ext cx="151223" cy="153888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A506C9E-2B06-884D-8E82-9F14BBF3D569}"/>
              </a:ext>
            </a:extLst>
          </p:cNvPr>
          <p:cNvSpPr/>
          <p:nvPr/>
        </p:nvSpPr>
        <p:spPr>
          <a:xfrm>
            <a:off x="1374885" y="3544707"/>
            <a:ext cx="151223" cy="153888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F846081-E075-6F42-929F-CE7CFFC88E1A}"/>
              </a:ext>
            </a:extLst>
          </p:cNvPr>
          <p:cNvSpPr/>
          <p:nvPr/>
        </p:nvSpPr>
        <p:spPr>
          <a:xfrm>
            <a:off x="1526109" y="1657868"/>
            <a:ext cx="151223" cy="153888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D70ADEC-5F2D-2F40-844D-F434E8592299}"/>
              </a:ext>
            </a:extLst>
          </p:cNvPr>
          <p:cNvSpPr/>
          <p:nvPr/>
        </p:nvSpPr>
        <p:spPr>
          <a:xfrm>
            <a:off x="1836907" y="1360223"/>
            <a:ext cx="151223" cy="153888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14B0699-3E28-0B43-80EF-E5AA66DA5463}"/>
              </a:ext>
            </a:extLst>
          </p:cNvPr>
          <p:cNvSpPr/>
          <p:nvPr/>
        </p:nvSpPr>
        <p:spPr>
          <a:xfrm>
            <a:off x="1526109" y="3272736"/>
            <a:ext cx="151223" cy="153888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E5555E7-66F9-6945-B3D5-B201C7293ADB}"/>
              </a:ext>
            </a:extLst>
          </p:cNvPr>
          <p:cNvSpPr/>
          <p:nvPr/>
        </p:nvSpPr>
        <p:spPr>
          <a:xfrm>
            <a:off x="1836906" y="2906942"/>
            <a:ext cx="151223" cy="153888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1A3001-3624-824F-8678-BAEEFD874633}"/>
              </a:ext>
            </a:extLst>
          </p:cNvPr>
          <p:cNvSpPr txBox="1"/>
          <p:nvPr/>
        </p:nvSpPr>
        <p:spPr>
          <a:xfrm>
            <a:off x="7421139" y="3493975"/>
            <a:ext cx="581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38 </a:t>
            </a:r>
            <a:r>
              <a:rPr lang="en-GB" sz="1400" dirty="0" err="1"/>
              <a:t>yo</a:t>
            </a:r>
            <a:endParaRPr lang="en-FR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E82B7C-8737-D540-BCF8-2BB898990D66}"/>
              </a:ext>
            </a:extLst>
          </p:cNvPr>
          <p:cNvSpPr txBox="1"/>
          <p:nvPr/>
        </p:nvSpPr>
        <p:spPr>
          <a:xfrm>
            <a:off x="8016255" y="3175027"/>
            <a:ext cx="581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40 </a:t>
            </a:r>
            <a:r>
              <a:rPr lang="en-GB" sz="1400" dirty="0" err="1"/>
              <a:t>yo</a:t>
            </a:r>
            <a:endParaRPr lang="en-FR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745C30-A72B-9B42-BB31-20B9A8375D30}"/>
              </a:ext>
            </a:extLst>
          </p:cNvPr>
          <p:cNvSpPr txBox="1"/>
          <p:nvPr/>
        </p:nvSpPr>
        <p:spPr>
          <a:xfrm>
            <a:off x="8447097" y="2868510"/>
            <a:ext cx="581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45 </a:t>
            </a:r>
            <a:r>
              <a:rPr lang="en-GB" sz="1400" dirty="0" err="1"/>
              <a:t>yo</a:t>
            </a:r>
            <a:endParaRPr lang="en-FR" sz="14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071440B-359E-E64D-B67F-D30648D9A926}"/>
              </a:ext>
            </a:extLst>
          </p:cNvPr>
          <p:cNvCxnSpPr>
            <a:stCxn id="33" idx="0"/>
            <a:endCxn id="35" idx="4"/>
          </p:cNvCxnSpPr>
          <p:nvPr/>
        </p:nvCxnSpPr>
        <p:spPr>
          <a:xfrm flipV="1">
            <a:off x="1450498" y="1811756"/>
            <a:ext cx="151223" cy="356521"/>
          </a:xfrm>
          <a:prstGeom prst="line">
            <a:avLst/>
          </a:prstGeom>
          <a:ln>
            <a:solidFill>
              <a:srgbClr val="F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CAC2767-C71F-8F41-8735-DFC727308EF7}"/>
              </a:ext>
            </a:extLst>
          </p:cNvPr>
          <p:cNvCxnSpPr>
            <a:cxnSpLocks/>
            <a:stCxn id="35" idx="7"/>
            <a:endCxn id="36" idx="3"/>
          </p:cNvCxnSpPr>
          <p:nvPr/>
        </p:nvCxnSpPr>
        <p:spPr>
          <a:xfrm flipV="1">
            <a:off x="1655186" y="1491575"/>
            <a:ext cx="203867" cy="188829"/>
          </a:xfrm>
          <a:prstGeom prst="line">
            <a:avLst/>
          </a:prstGeom>
          <a:ln>
            <a:solidFill>
              <a:srgbClr val="F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94AE13C-56DF-5147-9760-61A2E09C0F66}"/>
              </a:ext>
            </a:extLst>
          </p:cNvPr>
          <p:cNvCxnSpPr>
            <a:cxnSpLocks/>
            <a:stCxn id="34" idx="7"/>
            <a:endCxn id="37" idx="3"/>
          </p:cNvCxnSpPr>
          <p:nvPr/>
        </p:nvCxnSpPr>
        <p:spPr>
          <a:xfrm flipV="1">
            <a:off x="1503962" y="3404088"/>
            <a:ext cx="44293" cy="163155"/>
          </a:xfrm>
          <a:prstGeom prst="line">
            <a:avLst/>
          </a:prstGeom>
          <a:ln>
            <a:solidFill>
              <a:srgbClr val="1A75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56834C8-B360-044E-8064-DDB1A3871E76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1655186" y="3038294"/>
            <a:ext cx="203866" cy="256978"/>
          </a:xfrm>
          <a:prstGeom prst="line">
            <a:avLst/>
          </a:prstGeom>
          <a:ln>
            <a:solidFill>
              <a:srgbClr val="1A75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4D1FC41-2D31-6347-B4D8-04DE85A98882}"/>
              </a:ext>
            </a:extLst>
          </p:cNvPr>
          <p:cNvCxnSpPr>
            <a:cxnSpLocks/>
            <a:stCxn id="30" idx="7"/>
            <a:endCxn id="31" idx="2"/>
          </p:cNvCxnSpPr>
          <p:nvPr/>
        </p:nvCxnSpPr>
        <p:spPr>
          <a:xfrm flipV="1">
            <a:off x="7765454" y="3558488"/>
            <a:ext cx="509112" cy="23611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8EA0662-E5F2-D144-B7E9-2250EFD2B4C5}"/>
              </a:ext>
            </a:extLst>
          </p:cNvPr>
          <p:cNvCxnSpPr>
            <a:cxnSpLocks/>
            <a:stCxn id="31" idx="7"/>
            <a:endCxn id="32" idx="3"/>
          </p:cNvCxnSpPr>
          <p:nvPr/>
        </p:nvCxnSpPr>
        <p:spPr>
          <a:xfrm flipV="1">
            <a:off x="8403643" y="3327144"/>
            <a:ext cx="293114" cy="176936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Espace réservé du texte 4">
            <a:extLst>
              <a:ext uri="{FF2B5EF4-FFF2-40B4-BE49-F238E27FC236}">
                <a16:creationId xmlns:a16="http://schemas.microsoft.com/office/drawing/2014/main" id="{AE8E56DF-A1B8-1B4D-8554-1D5EFDA9B54A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 err="1">
                <a:solidFill>
                  <a:srgbClr val="7030A0"/>
                </a:solidFill>
                <a:ea typeface="ＭＳ Ｐゴシック" charset="-128"/>
              </a:rPr>
              <a:t>Generalization</a:t>
            </a:r>
            <a:r>
              <a:rPr lang="fr-FR" b="1" dirty="0">
                <a:solidFill>
                  <a:srgbClr val="7030A0"/>
                </a:solidFill>
                <a:ea typeface="ＭＳ Ｐゴシック" charset="-128"/>
              </a:rPr>
              <a:t> of </a:t>
            </a:r>
            <a:r>
              <a:rPr lang="fr-FR" b="1" dirty="0" err="1">
                <a:solidFill>
                  <a:srgbClr val="7030A0"/>
                </a:solidFill>
                <a:ea typeface="ＭＳ Ｐゴシック" charset="-128"/>
              </a:rPr>
              <a:t>other</a:t>
            </a:r>
            <a:r>
              <a:rPr lang="fr-FR" b="1" dirty="0">
                <a:solidFill>
                  <a:srgbClr val="7030A0"/>
                </a:solidFill>
                <a:ea typeface="ＭＳ Ｐゴシック" charset="-128"/>
              </a:rPr>
              <a:t> data types </a:t>
            </a:r>
            <a:r>
              <a:rPr lang="fr-FR" b="1" dirty="0" err="1">
                <a:solidFill>
                  <a:srgbClr val="7030A0"/>
                </a:solidFill>
                <a:ea typeface="ＭＳ Ｐゴシック" charset="-128"/>
              </a:rPr>
              <a:t>such</a:t>
            </a:r>
            <a:r>
              <a:rPr lang="fr-FR" b="1" dirty="0">
                <a:solidFill>
                  <a:srgbClr val="7030A0"/>
                </a:solidFill>
                <a:ea typeface="ＭＳ Ｐゴシック" charset="-128"/>
              </a:rPr>
              <a:t> as images</a:t>
            </a:r>
          </a:p>
        </p:txBody>
      </p:sp>
    </p:spTree>
    <p:extLst>
      <p:ext uri="{BB962C8B-B14F-4D97-AF65-F5344CB8AC3E}">
        <p14:creationId xmlns:p14="http://schemas.microsoft.com/office/powerpoint/2010/main" val="2272457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 descr="A screenshot of a cell phone&#10;&#10;Description automatically generated">
            <a:extLst>
              <a:ext uri="{FF2B5EF4-FFF2-40B4-BE49-F238E27FC236}">
                <a16:creationId xmlns:a16="http://schemas.microsoft.com/office/drawing/2014/main" id="{1A7E3D5D-3D13-FF4E-B298-BAEF4A380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423" y="5672"/>
            <a:ext cx="2978035" cy="203289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26C4BA8-4AA8-FC4C-BCC2-286453C1C4ED}"/>
              </a:ext>
            </a:extLst>
          </p:cNvPr>
          <p:cNvGrpSpPr/>
          <p:nvPr/>
        </p:nvGrpSpPr>
        <p:grpSpPr>
          <a:xfrm>
            <a:off x="-5071" y="5672"/>
            <a:ext cx="2978035" cy="2032896"/>
            <a:chOff x="-32841" y="-17740"/>
            <a:chExt cx="3974403" cy="3005930"/>
          </a:xfrm>
        </p:grpSpPr>
        <p:pic>
          <p:nvPicPr>
            <p:cNvPr id="9" name="Picture 8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D27976C2-0B64-5F49-A131-77DE0456A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32841" y="-17740"/>
              <a:ext cx="3974403" cy="3005930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9DE1AD3-E1B1-F943-945B-83223B31E2E7}"/>
                </a:ext>
              </a:extLst>
            </p:cNvPr>
            <p:cNvSpPr/>
            <p:nvPr/>
          </p:nvSpPr>
          <p:spPr>
            <a:xfrm>
              <a:off x="1217210" y="1059311"/>
              <a:ext cx="151223" cy="153888"/>
            </a:xfrm>
            <a:prstGeom prst="ellipse">
              <a:avLst/>
            </a:prstGeom>
            <a:solidFill>
              <a:srgbClr val="FE7E0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A506C9E-2B06-884D-8E82-9F14BBF3D569}"/>
                </a:ext>
              </a:extLst>
            </p:cNvPr>
            <p:cNvSpPr/>
            <p:nvPr/>
          </p:nvSpPr>
          <p:spPr>
            <a:xfrm>
              <a:off x="1217209" y="2435741"/>
              <a:ext cx="151223" cy="153888"/>
            </a:xfrm>
            <a:prstGeom prst="ellipse">
              <a:avLst/>
            </a:prstGeom>
            <a:solidFill>
              <a:srgbClr val="1A75B3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F846081-E075-6F42-929F-CE7CFFC88E1A}"/>
                </a:ext>
              </a:extLst>
            </p:cNvPr>
            <p:cNvSpPr/>
            <p:nvPr/>
          </p:nvSpPr>
          <p:spPr>
            <a:xfrm>
              <a:off x="1368433" y="548902"/>
              <a:ext cx="151223" cy="153888"/>
            </a:xfrm>
            <a:prstGeom prst="ellipse">
              <a:avLst/>
            </a:prstGeom>
            <a:solidFill>
              <a:srgbClr val="FE7E0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D70ADEC-5F2D-2F40-844D-F434E8592299}"/>
                </a:ext>
              </a:extLst>
            </p:cNvPr>
            <p:cNvSpPr/>
            <p:nvPr/>
          </p:nvSpPr>
          <p:spPr>
            <a:xfrm>
              <a:off x="1679231" y="251257"/>
              <a:ext cx="151223" cy="153888"/>
            </a:xfrm>
            <a:prstGeom prst="ellipse">
              <a:avLst/>
            </a:prstGeom>
            <a:solidFill>
              <a:srgbClr val="FE7E0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14B0699-3E28-0B43-80EF-E5AA66DA5463}"/>
                </a:ext>
              </a:extLst>
            </p:cNvPr>
            <p:cNvSpPr/>
            <p:nvPr/>
          </p:nvSpPr>
          <p:spPr>
            <a:xfrm>
              <a:off x="1368433" y="2163770"/>
              <a:ext cx="151223" cy="153888"/>
            </a:xfrm>
            <a:prstGeom prst="ellipse">
              <a:avLst/>
            </a:prstGeom>
            <a:solidFill>
              <a:srgbClr val="1A75B3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E5555E7-66F9-6945-B3D5-B201C7293ADB}"/>
                </a:ext>
              </a:extLst>
            </p:cNvPr>
            <p:cNvSpPr/>
            <p:nvPr/>
          </p:nvSpPr>
          <p:spPr>
            <a:xfrm>
              <a:off x="1679230" y="1797976"/>
              <a:ext cx="151223" cy="153888"/>
            </a:xfrm>
            <a:prstGeom prst="ellipse">
              <a:avLst/>
            </a:prstGeom>
            <a:solidFill>
              <a:srgbClr val="1A75B3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071440B-359E-E64D-B67F-D30648D9A926}"/>
                </a:ext>
              </a:extLst>
            </p:cNvPr>
            <p:cNvCxnSpPr>
              <a:stCxn id="33" idx="0"/>
              <a:endCxn id="35" idx="4"/>
            </p:cNvCxnSpPr>
            <p:nvPr/>
          </p:nvCxnSpPr>
          <p:spPr>
            <a:xfrm flipV="1">
              <a:off x="1292822" y="702790"/>
              <a:ext cx="151223" cy="356521"/>
            </a:xfrm>
            <a:prstGeom prst="line">
              <a:avLst/>
            </a:prstGeom>
            <a:ln>
              <a:solidFill>
                <a:srgbClr val="FE7E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CAC2767-C71F-8F41-8735-DFC727308EF7}"/>
                </a:ext>
              </a:extLst>
            </p:cNvPr>
            <p:cNvCxnSpPr>
              <a:cxnSpLocks/>
              <a:stCxn id="35" idx="7"/>
              <a:endCxn id="36" idx="3"/>
            </p:cNvCxnSpPr>
            <p:nvPr/>
          </p:nvCxnSpPr>
          <p:spPr>
            <a:xfrm flipV="1">
              <a:off x="1497510" y="382609"/>
              <a:ext cx="203867" cy="188829"/>
            </a:xfrm>
            <a:prstGeom prst="line">
              <a:avLst/>
            </a:prstGeom>
            <a:ln>
              <a:solidFill>
                <a:srgbClr val="FE7E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94AE13C-56DF-5147-9760-61A2E09C0F66}"/>
                </a:ext>
              </a:extLst>
            </p:cNvPr>
            <p:cNvCxnSpPr>
              <a:cxnSpLocks/>
              <a:stCxn id="34" idx="7"/>
              <a:endCxn id="37" idx="3"/>
            </p:cNvCxnSpPr>
            <p:nvPr/>
          </p:nvCxnSpPr>
          <p:spPr>
            <a:xfrm flipV="1">
              <a:off x="1346286" y="2295122"/>
              <a:ext cx="44293" cy="163155"/>
            </a:xfrm>
            <a:prstGeom prst="line">
              <a:avLst/>
            </a:prstGeom>
            <a:ln>
              <a:solidFill>
                <a:srgbClr val="1A75B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56834C8-B360-044E-8064-DDB1A3871E76}"/>
                </a:ext>
              </a:extLst>
            </p:cNvPr>
            <p:cNvCxnSpPr>
              <a:cxnSpLocks/>
              <a:stCxn id="37" idx="7"/>
              <a:endCxn id="38" idx="3"/>
            </p:cNvCxnSpPr>
            <p:nvPr/>
          </p:nvCxnSpPr>
          <p:spPr>
            <a:xfrm flipV="1">
              <a:off x="1497510" y="1929328"/>
              <a:ext cx="203866" cy="256978"/>
            </a:xfrm>
            <a:prstGeom prst="line">
              <a:avLst/>
            </a:prstGeom>
            <a:ln>
              <a:solidFill>
                <a:srgbClr val="1A75B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87E003D-C540-D34F-9EAA-EBC04D2602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577" y="2656996"/>
            <a:ext cx="2876178" cy="214996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C467063-0269-594C-A239-CC629878F9D6}"/>
              </a:ext>
            </a:extLst>
          </p:cNvPr>
          <p:cNvSpPr txBox="1"/>
          <p:nvPr/>
        </p:nvSpPr>
        <p:spPr>
          <a:xfrm>
            <a:off x="222157" y="4350063"/>
            <a:ext cx="709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t=40y</a:t>
            </a:r>
            <a:endParaRPr lang="en-F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26CDA8-C8C3-4548-A75B-FD784133397D}"/>
              </a:ext>
            </a:extLst>
          </p:cNvPr>
          <p:cNvSpPr txBox="1"/>
          <p:nvPr/>
        </p:nvSpPr>
        <p:spPr>
          <a:xfrm>
            <a:off x="415770" y="3740573"/>
            <a:ext cx="685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t=50y</a:t>
            </a:r>
            <a:endParaRPr lang="en-FR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73560-32AA-194E-9F22-D07B5F8A7189}"/>
              </a:ext>
            </a:extLst>
          </p:cNvPr>
          <p:cNvSpPr txBox="1"/>
          <p:nvPr/>
        </p:nvSpPr>
        <p:spPr>
          <a:xfrm>
            <a:off x="704176" y="3188810"/>
            <a:ext cx="686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t=60y</a:t>
            </a:r>
            <a:endParaRPr lang="en-FR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595506-BECE-1341-AC4F-4D32BD6E701B}"/>
              </a:ext>
            </a:extLst>
          </p:cNvPr>
          <p:cNvSpPr txBox="1"/>
          <p:nvPr/>
        </p:nvSpPr>
        <p:spPr>
          <a:xfrm>
            <a:off x="1277790" y="2817719"/>
            <a:ext cx="668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t=70y</a:t>
            </a:r>
            <a:endParaRPr lang="en-FR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5D9094-CDB3-6A4A-8B28-95F174C68520}"/>
              </a:ext>
            </a:extLst>
          </p:cNvPr>
          <p:cNvSpPr txBox="1"/>
          <p:nvPr/>
        </p:nvSpPr>
        <p:spPr>
          <a:xfrm>
            <a:off x="2240901" y="2693266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t=80y</a:t>
            </a:r>
            <a:endParaRPr lang="en-FR" sz="14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4417ED-8415-8449-B24E-CF8452A03B7A}"/>
              </a:ext>
            </a:extLst>
          </p:cNvPr>
          <p:cNvSpPr/>
          <p:nvPr/>
        </p:nvSpPr>
        <p:spPr>
          <a:xfrm>
            <a:off x="1824450" y="4637022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70F97E5-B50B-0F44-800A-C6185B33C4AB}"/>
              </a:ext>
            </a:extLst>
          </p:cNvPr>
          <p:cNvSpPr/>
          <p:nvPr/>
        </p:nvSpPr>
        <p:spPr>
          <a:xfrm>
            <a:off x="2363476" y="4394777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4D43372-A801-2A4F-87BE-900CD5A28D53}"/>
              </a:ext>
            </a:extLst>
          </p:cNvPr>
          <p:cNvSpPr/>
          <p:nvPr/>
        </p:nvSpPr>
        <p:spPr>
          <a:xfrm>
            <a:off x="2701362" y="4032524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1A3001-3624-824F-8678-BAEEFD874633}"/>
              </a:ext>
            </a:extLst>
          </p:cNvPr>
          <p:cNvSpPr txBox="1"/>
          <p:nvPr/>
        </p:nvSpPr>
        <p:spPr>
          <a:xfrm>
            <a:off x="1581253" y="4335852"/>
            <a:ext cx="626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38y</a:t>
            </a:r>
            <a:endParaRPr lang="en-FR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E82B7C-8737-D540-BCF8-2BB898990D66}"/>
              </a:ext>
            </a:extLst>
          </p:cNvPr>
          <p:cNvSpPr txBox="1"/>
          <p:nvPr/>
        </p:nvSpPr>
        <p:spPr>
          <a:xfrm>
            <a:off x="2053319" y="4141661"/>
            <a:ext cx="665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40y</a:t>
            </a:r>
            <a:endParaRPr lang="en-FR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745C30-A72B-9B42-BB31-20B9A8375D30}"/>
              </a:ext>
            </a:extLst>
          </p:cNvPr>
          <p:cNvSpPr txBox="1"/>
          <p:nvPr/>
        </p:nvSpPr>
        <p:spPr>
          <a:xfrm>
            <a:off x="2294880" y="3897264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45y</a:t>
            </a:r>
            <a:endParaRPr lang="en-FR" sz="1400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4D1FC41-2D31-6347-B4D8-04DE85A98882}"/>
              </a:ext>
            </a:extLst>
          </p:cNvPr>
          <p:cNvCxnSpPr>
            <a:cxnSpLocks/>
            <a:stCxn id="30" idx="7"/>
            <a:endCxn id="31" idx="2"/>
          </p:cNvCxnSpPr>
          <p:nvPr/>
        </p:nvCxnSpPr>
        <p:spPr>
          <a:xfrm flipV="1">
            <a:off x="1928213" y="4452718"/>
            <a:ext cx="435263" cy="20127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8EA0662-E5F2-D144-B7E9-2250EFD2B4C5}"/>
              </a:ext>
            </a:extLst>
          </p:cNvPr>
          <p:cNvCxnSpPr>
            <a:cxnSpLocks/>
            <a:stCxn id="31" idx="7"/>
            <a:endCxn id="32" idx="3"/>
          </p:cNvCxnSpPr>
          <p:nvPr/>
        </p:nvCxnSpPr>
        <p:spPr>
          <a:xfrm flipV="1">
            <a:off x="2467239" y="4131435"/>
            <a:ext cx="251926" cy="280313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F6A12071-0D64-9645-9A0A-FE6E1DD305AC}"/>
              </a:ext>
            </a:extLst>
          </p:cNvPr>
          <p:cNvSpPr/>
          <p:nvPr/>
        </p:nvSpPr>
        <p:spPr>
          <a:xfrm>
            <a:off x="4822487" y="734076"/>
            <a:ext cx="113312" cy="104074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4C08DB1-F690-9B45-9EE7-246B0E56308A}"/>
              </a:ext>
            </a:extLst>
          </p:cNvPr>
          <p:cNvSpPr/>
          <p:nvPr/>
        </p:nvSpPr>
        <p:spPr>
          <a:xfrm>
            <a:off x="4822486" y="1664949"/>
            <a:ext cx="113312" cy="104074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2424BAE-E9DF-C443-A5B9-EA33B7D5D1FD}"/>
              </a:ext>
            </a:extLst>
          </p:cNvPr>
          <p:cNvSpPr/>
          <p:nvPr/>
        </p:nvSpPr>
        <p:spPr>
          <a:xfrm>
            <a:off x="4975861" y="489026"/>
            <a:ext cx="113312" cy="104074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87B2A6B-0B0C-774F-92DF-13673E319294}"/>
              </a:ext>
            </a:extLst>
          </p:cNvPr>
          <p:cNvSpPr/>
          <p:nvPr/>
        </p:nvSpPr>
        <p:spPr>
          <a:xfrm>
            <a:off x="5242914" y="272489"/>
            <a:ext cx="113312" cy="104074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D25DB2C-629D-1449-A69B-AE6EADFD2E40}"/>
              </a:ext>
            </a:extLst>
          </p:cNvPr>
          <p:cNvSpPr/>
          <p:nvPr/>
        </p:nvSpPr>
        <p:spPr>
          <a:xfrm>
            <a:off x="5020422" y="1523564"/>
            <a:ext cx="113312" cy="104074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12593D8-8053-2D49-88B7-BC1FA6797BE2}"/>
              </a:ext>
            </a:extLst>
          </p:cNvPr>
          <p:cNvSpPr/>
          <p:nvPr/>
        </p:nvSpPr>
        <p:spPr>
          <a:xfrm>
            <a:off x="5168680" y="1233632"/>
            <a:ext cx="113312" cy="104074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6B8F91B-7368-1842-BC87-DDD88CECCB47}"/>
              </a:ext>
            </a:extLst>
          </p:cNvPr>
          <p:cNvCxnSpPr>
            <a:stCxn id="75" idx="0"/>
            <a:endCxn id="77" idx="4"/>
          </p:cNvCxnSpPr>
          <p:nvPr/>
        </p:nvCxnSpPr>
        <p:spPr>
          <a:xfrm flipV="1">
            <a:off x="4879143" y="593100"/>
            <a:ext cx="153374" cy="140976"/>
          </a:xfrm>
          <a:prstGeom prst="line">
            <a:avLst/>
          </a:prstGeom>
          <a:ln>
            <a:solidFill>
              <a:srgbClr val="F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8285D3A-E3FF-A146-B3B4-B4FE58ABF537}"/>
              </a:ext>
            </a:extLst>
          </p:cNvPr>
          <p:cNvCxnSpPr>
            <a:cxnSpLocks/>
            <a:stCxn id="77" idx="7"/>
            <a:endCxn id="78" idx="3"/>
          </p:cNvCxnSpPr>
          <p:nvPr/>
        </p:nvCxnSpPr>
        <p:spPr>
          <a:xfrm flipV="1">
            <a:off x="5072579" y="361322"/>
            <a:ext cx="186929" cy="142945"/>
          </a:xfrm>
          <a:prstGeom prst="line">
            <a:avLst/>
          </a:prstGeom>
          <a:ln>
            <a:solidFill>
              <a:srgbClr val="F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044C28C-8628-9C4E-9D8D-4B3DFFDC420C}"/>
              </a:ext>
            </a:extLst>
          </p:cNvPr>
          <p:cNvCxnSpPr>
            <a:cxnSpLocks/>
            <a:stCxn id="76" idx="7"/>
            <a:endCxn id="79" idx="3"/>
          </p:cNvCxnSpPr>
          <p:nvPr/>
        </p:nvCxnSpPr>
        <p:spPr>
          <a:xfrm flipV="1">
            <a:off x="4919204" y="1612397"/>
            <a:ext cx="117812" cy="67793"/>
          </a:xfrm>
          <a:prstGeom prst="line">
            <a:avLst/>
          </a:prstGeom>
          <a:ln>
            <a:solidFill>
              <a:srgbClr val="1A75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F4FDAB2-3F46-0947-90D8-08C400A4E6CF}"/>
              </a:ext>
            </a:extLst>
          </p:cNvPr>
          <p:cNvCxnSpPr>
            <a:cxnSpLocks/>
            <a:stCxn id="79" idx="7"/>
            <a:endCxn id="80" idx="3"/>
          </p:cNvCxnSpPr>
          <p:nvPr/>
        </p:nvCxnSpPr>
        <p:spPr>
          <a:xfrm flipV="1">
            <a:off x="5117140" y="1322465"/>
            <a:ext cx="68134" cy="216340"/>
          </a:xfrm>
          <a:prstGeom prst="line">
            <a:avLst/>
          </a:prstGeom>
          <a:ln>
            <a:solidFill>
              <a:srgbClr val="1A75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6" name="Picture 85" descr="A screenshot of a cell phone&#10;&#10;Description automatically generated">
            <a:extLst>
              <a:ext uri="{FF2B5EF4-FFF2-40B4-BE49-F238E27FC236}">
                <a16:creationId xmlns:a16="http://schemas.microsoft.com/office/drawing/2014/main" id="{9B203B32-1346-C349-B5F5-74E26D987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159" y="1735"/>
            <a:ext cx="2978035" cy="2032896"/>
          </a:xfrm>
          <a:prstGeom prst="rect">
            <a:avLst/>
          </a:prstGeom>
        </p:spPr>
      </p:pic>
      <p:sp>
        <p:nvSpPr>
          <p:cNvPr id="87" name="Oval 86">
            <a:extLst>
              <a:ext uri="{FF2B5EF4-FFF2-40B4-BE49-F238E27FC236}">
                <a16:creationId xmlns:a16="http://schemas.microsoft.com/office/drawing/2014/main" id="{1BBEE708-DA9A-CE41-A7C0-0367A1115AAE}"/>
              </a:ext>
            </a:extLst>
          </p:cNvPr>
          <p:cNvSpPr/>
          <p:nvPr/>
        </p:nvSpPr>
        <p:spPr>
          <a:xfrm>
            <a:off x="8628322" y="730139"/>
            <a:ext cx="113312" cy="104074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315BF22-5D28-E044-8D98-19F4A242C68E}"/>
              </a:ext>
            </a:extLst>
          </p:cNvPr>
          <p:cNvSpPr/>
          <p:nvPr/>
        </p:nvSpPr>
        <p:spPr>
          <a:xfrm>
            <a:off x="7299567" y="1661012"/>
            <a:ext cx="113312" cy="104074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774DBA9-5B7B-A64C-91FD-0AC387A9056B}"/>
              </a:ext>
            </a:extLst>
          </p:cNvPr>
          <p:cNvSpPr/>
          <p:nvPr/>
        </p:nvSpPr>
        <p:spPr>
          <a:xfrm>
            <a:off x="8687625" y="432794"/>
            <a:ext cx="113312" cy="104074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B348B4E-EDF5-9344-8C91-9A289CDEE23C}"/>
              </a:ext>
            </a:extLst>
          </p:cNvPr>
          <p:cNvSpPr/>
          <p:nvPr/>
        </p:nvSpPr>
        <p:spPr>
          <a:xfrm>
            <a:off x="8974516" y="183656"/>
            <a:ext cx="113312" cy="104074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140DAA3-29CB-DB45-A955-7243479119BA}"/>
              </a:ext>
            </a:extLst>
          </p:cNvPr>
          <p:cNvSpPr/>
          <p:nvPr/>
        </p:nvSpPr>
        <p:spPr>
          <a:xfrm>
            <a:off x="7497179" y="1545915"/>
            <a:ext cx="113312" cy="104074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280AB75-C3B9-BA4C-AA4B-63FD51B4478A}"/>
              </a:ext>
            </a:extLst>
          </p:cNvPr>
          <p:cNvSpPr/>
          <p:nvPr/>
        </p:nvSpPr>
        <p:spPr>
          <a:xfrm>
            <a:off x="7645761" y="1229695"/>
            <a:ext cx="113312" cy="104074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88A09B7-16A2-8B4C-A411-8B2753A6CAE0}"/>
              </a:ext>
            </a:extLst>
          </p:cNvPr>
          <p:cNvCxnSpPr>
            <a:cxnSpLocks/>
            <a:stCxn id="87" idx="0"/>
            <a:endCxn id="89" idx="4"/>
          </p:cNvCxnSpPr>
          <p:nvPr/>
        </p:nvCxnSpPr>
        <p:spPr>
          <a:xfrm flipV="1">
            <a:off x="8684978" y="536868"/>
            <a:ext cx="59303" cy="193271"/>
          </a:xfrm>
          <a:prstGeom prst="line">
            <a:avLst/>
          </a:prstGeom>
          <a:ln>
            <a:solidFill>
              <a:srgbClr val="F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D082EF2-4A14-FE46-884A-C8BAD060CAD6}"/>
              </a:ext>
            </a:extLst>
          </p:cNvPr>
          <p:cNvCxnSpPr>
            <a:cxnSpLocks/>
            <a:stCxn id="89" idx="7"/>
            <a:endCxn id="90" idx="3"/>
          </p:cNvCxnSpPr>
          <p:nvPr/>
        </p:nvCxnSpPr>
        <p:spPr>
          <a:xfrm flipV="1">
            <a:off x="8784343" y="272489"/>
            <a:ext cx="206767" cy="175546"/>
          </a:xfrm>
          <a:prstGeom prst="line">
            <a:avLst/>
          </a:prstGeom>
          <a:ln>
            <a:solidFill>
              <a:srgbClr val="F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C849109-4A1A-664A-B330-AECC40EB7D05}"/>
              </a:ext>
            </a:extLst>
          </p:cNvPr>
          <p:cNvCxnSpPr>
            <a:cxnSpLocks/>
            <a:stCxn id="88" idx="7"/>
            <a:endCxn id="91" idx="3"/>
          </p:cNvCxnSpPr>
          <p:nvPr/>
        </p:nvCxnSpPr>
        <p:spPr>
          <a:xfrm flipV="1">
            <a:off x="7396285" y="1634748"/>
            <a:ext cx="117488" cy="41505"/>
          </a:xfrm>
          <a:prstGeom prst="line">
            <a:avLst/>
          </a:prstGeom>
          <a:ln>
            <a:solidFill>
              <a:srgbClr val="1A75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92347F7-9ED0-1947-AFD9-E5611E3A502C}"/>
              </a:ext>
            </a:extLst>
          </p:cNvPr>
          <p:cNvCxnSpPr>
            <a:cxnSpLocks/>
            <a:stCxn id="91" idx="7"/>
            <a:endCxn id="92" idx="3"/>
          </p:cNvCxnSpPr>
          <p:nvPr/>
        </p:nvCxnSpPr>
        <p:spPr>
          <a:xfrm flipV="1">
            <a:off x="7593897" y="1318528"/>
            <a:ext cx="68458" cy="242628"/>
          </a:xfrm>
          <a:prstGeom prst="line">
            <a:avLst/>
          </a:prstGeom>
          <a:ln>
            <a:solidFill>
              <a:srgbClr val="1A75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riangle 14">
            <a:extLst>
              <a:ext uri="{FF2B5EF4-FFF2-40B4-BE49-F238E27FC236}">
                <a16:creationId xmlns:a16="http://schemas.microsoft.com/office/drawing/2014/main" id="{9BE2AEC3-394F-9943-9B42-84274442351A}"/>
              </a:ext>
            </a:extLst>
          </p:cNvPr>
          <p:cNvSpPr/>
          <p:nvPr/>
        </p:nvSpPr>
        <p:spPr>
          <a:xfrm rot="16200000" flipV="1">
            <a:off x="1936969" y="953501"/>
            <a:ext cx="2177477" cy="24190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sp>
        <p:nvSpPr>
          <p:cNvPr id="97" name="Triangle 96">
            <a:extLst>
              <a:ext uri="{FF2B5EF4-FFF2-40B4-BE49-F238E27FC236}">
                <a16:creationId xmlns:a16="http://schemas.microsoft.com/office/drawing/2014/main" id="{D2CAAE59-BB33-B640-85AA-6DACD1D7F34B}"/>
              </a:ext>
            </a:extLst>
          </p:cNvPr>
          <p:cNvSpPr/>
          <p:nvPr/>
        </p:nvSpPr>
        <p:spPr>
          <a:xfrm rot="16200000" flipV="1">
            <a:off x="5036775" y="897230"/>
            <a:ext cx="2177477" cy="24190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A604C03-DDB2-B140-889E-E408ED84EB5D}"/>
              </a:ext>
            </a:extLst>
          </p:cNvPr>
          <p:cNvSpPr txBox="1"/>
          <p:nvPr/>
        </p:nvSpPr>
        <p:spPr>
          <a:xfrm>
            <a:off x="1159106" y="4374419"/>
            <a:ext cx="58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30y</a:t>
            </a:r>
            <a:endParaRPr lang="en-FR" sz="1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D455F31-FA41-3241-AE77-D9717F050853}"/>
              </a:ext>
            </a:extLst>
          </p:cNvPr>
          <p:cNvSpPr txBox="1"/>
          <p:nvPr/>
        </p:nvSpPr>
        <p:spPr>
          <a:xfrm>
            <a:off x="2520607" y="3526551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50y</a:t>
            </a:r>
            <a:endParaRPr lang="en-FR" sz="1400" dirty="0"/>
          </a:p>
        </p:txBody>
      </p:sp>
      <p:sp>
        <p:nvSpPr>
          <p:cNvPr id="135" name="Triangle 134">
            <a:extLst>
              <a:ext uri="{FF2B5EF4-FFF2-40B4-BE49-F238E27FC236}">
                <a16:creationId xmlns:a16="http://schemas.microsoft.com/office/drawing/2014/main" id="{98A44E4C-AD82-B24E-8C5F-1E0B91509DED}"/>
              </a:ext>
            </a:extLst>
          </p:cNvPr>
          <p:cNvSpPr/>
          <p:nvPr/>
        </p:nvSpPr>
        <p:spPr>
          <a:xfrm rot="16200000" flipV="1">
            <a:off x="1945641" y="3548488"/>
            <a:ext cx="2177477" cy="24190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B08F58EF-6738-7944-A3A6-C0648056C5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5647" y="2643204"/>
            <a:ext cx="2876178" cy="2149967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4BB40148-322D-FE4E-9ED6-9363985F03F1}"/>
              </a:ext>
            </a:extLst>
          </p:cNvPr>
          <p:cNvSpPr txBox="1"/>
          <p:nvPr/>
        </p:nvSpPr>
        <p:spPr>
          <a:xfrm>
            <a:off x="3319227" y="4336271"/>
            <a:ext cx="709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t=40y</a:t>
            </a:r>
            <a:endParaRPr lang="en-FR" sz="14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E39E5FB-5487-0B45-BC25-83123F2F0E1B}"/>
              </a:ext>
            </a:extLst>
          </p:cNvPr>
          <p:cNvSpPr txBox="1"/>
          <p:nvPr/>
        </p:nvSpPr>
        <p:spPr>
          <a:xfrm>
            <a:off x="3512840" y="3726781"/>
            <a:ext cx="685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t=50y</a:t>
            </a:r>
            <a:endParaRPr lang="en-FR" sz="14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F686214-149A-8F42-BD83-190C613ED4B9}"/>
              </a:ext>
            </a:extLst>
          </p:cNvPr>
          <p:cNvSpPr txBox="1"/>
          <p:nvPr/>
        </p:nvSpPr>
        <p:spPr>
          <a:xfrm>
            <a:off x="3801246" y="3175018"/>
            <a:ext cx="686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t=60y</a:t>
            </a:r>
            <a:endParaRPr lang="en-FR" sz="14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D6AC92D-1369-C945-8AA6-F41C13C7430D}"/>
              </a:ext>
            </a:extLst>
          </p:cNvPr>
          <p:cNvSpPr txBox="1"/>
          <p:nvPr/>
        </p:nvSpPr>
        <p:spPr>
          <a:xfrm>
            <a:off x="4374860" y="2803927"/>
            <a:ext cx="668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t=70y</a:t>
            </a:r>
            <a:endParaRPr lang="en-FR" sz="14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0CA454D-0377-C745-BE2D-F67A1520E498}"/>
              </a:ext>
            </a:extLst>
          </p:cNvPr>
          <p:cNvSpPr txBox="1"/>
          <p:nvPr/>
        </p:nvSpPr>
        <p:spPr>
          <a:xfrm>
            <a:off x="5361062" y="2696721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t=80y</a:t>
            </a:r>
            <a:endParaRPr lang="en-FR" sz="1400" dirty="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007D4F32-0106-9143-958F-C9549D122F29}"/>
              </a:ext>
            </a:extLst>
          </p:cNvPr>
          <p:cNvSpPr/>
          <p:nvPr/>
        </p:nvSpPr>
        <p:spPr>
          <a:xfrm>
            <a:off x="4921520" y="4623230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60967FBA-2754-1F4B-9790-527D18638428}"/>
              </a:ext>
            </a:extLst>
          </p:cNvPr>
          <p:cNvSpPr/>
          <p:nvPr/>
        </p:nvSpPr>
        <p:spPr>
          <a:xfrm>
            <a:off x="5460546" y="4380985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C8941A87-F085-224C-957B-516C84A5D9CF}"/>
              </a:ext>
            </a:extLst>
          </p:cNvPr>
          <p:cNvSpPr/>
          <p:nvPr/>
        </p:nvSpPr>
        <p:spPr>
          <a:xfrm>
            <a:off x="5798432" y="4034231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DD3201D-8F72-1641-9E4D-D676F78D0D78}"/>
              </a:ext>
            </a:extLst>
          </p:cNvPr>
          <p:cNvSpPr txBox="1"/>
          <p:nvPr/>
        </p:nvSpPr>
        <p:spPr>
          <a:xfrm>
            <a:off x="4678323" y="4322060"/>
            <a:ext cx="626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55y</a:t>
            </a:r>
            <a:endParaRPr lang="en-FR" sz="14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D693429-A2AB-CB4C-BDBF-4CCBABF9D41C}"/>
              </a:ext>
            </a:extLst>
          </p:cNvPr>
          <p:cNvSpPr txBox="1"/>
          <p:nvPr/>
        </p:nvSpPr>
        <p:spPr>
          <a:xfrm>
            <a:off x="5150389" y="4127869"/>
            <a:ext cx="665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60y</a:t>
            </a:r>
            <a:endParaRPr lang="en-FR" sz="14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6CB8D70-DCBF-A244-9FBA-DA24B9AFDE10}"/>
              </a:ext>
            </a:extLst>
          </p:cNvPr>
          <p:cNvSpPr txBox="1"/>
          <p:nvPr/>
        </p:nvSpPr>
        <p:spPr>
          <a:xfrm>
            <a:off x="5391950" y="3883472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65y</a:t>
            </a:r>
            <a:endParaRPr lang="en-FR" sz="1400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63091C4-7BF5-3141-ABA6-A4E714320B3E}"/>
              </a:ext>
            </a:extLst>
          </p:cNvPr>
          <p:cNvCxnSpPr>
            <a:cxnSpLocks/>
            <a:stCxn id="143" idx="7"/>
            <a:endCxn id="144" idx="2"/>
          </p:cNvCxnSpPr>
          <p:nvPr/>
        </p:nvCxnSpPr>
        <p:spPr>
          <a:xfrm flipV="1">
            <a:off x="5025283" y="4438926"/>
            <a:ext cx="435263" cy="20127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41812FF-D7E2-8540-A740-0A9D3B4B88C8}"/>
              </a:ext>
            </a:extLst>
          </p:cNvPr>
          <p:cNvCxnSpPr>
            <a:cxnSpLocks/>
            <a:stCxn id="144" idx="7"/>
            <a:endCxn id="145" idx="3"/>
          </p:cNvCxnSpPr>
          <p:nvPr/>
        </p:nvCxnSpPr>
        <p:spPr>
          <a:xfrm flipV="1">
            <a:off x="5564309" y="4133142"/>
            <a:ext cx="251926" cy="264814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1E91FC36-3489-C04A-9CEF-1F892B274474}"/>
              </a:ext>
            </a:extLst>
          </p:cNvPr>
          <p:cNvSpPr txBox="1"/>
          <p:nvPr/>
        </p:nvSpPr>
        <p:spPr>
          <a:xfrm>
            <a:off x="4256176" y="4360627"/>
            <a:ext cx="58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50y</a:t>
            </a:r>
            <a:endParaRPr lang="en-FR" sz="14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A0A782C-017E-B042-A479-BC08BD53D742}"/>
              </a:ext>
            </a:extLst>
          </p:cNvPr>
          <p:cNvSpPr txBox="1"/>
          <p:nvPr/>
        </p:nvSpPr>
        <p:spPr>
          <a:xfrm>
            <a:off x="5617677" y="3512759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70y</a:t>
            </a:r>
            <a:endParaRPr lang="en-FR" sz="1400" dirty="0"/>
          </a:p>
        </p:txBody>
      </p:sp>
      <p:sp>
        <p:nvSpPr>
          <p:cNvPr id="153" name="Triangle 152">
            <a:extLst>
              <a:ext uri="{FF2B5EF4-FFF2-40B4-BE49-F238E27FC236}">
                <a16:creationId xmlns:a16="http://schemas.microsoft.com/office/drawing/2014/main" id="{8CD949B2-661F-C445-B224-AC6876BA820A}"/>
              </a:ext>
            </a:extLst>
          </p:cNvPr>
          <p:cNvSpPr/>
          <p:nvPr/>
        </p:nvSpPr>
        <p:spPr>
          <a:xfrm rot="16200000" flipV="1">
            <a:off x="5042711" y="3534696"/>
            <a:ext cx="2177477" cy="24190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D0449B23-99BD-FA48-B004-7ED30C4A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52402" y="2618924"/>
            <a:ext cx="2876178" cy="2149967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6916851C-41EF-FE4F-B9F1-044502EE9851}"/>
              </a:ext>
            </a:extLst>
          </p:cNvPr>
          <p:cNvSpPr txBox="1"/>
          <p:nvPr/>
        </p:nvSpPr>
        <p:spPr>
          <a:xfrm>
            <a:off x="6445982" y="4311991"/>
            <a:ext cx="709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t=40y</a:t>
            </a:r>
            <a:endParaRPr lang="en-FR" sz="14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DCB6EA2-9C3E-FC47-88C9-2FB9D37B70AA}"/>
              </a:ext>
            </a:extLst>
          </p:cNvPr>
          <p:cNvSpPr txBox="1"/>
          <p:nvPr/>
        </p:nvSpPr>
        <p:spPr>
          <a:xfrm>
            <a:off x="6639595" y="3702501"/>
            <a:ext cx="685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t=50y</a:t>
            </a:r>
            <a:endParaRPr lang="en-FR" sz="14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A58780E-F69F-424C-9222-3674F187C66D}"/>
              </a:ext>
            </a:extLst>
          </p:cNvPr>
          <p:cNvSpPr txBox="1"/>
          <p:nvPr/>
        </p:nvSpPr>
        <p:spPr>
          <a:xfrm>
            <a:off x="6928001" y="3150738"/>
            <a:ext cx="686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t=60y</a:t>
            </a:r>
            <a:endParaRPr lang="en-FR" sz="14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456543E-331A-544A-9964-25947B1E0B41}"/>
              </a:ext>
            </a:extLst>
          </p:cNvPr>
          <p:cNvSpPr txBox="1"/>
          <p:nvPr/>
        </p:nvSpPr>
        <p:spPr>
          <a:xfrm>
            <a:off x="7501615" y="2779647"/>
            <a:ext cx="668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t=70y</a:t>
            </a:r>
            <a:endParaRPr lang="en-FR" sz="1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C7CEB77-A856-124F-BA13-E56B1058B7A5}"/>
              </a:ext>
            </a:extLst>
          </p:cNvPr>
          <p:cNvSpPr txBox="1"/>
          <p:nvPr/>
        </p:nvSpPr>
        <p:spPr>
          <a:xfrm>
            <a:off x="8494307" y="2699680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t=80y</a:t>
            </a:r>
            <a:endParaRPr lang="en-FR" sz="1400" dirty="0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8E056490-2876-F343-A3E2-9F3232A45B2C}"/>
              </a:ext>
            </a:extLst>
          </p:cNvPr>
          <p:cNvSpPr/>
          <p:nvPr/>
        </p:nvSpPr>
        <p:spPr>
          <a:xfrm>
            <a:off x="8048275" y="4598950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82999EF-15C0-4A40-B536-4C406F74E866}"/>
              </a:ext>
            </a:extLst>
          </p:cNvPr>
          <p:cNvSpPr/>
          <p:nvPr/>
        </p:nvSpPr>
        <p:spPr>
          <a:xfrm>
            <a:off x="8587301" y="4356705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F2E129E1-1D65-8E41-8008-1A739A339D38}"/>
              </a:ext>
            </a:extLst>
          </p:cNvPr>
          <p:cNvSpPr/>
          <p:nvPr/>
        </p:nvSpPr>
        <p:spPr>
          <a:xfrm>
            <a:off x="8925187" y="4009949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875A138-A012-FE4E-B2DA-DC8694A26D81}"/>
              </a:ext>
            </a:extLst>
          </p:cNvPr>
          <p:cNvSpPr txBox="1"/>
          <p:nvPr/>
        </p:nvSpPr>
        <p:spPr>
          <a:xfrm>
            <a:off x="7805078" y="4297780"/>
            <a:ext cx="626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55y</a:t>
            </a:r>
            <a:endParaRPr lang="en-FR" sz="14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04FAC4A-237E-BC49-9326-4C3208CB7ECE}"/>
              </a:ext>
            </a:extLst>
          </p:cNvPr>
          <p:cNvSpPr txBox="1"/>
          <p:nvPr/>
        </p:nvSpPr>
        <p:spPr>
          <a:xfrm>
            <a:off x="8277144" y="4103589"/>
            <a:ext cx="665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60y</a:t>
            </a:r>
            <a:endParaRPr lang="en-FR" sz="14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D3D9729-0D4B-DE43-8E7C-CDD8C77C1535}"/>
              </a:ext>
            </a:extLst>
          </p:cNvPr>
          <p:cNvSpPr txBox="1"/>
          <p:nvPr/>
        </p:nvSpPr>
        <p:spPr>
          <a:xfrm>
            <a:off x="8518705" y="3859192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65y</a:t>
            </a:r>
            <a:endParaRPr lang="en-FR" sz="1400" dirty="0"/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7E5387E6-7EB4-854D-B95E-64B2F2FDCEDE}"/>
              </a:ext>
            </a:extLst>
          </p:cNvPr>
          <p:cNvCxnSpPr>
            <a:cxnSpLocks/>
            <a:stCxn id="161" idx="7"/>
            <a:endCxn id="162" idx="2"/>
          </p:cNvCxnSpPr>
          <p:nvPr/>
        </p:nvCxnSpPr>
        <p:spPr>
          <a:xfrm flipV="1">
            <a:off x="8152038" y="4414646"/>
            <a:ext cx="435263" cy="20127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8A4CFAE4-F8AA-B346-92D2-ED687226DB45}"/>
              </a:ext>
            </a:extLst>
          </p:cNvPr>
          <p:cNvCxnSpPr>
            <a:cxnSpLocks/>
            <a:stCxn id="162" idx="7"/>
            <a:endCxn id="163" idx="3"/>
          </p:cNvCxnSpPr>
          <p:nvPr/>
        </p:nvCxnSpPr>
        <p:spPr>
          <a:xfrm flipV="1">
            <a:off x="8691064" y="4108860"/>
            <a:ext cx="251926" cy="264816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4F11DCEF-EB77-F546-BE0D-E4C80DE2FC36}"/>
              </a:ext>
            </a:extLst>
          </p:cNvPr>
          <p:cNvSpPr txBox="1"/>
          <p:nvPr/>
        </p:nvSpPr>
        <p:spPr>
          <a:xfrm>
            <a:off x="7382931" y="4336347"/>
            <a:ext cx="58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50y</a:t>
            </a:r>
            <a:endParaRPr lang="en-FR" sz="14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E74B0B0-2D85-AB48-976F-F05BB73843EB}"/>
              </a:ext>
            </a:extLst>
          </p:cNvPr>
          <p:cNvSpPr txBox="1"/>
          <p:nvPr/>
        </p:nvSpPr>
        <p:spPr>
          <a:xfrm>
            <a:off x="8744432" y="3488479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70y</a:t>
            </a:r>
            <a:endParaRPr lang="en-FR" sz="1400" dirty="0"/>
          </a:p>
        </p:txBody>
      </p:sp>
      <p:sp>
        <p:nvSpPr>
          <p:cNvPr id="5" name="Curved Right Arrow 4">
            <a:extLst>
              <a:ext uri="{FF2B5EF4-FFF2-40B4-BE49-F238E27FC236}">
                <a16:creationId xmlns:a16="http://schemas.microsoft.com/office/drawing/2014/main" id="{8A6DA81E-D727-AE48-8F12-C8008EB94ADB}"/>
              </a:ext>
            </a:extLst>
          </p:cNvPr>
          <p:cNvSpPr/>
          <p:nvPr/>
        </p:nvSpPr>
        <p:spPr>
          <a:xfrm rot="16200000">
            <a:off x="3199625" y="3227698"/>
            <a:ext cx="415587" cy="3218384"/>
          </a:xfrm>
          <a:prstGeom prst="curvedRightArrow">
            <a:avLst>
              <a:gd name="adj1" fmla="val 25000"/>
              <a:gd name="adj2" fmla="val 88478"/>
              <a:gd name="adj3" fmla="val 34192"/>
            </a:avLst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>
              <a:solidFill>
                <a:schemeClr val="tx1"/>
              </a:solidFill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A5ABBB5B-2097-6B41-B613-6A4F4D02E63B}"/>
              </a:ext>
            </a:extLst>
          </p:cNvPr>
          <p:cNvSpPr/>
          <p:nvPr/>
        </p:nvSpPr>
        <p:spPr>
          <a:xfrm>
            <a:off x="3984385" y="772172"/>
            <a:ext cx="113312" cy="104074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1AB2F2F2-B43A-284C-8852-92D7D23D9DD3}"/>
              </a:ext>
            </a:extLst>
          </p:cNvPr>
          <p:cNvSpPr/>
          <p:nvPr/>
        </p:nvSpPr>
        <p:spPr>
          <a:xfrm>
            <a:off x="3984384" y="1703045"/>
            <a:ext cx="113312" cy="104074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E30D606F-54CC-4B42-8B62-E5D2A2B68D1E}"/>
              </a:ext>
            </a:extLst>
          </p:cNvPr>
          <p:cNvSpPr/>
          <p:nvPr/>
        </p:nvSpPr>
        <p:spPr>
          <a:xfrm>
            <a:off x="4097697" y="426985"/>
            <a:ext cx="113312" cy="104074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8A2975D2-D97A-8A45-AEEC-8213D6A625D3}"/>
              </a:ext>
            </a:extLst>
          </p:cNvPr>
          <p:cNvSpPr/>
          <p:nvPr/>
        </p:nvSpPr>
        <p:spPr>
          <a:xfrm>
            <a:off x="4330579" y="225689"/>
            <a:ext cx="113312" cy="104074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FCE988A2-853F-E54F-90B0-1F1F77CD041B}"/>
              </a:ext>
            </a:extLst>
          </p:cNvPr>
          <p:cNvSpPr/>
          <p:nvPr/>
        </p:nvSpPr>
        <p:spPr>
          <a:xfrm>
            <a:off x="4097697" y="1519113"/>
            <a:ext cx="113312" cy="104074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07F59061-E627-CF49-ACE6-B8F5AE525743}"/>
              </a:ext>
            </a:extLst>
          </p:cNvPr>
          <p:cNvSpPr/>
          <p:nvPr/>
        </p:nvSpPr>
        <p:spPr>
          <a:xfrm>
            <a:off x="4330578" y="1271728"/>
            <a:ext cx="113312" cy="104074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97F7141D-90B5-974F-B539-C898F7104B7D}"/>
              </a:ext>
            </a:extLst>
          </p:cNvPr>
          <p:cNvCxnSpPr>
            <a:stCxn id="172" idx="0"/>
            <a:endCxn id="174" idx="4"/>
          </p:cNvCxnSpPr>
          <p:nvPr/>
        </p:nvCxnSpPr>
        <p:spPr>
          <a:xfrm flipV="1">
            <a:off x="4041041" y="531059"/>
            <a:ext cx="113312" cy="241113"/>
          </a:xfrm>
          <a:prstGeom prst="line">
            <a:avLst/>
          </a:prstGeom>
          <a:ln>
            <a:solidFill>
              <a:srgbClr val="F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72F9708-DFFF-FD44-BBCF-DA55C9766ACB}"/>
              </a:ext>
            </a:extLst>
          </p:cNvPr>
          <p:cNvCxnSpPr>
            <a:cxnSpLocks/>
          </p:cNvCxnSpPr>
          <p:nvPr/>
        </p:nvCxnSpPr>
        <p:spPr>
          <a:xfrm flipV="1">
            <a:off x="4208375" y="343529"/>
            <a:ext cx="152758" cy="127704"/>
          </a:xfrm>
          <a:prstGeom prst="line">
            <a:avLst/>
          </a:prstGeom>
          <a:ln>
            <a:solidFill>
              <a:srgbClr val="F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0127874-F0CE-DB4B-BAA0-125FF4C9B20E}"/>
              </a:ext>
            </a:extLst>
          </p:cNvPr>
          <p:cNvCxnSpPr>
            <a:cxnSpLocks/>
          </p:cNvCxnSpPr>
          <p:nvPr/>
        </p:nvCxnSpPr>
        <p:spPr>
          <a:xfrm flipV="1">
            <a:off x="4081101" y="1608159"/>
            <a:ext cx="33189" cy="110341"/>
          </a:xfrm>
          <a:prstGeom prst="line">
            <a:avLst/>
          </a:prstGeom>
          <a:ln>
            <a:solidFill>
              <a:srgbClr val="1A75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293C5468-0AC2-5148-A61B-097264FA1C2B}"/>
              </a:ext>
            </a:extLst>
          </p:cNvPr>
          <p:cNvCxnSpPr>
            <a:cxnSpLocks/>
          </p:cNvCxnSpPr>
          <p:nvPr/>
        </p:nvCxnSpPr>
        <p:spPr>
          <a:xfrm flipV="1">
            <a:off x="4194414" y="1360775"/>
            <a:ext cx="152758" cy="173793"/>
          </a:xfrm>
          <a:prstGeom prst="line">
            <a:avLst/>
          </a:prstGeom>
          <a:ln>
            <a:solidFill>
              <a:srgbClr val="1A75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2C8BF36B-0283-6948-9BCB-B757B9C0488A}"/>
              </a:ext>
            </a:extLst>
          </p:cNvPr>
          <p:cNvSpPr/>
          <p:nvPr/>
        </p:nvSpPr>
        <p:spPr>
          <a:xfrm>
            <a:off x="7918120" y="800748"/>
            <a:ext cx="113312" cy="104074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4660FD4E-1D73-2742-A425-56E99A637275}"/>
              </a:ext>
            </a:extLst>
          </p:cNvPr>
          <p:cNvSpPr/>
          <p:nvPr/>
        </p:nvSpPr>
        <p:spPr>
          <a:xfrm>
            <a:off x="7918119" y="1731621"/>
            <a:ext cx="113312" cy="104074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A5407AEC-B904-FA45-954A-1D7A9A885AEE}"/>
              </a:ext>
            </a:extLst>
          </p:cNvPr>
          <p:cNvSpPr/>
          <p:nvPr/>
        </p:nvSpPr>
        <p:spPr>
          <a:xfrm>
            <a:off x="8264314" y="254265"/>
            <a:ext cx="113312" cy="104074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6C875BAC-BF16-AD41-ABED-12D617AD8DD2}"/>
              </a:ext>
            </a:extLst>
          </p:cNvPr>
          <p:cNvSpPr/>
          <p:nvPr/>
        </p:nvSpPr>
        <p:spPr>
          <a:xfrm>
            <a:off x="8264313" y="1300304"/>
            <a:ext cx="113312" cy="104074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28814C9D-9CC0-F84F-8635-0965099C503C}"/>
              </a:ext>
            </a:extLst>
          </p:cNvPr>
          <p:cNvCxnSpPr>
            <a:cxnSpLocks/>
            <a:stCxn id="182" idx="0"/>
            <a:endCxn id="190" idx="4"/>
          </p:cNvCxnSpPr>
          <p:nvPr/>
        </p:nvCxnSpPr>
        <p:spPr>
          <a:xfrm flipV="1">
            <a:off x="7974776" y="559788"/>
            <a:ext cx="109500" cy="240960"/>
          </a:xfrm>
          <a:prstGeom prst="line">
            <a:avLst/>
          </a:prstGeom>
          <a:ln>
            <a:solidFill>
              <a:srgbClr val="F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FCE1ABBC-4AA5-E148-BAC2-1D10F2401BFB}"/>
              </a:ext>
            </a:extLst>
          </p:cNvPr>
          <p:cNvCxnSpPr>
            <a:cxnSpLocks/>
            <a:stCxn id="190" idx="7"/>
            <a:endCxn id="184" idx="3"/>
          </p:cNvCxnSpPr>
          <p:nvPr/>
        </p:nvCxnSpPr>
        <p:spPr>
          <a:xfrm flipV="1">
            <a:off x="8124338" y="343098"/>
            <a:ext cx="156570" cy="127857"/>
          </a:xfrm>
          <a:prstGeom prst="line">
            <a:avLst/>
          </a:prstGeom>
          <a:ln>
            <a:solidFill>
              <a:srgbClr val="F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2FD19DF0-9E06-2342-8650-96FA46B083B8}"/>
              </a:ext>
            </a:extLst>
          </p:cNvPr>
          <p:cNvCxnSpPr>
            <a:cxnSpLocks/>
            <a:stCxn id="183" idx="7"/>
            <a:endCxn id="191" idx="3"/>
          </p:cNvCxnSpPr>
          <p:nvPr/>
        </p:nvCxnSpPr>
        <p:spPr>
          <a:xfrm flipV="1">
            <a:off x="8014837" y="1704637"/>
            <a:ext cx="160518" cy="42225"/>
          </a:xfrm>
          <a:prstGeom prst="line">
            <a:avLst/>
          </a:prstGeom>
          <a:ln>
            <a:solidFill>
              <a:srgbClr val="1A75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5E5337B0-323B-7246-A960-BE4FEEEEFEA6}"/>
              </a:ext>
            </a:extLst>
          </p:cNvPr>
          <p:cNvCxnSpPr>
            <a:cxnSpLocks/>
            <a:stCxn id="191" idx="7"/>
            <a:endCxn id="185" idx="3"/>
          </p:cNvCxnSpPr>
          <p:nvPr/>
        </p:nvCxnSpPr>
        <p:spPr>
          <a:xfrm flipV="1">
            <a:off x="8233701" y="1389137"/>
            <a:ext cx="47206" cy="223678"/>
          </a:xfrm>
          <a:prstGeom prst="line">
            <a:avLst/>
          </a:prstGeom>
          <a:ln>
            <a:solidFill>
              <a:srgbClr val="1A75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>
            <a:extLst>
              <a:ext uri="{FF2B5EF4-FFF2-40B4-BE49-F238E27FC236}">
                <a16:creationId xmlns:a16="http://schemas.microsoft.com/office/drawing/2014/main" id="{01AC53AA-BBD9-5848-A07D-0882B199B8ED}"/>
              </a:ext>
            </a:extLst>
          </p:cNvPr>
          <p:cNvSpPr/>
          <p:nvPr/>
        </p:nvSpPr>
        <p:spPr>
          <a:xfrm>
            <a:off x="8027620" y="455714"/>
            <a:ext cx="113312" cy="104074"/>
          </a:xfrm>
          <a:prstGeom prst="ellipse">
            <a:avLst/>
          </a:prstGeom>
          <a:solidFill>
            <a:srgbClr val="FE7E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3CA93B56-3485-5048-BA37-F532B07EF816}"/>
              </a:ext>
            </a:extLst>
          </p:cNvPr>
          <p:cNvSpPr/>
          <p:nvPr/>
        </p:nvSpPr>
        <p:spPr>
          <a:xfrm rot="20700000">
            <a:off x="8147872" y="1606689"/>
            <a:ext cx="113312" cy="104074"/>
          </a:xfrm>
          <a:prstGeom prst="ellipse">
            <a:avLst/>
          </a:prstGeom>
          <a:solidFill>
            <a:srgbClr val="1A75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7ABE806D-8256-A44D-81C8-E5C766E0F440}"/>
              </a:ext>
            </a:extLst>
          </p:cNvPr>
          <p:cNvCxnSpPr/>
          <p:nvPr/>
        </p:nvCxnSpPr>
        <p:spPr>
          <a:xfrm>
            <a:off x="4360926" y="1025863"/>
            <a:ext cx="422147" cy="0"/>
          </a:xfrm>
          <a:prstGeom prst="straightConnector1">
            <a:avLst/>
          </a:prstGeom>
          <a:ln w="79375"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DEF27087-C8FB-F348-98C1-917ED5609F95}"/>
              </a:ext>
            </a:extLst>
          </p:cNvPr>
          <p:cNvCxnSpPr/>
          <p:nvPr/>
        </p:nvCxnSpPr>
        <p:spPr>
          <a:xfrm>
            <a:off x="8202623" y="596341"/>
            <a:ext cx="422147" cy="0"/>
          </a:xfrm>
          <a:prstGeom prst="straightConnector1">
            <a:avLst/>
          </a:prstGeom>
          <a:ln w="79375"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0EF31069-5D49-2B49-A294-C8B96936F9DC}"/>
              </a:ext>
            </a:extLst>
          </p:cNvPr>
          <p:cNvCxnSpPr>
            <a:cxnSpLocks/>
          </p:cNvCxnSpPr>
          <p:nvPr/>
        </p:nvCxnSpPr>
        <p:spPr>
          <a:xfrm flipH="1">
            <a:off x="7720444" y="1502049"/>
            <a:ext cx="436904" cy="0"/>
          </a:xfrm>
          <a:prstGeom prst="straightConnector1">
            <a:avLst/>
          </a:prstGeom>
          <a:ln w="79375"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Circular Arrow 209">
            <a:extLst>
              <a:ext uri="{FF2B5EF4-FFF2-40B4-BE49-F238E27FC236}">
                <a16:creationId xmlns:a16="http://schemas.microsoft.com/office/drawing/2014/main" id="{355DF5BC-43AA-AC4E-8D96-31E3D56A09D9}"/>
              </a:ext>
            </a:extLst>
          </p:cNvPr>
          <p:cNvSpPr/>
          <p:nvPr/>
        </p:nvSpPr>
        <p:spPr>
          <a:xfrm rot="11765114">
            <a:off x="4535332" y="1557830"/>
            <a:ext cx="553600" cy="531150"/>
          </a:xfrm>
          <a:prstGeom prst="circularArrow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solidFill>
                <a:schemeClr val="tx1"/>
              </a:solidFill>
            </a:endParaRPr>
          </a:p>
        </p:txBody>
      </p:sp>
      <p:sp>
        <p:nvSpPr>
          <p:cNvPr id="211" name="Circular Arrow 210">
            <a:extLst>
              <a:ext uri="{FF2B5EF4-FFF2-40B4-BE49-F238E27FC236}">
                <a16:creationId xmlns:a16="http://schemas.microsoft.com/office/drawing/2014/main" id="{13C347C7-D898-C14B-B877-F7B93F2EFA2C}"/>
              </a:ext>
            </a:extLst>
          </p:cNvPr>
          <p:cNvSpPr/>
          <p:nvPr/>
        </p:nvSpPr>
        <p:spPr>
          <a:xfrm rot="1998110">
            <a:off x="5024779" y="121470"/>
            <a:ext cx="586226" cy="554470"/>
          </a:xfrm>
          <a:prstGeom prst="circularArrow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solidFill>
                <a:schemeClr val="tx1"/>
              </a:solidFill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6CDD77C8-A648-6A40-AE48-3EADBA3280E5}"/>
              </a:ext>
            </a:extLst>
          </p:cNvPr>
          <p:cNvSpPr/>
          <p:nvPr/>
        </p:nvSpPr>
        <p:spPr>
          <a:xfrm>
            <a:off x="6671903" y="3594058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B825EA55-68C6-3748-BFB3-70B648297596}"/>
              </a:ext>
            </a:extLst>
          </p:cNvPr>
          <p:cNvSpPr/>
          <p:nvPr/>
        </p:nvSpPr>
        <p:spPr>
          <a:xfrm>
            <a:off x="7014804" y="3093983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85CE8F97-DE1D-1245-BC28-14B9939EF21B}"/>
              </a:ext>
            </a:extLst>
          </p:cNvPr>
          <p:cNvSpPr/>
          <p:nvPr/>
        </p:nvSpPr>
        <p:spPr>
          <a:xfrm>
            <a:off x="7400569" y="2893964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24" name="Freeform 223">
            <a:extLst>
              <a:ext uri="{FF2B5EF4-FFF2-40B4-BE49-F238E27FC236}">
                <a16:creationId xmlns:a16="http://schemas.microsoft.com/office/drawing/2014/main" id="{AF29519E-978A-914B-A400-FECCCCF1132B}"/>
              </a:ext>
            </a:extLst>
          </p:cNvPr>
          <p:cNvSpPr/>
          <p:nvPr/>
        </p:nvSpPr>
        <p:spPr>
          <a:xfrm>
            <a:off x="6743700" y="3652705"/>
            <a:ext cx="1340576" cy="947869"/>
          </a:xfrm>
          <a:custGeom>
            <a:avLst/>
            <a:gdLst>
              <a:gd name="connsiteX0" fmla="*/ 0 w 1385888"/>
              <a:gd name="connsiteY0" fmla="*/ 0 h 957262"/>
              <a:gd name="connsiteX1" fmla="*/ 985838 w 1385888"/>
              <a:gd name="connsiteY1" fmla="*/ 242887 h 957262"/>
              <a:gd name="connsiteX2" fmla="*/ 1385888 w 1385888"/>
              <a:gd name="connsiteY2" fmla="*/ 957262 h 957262"/>
              <a:gd name="connsiteX3" fmla="*/ 1385888 w 1385888"/>
              <a:gd name="connsiteY3" fmla="*/ 957262 h 957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888" h="957262">
                <a:moveTo>
                  <a:pt x="0" y="0"/>
                </a:moveTo>
                <a:cubicBezTo>
                  <a:pt x="377428" y="41671"/>
                  <a:pt x="754857" y="83343"/>
                  <a:pt x="985838" y="242887"/>
                </a:cubicBezTo>
                <a:cubicBezTo>
                  <a:pt x="1216819" y="402431"/>
                  <a:pt x="1385888" y="957262"/>
                  <a:pt x="1385888" y="957262"/>
                </a:cubicBezTo>
                <a:lnTo>
                  <a:pt x="1385888" y="957262"/>
                </a:lnTo>
              </a:path>
            </a:pathLst>
          </a:custGeom>
          <a:noFill/>
          <a:ln w="28575">
            <a:solidFill>
              <a:srgbClr val="FF40FF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25" name="Freeform 224">
            <a:extLst>
              <a:ext uri="{FF2B5EF4-FFF2-40B4-BE49-F238E27FC236}">
                <a16:creationId xmlns:a16="http://schemas.microsoft.com/office/drawing/2014/main" id="{7964B3EA-B024-8944-A0C6-0E69BC803982}"/>
              </a:ext>
            </a:extLst>
          </p:cNvPr>
          <p:cNvSpPr/>
          <p:nvPr/>
        </p:nvSpPr>
        <p:spPr>
          <a:xfrm>
            <a:off x="7158038" y="3157538"/>
            <a:ext cx="1457325" cy="1185862"/>
          </a:xfrm>
          <a:custGeom>
            <a:avLst/>
            <a:gdLst>
              <a:gd name="connsiteX0" fmla="*/ 0 w 1457325"/>
              <a:gd name="connsiteY0" fmla="*/ 0 h 1185862"/>
              <a:gd name="connsiteX1" fmla="*/ 1071562 w 1457325"/>
              <a:gd name="connsiteY1" fmla="*/ 385762 h 1185862"/>
              <a:gd name="connsiteX2" fmla="*/ 1457325 w 1457325"/>
              <a:gd name="connsiteY2" fmla="*/ 1185862 h 1185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7325" h="1185862">
                <a:moveTo>
                  <a:pt x="0" y="0"/>
                </a:moveTo>
                <a:cubicBezTo>
                  <a:pt x="414337" y="94059"/>
                  <a:pt x="828675" y="188118"/>
                  <a:pt x="1071562" y="385762"/>
                </a:cubicBezTo>
                <a:cubicBezTo>
                  <a:pt x="1314449" y="583406"/>
                  <a:pt x="1385887" y="884634"/>
                  <a:pt x="1457325" y="1185862"/>
                </a:cubicBezTo>
              </a:path>
            </a:pathLst>
          </a:custGeom>
          <a:noFill/>
          <a:ln w="28575">
            <a:solidFill>
              <a:srgbClr val="FF40FF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26" name="Freeform 225">
            <a:extLst>
              <a:ext uri="{FF2B5EF4-FFF2-40B4-BE49-F238E27FC236}">
                <a16:creationId xmlns:a16="http://schemas.microsoft.com/office/drawing/2014/main" id="{34D636BC-5034-0249-BE23-8D1F7EBE6859}"/>
              </a:ext>
            </a:extLst>
          </p:cNvPr>
          <p:cNvSpPr/>
          <p:nvPr/>
        </p:nvSpPr>
        <p:spPr>
          <a:xfrm>
            <a:off x="7543599" y="2948559"/>
            <a:ext cx="1301801" cy="1151954"/>
          </a:xfrm>
          <a:custGeom>
            <a:avLst/>
            <a:gdLst>
              <a:gd name="connsiteX0" fmla="*/ 0 w 1500187"/>
              <a:gd name="connsiteY0" fmla="*/ 4916 h 1162204"/>
              <a:gd name="connsiteX1" fmla="*/ 1085850 w 1500187"/>
              <a:gd name="connsiteY1" fmla="*/ 176366 h 1162204"/>
              <a:gd name="connsiteX2" fmla="*/ 1500187 w 1500187"/>
              <a:gd name="connsiteY2" fmla="*/ 1162204 h 116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0187" h="1162204">
                <a:moveTo>
                  <a:pt x="0" y="4916"/>
                </a:moveTo>
                <a:cubicBezTo>
                  <a:pt x="417909" y="-5800"/>
                  <a:pt x="835819" y="-16515"/>
                  <a:pt x="1085850" y="176366"/>
                </a:cubicBezTo>
                <a:cubicBezTo>
                  <a:pt x="1335881" y="369247"/>
                  <a:pt x="1418034" y="765725"/>
                  <a:pt x="1500187" y="1162204"/>
                </a:cubicBezTo>
              </a:path>
            </a:pathLst>
          </a:custGeom>
          <a:noFill/>
          <a:ln w="28575">
            <a:solidFill>
              <a:srgbClr val="FF40FF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7EEDE64-7567-5A42-AF24-AFACAAA463A5}"/>
              </a:ext>
            </a:extLst>
          </p:cNvPr>
          <p:cNvSpPr txBox="1"/>
          <p:nvPr/>
        </p:nvSpPr>
        <p:spPr>
          <a:xfrm>
            <a:off x="3319227" y="2163192"/>
            <a:ext cx="260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ime-shift + acceleration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0CD22B8-C7B0-8F49-82CA-0C9822335AD1}"/>
              </a:ext>
            </a:extLst>
          </p:cNvPr>
          <p:cNvSpPr txBox="1"/>
          <p:nvPr/>
        </p:nvSpPr>
        <p:spPr>
          <a:xfrm>
            <a:off x="6458683" y="2143941"/>
            <a:ext cx="260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Inter-marker </a:t>
            </a:r>
            <a:r>
              <a:rPr lang="fr-FR" dirty="0" err="1"/>
              <a:t>spacing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145324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87E003D-C540-D34F-9EAA-EBC04D2602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7" y="2656996"/>
            <a:ext cx="2876178" cy="214996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C467063-0269-594C-A239-CC629878F9D6}"/>
              </a:ext>
            </a:extLst>
          </p:cNvPr>
          <p:cNvSpPr txBox="1"/>
          <p:nvPr/>
        </p:nvSpPr>
        <p:spPr>
          <a:xfrm>
            <a:off x="222157" y="4350063"/>
            <a:ext cx="709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t=40y</a:t>
            </a:r>
            <a:endParaRPr lang="en-F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26CDA8-C8C3-4548-A75B-FD784133397D}"/>
              </a:ext>
            </a:extLst>
          </p:cNvPr>
          <p:cNvSpPr txBox="1"/>
          <p:nvPr/>
        </p:nvSpPr>
        <p:spPr>
          <a:xfrm>
            <a:off x="415770" y="3740573"/>
            <a:ext cx="685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t=50y</a:t>
            </a:r>
            <a:endParaRPr lang="en-FR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73560-32AA-194E-9F22-D07B5F8A7189}"/>
              </a:ext>
            </a:extLst>
          </p:cNvPr>
          <p:cNvSpPr txBox="1"/>
          <p:nvPr/>
        </p:nvSpPr>
        <p:spPr>
          <a:xfrm>
            <a:off x="704176" y="3188810"/>
            <a:ext cx="686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t=60y</a:t>
            </a:r>
            <a:endParaRPr lang="en-FR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595506-BECE-1341-AC4F-4D32BD6E701B}"/>
              </a:ext>
            </a:extLst>
          </p:cNvPr>
          <p:cNvSpPr txBox="1"/>
          <p:nvPr/>
        </p:nvSpPr>
        <p:spPr>
          <a:xfrm>
            <a:off x="1277790" y="2817719"/>
            <a:ext cx="668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t=70y</a:t>
            </a:r>
            <a:endParaRPr lang="en-FR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5D9094-CDB3-6A4A-8B28-95F174C68520}"/>
              </a:ext>
            </a:extLst>
          </p:cNvPr>
          <p:cNvSpPr txBox="1"/>
          <p:nvPr/>
        </p:nvSpPr>
        <p:spPr>
          <a:xfrm>
            <a:off x="2240901" y="2693266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t=80y</a:t>
            </a:r>
            <a:endParaRPr lang="en-FR" sz="14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4417ED-8415-8449-B24E-CF8452A03B7A}"/>
              </a:ext>
            </a:extLst>
          </p:cNvPr>
          <p:cNvSpPr/>
          <p:nvPr/>
        </p:nvSpPr>
        <p:spPr>
          <a:xfrm>
            <a:off x="1824450" y="4637022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70F97E5-B50B-0F44-800A-C6185B33C4AB}"/>
              </a:ext>
            </a:extLst>
          </p:cNvPr>
          <p:cNvSpPr/>
          <p:nvPr/>
        </p:nvSpPr>
        <p:spPr>
          <a:xfrm>
            <a:off x="2363476" y="4394777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4D43372-A801-2A4F-87BE-900CD5A28D53}"/>
              </a:ext>
            </a:extLst>
          </p:cNvPr>
          <p:cNvSpPr/>
          <p:nvPr/>
        </p:nvSpPr>
        <p:spPr>
          <a:xfrm>
            <a:off x="2701362" y="4156509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1A3001-3624-824F-8678-BAEEFD874633}"/>
              </a:ext>
            </a:extLst>
          </p:cNvPr>
          <p:cNvSpPr txBox="1"/>
          <p:nvPr/>
        </p:nvSpPr>
        <p:spPr>
          <a:xfrm>
            <a:off x="1581253" y="4335852"/>
            <a:ext cx="626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38y</a:t>
            </a:r>
            <a:endParaRPr lang="en-FR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E82B7C-8737-D540-BCF8-2BB898990D66}"/>
              </a:ext>
            </a:extLst>
          </p:cNvPr>
          <p:cNvSpPr txBox="1"/>
          <p:nvPr/>
        </p:nvSpPr>
        <p:spPr>
          <a:xfrm>
            <a:off x="2053319" y="4141661"/>
            <a:ext cx="665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40y</a:t>
            </a:r>
            <a:endParaRPr lang="en-FR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745C30-A72B-9B42-BB31-20B9A8375D30}"/>
              </a:ext>
            </a:extLst>
          </p:cNvPr>
          <p:cNvSpPr txBox="1"/>
          <p:nvPr/>
        </p:nvSpPr>
        <p:spPr>
          <a:xfrm>
            <a:off x="2294880" y="3897264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45y</a:t>
            </a:r>
            <a:endParaRPr lang="en-FR" sz="1400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4D1FC41-2D31-6347-B4D8-04DE85A98882}"/>
              </a:ext>
            </a:extLst>
          </p:cNvPr>
          <p:cNvCxnSpPr>
            <a:cxnSpLocks/>
            <a:stCxn id="30" idx="7"/>
            <a:endCxn id="31" idx="2"/>
          </p:cNvCxnSpPr>
          <p:nvPr/>
        </p:nvCxnSpPr>
        <p:spPr>
          <a:xfrm flipV="1">
            <a:off x="1928213" y="4452718"/>
            <a:ext cx="435263" cy="20127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8EA0662-E5F2-D144-B7E9-2250EFD2B4C5}"/>
              </a:ext>
            </a:extLst>
          </p:cNvPr>
          <p:cNvCxnSpPr>
            <a:cxnSpLocks/>
            <a:stCxn id="31" idx="7"/>
            <a:endCxn id="32" idx="3"/>
          </p:cNvCxnSpPr>
          <p:nvPr/>
        </p:nvCxnSpPr>
        <p:spPr>
          <a:xfrm flipV="1">
            <a:off x="2467239" y="4255420"/>
            <a:ext cx="251926" cy="15632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6A604C03-DDB2-B140-889E-E408ED84EB5D}"/>
              </a:ext>
            </a:extLst>
          </p:cNvPr>
          <p:cNvSpPr txBox="1"/>
          <p:nvPr/>
        </p:nvSpPr>
        <p:spPr>
          <a:xfrm>
            <a:off x="1159106" y="4374419"/>
            <a:ext cx="58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30y</a:t>
            </a:r>
            <a:endParaRPr lang="en-FR" sz="1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D455F31-FA41-3241-AE77-D9717F050853}"/>
              </a:ext>
            </a:extLst>
          </p:cNvPr>
          <p:cNvSpPr txBox="1"/>
          <p:nvPr/>
        </p:nvSpPr>
        <p:spPr>
          <a:xfrm>
            <a:off x="2520607" y="3526551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50y</a:t>
            </a:r>
            <a:endParaRPr lang="en-FR" sz="1400" dirty="0"/>
          </a:p>
        </p:txBody>
      </p:sp>
      <p:sp>
        <p:nvSpPr>
          <p:cNvPr id="135" name="Triangle 134">
            <a:extLst>
              <a:ext uri="{FF2B5EF4-FFF2-40B4-BE49-F238E27FC236}">
                <a16:creationId xmlns:a16="http://schemas.microsoft.com/office/drawing/2014/main" id="{98A44E4C-AD82-B24E-8C5F-1E0B91509DED}"/>
              </a:ext>
            </a:extLst>
          </p:cNvPr>
          <p:cNvSpPr/>
          <p:nvPr/>
        </p:nvSpPr>
        <p:spPr>
          <a:xfrm rot="16200000" flipV="1">
            <a:off x="1945641" y="3548488"/>
            <a:ext cx="2177477" cy="24190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B08F58EF-6738-7944-A3A6-C0648056C5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25647" y="2643204"/>
            <a:ext cx="2876178" cy="2149967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4BB40148-322D-FE4E-9ED6-9363985F03F1}"/>
              </a:ext>
            </a:extLst>
          </p:cNvPr>
          <p:cNvSpPr txBox="1"/>
          <p:nvPr/>
        </p:nvSpPr>
        <p:spPr>
          <a:xfrm>
            <a:off x="3319227" y="4336271"/>
            <a:ext cx="709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t=40y</a:t>
            </a:r>
            <a:endParaRPr lang="en-FR" sz="14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E39E5FB-5487-0B45-BC25-83123F2F0E1B}"/>
              </a:ext>
            </a:extLst>
          </p:cNvPr>
          <p:cNvSpPr txBox="1"/>
          <p:nvPr/>
        </p:nvSpPr>
        <p:spPr>
          <a:xfrm>
            <a:off x="3512840" y="3726781"/>
            <a:ext cx="685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t=50y</a:t>
            </a:r>
            <a:endParaRPr lang="en-FR" sz="14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F686214-149A-8F42-BD83-190C613ED4B9}"/>
              </a:ext>
            </a:extLst>
          </p:cNvPr>
          <p:cNvSpPr txBox="1"/>
          <p:nvPr/>
        </p:nvSpPr>
        <p:spPr>
          <a:xfrm>
            <a:off x="3801246" y="3175018"/>
            <a:ext cx="686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t=60y</a:t>
            </a:r>
            <a:endParaRPr lang="en-FR" sz="14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D6AC92D-1369-C945-8AA6-F41C13C7430D}"/>
              </a:ext>
            </a:extLst>
          </p:cNvPr>
          <p:cNvSpPr txBox="1"/>
          <p:nvPr/>
        </p:nvSpPr>
        <p:spPr>
          <a:xfrm>
            <a:off x="4374860" y="2803927"/>
            <a:ext cx="668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t=70y</a:t>
            </a:r>
            <a:endParaRPr lang="en-FR" sz="14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0CA454D-0377-C745-BE2D-F67A1520E498}"/>
              </a:ext>
            </a:extLst>
          </p:cNvPr>
          <p:cNvSpPr txBox="1"/>
          <p:nvPr/>
        </p:nvSpPr>
        <p:spPr>
          <a:xfrm>
            <a:off x="5361062" y="2696721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t=80y</a:t>
            </a:r>
            <a:endParaRPr lang="en-FR" sz="1400" dirty="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007D4F32-0106-9143-958F-C9549D122F29}"/>
              </a:ext>
            </a:extLst>
          </p:cNvPr>
          <p:cNvSpPr/>
          <p:nvPr/>
        </p:nvSpPr>
        <p:spPr>
          <a:xfrm>
            <a:off x="4921520" y="4623230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60967FBA-2754-1F4B-9790-527D18638428}"/>
              </a:ext>
            </a:extLst>
          </p:cNvPr>
          <p:cNvSpPr/>
          <p:nvPr/>
        </p:nvSpPr>
        <p:spPr>
          <a:xfrm>
            <a:off x="5460546" y="4380985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C8941A87-F085-224C-957B-516C84A5D9CF}"/>
              </a:ext>
            </a:extLst>
          </p:cNvPr>
          <p:cNvSpPr/>
          <p:nvPr/>
        </p:nvSpPr>
        <p:spPr>
          <a:xfrm>
            <a:off x="5798432" y="4142717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DD3201D-8F72-1641-9E4D-D676F78D0D78}"/>
              </a:ext>
            </a:extLst>
          </p:cNvPr>
          <p:cNvSpPr txBox="1"/>
          <p:nvPr/>
        </p:nvSpPr>
        <p:spPr>
          <a:xfrm>
            <a:off x="4678323" y="4322060"/>
            <a:ext cx="626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55y</a:t>
            </a:r>
            <a:endParaRPr lang="en-FR" sz="14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D693429-A2AB-CB4C-BDBF-4CCBABF9D41C}"/>
              </a:ext>
            </a:extLst>
          </p:cNvPr>
          <p:cNvSpPr txBox="1"/>
          <p:nvPr/>
        </p:nvSpPr>
        <p:spPr>
          <a:xfrm>
            <a:off x="5150389" y="4127869"/>
            <a:ext cx="665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60y</a:t>
            </a:r>
            <a:endParaRPr lang="en-FR" sz="14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6CB8D70-DCBF-A244-9FBA-DA24B9AFDE10}"/>
              </a:ext>
            </a:extLst>
          </p:cNvPr>
          <p:cNvSpPr txBox="1"/>
          <p:nvPr/>
        </p:nvSpPr>
        <p:spPr>
          <a:xfrm>
            <a:off x="5391950" y="3883472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65y</a:t>
            </a:r>
            <a:endParaRPr lang="en-FR" sz="1400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63091C4-7BF5-3141-ABA6-A4E714320B3E}"/>
              </a:ext>
            </a:extLst>
          </p:cNvPr>
          <p:cNvCxnSpPr>
            <a:cxnSpLocks/>
            <a:stCxn id="143" idx="7"/>
            <a:endCxn id="144" idx="2"/>
          </p:cNvCxnSpPr>
          <p:nvPr/>
        </p:nvCxnSpPr>
        <p:spPr>
          <a:xfrm flipV="1">
            <a:off x="5025283" y="4438926"/>
            <a:ext cx="435263" cy="20127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41812FF-D7E2-8540-A740-0A9D3B4B88C8}"/>
              </a:ext>
            </a:extLst>
          </p:cNvPr>
          <p:cNvCxnSpPr>
            <a:cxnSpLocks/>
            <a:stCxn id="144" idx="7"/>
            <a:endCxn id="145" idx="3"/>
          </p:cNvCxnSpPr>
          <p:nvPr/>
        </p:nvCxnSpPr>
        <p:spPr>
          <a:xfrm flipV="1">
            <a:off x="5564309" y="4241628"/>
            <a:ext cx="251926" cy="15632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1E91FC36-3489-C04A-9CEF-1F892B274474}"/>
              </a:ext>
            </a:extLst>
          </p:cNvPr>
          <p:cNvSpPr txBox="1"/>
          <p:nvPr/>
        </p:nvSpPr>
        <p:spPr>
          <a:xfrm>
            <a:off x="4256176" y="4360627"/>
            <a:ext cx="58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50y</a:t>
            </a:r>
            <a:endParaRPr lang="en-FR" sz="14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A0A782C-017E-B042-A479-BC08BD53D742}"/>
              </a:ext>
            </a:extLst>
          </p:cNvPr>
          <p:cNvSpPr txBox="1"/>
          <p:nvPr/>
        </p:nvSpPr>
        <p:spPr>
          <a:xfrm>
            <a:off x="5617677" y="3512759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70y</a:t>
            </a:r>
            <a:endParaRPr lang="en-FR" sz="1400" dirty="0"/>
          </a:p>
        </p:txBody>
      </p:sp>
      <p:sp>
        <p:nvSpPr>
          <p:cNvPr id="153" name="Triangle 152">
            <a:extLst>
              <a:ext uri="{FF2B5EF4-FFF2-40B4-BE49-F238E27FC236}">
                <a16:creationId xmlns:a16="http://schemas.microsoft.com/office/drawing/2014/main" id="{8CD949B2-661F-C445-B224-AC6876BA820A}"/>
              </a:ext>
            </a:extLst>
          </p:cNvPr>
          <p:cNvSpPr/>
          <p:nvPr/>
        </p:nvSpPr>
        <p:spPr>
          <a:xfrm rot="16200000" flipV="1">
            <a:off x="5042711" y="3534696"/>
            <a:ext cx="2177477" cy="24190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D0449B23-99BD-FA48-B004-7ED30C4ADB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52402" y="2618924"/>
            <a:ext cx="2876178" cy="2149967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6916851C-41EF-FE4F-B9F1-044502EE9851}"/>
              </a:ext>
            </a:extLst>
          </p:cNvPr>
          <p:cNvSpPr txBox="1"/>
          <p:nvPr/>
        </p:nvSpPr>
        <p:spPr>
          <a:xfrm>
            <a:off x="6445982" y="4311991"/>
            <a:ext cx="709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t=40y</a:t>
            </a:r>
            <a:endParaRPr lang="en-FR" sz="14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DCB6EA2-9C3E-FC47-88C9-2FB9D37B70AA}"/>
              </a:ext>
            </a:extLst>
          </p:cNvPr>
          <p:cNvSpPr txBox="1"/>
          <p:nvPr/>
        </p:nvSpPr>
        <p:spPr>
          <a:xfrm>
            <a:off x="6639595" y="3702501"/>
            <a:ext cx="685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t=50y</a:t>
            </a:r>
            <a:endParaRPr lang="en-FR" sz="14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A58780E-F69F-424C-9222-3674F187C66D}"/>
              </a:ext>
            </a:extLst>
          </p:cNvPr>
          <p:cNvSpPr txBox="1"/>
          <p:nvPr/>
        </p:nvSpPr>
        <p:spPr>
          <a:xfrm>
            <a:off x="6928001" y="3150738"/>
            <a:ext cx="686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t=60y</a:t>
            </a:r>
            <a:endParaRPr lang="en-FR" sz="14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456543E-331A-544A-9964-25947B1E0B41}"/>
              </a:ext>
            </a:extLst>
          </p:cNvPr>
          <p:cNvSpPr txBox="1"/>
          <p:nvPr/>
        </p:nvSpPr>
        <p:spPr>
          <a:xfrm>
            <a:off x="7501615" y="2779647"/>
            <a:ext cx="668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t=70y</a:t>
            </a:r>
            <a:endParaRPr lang="en-FR" sz="1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C7CEB77-A856-124F-BA13-E56B1058B7A5}"/>
              </a:ext>
            </a:extLst>
          </p:cNvPr>
          <p:cNvSpPr txBox="1"/>
          <p:nvPr/>
        </p:nvSpPr>
        <p:spPr>
          <a:xfrm>
            <a:off x="8494307" y="2699680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t=80y</a:t>
            </a:r>
            <a:endParaRPr lang="en-FR" sz="1400" dirty="0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8E056490-2876-F343-A3E2-9F3232A45B2C}"/>
              </a:ext>
            </a:extLst>
          </p:cNvPr>
          <p:cNvSpPr/>
          <p:nvPr/>
        </p:nvSpPr>
        <p:spPr>
          <a:xfrm>
            <a:off x="8048275" y="4598950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82999EF-15C0-4A40-B536-4C406F74E866}"/>
              </a:ext>
            </a:extLst>
          </p:cNvPr>
          <p:cNvSpPr/>
          <p:nvPr/>
        </p:nvSpPr>
        <p:spPr>
          <a:xfrm>
            <a:off x="8587301" y="4356705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F2E129E1-1D65-8E41-8008-1A739A339D38}"/>
              </a:ext>
            </a:extLst>
          </p:cNvPr>
          <p:cNvSpPr/>
          <p:nvPr/>
        </p:nvSpPr>
        <p:spPr>
          <a:xfrm>
            <a:off x="8925187" y="4118437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875A138-A012-FE4E-B2DA-DC8694A26D81}"/>
              </a:ext>
            </a:extLst>
          </p:cNvPr>
          <p:cNvSpPr txBox="1"/>
          <p:nvPr/>
        </p:nvSpPr>
        <p:spPr>
          <a:xfrm>
            <a:off x="7805078" y="4297780"/>
            <a:ext cx="626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55y</a:t>
            </a:r>
            <a:endParaRPr lang="en-FR" sz="14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04FAC4A-237E-BC49-9326-4C3208CB7ECE}"/>
              </a:ext>
            </a:extLst>
          </p:cNvPr>
          <p:cNvSpPr txBox="1"/>
          <p:nvPr/>
        </p:nvSpPr>
        <p:spPr>
          <a:xfrm>
            <a:off x="8277144" y="4103589"/>
            <a:ext cx="665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60y</a:t>
            </a:r>
            <a:endParaRPr lang="en-FR" sz="14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D3D9729-0D4B-DE43-8E7C-CDD8C77C1535}"/>
              </a:ext>
            </a:extLst>
          </p:cNvPr>
          <p:cNvSpPr txBox="1"/>
          <p:nvPr/>
        </p:nvSpPr>
        <p:spPr>
          <a:xfrm>
            <a:off x="8518705" y="3859192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65y</a:t>
            </a:r>
            <a:endParaRPr lang="en-FR" sz="1400" dirty="0"/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7E5387E6-7EB4-854D-B95E-64B2F2FDCEDE}"/>
              </a:ext>
            </a:extLst>
          </p:cNvPr>
          <p:cNvCxnSpPr>
            <a:cxnSpLocks/>
            <a:stCxn id="161" idx="7"/>
            <a:endCxn id="162" idx="2"/>
          </p:cNvCxnSpPr>
          <p:nvPr/>
        </p:nvCxnSpPr>
        <p:spPr>
          <a:xfrm flipV="1">
            <a:off x="8152038" y="4414646"/>
            <a:ext cx="435263" cy="20127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8A4CFAE4-F8AA-B346-92D2-ED687226DB45}"/>
              </a:ext>
            </a:extLst>
          </p:cNvPr>
          <p:cNvCxnSpPr>
            <a:cxnSpLocks/>
            <a:stCxn id="162" idx="7"/>
            <a:endCxn id="163" idx="3"/>
          </p:cNvCxnSpPr>
          <p:nvPr/>
        </p:nvCxnSpPr>
        <p:spPr>
          <a:xfrm flipV="1">
            <a:off x="8691064" y="4217348"/>
            <a:ext cx="251926" cy="15632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4F11DCEF-EB77-F546-BE0D-E4C80DE2FC36}"/>
              </a:ext>
            </a:extLst>
          </p:cNvPr>
          <p:cNvSpPr txBox="1"/>
          <p:nvPr/>
        </p:nvSpPr>
        <p:spPr>
          <a:xfrm>
            <a:off x="7382931" y="4336347"/>
            <a:ext cx="583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50y</a:t>
            </a:r>
            <a:endParaRPr lang="en-FR" sz="14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E74B0B0-2D85-AB48-976F-F05BB73843EB}"/>
              </a:ext>
            </a:extLst>
          </p:cNvPr>
          <p:cNvSpPr txBox="1"/>
          <p:nvPr/>
        </p:nvSpPr>
        <p:spPr>
          <a:xfrm>
            <a:off x="8744432" y="3488479"/>
            <a:ext cx="61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70y</a:t>
            </a:r>
            <a:endParaRPr lang="en-FR" sz="1400" dirty="0"/>
          </a:p>
        </p:txBody>
      </p:sp>
      <p:sp>
        <p:nvSpPr>
          <p:cNvPr id="5" name="Curved Right Arrow 4">
            <a:extLst>
              <a:ext uri="{FF2B5EF4-FFF2-40B4-BE49-F238E27FC236}">
                <a16:creationId xmlns:a16="http://schemas.microsoft.com/office/drawing/2014/main" id="{8A6DA81E-D727-AE48-8F12-C8008EB94ADB}"/>
              </a:ext>
            </a:extLst>
          </p:cNvPr>
          <p:cNvSpPr/>
          <p:nvPr/>
        </p:nvSpPr>
        <p:spPr>
          <a:xfrm rot="16200000">
            <a:off x="3199625" y="3227698"/>
            <a:ext cx="415587" cy="3218384"/>
          </a:xfrm>
          <a:prstGeom prst="curvedRightArrow">
            <a:avLst>
              <a:gd name="adj1" fmla="val 25000"/>
              <a:gd name="adj2" fmla="val 88478"/>
              <a:gd name="adj3" fmla="val 34192"/>
            </a:avLst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>
              <a:solidFill>
                <a:schemeClr val="tx1"/>
              </a:solidFill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6CDD77C8-A648-6A40-AE48-3EADBA3280E5}"/>
              </a:ext>
            </a:extLst>
          </p:cNvPr>
          <p:cNvSpPr/>
          <p:nvPr/>
        </p:nvSpPr>
        <p:spPr>
          <a:xfrm>
            <a:off x="6671903" y="3594058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B825EA55-68C6-3748-BFB3-70B648297596}"/>
              </a:ext>
            </a:extLst>
          </p:cNvPr>
          <p:cNvSpPr/>
          <p:nvPr/>
        </p:nvSpPr>
        <p:spPr>
          <a:xfrm>
            <a:off x="7014804" y="3093983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85CE8F97-DE1D-1245-BC28-14B9939EF21B}"/>
              </a:ext>
            </a:extLst>
          </p:cNvPr>
          <p:cNvSpPr/>
          <p:nvPr/>
        </p:nvSpPr>
        <p:spPr>
          <a:xfrm>
            <a:off x="7400569" y="2893964"/>
            <a:ext cx="121566" cy="115882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24" name="Freeform 223">
            <a:extLst>
              <a:ext uri="{FF2B5EF4-FFF2-40B4-BE49-F238E27FC236}">
                <a16:creationId xmlns:a16="http://schemas.microsoft.com/office/drawing/2014/main" id="{AF29519E-978A-914B-A400-FECCCCF1132B}"/>
              </a:ext>
            </a:extLst>
          </p:cNvPr>
          <p:cNvSpPr/>
          <p:nvPr/>
        </p:nvSpPr>
        <p:spPr>
          <a:xfrm>
            <a:off x="6743700" y="3652705"/>
            <a:ext cx="1340576" cy="947869"/>
          </a:xfrm>
          <a:custGeom>
            <a:avLst/>
            <a:gdLst>
              <a:gd name="connsiteX0" fmla="*/ 0 w 1385888"/>
              <a:gd name="connsiteY0" fmla="*/ 0 h 957262"/>
              <a:gd name="connsiteX1" fmla="*/ 985838 w 1385888"/>
              <a:gd name="connsiteY1" fmla="*/ 242887 h 957262"/>
              <a:gd name="connsiteX2" fmla="*/ 1385888 w 1385888"/>
              <a:gd name="connsiteY2" fmla="*/ 957262 h 957262"/>
              <a:gd name="connsiteX3" fmla="*/ 1385888 w 1385888"/>
              <a:gd name="connsiteY3" fmla="*/ 957262 h 957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888" h="957262">
                <a:moveTo>
                  <a:pt x="0" y="0"/>
                </a:moveTo>
                <a:cubicBezTo>
                  <a:pt x="377428" y="41671"/>
                  <a:pt x="754857" y="83343"/>
                  <a:pt x="985838" y="242887"/>
                </a:cubicBezTo>
                <a:cubicBezTo>
                  <a:pt x="1216819" y="402431"/>
                  <a:pt x="1385888" y="957262"/>
                  <a:pt x="1385888" y="957262"/>
                </a:cubicBezTo>
                <a:lnTo>
                  <a:pt x="1385888" y="957262"/>
                </a:lnTo>
              </a:path>
            </a:pathLst>
          </a:custGeom>
          <a:noFill/>
          <a:ln w="28575">
            <a:solidFill>
              <a:srgbClr val="FF40FF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25" name="Freeform 224">
            <a:extLst>
              <a:ext uri="{FF2B5EF4-FFF2-40B4-BE49-F238E27FC236}">
                <a16:creationId xmlns:a16="http://schemas.microsoft.com/office/drawing/2014/main" id="{7964B3EA-B024-8944-A0C6-0E69BC803982}"/>
              </a:ext>
            </a:extLst>
          </p:cNvPr>
          <p:cNvSpPr/>
          <p:nvPr/>
        </p:nvSpPr>
        <p:spPr>
          <a:xfrm>
            <a:off x="7158038" y="3157538"/>
            <a:ext cx="1457325" cy="1185862"/>
          </a:xfrm>
          <a:custGeom>
            <a:avLst/>
            <a:gdLst>
              <a:gd name="connsiteX0" fmla="*/ 0 w 1457325"/>
              <a:gd name="connsiteY0" fmla="*/ 0 h 1185862"/>
              <a:gd name="connsiteX1" fmla="*/ 1071562 w 1457325"/>
              <a:gd name="connsiteY1" fmla="*/ 385762 h 1185862"/>
              <a:gd name="connsiteX2" fmla="*/ 1457325 w 1457325"/>
              <a:gd name="connsiteY2" fmla="*/ 1185862 h 1185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7325" h="1185862">
                <a:moveTo>
                  <a:pt x="0" y="0"/>
                </a:moveTo>
                <a:cubicBezTo>
                  <a:pt x="414337" y="94059"/>
                  <a:pt x="828675" y="188118"/>
                  <a:pt x="1071562" y="385762"/>
                </a:cubicBezTo>
                <a:cubicBezTo>
                  <a:pt x="1314449" y="583406"/>
                  <a:pt x="1385887" y="884634"/>
                  <a:pt x="1457325" y="1185862"/>
                </a:cubicBezTo>
              </a:path>
            </a:pathLst>
          </a:custGeom>
          <a:noFill/>
          <a:ln w="28575">
            <a:solidFill>
              <a:srgbClr val="FF40FF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26" name="Freeform 225">
            <a:extLst>
              <a:ext uri="{FF2B5EF4-FFF2-40B4-BE49-F238E27FC236}">
                <a16:creationId xmlns:a16="http://schemas.microsoft.com/office/drawing/2014/main" id="{34D636BC-5034-0249-BE23-8D1F7EBE6859}"/>
              </a:ext>
            </a:extLst>
          </p:cNvPr>
          <p:cNvSpPr/>
          <p:nvPr/>
        </p:nvSpPr>
        <p:spPr>
          <a:xfrm>
            <a:off x="7543599" y="2948559"/>
            <a:ext cx="1301801" cy="1151954"/>
          </a:xfrm>
          <a:custGeom>
            <a:avLst/>
            <a:gdLst>
              <a:gd name="connsiteX0" fmla="*/ 0 w 1500187"/>
              <a:gd name="connsiteY0" fmla="*/ 4916 h 1162204"/>
              <a:gd name="connsiteX1" fmla="*/ 1085850 w 1500187"/>
              <a:gd name="connsiteY1" fmla="*/ 176366 h 1162204"/>
              <a:gd name="connsiteX2" fmla="*/ 1500187 w 1500187"/>
              <a:gd name="connsiteY2" fmla="*/ 1162204 h 116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0187" h="1162204">
                <a:moveTo>
                  <a:pt x="0" y="4916"/>
                </a:moveTo>
                <a:cubicBezTo>
                  <a:pt x="417909" y="-5800"/>
                  <a:pt x="835819" y="-16515"/>
                  <a:pt x="1085850" y="176366"/>
                </a:cubicBezTo>
                <a:cubicBezTo>
                  <a:pt x="1335881" y="369247"/>
                  <a:pt x="1418034" y="765725"/>
                  <a:pt x="1500187" y="1162204"/>
                </a:cubicBezTo>
              </a:path>
            </a:pathLst>
          </a:custGeom>
          <a:noFill/>
          <a:ln w="28575">
            <a:solidFill>
              <a:srgbClr val="FF40FF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18486-6115-7C43-B2E6-E1B8B0FE3FCF}"/>
              </a:ext>
            </a:extLst>
          </p:cNvPr>
          <p:cNvSpPr txBox="1"/>
          <p:nvPr/>
        </p:nvSpPr>
        <p:spPr>
          <a:xfrm>
            <a:off x="43587" y="1696064"/>
            <a:ext cx="161400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FR" dirty="0"/>
              <a:t>a Riemanian manifold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E150AD-B266-AD46-8C12-EAE22476187C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>
            <a:off x="850591" y="2342395"/>
            <a:ext cx="616075" cy="314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40E8A485-4C1F-F64A-8775-DAAC35F68FDA}"/>
              </a:ext>
            </a:extLst>
          </p:cNvPr>
          <p:cNvSpPr txBox="1"/>
          <p:nvPr/>
        </p:nvSpPr>
        <p:spPr>
          <a:xfrm>
            <a:off x="1727955" y="1706814"/>
            <a:ext cx="1591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</a:t>
            </a:r>
            <a:r>
              <a:rPr lang="en-FR" dirty="0"/>
              <a:t> geodesic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1897AD7-F233-4A4D-B009-CE13D93A0F7C}"/>
              </a:ext>
            </a:extLst>
          </p:cNvPr>
          <p:cNvCxnSpPr>
            <a:cxnSpLocks/>
            <a:stCxn id="123" idx="2"/>
          </p:cNvCxnSpPr>
          <p:nvPr/>
        </p:nvCxnSpPr>
        <p:spPr>
          <a:xfrm flipH="1">
            <a:off x="2047321" y="2076146"/>
            <a:ext cx="476270" cy="6875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997B6EAD-875F-804E-A629-DE87A65D49EF}"/>
              </a:ext>
            </a:extLst>
          </p:cNvPr>
          <p:cNvSpPr txBox="1"/>
          <p:nvPr/>
        </p:nvSpPr>
        <p:spPr>
          <a:xfrm>
            <a:off x="3586643" y="1562820"/>
            <a:ext cx="229423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Time-</a:t>
            </a:r>
            <a:r>
              <a:rPr lang="fr-FR" dirty="0" err="1"/>
              <a:t>reparametrization</a:t>
            </a:r>
            <a:endParaRPr lang="fr-FR" dirty="0"/>
          </a:p>
          <a:p>
            <a:pPr algn="ctr"/>
            <a:r>
              <a:rPr lang="fr-FR" dirty="0"/>
              <a:t>(</a:t>
            </a:r>
            <a:r>
              <a:rPr lang="fr-FR" dirty="0" err="1"/>
              <a:t>applies</a:t>
            </a:r>
            <a:r>
              <a:rPr lang="fr-FR" dirty="0"/>
              <a:t> to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curves</a:t>
            </a:r>
            <a:r>
              <a:rPr lang="fr-FR" dirty="0"/>
              <a:t>)</a:t>
            </a:r>
            <a:endParaRPr lang="en-FR" dirty="0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137A8EC-F566-5F43-9711-3401C8E348AA}"/>
              </a:ext>
            </a:extLst>
          </p:cNvPr>
          <p:cNvCxnSpPr>
            <a:cxnSpLocks/>
            <a:stCxn id="129" idx="2"/>
          </p:cNvCxnSpPr>
          <p:nvPr/>
        </p:nvCxnSpPr>
        <p:spPr>
          <a:xfrm>
            <a:off x="4733758" y="2486150"/>
            <a:ext cx="539186" cy="17111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54F06EBF-1138-E34A-AEFC-7D8410321503}"/>
              </a:ext>
            </a:extLst>
          </p:cNvPr>
          <p:cNvSpPr txBox="1"/>
          <p:nvPr/>
        </p:nvSpPr>
        <p:spPr>
          <a:xfrm>
            <a:off x="6198067" y="1568731"/>
            <a:ext cx="297193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Exp-parallelization</a:t>
            </a:r>
            <a:endParaRPr lang="fr-FR" dirty="0"/>
          </a:p>
          <a:p>
            <a:pPr algn="ctr"/>
            <a:r>
              <a:rPr lang="fr-FR" dirty="0"/>
              <a:t>(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orthogonality</a:t>
            </a:r>
            <a:r>
              <a:rPr lang="fr-FR" dirty="0"/>
              <a:t> condition to </a:t>
            </a:r>
            <a:r>
              <a:rPr lang="fr-FR" dirty="0" err="1"/>
              <a:t>ensure</a:t>
            </a:r>
            <a:r>
              <a:rPr lang="fr-FR" dirty="0"/>
              <a:t> </a:t>
            </a:r>
            <a:r>
              <a:rPr lang="fr-FR" dirty="0" err="1"/>
              <a:t>identifiability</a:t>
            </a:r>
            <a:r>
              <a:rPr lang="fr-FR" dirty="0"/>
              <a:t>)</a:t>
            </a:r>
            <a:endParaRPr lang="en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4AEDAA-67DB-EE4B-A97E-02CBFD0F7205}"/>
              </a:ext>
            </a:extLst>
          </p:cNvPr>
          <p:cNvSpPr txBox="1"/>
          <p:nvPr/>
        </p:nvSpPr>
        <p:spPr>
          <a:xfrm>
            <a:off x="0" y="213175"/>
            <a:ext cx="93778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This construction generalizes to any data that can be represented on a Riemannian manifold, e.g.:</a:t>
            </a:r>
          </a:p>
          <a:p>
            <a:pPr marL="285750" indent="-285750">
              <a:buFontTx/>
              <a:buChar char="-"/>
            </a:pPr>
            <a:r>
              <a:rPr lang="en-GB" dirty="0"/>
              <a:t>I</a:t>
            </a:r>
            <a:r>
              <a:rPr lang="en-FR" dirty="0"/>
              <a:t>mage whose intensity varies with disease progression</a:t>
            </a:r>
          </a:p>
          <a:p>
            <a:pPr marL="285750" indent="-285750">
              <a:buFontTx/>
              <a:buChar char="-"/>
            </a:pPr>
            <a:r>
              <a:rPr lang="en-FR" dirty="0"/>
              <a:t>Surface or volume whose shape varies with disease progression</a:t>
            </a:r>
          </a:p>
        </p:txBody>
      </p:sp>
    </p:spTree>
    <p:extLst>
      <p:ext uri="{BB962C8B-B14F-4D97-AF65-F5344CB8AC3E}">
        <p14:creationId xmlns:p14="http://schemas.microsoft.com/office/powerpoint/2010/main" val="510456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D2E1076-952C-324F-9394-5C8A2A156373}"/>
              </a:ext>
            </a:extLst>
          </p:cNvPr>
          <p:cNvSpPr txBox="1"/>
          <p:nvPr/>
        </p:nvSpPr>
        <p:spPr>
          <a:xfrm>
            <a:off x="2921431" y="4565651"/>
            <a:ext cx="3301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i="1">
                <a:solidFill>
                  <a:srgbClr val="FF0000"/>
                </a:solidFill>
                <a:latin typeface="Avenir Book" panose="02000503020000020003" pitchFamily="2" charset="0"/>
              </a:rPr>
              <a:t>www.digital-brain.org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31C3F-3C89-DB41-B579-DB76F01328D1}"/>
              </a:ext>
            </a:extLst>
          </p:cNvPr>
          <p:cNvSpPr txBox="1"/>
          <p:nvPr/>
        </p:nvSpPr>
        <p:spPr>
          <a:xfrm>
            <a:off x="659898" y="1299866"/>
            <a:ext cx="406704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AU" sz="1400" b="1" dirty="0">
                <a:latin typeface="Avenir Book" panose="02000503020000020003" pitchFamily="2" charset="0"/>
              </a:rPr>
              <a:t>Neuropsychological assessments</a:t>
            </a:r>
            <a:r>
              <a:rPr lang="en-AU" sz="1400" dirty="0">
                <a:latin typeface="Avenir Book" panose="02000503020000020003" pitchFamily="2" charset="0"/>
              </a:rPr>
              <a:t>: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AU" sz="1400" dirty="0">
                <a:latin typeface="Avenir Book" panose="02000503020000020003" pitchFamily="2" charset="0"/>
              </a:rPr>
              <a:t>ADAS-Cog (break down in 4 cognitive categories)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AU" sz="1400" dirty="0">
                <a:latin typeface="Avenir Book" panose="02000503020000020003" pitchFamily="2" charset="0"/>
              </a:rPr>
              <a:t>MMSE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endParaRPr lang="en-AU" sz="1400" dirty="0">
              <a:latin typeface="Avenir Book" panose="02000503020000020003" pitchFamily="2" charset="0"/>
            </a:endParaRPr>
          </a:p>
          <a:p>
            <a:pPr marL="167587" indent="-214313">
              <a:buFont typeface="Arial" panose="020B0604020202020204" pitchFamily="34" charset="0"/>
              <a:buChar char="•"/>
            </a:pPr>
            <a:r>
              <a:rPr lang="en-AU" sz="1400" b="1" dirty="0" err="1">
                <a:latin typeface="Avenir Book" panose="02000503020000020003" pitchFamily="2" charset="0"/>
              </a:rPr>
              <a:t>Flurodesoxyglucose</a:t>
            </a:r>
            <a:r>
              <a:rPr lang="en-AU" sz="1400" b="1" dirty="0">
                <a:latin typeface="Avenir Book" panose="02000503020000020003" pitchFamily="2" charset="0"/>
              </a:rPr>
              <a:t> (FDG) PET</a:t>
            </a:r>
            <a:r>
              <a:rPr lang="en-AU" sz="1400" dirty="0">
                <a:latin typeface="Avenir Book" panose="02000503020000020003" pitchFamily="2" charset="0"/>
              </a:rPr>
              <a:t>: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AU" sz="1400" dirty="0">
                <a:latin typeface="Avenir Book" panose="02000503020000020003" pitchFamily="2" charset="0"/>
              </a:rPr>
              <a:t>Regional brain metabolism</a:t>
            </a:r>
          </a:p>
          <a:p>
            <a:endParaRPr lang="en-AU" sz="1200" dirty="0">
              <a:latin typeface="Avenir Book" panose="02000503020000020003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D63A88-9218-5146-A474-D58EC3E5D3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9511" y="3383158"/>
            <a:ext cx="8357968" cy="10081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FB17F85-73DC-F244-BEA2-1463AA548AB2}"/>
              </a:ext>
            </a:extLst>
          </p:cNvPr>
          <p:cNvSpPr/>
          <p:nvPr/>
        </p:nvSpPr>
        <p:spPr>
          <a:xfrm>
            <a:off x="5327936" y="1299866"/>
            <a:ext cx="32491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AU" sz="1400" b="1" dirty="0">
                <a:latin typeface="Avenir Book" panose="02000503020000020003" pitchFamily="2" charset="0"/>
              </a:rPr>
              <a:t>MRI data: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AU" sz="1400" dirty="0">
                <a:latin typeface="Avenir Book" panose="02000503020000020003" pitchFamily="2" charset="0"/>
              </a:rPr>
              <a:t>Cortical thickness maps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AU" sz="1400" dirty="0">
                <a:latin typeface="Avenir Book" panose="02000503020000020003" pitchFamily="2" charset="0"/>
              </a:rPr>
              <a:t>Hippocampal atrophy</a:t>
            </a:r>
            <a:endParaRPr lang="en-AU" sz="1200" dirty="0">
              <a:latin typeface="Avenir Book" panose="02000503020000020003" pitchFamily="2" charset="0"/>
            </a:endParaRPr>
          </a:p>
        </p:txBody>
      </p:sp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B5EAF00E-35D8-4B4B-8782-7C56DB0A2E79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Alzheimer Disease Course Map</a:t>
            </a:r>
          </a:p>
        </p:txBody>
      </p:sp>
    </p:spTree>
    <p:extLst>
      <p:ext uri="{BB962C8B-B14F-4D97-AF65-F5344CB8AC3E}">
        <p14:creationId xmlns:p14="http://schemas.microsoft.com/office/powerpoint/2010/main" val="698162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nline Media 2" descr="Digital-Brain-short">
            <a:hlinkClick r:id="" action="ppaction://media"/>
            <a:extLst>
              <a:ext uri="{FF2B5EF4-FFF2-40B4-BE49-F238E27FC236}">
                <a16:creationId xmlns:a16="http://schemas.microsoft.com/office/drawing/2014/main" id="{F2B54161-8A51-9F49-9C5B-A6703928D2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63" y="3175"/>
            <a:ext cx="9144000" cy="48037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C517E7-7912-D94C-9BD7-0E4A024AD177}"/>
              </a:ext>
            </a:extLst>
          </p:cNvPr>
          <p:cNvSpPr txBox="1"/>
          <p:nvPr/>
        </p:nvSpPr>
        <p:spPr>
          <a:xfrm>
            <a:off x="2921430" y="1943397"/>
            <a:ext cx="3301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i="1" dirty="0" err="1">
                <a:solidFill>
                  <a:srgbClr val="FF0000"/>
                </a:solidFill>
              </a:rPr>
              <a:t>www.digital-brain.org</a:t>
            </a:r>
            <a:endParaRPr lang="fr-FR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42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64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/>
          <p:cNvSpPr txBox="1"/>
          <p:nvPr/>
        </p:nvSpPr>
        <p:spPr>
          <a:xfrm>
            <a:off x="2198186" y="1564750"/>
            <a:ext cx="6072978" cy="14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70000"/>
              </a:lnSpc>
            </a:pPr>
            <a:r>
              <a:rPr lang="en-AU" sz="2400" b="1">
                <a:latin typeface="Avenir Book" panose="02000503020000020003" pitchFamily="2" charset="0"/>
                <a:cs typeface="Arial"/>
              </a:rPr>
              <a:t>Disease Course Map</a:t>
            </a:r>
          </a:p>
          <a:p>
            <a:pPr algn="r">
              <a:lnSpc>
                <a:spcPct val="70000"/>
              </a:lnSpc>
            </a:pPr>
            <a:endParaRPr lang="en-AU" sz="2700" b="1">
              <a:solidFill>
                <a:schemeClr val="bg1"/>
              </a:solidFill>
              <a:latin typeface="Avenir Book" panose="02000503020000020003" pitchFamily="2" charset="0"/>
              <a:cs typeface="Arial"/>
            </a:endParaRPr>
          </a:p>
          <a:p>
            <a:pPr algn="r">
              <a:lnSpc>
                <a:spcPct val="70000"/>
              </a:lnSpc>
            </a:pPr>
            <a:r>
              <a:rPr lang="en-AU" sz="2100" i="1">
                <a:latin typeface="Avenir Book" panose="02000503020000020003" pitchFamily="2" charset="0"/>
                <a:cs typeface="Arial"/>
              </a:rPr>
              <a:t>positions the subject’s progression on a personalized trajectory </a:t>
            </a:r>
            <a:endParaRPr lang="en-AU" sz="2100">
              <a:latin typeface="Avenir Book" panose="02000503020000020003" pitchFamily="2" charset="0"/>
              <a:cs typeface="Arial"/>
            </a:endParaRPr>
          </a:p>
          <a:p>
            <a:pPr algn="r">
              <a:lnSpc>
                <a:spcPct val="70000"/>
              </a:lnSpc>
            </a:pPr>
            <a:endParaRPr lang="en-AU" sz="3300" b="1">
              <a:solidFill>
                <a:schemeClr val="bg1"/>
              </a:solidFill>
              <a:latin typeface="Avenir Book" panose="02000503020000020003" pitchFamily="2" charset="0"/>
              <a:cs typeface="Arial"/>
            </a:endParaRPr>
          </a:p>
        </p:txBody>
      </p:sp>
      <p:cxnSp>
        <p:nvCxnSpPr>
          <p:cNvPr id="16" name="Connecteur droit 15"/>
          <p:cNvCxnSpPr>
            <a:cxnSpLocks/>
          </p:cNvCxnSpPr>
          <p:nvPr/>
        </p:nvCxnSpPr>
        <p:spPr>
          <a:xfrm>
            <a:off x="779318" y="1057217"/>
            <a:ext cx="7491846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6084247" y="4288832"/>
            <a:ext cx="1435530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42">
            <a:extLst>
              <a:ext uri="{FF2B5EF4-FFF2-40B4-BE49-F238E27FC236}">
                <a16:creationId xmlns:a16="http://schemas.microsoft.com/office/drawing/2014/main" id="{CE088388-A506-C343-9A97-3376626DA156}"/>
              </a:ext>
            </a:extLst>
          </p:cNvPr>
          <p:cNvCxnSpPr/>
          <p:nvPr/>
        </p:nvCxnSpPr>
        <p:spPr>
          <a:xfrm flipV="1">
            <a:off x="5658210" y="4471325"/>
            <a:ext cx="0" cy="30522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840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204">
                <a:extLst>
                  <a:ext uri="{FF2B5EF4-FFF2-40B4-BE49-F238E27FC236}">
                    <a16:creationId xmlns:a16="http://schemas.microsoft.com/office/drawing/2014/main" id="{E26D50FE-B1F5-1F47-9829-489D9F4B971C}"/>
                  </a:ext>
                </a:extLst>
              </p:cNvPr>
              <p:cNvSpPr txBox="1"/>
              <p:nvPr/>
            </p:nvSpPr>
            <p:spPr>
              <a:xfrm>
                <a:off x="6914792" y="11562741"/>
                <a:ext cx="1511122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i="1" dirty="0">
                    <a:solidFill>
                      <a:schemeClr val="bg2">
                        <a:lumMod val="50000"/>
                      </a:schemeClr>
                    </a:solidFill>
                    <a:latin typeface="Helvetica" pitchFamily="2" charset="0"/>
                  </a:rPr>
                  <a:t>Patient A </a:t>
                </a:r>
              </a:p>
              <a:p>
                <a:pPr algn="ctr"/>
                <a:r>
                  <a:rPr lang="en-US" i="1" dirty="0">
                    <a:solidFill>
                      <a:schemeClr val="bg2">
                        <a:lumMod val="50000"/>
                      </a:schemeClr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ZoneTexte 204">
                <a:extLst>
                  <a:ext uri="{FF2B5EF4-FFF2-40B4-BE49-F238E27FC236}">
                    <a16:creationId xmlns:a16="http://schemas.microsoft.com/office/drawing/2014/main" id="{E26D50FE-B1F5-1F47-9829-489D9F4B9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792" y="11562741"/>
                <a:ext cx="1511122" cy="677108"/>
              </a:xfrm>
              <a:prstGeom prst="rect">
                <a:avLst/>
              </a:prstGeom>
              <a:blipFill>
                <a:blip r:embed="rId3"/>
                <a:stretch>
                  <a:fillRect t="-5660" b="-7547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205">
                <a:extLst>
                  <a:ext uri="{FF2B5EF4-FFF2-40B4-BE49-F238E27FC236}">
                    <a16:creationId xmlns:a16="http://schemas.microsoft.com/office/drawing/2014/main" id="{ED50671C-5B84-C74F-9190-91C0C5EEEFE5}"/>
                  </a:ext>
                </a:extLst>
              </p:cNvPr>
              <p:cNvSpPr txBox="1"/>
              <p:nvPr/>
            </p:nvSpPr>
            <p:spPr>
              <a:xfrm>
                <a:off x="6828594" y="13233157"/>
                <a:ext cx="1609686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i="1" dirty="0">
                    <a:solidFill>
                      <a:schemeClr val="bg2">
                        <a:lumMod val="50000"/>
                      </a:schemeClr>
                    </a:solidFill>
                    <a:latin typeface="Helvetica" pitchFamily="2" charset="0"/>
                  </a:rPr>
                  <a:t>Patient C </a:t>
                </a:r>
              </a:p>
              <a:p>
                <a:pPr algn="ctr"/>
                <a:r>
                  <a:rPr lang="en-US" i="1" dirty="0">
                    <a:solidFill>
                      <a:schemeClr val="bg2">
                        <a:lumMod val="50000"/>
                      </a:schemeClr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6" name="ZoneTexte 205">
                <a:extLst>
                  <a:ext uri="{FF2B5EF4-FFF2-40B4-BE49-F238E27FC236}">
                    <a16:creationId xmlns:a16="http://schemas.microsoft.com/office/drawing/2014/main" id="{ED50671C-5B84-C74F-9190-91C0C5EEE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594" y="13233157"/>
                <a:ext cx="1609686" cy="677108"/>
              </a:xfrm>
              <a:prstGeom prst="rect">
                <a:avLst/>
              </a:prstGeom>
              <a:blipFill>
                <a:blip r:embed="rId4"/>
                <a:stretch>
                  <a:fillRect t="-5660" b="-7547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206">
                <a:extLst>
                  <a:ext uri="{FF2B5EF4-FFF2-40B4-BE49-F238E27FC236}">
                    <a16:creationId xmlns:a16="http://schemas.microsoft.com/office/drawing/2014/main" id="{E48F31B4-9A52-CC4A-9BDA-061DBB0F18B7}"/>
                  </a:ext>
                </a:extLst>
              </p:cNvPr>
              <p:cNvSpPr txBox="1"/>
              <p:nvPr/>
            </p:nvSpPr>
            <p:spPr>
              <a:xfrm>
                <a:off x="6907084" y="12390424"/>
                <a:ext cx="1549895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i="1" dirty="0">
                    <a:solidFill>
                      <a:schemeClr val="bg2">
                        <a:lumMod val="50000"/>
                      </a:schemeClr>
                    </a:solidFill>
                    <a:latin typeface="Helvetica" pitchFamily="2" charset="0"/>
                  </a:rPr>
                  <a:t>Patient B </a:t>
                </a:r>
              </a:p>
              <a:p>
                <a:pPr algn="ctr"/>
                <a:r>
                  <a:rPr lang="fr-FR" b="1" dirty="0"/>
                  <a:t> </a:t>
                </a:r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7" name="ZoneTexte 206">
                <a:extLst>
                  <a:ext uri="{FF2B5EF4-FFF2-40B4-BE49-F238E27FC236}">
                    <a16:creationId xmlns:a16="http://schemas.microsoft.com/office/drawing/2014/main" id="{E48F31B4-9A52-CC4A-9BDA-061DBB0F1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084" y="12390424"/>
                <a:ext cx="1549895" cy="677108"/>
              </a:xfrm>
              <a:prstGeom prst="rect">
                <a:avLst/>
              </a:prstGeom>
              <a:blipFill>
                <a:blip r:embed="rId5"/>
                <a:stretch>
                  <a:fillRect t="-5556" b="-5556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207">
            <a:extLst>
              <a:ext uri="{FF2B5EF4-FFF2-40B4-BE49-F238E27FC236}">
                <a16:creationId xmlns:a16="http://schemas.microsoft.com/office/drawing/2014/main" id="{E8A25448-6D2E-6848-9F50-7F2E80D7BECE}"/>
              </a:ext>
            </a:extLst>
          </p:cNvPr>
          <p:cNvSpPr txBox="1"/>
          <p:nvPr/>
        </p:nvSpPr>
        <p:spPr>
          <a:xfrm>
            <a:off x="5693254" y="10695070"/>
            <a:ext cx="64567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Helvetica" pitchFamily="2" charset="0"/>
                <a:cs typeface="Calibri" panose="020F0502020204030204" pitchFamily="34" charset="0"/>
              </a:rPr>
              <a:t>Personalization to individual data</a:t>
            </a:r>
          </a:p>
        </p:txBody>
      </p:sp>
      <p:grpSp>
        <p:nvGrpSpPr>
          <p:cNvPr id="9" name="Groupe 6">
            <a:extLst>
              <a:ext uri="{FF2B5EF4-FFF2-40B4-BE49-F238E27FC236}">
                <a16:creationId xmlns:a16="http://schemas.microsoft.com/office/drawing/2014/main" id="{F52F43F1-36A4-084B-A42C-310142CC5788}"/>
              </a:ext>
            </a:extLst>
          </p:cNvPr>
          <p:cNvGrpSpPr/>
          <p:nvPr/>
        </p:nvGrpSpPr>
        <p:grpSpPr>
          <a:xfrm>
            <a:off x="11959604" y="11101929"/>
            <a:ext cx="3195327" cy="3162416"/>
            <a:chOff x="12574638" y="12582387"/>
            <a:chExt cx="2466991" cy="2441578"/>
          </a:xfrm>
        </p:grpSpPr>
        <p:pic>
          <p:nvPicPr>
            <p:cNvPr id="10" name="Image 199">
              <a:extLst>
                <a:ext uri="{FF2B5EF4-FFF2-40B4-BE49-F238E27FC236}">
                  <a16:creationId xmlns:a16="http://schemas.microsoft.com/office/drawing/2014/main" id="{E8D78417-ECDB-174B-B4CC-01FB5F325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26367" y="12582387"/>
              <a:ext cx="2295215" cy="229521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ZoneTexte 211">
                  <a:extLst>
                    <a:ext uri="{FF2B5EF4-FFF2-40B4-BE49-F238E27FC236}">
                      <a16:creationId xmlns:a16="http://schemas.microsoft.com/office/drawing/2014/main" id="{777128B9-FF0B-384A-B910-EC24F3EE275C}"/>
                    </a:ext>
                  </a:extLst>
                </p:cNvPr>
                <p:cNvSpPr txBox="1"/>
                <p:nvPr/>
              </p:nvSpPr>
              <p:spPr>
                <a:xfrm>
                  <a:off x="12863036" y="14701402"/>
                  <a:ext cx="2178593" cy="32256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2000" b="0" dirty="0">
                      <a:solidFill>
                        <a:srgbClr val="7030A0"/>
                      </a:solidFill>
                    </a:rPr>
                    <a:t>Inter-marker </a:t>
                  </a:r>
                  <a:r>
                    <a:rPr lang="fr-FR" sz="2000" b="0" dirty="0" err="1">
                      <a:solidFill>
                        <a:srgbClr val="7030A0"/>
                      </a:solidFill>
                    </a:rPr>
                    <a:t>spacing</a:t>
                  </a:r>
                  <a:r>
                    <a:rPr lang="fr-FR" sz="2000" b="0" dirty="0">
                      <a:solidFill>
                        <a:srgbClr val="7030A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en-US" sz="20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ZoneTexte 211">
                  <a:extLst>
                    <a:ext uri="{FF2B5EF4-FFF2-40B4-BE49-F238E27FC236}">
                      <a16:creationId xmlns:a16="http://schemas.microsoft.com/office/drawing/2014/main" id="{E1D07700-46EE-234F-BB5D-49376E7B0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63036" y="14701402"/>
                  <a:ext cx="2178593" cy="322563"/>
                </a:xfrm>
                <a:prstGeom prst="rect">
                  <a:avLst/>
                </a:prstGeom>
                <a:blipFill>
                  <a:blip r:embed="rId18"/>
                  <a:stretch>
                    <a:fillRect l="-1786" t="-5882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ZoneTexte 212">
                  <a:extLst>
                    <a:ext uri="{FF2B5EF4-FFF2-40B4-BE49-F238E27FC236}">
                      <a16:creationId xmlns:a16="http://schemas.microsoft.com/office/drawing/2014/main" id="{309C1163-46A3-CB40-8250-7B4ADE15BB12}"/>
                    </a:ext>
                  </a:extLst>
                </p:cNvPr>
                <p:cNvSpPr txBox="1"/>
                <p:nvPr/>
              </p:nvSpPr>
              <p:spPr>
                <a:xfrm rot="16200000">
                  <a:off x="11649027" y="13548564"/>
                  <a:ext cx="2173785" cy="32256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2000" b="0" dirty="0">
                      <a:solidFill>
                        <a:srgbClr val="7030A0"/>
                      </a:solidFill>
                    </a:rPr>
                    <a:t>Inter-marker </a:t>
                  </a:r>
                  <a:r>
                    <a:rPr lang="fr-FR" sz="2000" b="0" dirty="0" err="1">
                      <a:solidFill>
                        <a:srgbClr val="7030A0"/>
                      </a:solidFill>
                    </a:rPr>
                    <a:t>spacing</a:t>
                  </a:r>
                  <a:r>
                    <a:rPr lang="fr-FR" sz="2000" b="0" dirty="0">
                      <a:solidFill>
                        <a:srgbClr val="7030A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20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ZoneTexte 212">
                  <a:extLst>
                    <a:ext uri="{FF2B5EF4-FFF2-40B4-BE49-F238E27FC236}">
                      <a16:creationId xmlns:a16="http://schemas.microsoft.com/office/drawing/2014/main" id="{B5CF87E8-EC77-8E40-A48E-53EE61B43A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649027" y="13548564"/>
                  <a:ext cx="2173785" cy="322563"/>
                </a:xfrm>
                <a:prstGeom prst="rect">
                  <a:avLst/>
                </a:prstGeom>
                <a:blipFill>
                  <a:blip r:embed="rId19"/>
                  <a:stretch>
                    <a:fillRect l="-5882" r="-17647" b="-17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Connecteur droit 180">
            <a:extLst>
              <a:ext uri="{FF2B5EF4-FFF2-40B4-BE49-F238E27FC236}">
                <a16:creationId xmlns:a16="http://schemas.microsoft.com/office/drawing/2014/main" id="{65A21FE7-FBD1-FA43-A03F-73DF1B6555CD}"/>
              </a:ext>
            </a:extLst>
          </p:cNvPr>
          <p:cNvCxnSpPr>
            <a:cxnSpLocks/>
          </p:cNvCxnSpPr>
          <p:nvPr/>
        </p:nvCxnSpPr>
        <p:spPr>
          <a:xfrm>
            <a:off x="6506366" y="14386863"/>
            <a:ext cx="8518217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iangle 13">
            <a:extLst>
              <a:ext uri="{FF2B5EF4-FFF2-40B4-BE49-F238E27FC236}">
                <a16:creationId xmlns:a16="http://schemas.microsoft.com/office/drawing/2014/main" id="{DD91C511-643D-024C-AE8F-2D68D574E18B}"/>
              </a:ext>
            </a:extLst>
          </p:cNvPr>
          <p:cNvSpPr/>
          <p:nvPr/>
        </p:nvSpPr>
        <p:spPr>
          <a:xfrm rot="5400000">
            <a:off x="7721662" y="12593617"/>
            <a:ext cx="1629643" cy="24105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e 10">
            <a:extLst>
              <a:ext uri="{FF2B5EF4-FFF2-40B4-BE49-F238E27FC236}">
                <a16:creationId xmlns:a16="http://schemas.microsoft.com/office/drawing/2014/main" id="{9A1BC8AF-BE4E-234C-B8B7-01A1B4D488F7}"/>
              </a:ext>
            </a:extLst>
          </p:cNvPr>
          <p:cNvGrpSpPr/>
          <p:nvPr/>
        </p:nvGrpSpPr>
        <p:grpSpPr>
          <a:xfrm>
            <a:off x="8726938" y="11110592"/>
            <a:ext cx="3294120" cy="3162724"/>
            <a:chOff x="8354640" y="10918604"/>
            <a:chExt cx="3595512" cy="3452094"/>
          </a:xfrm>
        </p:grpSpPr>
        <p:pic>
          <p:nvPicPr>
            <p:cNvPr id="16" name="Image 201">
              <a:extLst>
                <a:ext uri="{FF2B5EF4-FFF2-40B4-BE49-F238E27FC236}">
                  <a16:creationId xmlns:a16="http://schemas.microsoft.com/office/drawing/2014/main" id="{D927933B-0904-1042-ACEB-11F7551AE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05311" y="10918604"/>
              <a:ext cx="3244841" cy="324483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208">
                  <a:extLst>
                    <a:ext uri="{FF2B5EF4-FFF2-40B4-BE49-F238E27FC236}">
                      <a16:creationId xmlns:a16="http://schemas.microsoft.com/office/drawing/2014/main" id="{6F5273F5-A9E9-0D45-9B46-D1CC5CC6A6C7}"/>
                    </a:ext>
                  </a:extLst>
                </p:cNvPr>
                <p:cNvSpPr txBox="1"/>
                <p:nvPr/>
              </p:nvSpPr>
              <p:spPr>
                <a:xfrm rot="16200000">
                  <a:off x="7135626" y="12310341"/>
                  <a:ext cx="2894050" cy="4560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2000" dirty="0" err="1">
                      <a:solidFill>
                        <a:srgbClr val="C00000"/>
                      </a:solidFill>
                      <a:latin typeface="Helvetica" pitchFamily="2" charset="0"/>
                    </a:rPr>
                    <a:t>Acceleration</a:t>
                  </a:r>
                  <a:r>
                    <a:rPr lang="fr-FR" sz="2000" dirty="0">
                      <a:solidFill>
                        <a:srgbClr val="C00000"/>
                      </a:solidFill>
                      <a:latin typeface="Helvetica" pitchFamily="2" charset="0"/>
                    </a:rPr>
                    <a:t> factor </a:t>
                  </a:r>
                  <a14:m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endParaRPr lang="en-US" sz="2000" dirty="0">
                    <a:solidFill>
                      <a:srgbClr val="C00000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09" name="ZoneTexte 208">
                  <a:extLst>
                    <a:ext uri="{FF2B5EF4-FFF2-40B4-BE49-F238E27FC236}">
                      <a16:creationId xmlns:a16="http://schemas.microsoft.com/office/drawing/2014/main" id="{9DE09E1A-2E1B-2140-A297-A4047816EE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135626" y="12310341"/>
                  <a:ext cx="2894050" cy="456021"/>
                </a:xfrm>
                <a:prstGeom prst="rect">
                  <a:avLst/>
                </a:prstGeom>
                <a:blipFill>
                  <a:blip r:embed="rId26"/>
                  <a:stretch>
                    <a:fillRect l="-2941" r="-23529" b="-23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ZoneTexte 209">
                  <a:extLst>
                    <a:ext uri="{FF2B5EF4-FFF2-40B4-BE49-F238E27FC236}">
                      <a16:creationId xmlns:a16="http://schemas.microsoft.com/office/drawing/2014/main" id="{6CAFC382-77CD-2F47-BD9C-BB2B3A08D265}"/>
                    </a:ext>
                  </a:extLst>
                </p:cNvPr>
                <p:cNvSpPr txBox="1"/>
                <p:nvPr/>
              </p:nvSpPr>
              <p:spPr>
                <a:xfrm>
                  <a:off x="9658848" y="13914677"/>
                  <a:ext cx="1685961" cy="4560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2000" dirty="0">
                      <a:solidFill>
                        <a:srgbClr val="00B050"/>
                      </a:solidFill>
                      <a:latin typeface="Helvetica" pitchFamily="2" charset="0"/>
                    </a:rPr>
                    <a:t>Time shift </a:t>
                  </a:r>
                  <a14:m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endParaRPr lang="en-US" sz="2000" dirty="0">
                    <a:solidFill>
                      <a:srgbClr val="00B050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10" name="ZoneTexte 209">
                  <a:extLst>
                    <a:ext uri="{FF2B5EF4-FFF2-40B4-BE49-F238E27FC236}">
                      <a16:creationId xmlns:a16="http://schemas.microsoft.com/office/drawing/2014/main" id="{6BC26C51-BD79-B542-9D11-C54B283A62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8848" y="13914677"/>
                  <a:ext cx="1685961" cy="456021"/>
                </a:xfrm>
                <a:prstGeom prst="rect">
                  <a:avLst/>
                </a:prstGeom>
                <a:blipFill>
                  <a:blip r:embed="rId27"/>
                  <a:stretch>
                    <a:fillRect l="-3252" t="-2941" b="-205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ZoneTexte 273">
                  <a:extLst>
                    <a:ext uri="{FF2B5EF4-FFF2-40B4-BE49-F238E27FC236}">
                      <a16:creationId xmlns:a16="http://schemas.microsoft.com/office/drawing/2014/main" id="{685888C4-7377-194D-9B94-C28A68B553E1}"/>
                    </a:ext>
                  </a:extLst>
                </p:cNvPr>
                <p:cNvSpPr txBox="1"/>
                <p:nvPr/>
              </p:nvSpPr>
              <p:spPr>
                <a:xfrm>
                  <a:off x="9216715" y="13124743"/>
                  <a:ext cx="1121562" cy="420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4" name="ZoneTexte 273">
                  <a:extLst>
                    <a:ext uri="{FF2B5EF4-FFF2-40B4-BE49-F238E27FC236}">
                      <a16:creationId xmlns:a16="http://schemas.microsoft.com/office/drawing/2014/main" id="{983F3508-C23B-464B-8597-61381C65F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6715" y="13124743"/>
                  <a:ext cx="1121562" cy="420943"/>
                </a:xfrm>
                <a:prstGeom prst="rect">
                  <a:avLst/>
                </a:prstGeom>
                <a:blipFill>
                  <a:blip r:embed="rId28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ZoneTexte 131">
                  <a:extLst>
                    <a:ext uri="{FF2B5EF4-FFF2-40B4-BE49-F238E27FC236}">
                      <a16:creationId xmlns:a16="http://schemas.microsoft.com/office/drawing/2014/main" id="{59650E5C-C711-DF45-A014-08BE5032532C}"/>
                    </a:ext>
                  </a:extLst>
                </p:cNvPr>
                <p:cNvSpPr txBox="1"/>
                <p:nvPr/>
              </p:nvSpPr>
              <p:spPr>
                <a:xfrm>
                  <a:off x="9476203" y="11376702"/>
                  <a:ext cx="1053045" cy="369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2" name="ZoneTexte 131">
                  <a:extLst>
                    <a:ext uri="{FF2B5EF4-FFF2-40B4-BE49-F238E27FC236}">
                      <a16:creationId xmlns:a16="http://schemas.microsoft.com/office/drawing/2014/main" id="{EC55A909-1BB4-404E-961A-235FFFFA92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6203" y="11376702"/>
                  <a:ext cx="1053045" cy="369331"/>
                </a:xfrm>
                <a:prstGeom prst="rect">
                  <a:avLst/>
                </a:prstGeom>
                <a:blipFill>
                  <a:blip r:embed="rId29"/>
                  <a:stretch>
                    <a:fillRect r="-1299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ZoneTexte 132">
                  <a:extLst>
                    <a:ext uri="{FF2B5EF4-FFF2-40B4-BE49-F238E27FC236}">
                      <a16:creationId xmlns:a16="http://schemas.microsoft.com/office/drawing/2014/main" id="{3D2F11B5-E908-BC47-BDC8-04938148565E}"/>
                    </a:ext>
                  </a:extLst>
                </p:cNvPr>
                <p:cNvSpPr txBox="1"/>
                <p:nvPr/>
              </p:nvSpPr>
              <p:spPr>
                <a:xfrm>
                  <a:off x="10442005" y="12090760"/>
                  <a:ext cx="9991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3" name="ZoneTexte 132">
                  <a:extLst>
                    <a:ext uri="{FF2B5EF4-FFF2-40B4-BE49-F238E27FC236}">
                      <a16:creationId xmlns:a16="http://schemas.microsoft.com/office/drawing/2014/main" id="{2377130F-924C-7644-A3C5-E6308FC043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2005" y="12090760"/>
                  <a:ext cx="999184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1370" r="-4110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04">
                <a:extLst>
                  <a:ext uri="{FF2B5EF4-FFF2-40B4-BE49-F238E27FC236}">
                    <a16:creationId xmlns:a16="http://schemas.microsoft.com/office/drawing/2014/main" id="{950573E7-1295-EC40-B631-4E4C7DE660CA}"/>
                  </a:ext>
                </a:extLst>
              </p:cNvPr>
              <p:cNvSpPr txBox="1"/>
              <p:nvPr/>
            </p:nvSpPr>
            <p:spPr>
              <a:xfrm>
                <a:off x="-190939" y="3800869"/>
                <a:ext cx="1511122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bg2">
                        <a:lumMod val="50000"/>
                      </a:schemeClr>
                    </a:solidFill>
                    <a:latin typeface="Helvetica" pitchFamily="2" charset="0"/>
                  </a:rPr>
                  <a:t>Subject A </a:t>
                </a:r>
                <a:r>
                  <a:rPr lang="en-US" sz="1600" i="1" dirty="0">
                    <a:solidFill>
                      <a:schemeClr val="bg2">
                        <a:lumMod val="50000"/>
                      </a:schemeClr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fr-FR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fr-FR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2" name="ZoneTexte 204">
                <a:extLst>
                  <a:ext uri="{FF2B5EF4-FFF2-40B4-BE49-F238E27FC236}">
                    <a16:creationId xmlns:a16="http://schemas.microsoft.com/office/drawing/2014/main" id="{950573E7-1295-EC40-B631-4E4C7DE66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939" y="3800869"/>
                <a:ext cx="1511122" cy="615553"/>
              </a:xfrm>
              <a:prstGeom prst="rect">
                <a:avLst/>
              </a:prstGeom>
              <a:blipFill>
                <a:blip r:embed="rId31"/>
                <a:stretch>
                  <a:fillRect t="-200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05">
                <a:extLst>
                  <a:ext uri="{FF2B5EF4-FFF2-40B4-BE49-F238E27FC236}">
                    <a16:creationId xmlns:a16="http://schemas.microsoft.com/office/drawing/2014/main" id="{48C33D93-F06A-F741-B3A9-0930E3AA8CB2}"/>
                  </a:ext>
                </a:extLst>
              </p:cNvPr>
              <p:cNvSpPr txBox="1"/>
              <p:nvPr/>
            </p:nvSpPr>
            <p:spPr>
              <a:xfrm>
                <a:off x="2244424" y="3800868"/>
                <a:ext cx="1609686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bg2">
                        <a:lumMod val="50000"/>
                      </a:schemeClr>
                    </a:solidFill>
                    <a:latin typeface="Helvetica" pitchFamily="2" charset="0"/>
                  </a:rPr>
                  <a:t>Subject C </a:t>
                </a:r>
              </a:p>
              <a:p>
                <a:pPr algn="ctr"/>
                <a:r>
                  <a:rPr lang="en-US" sz="1600" i="1" dirty="0">
                    <a:solidFill>
                      <a:schemeClr val="bg2">
                        <a:lumMod val="50000"/>
                      </a:schemeClr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fr-FR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fr-FR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3" name="ZoneTexte 205">
                <a:extLst>
                  <a:ext uri="{FF2B5EF4-FFF2-40B4-BE49-F238E27FC236}">
                    <a16:creationId xmlns:a16="http://schemas.microsoft.com/office/drawing/2014/main" id="{48C33D93-F06A-F741-B3A9-0930E3AA8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424" y="3800868"/>
                <a:ext cx="1609686" cy="615553"/>
              </a:xfrm>
              <a:prstGeom prst="rect">
                <a:avLst/>
              </a:prstGeom>
              <a:blipFill>
                <a:blip r:embed="rId32"/>
                <a:stretch>
                  <a:fillRect t="-2000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06">
                <a:extLst>
                  <a:ext uri="{FF2B5EF4-FFF2-40B4-BE49-F238E27FC236}">
                    <a16:creationId xmlns:a16="http://schemas.microsoft.com/office/drawing/2014/main" id="{D55AA750-159C-DB45-BD8E-2CD52AD003B5}"/>
                  </a:ext>
                </a:extLst>
              </p:cNvPr>
              <p:cNvSpPr txBox="1"/>
              <p:nvPr/>
            </p:nvSpPr>
            <p:spPr>
              <a:xfrm>
                <a:off x="1055664" y="3807889"/>
                <a:ext cx="1549895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bg2">
                        <a:lumMod val="50000"/>
                      </a:schemeClr>
                    </a:solidFill>
                    <a:latin typeface="Helvetica" pitchFamily="2" charset="0"/>
                  </a:rPr>
                  <a:t>Subject B </a:t>
                </a:r>
                <a:r>
                  <a:rPr lang="fr-FR" sz="1600" b="1" dirty="0"/>
                  <a:t> </a:t>
                </a:r>
                <a14:m>
                  <m:oMath xmlns:m="http://schemas.openxmlformats.org/officeDocument/2006/math"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fr-FR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fr-FR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4" name="ZoneTexte 206">
                <a:extLst>
                  <a:ext uri="{FF2B5EF4-FFF2-40B4-BE49-F238E27FC236}">
                    <a16:creationId xmlns:a16="http://schemas.microsoft.com/office/drawing/2014/main" id="{D55AA750-159C-DB45-BD8E-2CD52AD00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664" y="3807889"/>
                <a:ext cx="1549895" cy="615553"/>
              </a:xfrm>
              <a:prstGeom prst="rect">
                <a:avLst/>
              </a:prstGeom>
              <a:blipFill>
                <a:blip r:embed="rId33"/>
                <a:stretch>
                  <a:fillRect t="-625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e 6">
            <a:extLst>
              <a:ext uri="{FF2B5EF4-FFF2-40B4-BE49-F238E27FC236}">
                <a16:creationId xmlns:a16="http://schemas.microsoft.com/office/drawing/2014/main" id="{C4447162-CCC8-FA44-A4B5-F5BF824880A6}"/>
              </a:ext>
            </a:extLst>
          </p:cNvPr>
          <p:cNvGrpSpPr/>
          <p:nvPr/>
        </p:nvGrpSpPr>
        <p:grpSpPr>
          <a:xfrm>
            <a:off x="6649923" y="1517291"/>
            <a:ext cx="2632256" cy="2608973"/>
            <a:chOff x="12593561" y="12582387"/>
            <a:chExt cx="2511630" cy="2391298"/>
          </a:xfrm>
        </p:grpSpPr>
        <p:pic>
          <p:nvPicPr>
            <p:cNvPr id="26" name="Image 199">
              <a:extLst>
                <a:ext uri="{FF2B5EF4-FFF2-40B4-BE49-F238E27FC236}">
                  <a16:creationId xmlns:a16="http://schemas.microsoft.com/office/drawing/2014/main" id="{C6B08FE4-32A5-4848-BFB7-C28269B5F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26367" y="12582387"/>
              <a:ext cx="2295215" cy="229521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ZoneTexte 211">
                  <a:extLst>
                    <a:ext uri="{FF2B5EF4-FFF2-40B4-BE49-F238E27FC236}">
                      <a16:creationId xmlns:a16="http://schemas.microsoft.com/office/drawing/2014/main" id="{4778ABC5-E4FB-9C43-A263-3C661C031894}"/>
                    </a:ext>
                  </a:extLst>
                </p:cNvPr>
                <p:cNvSpPr txBox="1"/>
                <p:nvPr/>
              </p:nvSpPr>
              <p:spPr>
                <a:xfrm>
                  <a:off x="12967050" y="14654881"/>
                  <a:ext cx="2138141" cy="318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400" b="0" dirty="0">
                      <a:solidFill>
                        <a:srgbClr val="7030A0"/>
                      </a:solidFill>
                    </a:rPr>
                    <a:t>Inter-marker </a:t>
                  </a:r>
                  <a:r>
                    <a:rPr lang="fr-FR" sz="1400" b="0" dirty="0" err="1">
                      <a:solidFill>
                        <a:srgbClr val="7030A0"/>
                      </a:solidFill>
                    </a:rPr>
                    <a:t>spacing</a:t>
                  </a:r>
                  <a:r>
                    <a:rPr lang="fr-FR" sz="1400" b="0" dirty="0">
                      <a:solidFill>
                        <a:srgbClr val="7030A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ZoneTexte 211">
                  <a:extLst>
                    <a:ext uri="{FF2B5EF4-FFF2-40B4-BE49-F238E27FC236}">
                      <a16:creationId xmlns:a16="http://schemas.microsoft.com/office/drawing/2014/main" id="{4778ABC5-E4FB-9C43-A263-3C661C0318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7050" y="14654881"/>
                  <a:ext cx="2138141" cy="318804"/>
                </a:xfrm>
                <a:prstGeom prst="rect">
                  <a:avLst/>
                </a:prstGeom>
                <a:blipFill>
                  <a:blip r:embed="rId34"/>
                  <a:stretch>
                    <a:fillRect l="-562" t="-3571"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ZoneTexte 212">
                  <a:extLst>
                    <a:ext uri="{FF2B5EF4-FFF2-40B4-BE49-F238E27FC236}">
                      <a16:creationId xmlns:a16="http://schemas.microsoft.com/office/drawing/2014/main" id="{07D4CD64-3A90-6F4D-9FB4-3E19FAF7F4F1}"/>
                    </a:ext>
                  </a:extLst>
                </p:cNvPr>
                <p:cNvSpPr txBox="1"/>
                <p:nvPr/>
              </p:nvSpPr>
              <p:spPr>
                <a:xfrm rot="16200000">
                  <a:off x="11752682" y="13568501"/>
                  <a:ext cx="2013642" cy="3318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b="0" dirty="0">
                      <a:solidFill>
                        <a:srgbClr val="7030A0"/>
                      </a:solidFill>
                    </a:rPr>
                    <a:t>Inter-marker </a:t>
                  </a:r>
                  <a:r>
                    <a:rPr lang="fr-FR" sz="1400" b="0" dirty="0" err="1">
                      <a:solidFill>
                        <a:srgbClr val="7030A0"/>
                      </a:solidFill>
                    </a:rPr>
                    <a:t>spacing</a:t>
                  </a:r>
                  <a:r>
                    <a:rPr lang="fr-FR" sz="1400" b="0" dirty="0">
                      <a:solidFill>
                        <a:srgbClr val="7030A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ZoneTexte 212">
                  <a:extLst>
                    <a:ext uri="{FF2B5EF4-FFF2-40B4-BE49-F238E27FC236}">
                      <a16:creationId xmlns:a16="http://schemas.microsoft.com/office/drawing/2014/main" id="{07D4CD64-3A90-6F4D-9FB4-3E19FAF7F4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752682" y="13568501"/>
                  <a:ext cx="2013642" cy="331884"/>
                </a:xfrm>
                <a:prstGeom prst="rect">
                  <a:avLst/>
                </a:prstGeom>
                <a:blipFill>
                  <a:blip r:embed="rId35"/>
                  <a:stretch>
                    <a:fillRect l="-3571" r="-3571" b="-5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e 10">
            <a:extLst>
              <a:ext uri="{FF2B5EF4-FFF2-40B4-BE49-F238E27FC236}">
                <a16:creationId xmlns:a16="http://schemas.microsoft.com/office/drawing/2014/main" id="{38888AD4-D3DB-6E41-AF95-7E6B2E4914F3}"/>
              </a:ext>
            </a:extLst>
          </p:cNvPr>
          <p:cNvGrpSpPr/>
          <p:nvPr/>
        </p:nvGrpSpPr>
        <p:grpSpPr>
          <a:xfrm>
            <a:off x="4156527" y="1499115"/>
            <a:ext cx="2626416" cy="2609529"/>
            <a:chOff x="8473954" y="10918604"/>
            <a:chExt cx="3476198" cy="3245531"/>
          </a:xfrm>
        </p:grpSpPr>
        <p:pic>
          <p:nvPicPr>
            <p:cNvPr id="32" name="Image 201">
              <a:extLst>
                <a:ext uri="{FF2B5EF4-FFF2-40B4-BE49-F238E27FC236}">
                  <a16:creationId xmlns:a16="http://schemas.microsoft.com/office/drawing/2014/main" id="{4E183A30-3ABF-B645-AA2B-108E9EF60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05311" y="10918604"/>
              <a:ext cx="3244841" cy="324483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ZoneTexte 208">
                  <a:extLst>
                    <a:ext uri="{FF2B5EF4-FFF2-40B4-BE49-F238E27FC236}">
                      <a16:creationId xmlns:a16="http://schemas.microsoft.com/office/drawing/2014/main" id="{48AB5A89-0FC6-DF47-9F29-5F7CD4A3D774}"/>
                    </a:ext>
                  </a:extLst>
                </p:cNvPr>
                <p:cNvSpPr txBox="1"/>
                <p:nvPr/>
              </p:nvSpPr>
              <p:spPr>
                <a:xfrm rot="16200000">
                  <a:off x="7664287" y="12380319"/>
                  <a:ext cx="1985957" cy="3666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 err="1">
                      <a:solidFill>
                        <a:srgbClr val="C00000"/>
                      </a:solidFill>
                      <a:latin typeface="Helvetica" pitchFamily="2" charset="0"/>
                    </a:rPr>
                    <a:t>Acceleration</a:t>
                  </a:r>
                  <a:r>
                    <a:rPr lang="fr-FR" sz="1200" dirty="0">
                      <a:solidFill>
                        <a:srgbClr val="C00000"/>
                      </a:solidFill>
                      <a:latin typeface="Helvetica" pitchFamily="2" charset="0"/>
                    </a:rPr>
                    <a:t> factor </a:t>
                  </a:r>
                  <a14:m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endParaRPr lang="en-US" sz="1200" dirty="0">
                    <a:solidFill>
                      <a:srgbClr val="C00000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ZoneTexte 208">
                  <a:extLst>
                    <a:ext uri="{FF2B5EF4-FFF2-40B4-BE49-F238E27FC236}">
                      <a16:creationId xmlns:a16="http://schemas.microsoft.com/office/drawing/2014/main" id="{48AB5A89-0FC6-DF47-9F29-5F7CD4A3D7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664287" y="12380319"/>
                  <a:ext cx="1985957" cy="366623"/>
                </a:xfrm>
                <a:prstGeom prst="rect">
                  <a:avLst/>
                </a:prstGeom>
                <a:blipFill>
                  <a:blip r:embed="rId36"/>
                  <a:stretch>
                    <a:fillRect r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ZoneTexte 209">
                  <a:extLst>
                    <a:ext uri="{FF2B5EF4-FFF2-40B4-BE49-F238E27FC236}">
                      <a16:creationId xmlns:a16="http://schemas.microsoft.com/office/drawing/2014/main" id="{0708EA47-BAF6-3A44-9365-3EF04A32DAEC}"/>
                    </a:ext>
                  </a:extLst>
                </p:cNvPr>
                <p:cNvSpPr txBox="1"/>
                <p:nvPr/>
              </p:nvSpPr>
              <p:spPr>
                <a:xfrm>
                  <a:off x="9745977" y="13819625"/>
                  <a:ext cx="1274608" cy="3445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>
                      <a:solidFill>
                        <a:srgbClr val="00B050"/>
                      </a:solidFill>
                      <a:latin typeface="Helvetica" pitchFamily="2" charset="0"/>
                    </a:rPr>
                    <a:t>Time shift </a:t>
                  </a:r>
                  <a14:m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endParaRPr lang="en-US" sz="1200" dirty="0">
                    <a:solidFill>
                      <a:srgbClr val="00B050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4" name="ZoneTexte 209">
                  <a:extLst>
                    <a:ext uri="{FF2B5EF4-FFF2-40B4-BE49-F238E27FC236}">
                      <a16:creationId xmlns:a16="http://schemas.microsoft.com/office/drawing/2014/main" id="{0708EA47-BAF6-3A44-9365-3EF04A32D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5977" y="13819625"/>
                  <a:ext cx="1274608" cy="344510"/>
                </a:xfrm>
                <a:prstGeom prst="rect">
                  <a:avLst/>
                </a:prstGeom>
                <a:blipFill>
                  <a:blip r:embed="rId37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ZoneTexte 273">
                  <a:extLst>
                    <a:ext uri="{FF2B5EF4-FFF2-40B4-BE49-F238E27FC236}">
                      <a16:creationId xmlns:a16="http://schemas.microsoft.com/office/drawing/2014/main" id="{A3D890B8-37A0-2147-9AB7-C2A6BE75ACB5}"/>
                    </a:ext>
                  </a:extLst>
                </p:cNvPr>
                <p:cNvSpPr txBox="1"/>
                <p:nvPr/>
              </p:nvSpPr>
              <p:spPr>
                <a:xfrm>
                  <a:off x="9216715" y="13124741"/>
                  <a:ext cx="1060066" cy="3827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sz="1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sz="1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5" name="ZoneTexte 273">
                  <a:extLst>
                    <a:ext uri="{FF2B5EF4-FFF2-40B4-BE49-F238E27FC236}">
                      <a16:creationId xmlns:a16="http://schemas.microsoft.com/office/drawing/2014/main" id="{A3D890B8-37A0-2147-9AB7-C2A6BE75AC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6715" y="13124741"/>
                  <a:ext cx="1060066" cy="382789"/>
                </a:xfrm>
                <a:prstGeom prst="rect">
                  <a:avLst/>
                </a:prstGeom>
                <a:blipFill>
                  <a:blip r:embed="rId38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ZoneTexte 131">
                  <a:extLst>
                    <a:ext uri="{FF2B5EF4-FFF2-40B4-BE49-F238E27FC236}">
                      <a16:creationId xmlns:a16="http://schemas.microsoft.com/office/drawing/2014/main" id="{7B7254C1-E456-734D-9A8C-DB0D80968C57}"/>
                    </a:ext>
                  </a:extLst>
                </p:cNvPr>
                <p:cNvSpPr txBox="1"/>
                <p:nvPr/>
              </p:nvSpPr>
              <p:spPr>
                <a:xfrm>
                  <a:off x="9476202" y="11376702"/>
                  <a:ext cx="1093843" cy="3827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sz="1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sz="1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6" name="ZoneTexte 131">
                  <a:extLst>
                    <a:ext uri="{FF2B5EF4-FFF2-40B4-BE49-F238E27FC236}">
                      <a16:creationId xmlns:a16="http://schemas.microsoft.com/office/drawing/2014/main" id="{7B7254C1-E456-734D-9A8C-DB0D80968C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6202" y="11376702"/>
                  <a:ext cx="1093843" cy="382789"/>
                </a:xfrm>
                <a:prstGeom prst="rect">
                  <a:avLst/>
                </a:prstGeom>
                <a:blipFill>
                  <a:blip r:embed="rId3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ZoneTexte 132">
                  <a:extLst>
                    <a:ext uri="{FF2B5EF4-FFF2-40B4-BE49-F238E27FC236}">
                      <a16:creationId xmlns:a16="http://schemas.microsoft.com/office/drawing/2014/main" id="{B76292FB-7DB8-6D41-841F-EA9D71D5836B}"/>
                    </a:ext>
                  </a:extLst>
                </p:cNvPr>
                <p:cNvSpPr txBox="1"/>
                <p:nvPr/>
              </p:nvSpPr>
              <p:spPr>
                <a:xfrm>
                  <a:off x="10442006" y="12090761"/>
                  <a:ext cx="1078566" cy="3827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sz="1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sz="1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7" name="ZoneTexte 132">
                  <a:extLst>
                    <a:ext uri="{FF2B5EF4-FFF2-40B4-BE49-F238E27FC236}">
                      <a16:creationId xmlns:a16="http://schemas.microsoft.com/office/drawing/2014/main" id="{B76292FB-7DB8-6D41-841F-EA9D71D58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2006" y="12090761"/>
                  <a:ext cx="1078566" cy="382789"/>
                </a:xfrm>
                <a:prstGeom prst="rect">
                  <a:avLst/>
                </a:prstGeom>
                <a:blipFill>
                  <a:blip r:embed="rId40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0" name="Image 10">
            <a:extLst>
              <a:ext uri="{FF2B5EF4-FFF2-40B4-BE49-F238E27FC236}">
                <a16:creationId xmlns:a16="http://schemas.microsoft.com/office/drawing/2014/main" id="{487439C2-EAE2-5146-A834-4B370C65CA32}"/>
              </a:ext>
            </a:extLst>
          </p:cNvPr>
          <p:cNvPicPr>
            <a:picLocks noChangeAspect="1"/>
          </p:cNvPicPr>
          <p:nvPr/>
        </p:nvPicPr>
        <p:blipFill rotWithShape="1">
          <a:blip r:embed="rId41"/>
          <a:srcRect l="3249" t="7188" r="10816" b="13787"/>
          <a:stretch/>
        </p:blipFill>
        <p:spPr>
          <a:xfrm>
            <a:off x="85600" y="1654440"/>
            <a:ext cx="3270516" cy="2146430"/>
          </a:xfrm>
          <a:prstGeom prst="rect">
            <a:avLst/>
          </a:prstGeom>
        </p:spPr>
      </p:pic>
      <p:sp>
        <p:nvSpPr>
          <p:cNvPr id="38" name="Triangle 37">
            <a:extLst>
              <a:ext uri="{FF2B5EF4-FFF2-40B4-BE49-F238E27FC236}">
                <a16:creationId xmlns:a16="http://schemas.microsoft.com/office/drawing/2014/main" id="{E7A549EE-84A6-9942-AE3C-BFC1E625A2BB}"/>
              </a:ext>
            </a:extLst>
          </p:cNvPr>
          <p:cNvSpPr/>
          <p:nvPr/>
        </p:nvSpPr>
        <p:spPr>
          <a:xfrm rot="5400000">
            <a:off x="2786823" y="2624349"/>
            <a:ext cx="1974315" cy="192406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84A57B9A-A901-2C48-B0E2-4E73C3E31864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Represent subjects by their individual parameters</a:t>
            </a:r>
          </a:p>
        </p:txBody>
      </p:sp>
    </p:spTree>
    <p:extLst>
      <p:ext uri="{BB962C8B-B14F-4D97-AF65-F5344CB8AC3E}">
        <p14:creationId xmlns:p14="http://schemas.microsoft.com/office/powerpoint/2010/main" val="86248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21">
            <a:extLst>
              <a:ext uri="{FF2B5EF4-FFF2-40B4-BE49-F238E27FC236}">
                <a16:creationId xmlns:a16="http://schemas.microsoft.com/office/drawing/2014/main" id="{1D8BFB96-2867-484B-887F-92E799524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630" y="2051221"/>
            <a:ext cx="4026557" cy="2684371"/>
          </a:xfrm>
          <a:prstGeom prst="rect">
            <a:avLst/>
          </a:prstGeom>
        </p:spPr>
      </p:pic>
      <p:sp>
        <p:nvSpPr>
          <p:cNvPr id="6" name="Ellipse 40">
            <a:extLst>
              <a:ext uri="{FF2B5EF4-FFF2-40B4-BE49-F238E27FC236}">
                <a16:creationId xmlns:a16="http://schemas.microsoft.com/office/drawing/2014/main" id="{05E93BBC-9726-0646-AA86-B683E6769D20}"/>
              </a:ext>
            </a:extLst>
          </p:cNvPr>
          <p:cNvSpPr/>
          <p:nvPr/>
        </p:nvSpPr>
        <p:spPr>
          <a:xfrm>
            <a:off x="6317495" y="3651894"/>
            <a:ext cx="1747176" cy="768401"/>
          </a:xfrm>
          <a:prstGeom prst="ellipse">
            <a:avLst/>
          </a:prstGeom>
          <a:noFill/>
          <a:ln w="635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7" name="ZoneTexte 42">
            <a:extLst>
              <a:ext uri="{FF2B5EF4-FFF2-40B4-BE49-F238E27FC236}">
                <a16:creationId xmlns:a16="http://schemas.microsoft.com/office/drawing/2014/main" id="{600DAC37-51F7-A448-BB3B-43419F8B4D79}"/>
              </a:ext>
            </a:extLst>
          </p:cNvPr>
          <p:cNvSpPr txBox="1"/>
          <p:nvPr/>
        </p:nvSpPr>
        <p:spPr>
          <a:xfrm>
            <a:off x="6189499" y="3262281"/>
            <a:ext cx="2185213" cy="3693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venir Book" panose="02000503020000020003" pitchFamily="2" charset="0"/>
              </a:rPr>
              <a:t>Late disease stages</a:t>
            </a:r>
          </a:p>
        </p:txBody>
      </p:sp>
      <p:grpSp>
        <p:nvGrpSpPr>
          <p:cNvPr id="8" name="Groupe 3">
            <a:extLst>
              <a:ext uri="{FF2B5EF4-FFF2-40B4-BE49-F238E27FC236}">
                <a16:creationId xmlns:a16="http://schemas.microsoft.com/office/drawing/2014/main" id="{DAD783B1-D787-0A4C-A463-20424365E2C9}"/>
              </a:ext>
            </a:extLst>
          </p:cNvPr>
          <p:cNvGrpSpPr/>
          <p:nvPr/>
        </p:nvGrpSpPr>
        <p:grpSpPr>
          <a:xfrm>
            <a:off x="5577185" y="1262291"/>
            <a:ext cx="2487487" cy="865116"/>
            <a:chOff x="546972" y="2807176"/>
            <a:chExt cx="2487487" cy="86511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887D64-4738-9242-BBC2-AD6239B8CBC2}"/>
                </a:ext>
              </a:extLst>
            </p:cNvPr>
            <p:cNvSpPr/>
            <p:nvPr/>
          </p:nvSpPr>
          <p:spPr>
            <a:xfrm>
              <a:off x="546972" y="2807176"/>
              <a:ext cx="1442031" cy="813636"/>
            </a:xfrm>
            <a:prstGeom prst="rect">
              <a:avLst/>
            </a:prstGeom>
            <a:solidFill>
              <a:srgbClr val="FA4616">
                <a:alpha val="72000"/>
              </a:srgbClr>
            </a:solidFill>
            <a:ln w="889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venir Book" panose="02000503020000020003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8CEFAFE-4730-F54D-A064-1A0C70121612}"/>
                </a:ext>
              </a:extLst>
            </p:cNvPr>
            <p:cNvSpPr/>
            <p:nvPr/>
          </p:nvSpPr>
          <p:spPr>
            <a:xfrm>
              <a:off x="1481261" y="2807176"/>
              <a:ext cx="1497218" cy="813636"/>
            </a:xfrm>
            <a:prstGeom prst="rect">
              <a:avLst/>
            </a:prstGeom>
            <a:solidFill>
              <a:srgbClr val="92D050">
                <a:alpha val="72000"/>
              </a:srgbClr>
            </a:solidFill>
            <a:ln w="889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venir Book" panose="02000503020000020003" pitchFamily="2" charset="0"/>
              </a:endParaRPr>
            </a:p>
          </p:txBody>
        </p:sp>
        <p:sp>
          <p:nvSpPr>
            <p:cNvPr id="11" name="ZoneTexte 25">
              <a:extLst>
                <a:ext uri="{FF2B5EF4-FFF2-40B4-BE49-F238E27FC236}">
                  <a16:creationId xmlns:a16="http://schemas.microsoft.com/office/drawing/2014/main" id="{B3605981-F296-4D4F-A273-0A425C335F52}"/>
                </a:ext>
              </a:extLst>
            </p:cNvPr>
            <p:cNvSpPr txBox="1"/>
            <p:nvPr/>
          </p:nvSpPr>
          <p:spPr>
            <a:xfrm>
              <a:off x="567926" y="3364515"/>
              <a:ext cx="9183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chemeClr val="bg1"/>
                  </a:solidFill>
                  <a:latin typeface="Avenir Book" panose="02000503020000020003" pitchFamily="2" charset="0"/>
                </a:rPr>
                <a:t>Track-HD</a:t>
              </a:r>
            </a:p>
          </p:txBody>
        </p:sp>
        <p:sp>
          <p:nvSpPr>
            <p:cNvPr id="12" name="ZoneTexte 26">
              <a:extLst>
                <a:ext uri="{FF2B5EF4-FFF2-40B4-BE49-F238E27FC236}">
                  <a16:creationId xmlns:a16="http://schemas.microsoft.com/office/drawing/2014/main" id="{3E6B1317-C7E3-924E-9D13-A6E0A205361B}"/>
                </a:ext>
              </a:extLst>
            </p:cNvPr>
            <p:cNvSpPr txBox="1"/>
            <p:nvPr/>
          </p:nvSpPr>
          <p:spPr>
            <a:xfrm>
              <a:off x="2090483" y="3364515"/>
              <a:ext cx="9439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chemeClr val="bg1"/>
                  </a:solidFill>
                  <a:latin typeface="Avenir Book" panose="02000503020000020003" pitchFamily="2" charset="0"/>
                </a:rPr>
                <a:t>Track-ON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3FACF6-BEB6-3941-8B93-2384246D0EEE}"/>
                </a:ext>
              </a:extLst>
            </p:cNvPr>
            <p:cNvSpPr/>
            <p:nvPr/>
          </p:nvSpPr>
          <p:spPr>
            <a:xfrm>
              <a:off x="1527786" y="2840310"/>
              <a:ext cx="431379" cy="76524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venir Book" panose="02000503020000020003" pitchFamily="2" charset="0"/>
              </a:endParaRPr>
            </a:p>
          </p:txBody>
        </p:sp>
      </p:grpSp>
      <p:pic>
        <p:nvPicPr>
          <p:cNvPr id="19" name="Image 22">
            <a:extLst>
              <a:ext uri="{FF2B5EF4-FFF2-40B4-BE49-F238E27FC236}">
                <a16:creationId xmlns:a16="http://schemas.microsoft.com/office/drawing/2014/main" id="{3BB7CFE2-0C95-F64B-8FCF-4E20415158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963" r="6010"/>
          <a:stretch/>
        </p:blipFill>
        <p:spPr>
          <a:xfrm>
            <a:off x="241142" y="1216560"/>
            <a:ext cx="3899838" cy="3777267"/>
          </a:xfrm>
          <a:prstGeom prst="rect">
            <a:avLst/>
          </a:prstGeom>
        </p:spPr>
      </p:pic>
      <p:sp>
        <p:nvSpPr>
          <p:cNvPr id="20" name="Ellipse 34">
            <a:extLst>
              <a:ext uri="{FF2B5EF4-FFF2-40B4-BE49-F238E27FC236}">
                <a16:creationId xmlns:a16="http://schemas.microsoft.com/office/drawing/2014/main" id="{3788C908-3D17-964A-8D2F-26384DF59058}"/>
              </a:ext>
            </a:extLst>
          </p:cNvPr>
          <p:cNvSpPr/>
          <p:nvPr/>
        </p:nvSpPr>
        <p:spPr>
          <a:xfrm>
            <a:off x="1027588" y="1555898"/>
            <a:ext cx="2263035" cy="951180"/>
          </a:xfrm>
          <a:prstGeom prst="ellipse">
            <a:avLst/>
          </a:prstGeom>
          <a:noFill/>
          <a:ln w="635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venir Book" panose="02000503020000020003" pitchFamily="2" charset="0"/>
            </a:endParaRPr>
          </a:p>
        </p:txBody>
      </p:sp>
      <p:sp>
        <p:nvSpPr>
          <p:cNvPr id="21" name="Ellipse 35">
            <a:extLst>
              <a:ext uri="{FF2B5EF4-FFF2-40B4-BE49-F238E27FC236}">
                <a16:creationId xmlns:a16="http://schemas.microsoft.com/office/drawing/2014/main" id="{37607B3C-F5EB-B740-A28B-83414878BE0F}"/>
              </a:ext>
            </a:extLst>
          </p:cNvPr>
          <p:cNvSpPr/>
          <p:nvPr/>
        </p:nvSpPr>
        <p:spPr>
          <a:xfrm>
            <a:off x="2342116" y="3105194"/>
            <a:ext cx="1633306" cy="964570"/>
          </a:xfrm>
          <a:prstGeom prst="ellipse">
            <a:avLst/>
          </a:prstGeom>
          <a:noFill/>
          <a:ln w="635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venir Book" panose="02000503020000020003" pitchFamily="2" charset="0"/>
            </a:endParaRPr>
          </a:p>
        </p:txBody>
      </p:sp>
      <p:sp>
        <p:nvSpPr>
          <p:cNvPr id="22" name="ZoneTexte 36">
            <a:extLst>
              <a:ext uri="{FF2B5EF4-FFF2-40B4-BE49-F238E27FC236}">
                <a16:creationId xmlns:a16="http://schemas.microsoft.com/office/drawing/2014/main" id="{CE3574D4-37D2-614F-9BF6-CB3D78B7EF4E}"/>
              </a:ext>
            </a:extLst>
          </p:cNvPr>
          <p:cNvSpPr txBox="1"/>
          <p:nvPr/>
        </p:nvSpPr>
        <p:spPr>
          <a:xfrm>
            <a:off x="770995" y="1262291"/>
            <a:ext cx="187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venir Book" panose="02000503020000020003" pitchFamily="2" charset="0"/>
              </a:rPr>
              <a:t>Fast progressors</a:t>
            </a:r>
          </a:p>
        </p:txBody>
      </p:sp>
      <p:sp>
        <p:nvSpPr>
          <p:cNvPr id="23" name="ZoneTexte 39">
            <a:extLst>
              <a:ext uri="{FF2B5EF4-FFF2-40B4-BE49-F238E27FC236}">
                <a16:creationId xmlns:a16="http://schemas.microsoft.com/office/drawing/2014/main" id="{E3D8B507-E6AD-B642-9055-02B0FFC8B1B1}"/>
              </a:ext>
            </a:extLst>
          </p:cNvPr>
          <p:cNvSpPr txBox="1"/>
          <p:nvPr/>
        </p:nvSpPr>
        <p:spPr>
          <a:xfrm>
            <a:off x="2559413" y="4069763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venir Book" panose="02000503020000020003" pitchFamily="2" charset="0"/>
              </a:rPr>
              <a:t>Late converters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13BC8F-AB99-BB40-95A4-33DE1F84E674}"/>
              </a:ext>
            </a:extLst>
          </p:cNvPr>
          <p:cNvSpPr txBox="1"/>
          <p:nvPr/>
        </p:nvSpPr>
        <p:spPr>
          <a:xfrm>
            <a:off x="4815637" y="4554519"/>
            <a:ext cx="35590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FR">
                <a:latin typeface="Avenir Book" panose="02000503020000020003" pitchFamily="2" charset="0"/>
              </a:rPr>
              <a:t>Huntingtonian age</a:t>
            </a:r>
            <a:endParaRPr lang="en-FR" dirty="0">
              <a:latin typeface="Avenir Book" panose="02000503020000020003" pitchFamily="2" charset="0"/>
            </a:endParaRPr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7CE42233-B33B-EE43-B58F-ABD0D968F778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Huntington Disease Course Map</a:t>
            </a:r>
          </a:p>
        </p:txBody>
      </p:sp>
    </p:spTree>
    <p:extLst>
      <p:ext uri="{BB962C8B-B14F-4D97-AF65-F5344CB8AC3E}">
        <p14:creationId xmlns:p14="http://schemas.microsoft.com/office/powerpoint/2010/main" val="314839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0" grpId="0" animBg="1"/>
      <p:bldP spid="21" grpId="0" animBg="1"/>
      <p:bldP spid="22" grpId="0"/>
      <p:bldP spid="23" grpId="0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1">
            <a:extLst>
              <a:ext uri="{FF2B5EF4-FFF2-40B4-BE49-F238E27FC236}">
                <a16:creationId xmlns:a16="http://schemas.microsoft.com/office/drawing/2014/main" id="{D11CE76D-D35E-224C-A803-7C880CB29B3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9992" y="0"/>
            <a:ext cx="575484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18F9DA-71AF-D646-BBDD-2F4BE5C6FE7B}"/>
              </a:ext>
            </a:extLst>
          </p:cNvPr>
          <p:cNvSpPr txBox="1">
            <a:spLocks/>
          </p:cNvSpPr>
          <p:nvPr/>
        </p:nvSpPr>
        <p:spPr>
          <a:xfrm>
            <a:off x="278447" y="347016"/>
            <a:ext cx="2810193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Parkinson’s Disease Course Map</a:t>
            </a:r>
          </a:p>
        </p:txBody>
      </p:sp>
    </p:spTree>
    <p:extLst>
      <p:ext uri="{BB962C8B-B14F-4D97-AF65-F5344CB8AC3E}">
        <p14:creationId xmlns:p14="http://schemas.microsoft.com/office/powerpoint/2010/main" val="2734626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9672DC1-6C6F-794E-81F0-629FF69B6E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25" b="52845"/>
          <a:stretch/>
        </p:blipFill>
        <p:spPr>
          <a:xfrm>
            <a:off x="0" y="1150883"/>
            <a:ext cx="9160799" cy="2933991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C0462B4A-98A7-0F44-9C4B-3107E53C81B2}"/>
              </a:ext>
            </a:extLst>
          </p:cNvPr>
          <p:cNvSpPr/>
          <p:nvPr/>
        </p:nvSpPr>
        <p:spPr bwMode="auto">
          <a:xfrm>
            <a:off x="3427655" y="1915317"/>
            <a:ext cx="614855" cy="283780"/>
          </a:xfrm>
          <a:prstGeom prst="ellipse">
            <a:avLst/>
          </a:prstGeom>
          <a:solidFill>
            <a:srgbClr val="C00000">
              <a:alpha val="31000"/>
            </a:srgb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116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670069-9C6D-7245-9BFC-911A4F18698D}"/>
              </a:ext>
            </a:extLst>
          </p:cNvPr>
          <p:cNvSpPr/>
          <p:nvPr/>
        </p:nvSpPr>
        <p:spPr bwMode="auto">
          <a:xfrm>
            <a:off x="3427654" y="2264628"/>
            <a:ext cx="614855" cy="283780"/>
          </a:xfrm>
          <a:prstGeom prst="ellipse">
            <a:avLst/>
          </a:prstGeom>
          <a:solidFill>
            <a:srgbClr val="C00000">
              <a:alpha val="31000"/>
            </a:srgb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116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15FD07F-53E6-6646-8C52-8DC83538165C}"/>
              </a:ext>
            </a:extLst>
          </p:cNvPr>
          <p:cNvSpPr/>
          <p:nvPr/>
        </p:nvSpPr>
        <p:spPr bwMode="auto">
          <a:xfrm>
            <a:off x="7728308" y="1915317"/>
            <a:ext cx="614855" cy="283780"/>
          </a:xfrm>
          <a:prstGeom prst="ellipse">
            <a:avLst/>
          </a:prstGeom>
          <a:solidFill>
            <a:srgbClr val="C00000">
              <a:alpha val="31000"/>
            </a:srgb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116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3D34D4-910A-3743-BDB1-5425623BEA6B}"/>
              </a:ext>
            </a:extLst>
          </p:cNvPr>
          <p:cNvSpPr/>
          <p:nvPr/>
        </p:nvSpPr>
        <p:spPr bwMode="auto">
          <a:xfrm>
            <a:off x="7728308" y="2264628"/>
            <a:ext cx="614855" cy="283780"/>
          </a:xfrm>
          <a:prstGeom prst="ellipse">
            <a:avLst/>
          </a:prstGeom>
          <a:solidFill>
            <a:srgbClr val="C00000">
              <a:alpha val="31000"/>
            </a:srgb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116" charset="0"/>
            </a:endParaRP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CECBA81E-5E82-0A4B-97CA-3F8C0EA1F4F8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Alzheimer’s Disease Course Map</a:t>
            </a:r>
          </a:p>
        </p:txBody>
      </p:sp>
    </p:spTree>
    <p:extLst>
      <p:ext uri="{BB962C8B-B14F-4D97-AF65-F5344CB8AC3E}">
        <p14:creationId xmlns:p14="http://schemas.microsoft.com/office/powerpoint/2010/main" val="421563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/>
          <p:cNvSpPr txBox="1"/>
          <p:nvPr/>
        </p:nvSpPr>
        <p:spPr>
          <a:xfrm>
            <a:off x="2198186" y="1564750"/>
            <a:ext cx="6072978" cy="125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70000"/>
              </a:lnSpc>
            </a:pPr>
            <a:r>
              <a:rPr lang="en-AU" sz="2400" b="1" dirty="0">
                <a:latin typeface="Avenir Book" panose="02000503020000020003" pitchFamily="2" charset="0"/>
                <a:cs typeface="Arial"/>
              </a:rPr>
              <a:t>Disease Course Map</a:t>
            </a:r>
          </a:p>
          <a:p>
            <a:pPr algn="r">
              <a:lnSpc>
                <a:spcPct val="70000"/>
              </a:lnSpc>
            </a:pPr>
            <a:endParaRPr lang="en-AU" sz="2700" b="1" dirty="0">
              <a:solidFill>
                <a:schemeClr val="bg1"/>
              </a:solidFill>
              <a:latin typeface="Avenir Book" panose="02000503020000020003" pitchFamily="2" charset="0"/>
              <a:cs typeface="Arial"/>
            </a:endParaRPr>
          </a:p>
          <a:p>
            <a:pPr algn="r">
              <a:lnSpc>
                <a:spcPct val="70000"/>
              </a:lnSpc>
            </a:pPr>
            <a:r>
              <a:rPr lang="en-AU" sz="2100" i="1" dirty="0">
                <a:latin typeface="Avenir Book" panose="02000503020000020003" pitchFamily="2" charset="0"/>
                <a:cs typeface="Arial"/>
              </a:rPr>
              <a:t>predicts the future subject’s progression</a:t>
            </a:r>
            <a:endParaRPr lang="en-AU" sz="2100" dirty="0">
              <a:latin typeface="Avenir Book" panose="02000503020000020003" pitchFamily="2" charset="0"/>
              <a:cs typeface="Arial"/>
            </a:endParaRPr>
          </a:p>
          <a:p>
            <a:pPr algn="r">
              <a:lnSpc>
                <a:spcPct val="70000"/>
              </a:lnSpc>
            </a:pPr>
            <a:endParaRPr lang="en-AU" sz="3300" b="1" dirty="0">
              <a:solidFill>
                <a:schemeClr val="bg1"/>
              </a:solidFill>
              <a:latin typeface="Avenir Book" panose="02000503020000020003" pitchFamily="2" charset="0"/>
              <a:cs typeface="Arial"/>
            </a:endParaRPr>
          </a:p>
        </p:txBody>
      </p:sp>
      <p:cxnSp>
        <p:nvCxnSpPr>
          <p:cNvPr id="16" name="Connecteur droit 15"/>
          <p:cNvCxnSpPr>
            <a:cxnSpLocks/>
          </p:cNvCxnSpPr>
          <p:nvPr/>
        </p:nvCxnSpPr>
        <p:spPr>
          <a:xfrm>
            <a:off x="779318" y="1057217"/>
            <a:ext cx="7491846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6084247" y="4288832"/>
            <a:ext cx="1435530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42">
            <a:extLst>
              <a:ext uri="{FF2B5EF4-FFF2-40B4-BE49-F238E27FC236}">
                <a16:creationId xmlns:a16="http://schemas.microsoft.com/office/drawing/2014/main" id="{CE088388-A506-C343-9A97-3376626DA156}"/>
              </a:ext>
            </a:extLst>
          </p:cNvPr>
          <p:cNvCxnSpPr/>
          <p:nvPr/>
        </p:nvCxnSpPr>
        <p:spPr>
          <a:xfrm flipV="1">
            <a:off x="5658210" y="4471325"/>
            <a:ext cx="0" cy="30522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904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16">
            <a:extLst>
              <a:ext uri="{FF2B5EF4-FFF2-40B4-BE49-F238E27FC236}">
                <a16:creationId xmlns:a16="http://schemas.microsoft.com/office/drawing/2014/main" id="{DDC1CB7B-63A0-494B-B72D-CB27B5489ACD}"/>
              </a:ext>
            </a:extLst>
          </p:cNvPr>
          <p:cNvSpPr txBox="1"/>
          <p:nvPr/>
        </p:nvSpPr>
        <p:spPr>
          <a:xfrm>
            <a:off x="733792" y="4077282"/>
            <a:ext cx="7560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683">
              <a:buClr>
                <a:srgbClr val="FA4616"/>
              </a:buClr>
              <a:buSzPct val="120000"/>
            </a:pPr>
            <a:r>
              <a:rPr lang="en-AU" sz="1600" dirty="0">
                <a:solidFill>
                  <a:srgbClr val="1C1C58"/>
                </a:solidFill>
                <a:latin typeface="Avenir Book" panose="02000503020000020003" pitchFamily="2" charset="0"/>
                <a:cs typeface="Arial"/>
              </a:rPr>
              <a:t>We use past individual data to position a subject on the Disease Course Map.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C56F21C-5039-7B42-B09E-C641C5D7F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86" y="1354077"/>
            <a:ext cx="3572270" cy="267762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0834E27-8F91-7E4C-84CB-28A264C9A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846" y="1484735"/>
            <a:ext cx="3221745" cy="2416309"/>
          </a:xfrm>
          <a:prstGeom prst="rect">
            <a:avLst/>
          </a:prstGeom>
        </p:spPr>
      </p:pic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BAD64292-BA6E-BF4C-9D56-9BA061FFDBA9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Individual prediction of feature progression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C455CB4D-4A8B-1F40-BF59-015FA03B9F0D}"/>
              </a:ext>
            </a:extLst>
          </p:cNvPr>
          <p:cNvSpPr/>
          <p:nvPr/>
        </p:nvSpPr>
        <p:spPr>
          <a:xfrm rot="5400000">
            <a:off x="3819237" y="2475547"/>
            <a:ext cx="1197108" cy="192406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ZoneTexte 16">
            <a:extLst>
              <a:ext uri="{FF2B5EF4-FFF2-40B4-BE49-F238E27FC236}">
                <a16:creationId xmlns:a16="http://schemas.microsoft.com/office/drawing/2014/main" id="{13327555-983B-7C4E-A92B-5C6530071AD8}"/>
              </a:ext>
            </a:extLst>
          </p:cNvPr>
          <p:cNvSpPr txBox="1"/>
          <p:nvPr/>
        </p:nvSpPr>
        <p:spPr>
          <a:xfrm>
            <a:off x="733792" y="4559196"/>
            <a:ext cx="7560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683">
              <a:buClr>
                <a:srgbClr val="FA4616"/>
              </a:buClr>
              <a:buSzPct val="120000"/>
            </a:pPr>
            <a:r>
              <a:rPr lang="en-AU" sz="1600" dirty="0">
                <a:solidFill>
                  <a:srgbClr val="1C1C58"/>
                </a:solidFill>
                <a:latin typeface="Avenir Book" panose="02000503020000020003" pitchFamily="2" charset="0"/>
                <a:cs typeface="Arial"/>
              </a:rPr>
              <a:t>Then predict how the subject’s biomarkers will change in the next few years</a:t>
            </a:r>
            <a:endParaRPr lang="en-AU" sz="1600" b="1" dirty="0">
              <a:solidFill>
                <a:srgbClr val="1C1C58"/>
              </a:solidFill>
              <a:latin typeface="Avenir Book" panose="02000503020000020003" pitchFamily="2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241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7CE42233-B33B-EE43-B58F-ABD0D968F778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Huntington Disease Course Map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67F7677-B883-4A47-85FC-1718FC15C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694726"/>
              </p:ext>
            </p:extLst>
          </p:nvPr>
        </p:nvGraphicFramePr>
        <p:xfrm>
          <a:off x="1198881" y="1403350"/>
          <a:ext cx="5865495" cy="121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099">
                  <a:extLst>
                    <a:ext uri="{9D8B030D-6E8A-4147-A177-3AD203B41FA5}">
                      <a16:colId xmlns:a16="http://schemas.microsoft.com/office/drawing/2014/main" val="4172535540"/>
                    </a:ext>
                  </a:extLst>
                </a:gridCol>
                <a:gridCol w="1173099">
                  <a:extLst>
                    <a:ext uri="{9D8B030D-6E8A-4147-A177-3AD203B41FA5}">
                      <a16:colId xmlns:a16="http://schemas.microsoft.com/office/drawing/2014/main" val="3426929919"/>
                    </a:ext>
                  </a:extLst>
                </a:gridCol>
                <a:gridCol w="1173099">
                  <a:extLst>
                    <a:ext uri="{9D8B030D-6E8A-4147-A177-3AD203B41FA5}">
                      <a16:colId xmlns:a16="http://schemas.microsoft.com/office/drawing/2014/main" val="2034408950"/>
                    </a:ext>
                  </a:extLst>
                </a:gridCol>
                <a:gridCol w="1173099">
                  <a:extLst>
                    <a:ext uri="{9D8B030D-6E8A-4147-A177-3AD203B41FA5}">
                      <a16:colId xmlns:a16="http://schemas.microsoft.com/office/drawing/2014/main" val="3946276451"/>
                    </a:ext>
                  </a:extLst>
                </a:gridCol>
                <a:gridCol w="1173099">
                  <a:extLst>
                    <a:ext uri="{9D8B030D-6E8A-4147-A177-3AD203B41FA5}">
                      <a16:colId xmlns:a16="http://schemas.microsoft.com/office/drawing/2014/main" val="2794525554"/>
                    </a:ext>
                  </a:extLst>
                </a:gridCol>
              </a:tblGrid>
              <a:tr h="30607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 dirty="0">
                          <a:effectLst/>
                        </a:rPr>
                        <a:t>Variable to predict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 dirty="0">
                          <a:effectLst/>
                        </a:rPr>
                        <a:t>Time 1 year 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Time : 2 years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Time : 3 years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Time : 4 years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47252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SDMT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1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29 (± 5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02)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1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31 (± 5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70)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1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81 (± 6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98)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10 (± 7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25)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565127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Stroop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0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09 (± 3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57)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0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18 (± 3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67)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0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69 (± 4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62)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1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48 (± 5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54)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69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TMS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 dirty="0">
                          <a:effectLst/>
                        </a:rPr>
                        <a:t>-1</a:t>
                      </a:r>
                      <a:r>
                        <a:rPr lang="en-GB" sz="1000" dirty="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 dirty="0">
                          <a:effectLst/>
                        </a:rPr>
                        <a:t>86 (± 5</a:t>
                      </a:r>
                      <a:r>
                        <a:rPr lang="en-GB" sz="1000" dirty="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 dirty="0">
                          <a:effectLst/>
                        </a:rPr>
                        <a:t>30)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-1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42 (± 5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00)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-1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92 (± 5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53)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 dirty="0">
                          <a:effectLst/>
                        </a:rPr>
                        <a:t>-3</a:t>
                      </a:r>
                      <a:r>
                        <a:rPr lang="en-GB" sz="1000" dirty="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 dirty="0">
                          <a:effectLst/>
                        </a:rPr>
                        <a:t>63 (± 5</a:t>
                      </a:r>
                      <a:r>
                        <a:rPr lang="en-GB" sz="1000" dirty="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 dirty="0">
                          <a:effectLst/>
                        </a:rPr>
                        <a:t>20)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821510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AF931DA8-C9BC-A348-B7EB-E1D0AEECBF4E}"/>
              </a:ext>
            </a:extLst>
          </p:cNvPr>
          <p:cNvSpPr txBox="1"/>
          <p:nvPr/>
        </p:nvSpPr>
        <p:spPr>
          <a:xfrm>
            <a:off x="2000435" y="2571750"/>
            <a:ext cx="3804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venir Book" panose="02000503020000020003" pitchFamily="2" charset="0"/>
              </a:rPr>
              <a:t>Mean error (± standard deviation) (in %)</a:t>
            </a: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1FC78254-6692-664A-8F6D-BC260189A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690611"/>
              </p:ext>
            </p:extLst>
          </p:nvPr>
        </p:nvGraphicFramePr>
        <p:xfrm>
          <a:off x="1198881" y="3404044"/>
          <a:ext cx="593058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16">
                  <a:extLst>
                    <a:ext uri="{9D8B030D-6E8A-4147-A177-3AD203B41FA5}">
                      <a16:colId xmlns:a16="http://schemas.microsoft.com/office/drawing/2014/main" val="549860524"/>
                    </a:ext>
                  </a:extLst>
                </a:gridCol>
                <a:gridCol w="1186116">
                  <a:extLst>
                    <a:ext uri="{9D8B030D-6E8A-4147-A177-3AD203B41FA5}">
                      <a16:colId xmlns:a16="http://schemas.microsoft.com/office/drawing/2014/main" val="1459265271"/>
                    </a:ext>
                  </a:extLst>
                </a:gridCol>
                <a:gridCol w="1186116">
                  <a:extLst>
                    <a:ext uri="{9D8B030D-6E8A-4147-A177-3AD203B41FA5}">
                      <a16:colId xmlns:a16="http://schemas.microsoft.com/office/drawing/2014/main" val="2152845192"/>
                    </a:ext>
                  </a:extLst>
                </a:gridCol>
                <a:gridCol w="1186116">
                  <a:extLst>
                    <a:ext uri="{9D8B030D-6E8A-4147-A177-3AD203B41FA5}">
                      <a16:colId xmlns:a16="http://schemas.microsoft.com/office/drawing/2014/main" val="3885985076"/>
                    </a:ext>
                  </a:extLst>
                </a:gridCol>
                <a:gridCol w="1186116">
                  <a:extLst>
                    <a:ext uri="{9D8B030D-6E8A-4147-A177-3AD203B41FA5}">
                      <a16:colId xmlns:a16="http://schemas.microsoft.com/office/drawing/2014/main" val="3999069187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Variable to predict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Time 1 year 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Time : 2 years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Time : 3 years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Time : 4 years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852106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SDMT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94 (± 3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36)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42 (± 3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83)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5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58 (± 4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57)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6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30 (± 5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45)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881595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Stroop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2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74 (± 2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30)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2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93 (± 2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22)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47 (± 3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13)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56 (± 3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48)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733463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TMS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05 (± 3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90)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68 (± 3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67)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02 (± 4</a:t>
                      </a:r>
                      <a:r>
                        <a:rPr lang="en-GB" sz="100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>
                          <a:effectLst/>
                        </a:rPr>
                        <a:t>25)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000" dirty="0">
                          <a:effectLst/>
                        </a:rPr>
                        <a:t>4</a:t>
                      </a:r>
                      <a:r>
                        <a:rPr lang="en-GB" sz="1000" dirty="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 dirty="0">
                          <a:effectLst/>
                        </a:rPr>
                        <a:t>58 (± 4</a:t>
                      </a:r>
                      <a:r>
                        <a:rPr lang="en-GB" sz="1000" dirty="0">
                          <a:effectLst/>
                          <a:sym typeface="Symbol" pitchFamily="2" charset="2"/>
                        </a:rPr>
                        <a:t></a:t>
                      </a:r>
                      <a:r>
                        <a:rPr lang="en-GB" sz="1000" dirty="0">
                          <a:effectLst/>
                        </a:rPr>
                        <a:t>39)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827684"/>
                  </a:ext>
                </a:extLst>
              </a:tr>
            </a:tbl>
          </a:graphicData>
        </a:graphic>
      </p:graphicFrame>
      <p:sp>
        <p:nvSpPr>
          <p:cNvPr id="25" name="ZoneTexte 24">
            <a:extLst>
              <a:ext uri="{FF2B5EF4-FFF2-40B4-BE49-F238E27FC236}">
                <a16:creationId xmlns:a16="http://schemas.microsoft.com/office/drawing/2014/main" id="{E04DF49C-B1F4-CD43-B9B0-3731C214B83C}"/>
              </a:ext>
            </a:extLst>
          </p:cNvPr>
          <p:cNvSpPr txBox="1"/>
          <p:nvPr/>
        </p:nvSpPr>
        <p:spPr>
          <a:xfrm>
            <a:off x="2000435" y="4817110"/>
            <a:ext cx="46832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venir Book" panose="02000503020000020003" pitchFamily="2" charset="0"/>
              </a:rPr>
              <a:t>Mean Absolute error (± standard deviation) (in %)</a:t>
            </a:r>
          </a:p>
        </p:txBody>
      </p:sp>
    </p:spTree>
    <p:extLst>
      <p:ext uri="{BB962C8B-B14F-4D97-AF65-F5344CB8AC3E}">
        <p14:creationId xmlns:p14="http://schemas.microsoft.com/office/powerpoint/2010/main" val="226187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7CE42233-B33B-EE43-B58F-ABD0D968F778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Alzheimer’s Disease Course 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4F6AEB-D623-3942-9BA8-21DFC8A521FC}"/>
              </a:ext>
            </a:extLst>
          </p:cNvPr>
          <p:cNvSpPr/>
          <p:nvPr/>
        </p:nvSpPr>
        <p:spPr>
          <a:xfrm>
            <a:off x="121496" y="1113431"/>
            <a:ext cx="1575923" cy="685249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 w="889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7C32AF-7073-124B-B571-4F39245693DB}"/>
              </a:ext>
            </a:extLst>
          </p:cNvPr>
          <p:cNvSpPr/>
          <p:nvPr/>
        </p:nvSpPr>
        <p:spPr>
          <a:xfrm>
            <a:off x="121495" y="2732512"/>
            <a:ext cx="1575667" cy="656768"/>
          </a:xfrm>
          <a:prstGeom prst="rect">
            <a:avLst/>
          </a:prstGeom>
          <a:solidFill>
            <a:schemeClr val="accent6">
              <a:lumMod val="75000"/>
              <a:alpha val="72000"/>
            </a:schemeClr>
          </a:solidFill>
          <a:ln w="889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F4422AA-C22F-8549-996F-D4BB60070FBA}"/>
              </a:ext>
            </a:extLst>
          </p:cNvPr>
          <p:cNvSpPr txBox="1"/>
          <p:nvPr/>
        </p:nvSpPr>
        <p:spPr>
          <a:xfrm>
            <a:off x="256071" y="1144969"/>
            <a:ext cx="1575923" cy="7081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bg1"/>
                </a:solidFill>
                <a:latin typeface="Avenir Book" panose="02000503020000020003" pitchFamily="2" charset="0"/>
              </a:rPr>
              <a:t>ADNI:</a:t>
            </a:r>
          </a:p>
          <a:p>
            <a:pPr marL="285750" indent="-285750">
              <a:buFontTx/>
              <a:buChar char="-"/>
            </a:pPr>
            <a:r>
              <a:rPr lang="en-US" sz="1100" i="1" dirty="0">
                <a:solidFill>
                  <a:schemeClr val="bg1"/>
                </a:solidFill>
                <a:latin typeface="Avenir Book" panose="02000503020000020003" pitchFamily="2" charset="0"/>
              </a:rPr>
              <a:t>1800 subjects</a:t>
            </a:r>
          </a:p>
          <a:p>
            <a:pPr marL="285750" indent="-285750">
              <a:buFontTx/>
              <a:buChar char="-"/>
            </a:pPr>
            <a:r>
              <a:rPr lang="en-US" sz="1100" i="1" dirty="0">
                <a:solidFill>
                  <a:schemeClr val="bg1"/>
                </a:solidFill>
                <a:latin typeface="Avenir Book" panose="02000503020000020003" pitchFamily="2" charset="0"/>
              </a:rPr>
              <a:t>7600 visits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71F9E0-6E4C-F741-B18D-60FE0C7CA9FB}"/>
              </a:ext>
            </a:extLst>
          </p:cNvPr>
          <p:cNvSpPr/>
          <p:nvPr/>
        </p:nvSpPr>
        <p:spPr>
          <a:xfrm>
            <a:off x="121692" y="1939321"/>
            <a:ext cx="1575669" cy="6567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889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4D72625-31F5-2B4A-87F8-988E7356BE27}"/>
              </a:ext>
            </a:extLst>
          </p:cNvPr>
          <p:cNvSpPr txBox="1"/>
          <p:nvPr/>
        </p:nvSpPr>
        <p:spPr>
          <a:xfrm>
            <a:off x="256071" y="2012264"/>
            <a:ext cx="1483244" cy="7081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err="1">
                <a:solidFill>
                  <a:schemeClr val="bg1"/>
                </a:solidFill>
                <a:latin typeface="Avenir Book" panose="02000503020000020003" pitchFamily="2" charset="0"/>
              </a:rPr>
              <a:t>Pharmacog</a:t>
            </a:r>
            <a:r>
              <a:rPr lang="en-US" sz="1100" i="1" dirty="0">
                <a:solidFill>
                  <a:schemeClr val="bg1"/>
                </a:solidFill>
                <a:latin typeface="Avenir Book" panose="02000503020000020003" pitchFamily="2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US" sz="1100" i="1" dirty="0">
                <a:solidFill>
                  <a:schemeClr val="bg1"/>
                </a:solidFill>
                <a:latin typeface="Avenir Book" panose="02000503020000020003" pitchFamily="2" charset="0"/>
              </a:rPr>
              <a:t>130 subjects</a:t>
            </a:r>
          </a:p>
          <a:p>
            <a:pPr marL="285750" indent="-285750">
              <a:buFontTx/>
              <a:buChar char="-"/>
            </a:pPr>
            <a:r>
              <a:rPr lang="en-US" sz="1100" i="1" dirty="0">
                <a:solidFill>
                  <a:schemeClr val="bg1"/>
                </a:solidFill>
                <a:latin typeface="Avenir Book" panose="02000503020000020003" pitchFamily="2" charset="0"/>
              </a:rPr>
              <a:t>600 visits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B9BA6F4-EA72-DD42-8F03-6AE9FAE2D674}"/>
              </a:ext>
            </a:extLst>
          </p:cNvPr>
          <p:cNvSpPr txBox="1"/>
          <p:nvPr/>
        </p:nvSpPr>
        <p:spPr>
          <a:xfrm>
            <a:off x="256071" y="2769178"/>
            <a:ext cx="1483244" cy="7081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bg1"/>
                </a:solidFill>
                <a:latin typeface="Avenir Book" panose="02000503020000020003" pitchFamily="2" charset="0"/>
              </a:rPr>
              <a:t>AIBL:</a:t>
            </a:r>
          </a:p>
          <a:p>
            <a:pPr marL="285750" indent="-285750">
              <a:buFontTx/>
              <a:buChar char="-"/>
            </a:pPr>
            <a:r>
              <a:rPr lang="en-US" sz="1100" i="1" dirty="0">
                <a:solidFill>
                  <a:schemeClr val="bg1"/>
                </a:solidFill>
                <a:latin typeface="Avenir Book" panose="02000503020000020003" pitchFamily="2" charset="0"/>
              </a:rPr>
              <a:t>800 subjects</a:t>
            </a:r>
          </a:p>
          <a:p>
            <a:pPr marL="285750" indent="-285750">
              <a:buFontTx/>
              <a:buChar char="-"/>
            </a:pPr>
            <a:r>
              <a:rPr lang="en-US" sz="1100" i="1" dirty="0">
                <a:solidFill>
                  <a:schemeClr val="bg1"/>
                </a:solidFill>
                <a:latin typeface="Avenir Book" panose="02000503020000020003" pitchFamily="2" charset="0"/>
              </a:rPr>
              <a:t>1600 visits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9E62A7-2158-294E-99B0-CC84D4A00D84}"/>
              </a:ext>
            </a:extLst>
          </p:cNvPr>
          <p:cNvSpPr/>
          <p:nvPr/>
        </p:nvSpPr>
        <p:spPr>
          <a:xfrm>
            <a:off x="121495" y="3529922"/>
            <a:ext cx="1575667" cy="656768"/>
          </a:xfrm>
          <a:prstGeom prst="rect">
            <a:avLst/>
          </a:prstGeom>
          <a:solidFill>
            <a:schemeClr val="accent4">
              <a:lumMod val="60000"/>
              <a:lumOff val="40000"/>
              <a:alpha val="72000"/>
            </a:schemeClr>
          </a:solidFill>
          <a:ln w="889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9294EA9-4167-504F-8C3E-ACCC94383F95}"/>
              </a:ext>
            </a:extLst>
          </p:cNvPr>
          <p:cNvSpPr txBox="1"/>
          <p:nvPr/>
        </p:nvSpPr>
        <p:spPr>
          <a:xfrm>
            <a:off x="256071" y="3566588"/>
            <a:ext cx="1575923" cy="7081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MEMENTO:</a:t>
            </a:r>
          </a:p>
          <a:p>
            <a:pPr marL="285750" indent="-285750">
              <a:buFontTx/>
              <a:buChar char="-"/>
            </a:pPr>
            <a:r>
              <a:rPr lang="en-US" sz="1100" i="1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2100 subjects</a:t>
            </a:r>
          </a:p>
          <a:p>
            <a:pPr marL="285750" indent="-285750">
              <a:buFontTx/>
              <a:buChar char="-"/>
            </a:pPr>
            <a:r>
              <a:rPr lang="en-US" sz="1100" i="1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13000 visits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9CA9D6-3B17-C845-8BD3-18E8435C51D0}"/>
              </a:ext>
            </a:extLst>
          </p:cNvPr>
          <p:cNvSpPr/>
          <p:nvPr/>
        </p:nvSpPr>
        <p:spPr>
          <a:xfrm>
            <a:off x="121495" y="4323112"/>
            <a:ext cx="1575667" cy="656768"/>
          </a:xfrm>
          <a:prstGeom prst="rect">
            <a:avLst/>
          </a:prstGeom>
          <a:solidFill>
            <a:schemeClr val="bg1">
              <a:lumMod val="85000"/>
              <a:alpha val="72000"/>
            </a:schemeClr>
          </a:solidFill>
          <a:ln w="889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E66B25C-BDBE-E346-9EEE-7EB4093E849B}"/>
              </a:ext>
            </a:extLst>
          </p:cNvPr>
          <p:cNvSpPr txBox="1"/>
          <p:nvPr/>
        </p:nvSpPr>
        <p:spPr>
          <a:xfrm>
            <a:off x="256071" y="4359778"/>
            <a:ext cx="1483244" cy="7081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J-ADNI:</a:t>
            </a:r>
          </a:p>
          <a:p>
            <a:pPr marL="285750" indent="-285750">
              <a:buFontTx/>
              <a:buChar char="-"/>
            </a:pPr>
            <a:r>
              <a:rPr lang="en-US" sz="1100" i="1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500 subjects</a:t>
            </a:r>
          </a:p>
          <a:p>
            <a:pPr marL="285750" indent="-285750">
              <a:buFontTx/>
              <a:buChar char="-"/>
            </a:pPr>
            <a:r>
              <a:rPr lang="en-US" sz="1100" i="1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3000 visits</a:t>
            </a:r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1EA8BC6A-4167-B94F-A344-37AB6B912C57}"/>
              </a:ext>
            </a:extLst>
          </p:cNvPr>
          <p:cNvSpPr/>
          <p:nvPr/>
        </p:nvSpPr>
        <p:spPr>
          <a:xfrm rot="5400000">
            <a:off x="1731691" y="1355395"/>
            <a:ext cx="385144" cy="10142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F2FBFC6-BEE3-5947-9F96-0953D0210C19}"/>
              </a:ext>
            </a:extLst>
          </p:cNvPr>
          <p:cNvSpPr txBox="1"/>
          <p:nvPr/>
        </p:nvSpPr>
        <p:spPr>
          <a:xfrm>
            <a:off x="1873553" y="1204727"/>
            <a:ext cx="2257600" cy="762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venir Book" panose="02000503020000020003" pitchFamily="2" charset="0"/>
              </a:rPr>
              <a:t>Calibration of the model &amp; prediction </a:t>
            </a:r>
            <a:br>
              <a:rPr lang="en-US" sz="1400" dirty="0">
                <a:latin typeface="Avenir Book" panose="02000503020000020003" pitchFamily="2" charset="0"/>
              </a:rPr>
            </a:br>
            <a:r>
              <a:rPr lang="en-US" sz="1400" dirty="0">
                <a:latin typeface="Avenir Book" panose="02000503020000020003" pitchFamily="2" charset="0"/>
              </a:rPr>
              <a:t>(Cross-validation setting)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2756C52-B215-FF43-990F-9E65D5C13F43}"/>
              </a:ext>
            </a:extLst>
          </p:cNvPr>
          <p:cNvSpPr txBox="1"/>
          <p:nvPr/>
        </p:nvSpPr>
        <p:spPr>
          <a:xfrm>
            <a:off x="2062178" y="3120958"/>
            <a:ext cx="1666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Replication: Prediction only</a:t>
            </a:r>
          </a:p>
        </p:txBody>
      </p:sp>
      <p:sp>
        <p:nvSpPr>
          <p:cNvPr id="21" name="Accolade fermante 20">
            <a:extLst>
              <a:ext uri="{FF2B5EF4-FFF2-40B4-BE49-F238E27FC236}">
                <a16:creationId xmlns:a16="http://schemas.microsoft.com/office/drawing/2014/main" id="{FC208FD7-A0AE-3B4F-933D-D91DB35D58E4}"/>
              </a:ext>
            </a:extLst>
          </p:cNvPr>
          <p:cNvSpPr/>
          <p:nvPr/>
        </p:nvSpPr>
        <p:spPr>
          <a:xfrm>
            <a:off x="1833754" y="1939321"/>
            <a:ext cx="252304" cy="3040558"/>
          </a:xfrm>
          <a:prstGeom prst="rightBrace">
            <a:avLst>
              <a:gd name="adj1" fmla="val 186459"/>
              <a:gd name="adj2" fmla="val 50000"/>
            </a:avLst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9DAF52EA-9F62-6743-A015-9CEB768D2CC9}"/>
              </a:ext>
            </a:extLst>
          </p:cNvPr>
          <p:cNvGrpSpPr/>
          <p:nvPr/>
        </p:nvGrpSpPr>
        <p:grpSpPr>
          <a:xfrm>
            <a:off x="4217477" y="2187442"/>
            <a:ext cx="4688513" cy="1851212"/>
            <a:chOff x="6108185" y="4360783"/>
            <a:chExt cx="6631056" cy="261820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BCD95D1-7C79-CE49-A96B-D8A06C0FF869}"/>
                </a:ext>
              </a:extLst>
            </p:cNvPr>
            <p:cNvSpPr/>
            <p:nvPr/>
          </p:nvSpPr>
          <p:spPr>
            <a:xfrm>
              <a:off x="7045717" y="5292523"/>
              <a:ext cx="4142983" cy="635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F5B3BABC-D721-6743-84C2-551E812AA070}"/>
                </a:ext>
              </a:extLst>
            </p:cNvPr>
            <p:cNvSpPr/>
            <p:nvPr/>
          </p:nvSpPr>
          <p:spPr>
            <a:xfrm>
              <a:off x="7470711" y="5479420"/>
              <a:ext cx="224418" cy="22441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AB224F45-3FFD-FC41-AFF9-7EBB89840BEF}"/>
                </a:ext>
              </a:extLst>
            </p:cNvPr>
            <p:cNvSpPr/>
            <p:nvPr/>
          </p:nvSpPr>
          <p:spPr>
            <a:xfrm>
              <a:off x="7965347" y="5479420"/>
              <a:ext cx="224418" cy="22441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09F63C7D-F46F-BB41-BED1-B41C85BE11B4}"/>
                </a:ext>
              </a:extLst>
            </p:cNvPr>
            <p:cNvSpPr/>
            <p:nvPr/>
          </p:nvSpPr>
          <p:spPr>
            <a:xfrm>
              <a:off x="8731491" y="5469608"/>
              <a:ext cx="224418" cy="22441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7205904E-34E7-E744-A4A5-35EB1AF7B94A}"/>
                </a:ext>
              </a:extLst>
            </p:cNvPr>
            <p:cNvSpPr/>
            <p:nvPr/>
          </p:nvSpPr>
          <p:spPr>
            <a:xfrm>
              <a:off x="9900224" y="5503962"/>
              <a:ext cx="224418" cy="22441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6C956C40-ED70-EE4C-966A-78F3CCA79083}"/>
                </a:ext>
              </a:extLst>
            </p:cNvPr>
            <p:cNvSpPr/>
            <p:nvPr/>
          </p:nvSpPr>
          <p:spPr>
            <a:xfrm>
              <a:off x="10888593" y="5516901"/>
              <a:ext cx="224418" cy="22441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D5119334-CE13-C740-B916-52ABE2680D5A}"/>
                </a:ext>
              </a:extLst>
            </p:cNvPr>
            <p:cNvGrpSpPr/>
            <p:nvPr/>
          </p:nvGrpSpPr>
          <p:grpSpPr>
            <a:xfrm>
              <a:off x="8289258" y="5694027"/>
              <a:ext cx="1723175" cy="362805"/>
              <a:chOff x="8289258" y="5694027"/>
              <a:chExt cx="1723175" cy="362805"/>
            </a:xfrm>
          </p:grpSpPr>
          <p:cxnSp>
            <p:nvCxnSpPr>
              <p:cNvPr id="45" name="Connecteur en arc 44">
                <a:extLst>
                  <a:ext uri="{FF2B5EF4-FFF2-40B4-BE49-F238E27FC236}">
                    <a16:creationId xmlns:a16="http://schemas.microsoft.com/office/drawing/2014/main" id="{5547BBF4-DC5F-7D44-8910-839A518E7769}"/>
                  </a:ext>
                </a:extLst>
              </p:cNvPr>
              <p:cNvCxnSpPr>
                <a:cxnSpLocks/>
                <a:endCxn id="28" idx="4"/>
              </p:cNvCxnSpPr>
              <p:nvPr/>
            </p:nvCxnSpPr>
            <p:spPr>
              <a:xfrm flipV="1">
                <a:off x="8289258" y="5694027"/>
                <a:ext cx="554441" cy="362805"/>
              </a:xfrm>
              <a:prstGeom prst="curvedConnector2">
                <a:avLst/>
              </a:prstGeom>
              <a:ln>
                <a:solidFill>
                  <a:schemeClr val="accent2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cteur en arc 45">
                <a:extLst>
                  <a:ext uri="{FF2B5EF4-FFF2-40B4-BE49-F238E27FC236}">
                    <a16:creationId xmlns:a16="http://schemas.microsoft.com/office/drawing/2014/main" id="{6155F39E-55CE-5242-9139-B8ACF55CB2F2}"/>
                  </a:ext>
                </a:extLst>
              </p:cNvPr>
              <p:cNvCxnSpPr>
                <a:cxnSpLocks/>
                <a:endCxn id="29" idx="4"/>
              </p:cNvCxnSpPr>
              <p:nvPr/>
            </p:nvCxnSpPr>
            <p:spPr>
              <a:xfrm flipV="1">
                <a:off x="8289258" y="5728380"/>
                <a:ext cx="1723175" cy="328452"/>
              </a:xfrm>
              <a:prstGeom prst="curvedConnector2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ACC19A0F-194A-1940-81CA-FA9D7F3220C6}"/>
                </a:ext>
              </a:extLst>
            </p:cNvPr>
            <p:cNvGrpSpPr/>
            <p:nvPr/>
          </p:nvGrpSpPr>
          <p:grpSpPr>
            <a:xfrm>
              <a:off x="7821976" y="5067300"/>
              <a:ext cx="3178826" cy="777247"/>
              <a:chOff x="7821976" y="5067300"/>
              <a:chExt cx="3178826" cy="777247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529E95E-9D61-A040-AFCA-34558E7778DD}"/>
                  </a:ext>
                </a:extLst>
              </p:cNvPr>
              <p:cNvSpPr/>
              <p:nvPr/>
            </p:nvSpPr>
            <p:spPr>
              <a:xfrm>
                <a:off x="7821976" y="5067300"/>
                <a:ext cx="1289460" cy="777247"/>
              </a:xfrm>
              <a:prstGeom prst="rect">
                <a:avLst/>
              </a:prstGeom>
              <a:solidFill>
                <a:schemeClr val="accent6">
                  <a:alpha val="1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dirty="0"/>
              </a:p>
            </p:txBody>
          </p:sp>
          <p:cxnSp>
            <p:nvCxnSpPr>
              <p:cNvPr id="43" name="Connecteur en arc 42">
                <a:extLst>
                  <a:ext uri="{FF2B5EF4-FFF2-40B4-BE49-F238E27FC236}">
                    <a16:creationId xmlns:a16="http://schemas.microsoft.com/office/drawing/2014/main" id="{DE32DC1D-D480-8C42-8A42-64C5A82CE903}"/>
                  </a:ext>
                </a:extLst>
              </p:cNvPr>
              <p:cNvCxnSpPr>
                <a:cxnSpLocks/>
                <a:endCxn id="29" idx="0"/>
              </p:cNvCxnSpPr>
              <p:nvPr/>
            </p:nvCxnSpPr>
            <p:spPr>
              <a:xfrm>
                <a:off x="9111437" y="5080239"/>
                <a:ext cx="900997" cy="423723"/>
              </a:xfrm>
              <a:prstGeom prst="curvedConnector2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cteur en arc 43">
                <a:extLst>
                  <a:ext uri="{FF2B5EF4-FFF2-40B4-BE49-F238E27FC236}">
                    <a16:creationId xmlns:a16="http://schemas.microsoft.com/office/drawing/2014/main" id="{AF001564-1EF8-2844-A72E-E2E1C522DA51}"/>
                  </a:ext>
                </a:extLst>
              </p:cNvPr>
              <p:cNvCxnSpPr>
                <a:cxnSpLocks/>
                <a:endCxn id="30" idx="0"/>
              </p:cNvCxnSpPr>
              <p:nvPr/>
            </p:nvCxnSpPr>
            <p:spPr>
              <a:xfrm>
                <a:off x="9111437" y="5104782"/>
                <a:ext cx="1889365" cy="412120"/>
              </a:xfrm>
              <a:prstGeom prst="curvedConnector2">
                <a:avLst/>
              </a:prstGeom>
              <a:ln>
                <a:solidFill>
                  <a:schemeClr val="accent6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0F0D290A-52C4-D045-B74D-22782E43E605}"/>
                </a:ext>
              </a:extLst>
            </p:cNvPr>
            <p:cNvGrpSpPr/>
            <p:nvPr/>
          </p:nvGrpSpPr>
          <p:grpSpPr>
            <a:xfrm>
              <a:off x="7227847" y="5421098"/>
              <a:ext cx="3772955" cy="1207668"/>
              <a:chOff x="7227847" y="5421098"/>
              <a:chExt cx="3772955" cy="1207668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D5A5591-E8BA-D440-BE99-89016F357F80}"/>
                  </a:ext>
                </a:extLst>
              </p:cNvPr>
              <p:cNvSpPr/>
              <p:nvPr/>
            </p:nvSpPr>
            <p:spPr>
              <a:xfrm>
                <a:off x="7227847" y="5421098"/>
                <a:ext cx="1082597" cy="635734"/>
              </a:xfrm>
              <a:prstGeom prst="rect">
                <a:avLst/>
              </a:prstGeom>
              <a:solidFill>
                <a:schemeClr val="accent2">
                  <a:alpha val="1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/>
              </a:p>
            </p:txBody>
          </p:sp>
          <p:cxnSp>
            <p:nvCxnSpPr>
              <p:cNvPr id="40" name="Connecteur en arc 39">
                <a:extLst>
                  <a:ext uri="{FF2B5EF4-FFF2-40B4-BE49-F238E27FC236}">
                    <a16:creationId xmlns:a16="http://schemas.microsoft.com/office/drawing/2014/main" id="{34C0684C-7218-2A48-BF5C-99374065BC70}"/>
                  </a:ext>
                </a:extLst>
              </p:cNvPr>
              <p:cNvCxnSpPr>
                <a:cxnSpLocks/>
                <a:endCxn id="30" idx="4"/>
              </p:cNvCxnSpPr>
              <p:nvPr/>
            </p:nvCxnSpPr>
            <p:spPr>
              <a:xfrm flipV="1">
                <a:off x="8310443" y="5741319"/>
                <a:ext cx="2690359" cy="327607"/>
              </a:xfrm>
              <a:prstGeom prst="curvedConnector2">
                <a:avLst/>
              </a:prstGeom>
              <a:ln>
                <a:solidFill>
                  <a:schemeClr val="accent2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7D040D83-E2F9-454C-9EF0-6C8BA045E2BF}"/>
                  </a:ext>
                </a:extLst>
              </p:cNvPr>
              <p:cNvSpPr txBox="1"/>
              <p:nvPr/>
            </p:nvSpPr>
            <p:spPr>
              <a:xfrm>
                <a:off x="7459716" y="6115154"/>
                <a:ext cx="362260" cy="513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sz="14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E6EB3B9-9830-2349-9C20-8C53D6E941E7}"/>
                </a:ext>
              </a:extLst>
            </p:cNvPr>
            <p:cNvSpPr/>
            <p:nvPr/>
          </p:nvSpPr>
          <p:spPr>
            <a:xfrm>
              <a:off x="10654804" y="5965698"/>
              <a:ext cx="2084437" cy="7400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</a:rPr>
                <a:t>Predicted timepoint</a:t>
              </a:r>
              <a:endParaRPr lang="en-GB" sz="1400" dirty="0"/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5368002E-EF65-C747-A430-E9F070A39A37}"/>
                </a:ext>
              </a:extLst>
            </p:cNvPr>
            <p:cNvSpPr txBox="1"/>
            <p:nvPr/>
          </p:nvSpPr>
          <p:spPr>
            <a:xfrm>
              <a:off x="6108185" y="5939885"/>
              <a:ext cx="1596954" cy="513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Individual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2924944-46D7-D746-A09E-B19893FB6B6E}"/>
                </a:ext>
              </a:extLst>
            </p:cNvPr>
            <p:cNvSpPr/>
            <p:nvPr/>
          </p:nvSpPr>
          <p:spPr>
            <a:xfrm>
              <a:off x="6916789" y="6105850"/>
              <a:ext cx="1810372" cy="8731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accent2"/>
                  </a:solidFill>
                </a:rPr>
                <a:t>Subset of </a:t>
              </a:r>
            </a:p>
            <a:p>
              <a:pPr algn="ctr"/>
              <a:r>
                <a:rPr lang="en-GB" sz="1400" dirty="0">
                  <a:solidFill>
                    <a:schemeClr val="accent2"/>
                  </a:solidFill>
                </a:rPr>
                <a:t>known visits</a:t>
              </a:r>
              <a:endParaRPr lang="en-GB" sz="1400" dirty="0"/>
            </a:p>
          </p:txBody>
        </p:sp>
        <p:cxnSp>
          <p:nvCxnSpPr>
            <p:cNvPr id="37" name="Connecteur droit avec flèche 36">
              <a:extLst>
                <a:ext uri="{FF2B5EF4-FFF2-40B4-BE49-F238E27FC236}">
                  <a16:creationId xmlns:a16="http://schemas.microsoft.com/office/drawing/2014/main" id="{EF658A62-8BD2-1A41-BBFE-23D8452DF372}"/>
                </a:ext>
              </a:extLst>
            </p:cNvPr>
            <p:cNvCxnSpPr/>
            <p:nvPr/>
          </p:nvCxnSpPr>
          <p:spPr>
            <a:xfrm>
              <a:off x="7045717" y="4775200"/>
              <a:ext cx="414298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65A28114-E6EB-6C46-A91F-DCD1A076AB7B}"/>
                </a:ext>
              </a:extLst>
            </p:cNvPr>
            <p:cNvSpPr txBox="1"/>
            <p:nvPr/>
          </p:nvSpPr>
          <p:spPr>
            <a:xfrm>
              <a:off x="8634793" y="4360783"/>
              <a:ext cx="912731" cy="513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Time</a:t>
              </a:r>
            </a:p>
          </p:txBody>
        </p:sp>
      </p:grpSp>
      <p:sp>
        <p:nvSpPr>
          <p:cNvPr id="47" name="ZoneTexte 46">
            <a:extLst>
              <a:ext uri="{FF2B5EF4-FFF2-40B4-BE49-F238E27FC236}">
                <a16:creationId xmlns:a16="http://schemas.microsoft.com/office/drawing/2014/main" id="{16033357-0E55-BD43-A5D0-82E9002AF35F}"/>
              </a:ext>
            </a:extLst>
          </p:cNvPr>
          <p:cNvSpPr txBox="1"/>
          <p:nvPr/>
        </p:nvSpPr>
        <p:spPr>
          <a:xfrm>
            <a:off x="4946487" y="1155382"/>
            <a:ext cx="34524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venir Book" panose="02000503020000020003" pitchFamily="2" charset="0"/>
              </a:rPr>
              <a:t>COMPARISON: </a:t>
            </a:r>
          </a:p>
          <a:p>
            <a:pPr marL="285750" indent="-285750">
              <a:buFontTx/>
              <a:buChar char="-"/>
            </a:pPr>
            <a:r>
              <a:rPr lang="en-US" sz="1400" b="1" dirty="0">
                <a:latin typeface="Avenir Book" panose="02000503020000020003" pitchFamily="2" charset="0"/>
              </a:rPr>
              <a:t>Constant prediction </a:t>
            </a:r>
          </a:p>
          <a:p>
            <a:pPr marL="285750" indent="-285750">
              <a:buFontTx/>
              <a:buChar char="-"/>
            </a:pPr>
            <a:r>
              <a:rPr lang="en-US" sz="1400" b="1" dirty="0">
                <a:latin typeface="Avenir Book" panose="02000503020000020003" pitchFamily="2" charset="0"/>
              </a:rPr>
              <a:t>Linear Mixed-Effect</a:t>
            </a:r>
          </a:p>
          <a:p>
            <a:pPr marL="285750" indent="-285750">
              <a:buFontTx/>
              <a:buChar char="-"/>
            </a:pPr>
            <a:r>
              <a:rPr lang="en-US" sz="1400" b="1" dirty="0">
                <a:latin typeface="Avenir Book" panose="02000503020000020003" pitchFamily="2" charset="0"/>
              </a:rPr>
              <a:t>International challenge: Tadpole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4EA4648E-E9CB-B747-9407-7AEB5F9FB725}"/>
              </a:ext>
            </a:extLst>
          </p:cNvPr>
          <p:cNvSpPr txBox="1"/>
          <p:nvPr/>
        </p:nvSpPr>
        <p:spPr>
          <a:xfrm>
            <a:off x="2795565" y="4187676"/>
            <a:ext cx="54921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venir Book" panose="02000503020000020003" pitchFamily="2" charset="0"/>
              </a:rPr>
              <a:t>Results:</a:t>
            </a:r>
            <a:r>
              <a:rPr lang="en-US" sz="1400" dirty="0">
                <a:latin typeface="Avenir Book" panose="02000503020000020003" pitchFamily="2" charset="0"/>
              </a:rPr>
              <a:t> Talk by Etienne </a:t>
            </a:r>
            <a:r>
              <a:rPr lang="en-US" sz="1400" dirty="0" err="1">
                <a:latin typeface="Avenir Book" panose="02000503020000020003" pitchFamily="2" charset="0"/>
              </a:rPr>
              <a:t>Maheux</a:t>
            </a:r>
            <a:r>
              <a:rPr lang="en-US" sz="1400" dirty="0">
                <a:latin typeface="Avenir Book" panose="02000503020000020003" pitchFamily="2" charset="0"/>
              </a:rPr>
              <a:t>, tomorrow (Wednesday, 2</a:t>
            </a:r>
            <a:r>
              <a:rPr lang="en-US" sz="1400" baseline="30000" dirty="0">
                <a:latin typeface="Avenir Book" panose="02000503020000020003" pitchFamily="2" charset="0"/>
              </a:rPr>
              <a:t>nd</a:t>
            </a:r>
            <a:r>
              <a:rPr lang="en-US" sz="1400" dirty="0">
                <a:latin typeface="Avenir Book" panose="02000503020000020003" pitchFamily="2" charset="0"/>
              </a:rPr>
              <a:t> of September), from 10:30 to 11:00</a:t>
            </a:r>
          </a:p>
          <a:p>
            <a:r>
              <a:rPr lang="en-US" sz="1400" dirty="0">
                <a:latin typeface="Avenir Book" panose="02000503020000020003" pitchFamily="2" charset="0"/>
              </a:rPr>
              <a:t>Forecast of the MMSE &amp; ADAS13 scores up to 6 years ahead, with cross-cohort replication</a:t>
            </a:r>
          </a:p>
        </p:txBody>
      </p:sp>
      <p:sp>
        <p:nvSpPr>
          <p:cNvPr id="5" name="Accolades 4">
            <a:extLst>
              <a:ext uri="{FF2B5EF4-FFF2-40B4-BE49-F238E27FC236}">
                <a16:creationId xmlns:a16="http://schemas.microsoft.com/office/drawing/2014/main" id="{AE65C4B3-3B30-294E-9CAE-C9B40DC00D78}"/>
              </a:ext>
            </a:extLst>
          </p:cNvPr>
          <p:cNvSpPr/>
          <p:nvPr/>
        </p:nvSpPr>
        <p:spPr>
          <a:xfrm>
            <a:off x="2630548" y="4137475"/>
            <a:ext cx="5768397" cy="947319"/>
          </a:xfrm>
          <a:prstGeom prst="bracePair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92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/>
      <p:bldP spid="12" grpId="0"/>
      <p:bldP spid="13" grpId="0" animBg="1"/>
      <p:bldP spid="15" grpId="0"/>
      <p:bldP spid="16" grpId="0" animBg="1"/>
      <p:bldP spid="17" grpId="0"/>
      <p:bldP spid="20" grpId="0"/>
      <p:bldP spid="21" grpId="0" animBg="1"/>
      <p:bldP spid="47" grpId="0"/>
      <p:bldP spid="48" grpId="0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D51860-650D-B545-A96F-0ED17D3F0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4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3DA84980-AD64-4041-ABD7-2698CA238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6972300" cy="51555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2EEEEA-3ACF-C14D-8A34-1C79432D89A4}"/>
              </a:ext>
            </a:extLst>
          </p:cNvPr>
          <p:cNvSpPr txBox="1"/>
          <p:nvPr/>
        </p:nvSpPr>
        <p:spPr>
          <a:xfrm>
            <a:off x="7341706" y="885984"/>
            <a:ext cx="12411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600" dirty="0"/>
              <a:t>With AD Course Map, distributions of errors are stable across studies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284A71-C68A-1740-87D7-89D21F1307C4}"/>
              </a:ext>
            </a:extLst>
          </p:cNvPr>
          <p:cNvSpPr txBox="1"/>
          <p:nvPr/>
        </p:nvSpPr>
        <p:spPr>
          <a:xfrm>
            <a:off x="7341706" y="3334266"/>
            <a:ext cx="12411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600" dirty="0"/>
              <a:t>Standard methods exhibit more variability</a:t>
            </a:r>
          </a:p>
        </p:txBody>
      </p:sp>
    </p:spTree>
    <p:extLst>
      <p:ext uri="{BB962C8B-B14F-4D97-AF65-F5344CB8AC3E}">
        <p14:creationId xmlns:p14="http://schemas.microsoft.com/office/powerpoint/2010/main" val="181798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/>
          <p:cNvSpPr txBox="1"/>
          <p:nvPr/>
        </p:nvSpPr>
        <p:spPr>
          <a:xfrm>
            <a:off x="2198186" y="1564750"/>
            <a:ext cx="6072978" cy="125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70000"/>
              </a:lnSpc>
            </a:pPr>
            <a:r>
              <a:rPr lang="en-AU" sz="2400" b="1">
                <a:latin typeface="Avenir Book" panose="02000503020000020003" pitchFamily="2" charset="0"/>
                <a:cs typeface="Arial"/>
              </a:rPr>
              <a:t>Disease Course Map</a:t>
            </a:r>
          </a:p>
          <a:p>
            <a:pPr algn="r">
              <a:lnSpc>
                <a:spcPct val="70000"/>
              </a:lnSpc>
            </a:pPr>
            <a:endParaRPr lang="en-AU" sz="2700" b="1">
              <a:solidFill>
                <a:schemeClr val="bg1"/>
              </a:solidFill>
              <a:latin typeface="Avenir Book" panose="02000503020000020003" pitchFamily="2" charset="0"/>
              <a:cs typeface="Arial"/>
            </a:endParaRPr>
          </a:p>
          <a:p>
            <a:pPr algn="r">
              <a:lnSpc>
                <a:spcPct val="70000"/>
              </a:lnSpc>
            </a:pPr>
            <a:r>
              <a:rPr lang="en-AU" sz="2100" i="1">
                <a:latin typeface="Avenir Book" panose="02000503020000020003" pitchFamily="2" charset="0"/>
                <a:cs typeface="Arial"/>
              </a:rPr>
              <a:t>identifies the right patients at the right time</a:t>
            </a:r>
            <a:endParaRPr lang="en-AU" sz="2100">
              <a:latin typeface="Avenir Book" panose="02000503020000020003" pitchFamily="2" charset="0"/>
              <a:cs typeface="Arial"/>
            </a:endParaRPr>
          </a:p>
          <a:p>
            <a:pPr algn="r">
              <a:lnSpc>
                <a:spcPct val="70000"/>
              </a:lnSpc>
            </a:pPr>
            <a:endParaRPr lang="en-AU" sz="3300" b="1">
              <a:solidFill>
                <a:schemeClr val="bg1"/>
              </a:solidFill>
              <a:latin typeface="Avenir Book" panose="02000503020000020003" pitchFamily="2" charset="0"/>
              <a:cs typeface="Arial"/>
            </a:endParaRPr>
          </a:p>
        </p:txBody>
      </p:sp>
      <p:cxnSp>
        <p:nvCxnSpPr>
          <p:cNvPr id="16" name="Connecteur droit 15"/>
          <p:cNvCxnSpPr>
            <a:cxnSpLocks/>
          </p:cNvCxnSpPr>
          <p:nvPr/>
        </p:nvCxnSpPr>
        <p:spPr>
          <a:xfrm>
            <a:off x="779318" y="1057217"/>
            <a:ext cx="7491846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6084247" y="4288832"/>
            <a:ext cx="1435530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42">
            <a:extLst>
              <a:ext uri="{FF2B5EF4-FFF2-40B4-BE49-F238E27FC236}">
                <a16:creationId xmlns:a16="http://schemas.microsoft.com/office/drawing/2014/main" id="{CE088388-A506-C343-9A97-3376626DA156}"/>
              </a:ext>
            </a:extLst>
          </p:cNvPr>
          <p:cNvCxnSpPr/>
          <p:nvPr/>
        </p:nvCxnSpPr>
        <p:spPr>
          <a:xfrm flipV="1">
            <a:off x="5658210" y="4471325"/>
            <a:ext cx="0" cy="30522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075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6419BC-2FCF-1748-ABA6-C184AEF89FF6}"/>
              </a:ext>
            </a:extLst>
          </p:cNvPr>
          <p:cNvSpPr/>
          <p:nvPr/>
        </p:nvSpPr>
        <p:spPr>
          <a:xfrm>
            <a:off x="455163" y="3328117"/>
            <a:ext cx="833199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u="sng" dirty="0">
                <a:solidFill>
                  <a:srgbClr val="000000"/>
                </a:solidFill>
                <a:latin typeface="Avenir Book" panose="02000503020000020003" pitchFamily="2" charset="0"/>
                <a:ea typeface="Arial" panose="020B0604020202020204" pitchFamily="34" charset="0"/>
              </a:rPr>
              <a:t>Patient selection:</a:t>
            </a:r>
            <a:r>
              <a:rPr lang="en-GB" sz="1600" dirty="0">
                <a:solidFill>
                  <a:srgbClr val="000000"/>
                </a:solidFill>
                <a:latin typeface="Avenir Book" panose="02000503020000020003" pitchFamily="2" charset="0"/>
                <a:ea typeface="Arial" panose="020B0604020202020204" pitchFamily="34" charset="0"/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rgbClr val="000000"/>
                </a:solidFill>
                <a:latin typeface="Avenir Book" panose="02000503020000020003" pitchFamily="2" charset="0"/>
                <a:ea typeface="Arial" panose="020B0604020202020204" pitchFamily="34" charset="0"/>
              </a:rPr>
              <a:t>Target population: motor score &amp; caudate volume  =&gt; pathological during the trial 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FDDB3A53-D1D6-E049-9167-06E2C6CCD360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Huntington Disease Course Map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50C33C1-8D90-0A4C-8336-0CD4458C1345}"/>
              </a:ext>
            </a:extLst>
          </p:cNvPr>
          <p:cNvSpPr/>
          <p:nvPr/>
        </p:nvSpPr>
        <p:spPr>
          <a:xfrm>
            <a:off x="1594146" y="1195274"/>
            <a:ext cx="4829562" cy="2115762"/>
          </a:xfrm>
          <a:prstGeom prst="ellipse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2ED5CC1-4FD3-EC4C-8C38-99B42F911B1B}"/>
              </a:ext>
            </a:extLst>
          </p:cNvPr>
          <p:cNvSpPr/>
          <p:nvPr/>
        </p:nvSpPr>
        <p:spPr>
          <a:xfrm>
            <a:off x="3862737" y="1338754"/>
            <a:ext cx="2116392" cy="1836103"/>
          </a:xfrm>
          <a:prstGeom prst="ellipse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2B86B9A4-A381-004B-A403-571375003C1B}"/>
              </a:ext>
            </a:extLst>
          </p:cNvPr>
          <p:cNvSpPr/>
          <p:nvPr/>
        </p:nvSpPr>
        <p:spPr>
          <a:xfrm>
            <a:off x="1872133" y="1362406"/>
            <a:ext cx="3299973" cy="1836102"/>
          </a:xfrm>
          <a:prstGeom prst="ellipse">
            <a:avLst/>
          </a:prstGeom>
          <a:solidFill>
            <a:srgbClr val="4472C4">
              <a:alpha val="76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9714BE5-10A2-1F47-9E81-B82FC8B8F94F}"/>
              </a:ext>
            </a:extLst>
          </p:cNvPr>
          <p:cNvSpPr txBox="1"/>
          <p:nvPr/>
        </p:nvSpPr>
        <p:spPr>
          <a:xfrm>
            <a:off x="995387" y="1387962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400" b="1" dirty="0">
                <a:solidFill>
                  <a:srgbClr val="FFC000">
                    <a:lumMod val="75000"/>
                  </a:srgbClr>
                </a:solidFill>
                <a:latin typeface="Avenir Book" panose="02000503020000020003" pitchFamily="2" charset="0"/>
              </a:rPr>
              <a:t>Initial cohort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0D525FE-9734-914A-85C3-E796F2DD0646}"/>
              </a:ext>
            </a:extLst>
          </p:cNvPr>
          <p:cNvSpPr txBox="1"/>
          <p:nvPr/>
        </p:nvSpPr>
        <p:spPr>
          <a:xfrm>
            <a:off x="5607387" y="1266131"/>
            <a:ext cx="1969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n-US" sz="1400" b="1" dirty="0">
                <a:solidFill>
                  <a:srgbClr val="ED7D31">
                    <a:lumMod val="75000"/>
                  </a:srgbClr>
                </a:solidFill>
                <a:latin typeface="Avenir Book" panose="02000503020000020003" pitchFamily="2" charset="0"/>
              </a:rPr>
              <a:t>Patients of interest: Target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C9F966B-9970-A549-99B6-B7F2DE533640}"/>
              </a:ext>
            </a:extLst>
          </p:cNvPr>
          <p:cNvSpPr txBox="1"/>
          <p:nvPr/>
        </p:nvSpPr>
        <p:spPr>
          <a:xfrm>
            <a:off x="1832596" y="2317980"/>
            <a:ext cx="1644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1400" b="1" dirty="0">
                <a:solidFill>
                  <a:srgbClr val="5B9BD5">
                    <a:lumMod val="40000"/>
                    <a:lumOff val="60000"/>
                  </a:srgbClr>
                </a:solidFill>
                <a:latin typeface="Avenir Book" panose="02000503020000020003" pitchFamily="2" charset="0"/>
              </a:rPr>
              <a:t>Classic inclusion criteria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1418C419-9277-8446-B3F4-8FF44DC912F1}"/>
              </a:ext>
            </a:extLst>
          </p:cNvPr>
          <p:cNvSpPr/>
          <p:nvPr/>
        </p:nvSpPr>
        <p:spPr>
          <a:xfrm>
            <a:off x="3512004" y="1603124"/>
            <a:ext cx="1519296" cy="1315322"/>
          </a:xfrm>
          <a:prstGeom prst="ellipse">
            <a:avLst/>
          </a:prstGeom>
          <a:solidFill>
            <a:srgbClr val="92D050">
              <a:alpha val="46000"/>
            </a:srgbClr>
          </a:solidFill>
          <a:ln w="38100" cap="flat" cmpd="sng" algn="ctr">
            <a:solidFill>
              <a:srgbClr val="70AD47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6F1EB2D-5E9E-CA4B-8827-8FC39B2B0D4C}"/>
              </a:ext>
            </a:extLst>
          </p:cNvPr>
          <p:cNvSpPr txBox="1"/>
          <p:nvPr/>
        </p:nvSpPr>
        <p:spPr>
          <a:xfrm>
            <a:off x="3828175" y="2034837"/>
            <a:ext cx="1052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n-US" sz="1400" b="1" dirty="0">
                <a:solidFill>
                  <a:srgbClr val="78D64B"/>
                </a:solidFill>
                <a:latin typeface="Avenir Book" panose="02000503020000020003" pitchFamily="2" charset="0"/>
              </a:rPr>
              <a:t>Proposed method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DFAF37-63A0-5F4A-84D8-C4697E6F924F}"/>
              </a:ext>
            </a:extLst>
          </p:cNvPr>
          <p:cNvSpPr/>
          <p:nvPr/>
        </p:nvSpPr>
        <p:spPr>
          <a:xfrm>
            <a:off x="455163" y="3861694"/>
            <a:ext cx="83319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1600" dirty="0">
                <a:solidFill>
                  <a:srgbClr val="000000"/>
                </a:solidFill>
                <a:latin typeface="Avenir Book" panose="02000503020000020003" pitchFamily="2" charset="0"/>
                <a:ea typeface="Arial" panose="020B0604020202020204" pitchFamily="34" charset="0"/>
              </a:rPr>
              <a:t>Standard design: burden &lt; 250 &amp; TMS &gt; 5 at inclusion</a:t>
            </a:r>
            <a:endParaRPr lang="en-GB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5E02C6-A781-D74A-8068-A76C24DDD5E8}"/>
              </a:ext>
            </a:extLst>
          </p:cNvPr>
          <p:cNvSpPr/>
          <p:nvPr/>
        </p:nvSpPr>
        <p:spPr>
          <a:xfrm>
            <a:off x="455163" y="4179852"/>
            <a:ext cx="83319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1600" dirty="0">
                <a:solidFill>
                  <a:srgbClr val="000000"/>
                </a:solidFill>
                <a:latin typeface="Avenir Book" panose="02000503020000020003" pitchFamily="2" charset="0"/>
              </a:rPr>
              <a:t>Proposed design: idem + </a:t>
            </a:r>
            <a:r>
              <a:rPr lang="en-GB" sz="1600" b="1" dirty="0">
                <a:solidFill>
                  <a:srgbClr val="000000"/>
                </a:solidFill>
                <a:latin typeface="Avenir Book" panose="02000503020000020003" pitchFamily="2" charset="0"/>
              </a:rPr>
              <a:t>predicted TMS &gt; 10 in 3 years</a:t>
            </a:r>
            <a:endParaRPr lang="en-GB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820C80-3263-3C4E-B438-C83D51C81192}"/>
              </a:ext>
            </a:extLst>
          </p:cNvPr>
          <p:cNvSpPr/>
          <p:nvPr/>
        </p:nvSpPr>
        <p:spPr>
          <a:xfrm>
            <a:off x="672769" y="4713429"/>
            <a:ext cx="83319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latin typeface="Avenir Book" panose="02000503020000020003" pitchFamily="2" charset="0"/>
              </a:rPr>
              <a:t>Result: Less patients (50% selected) &amp; more accurate selection (26% to 40%)</a:t>
            </a:r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95D91DF2-1C4F-A44C-A6E5-611085839281}"/>
              </a:ext>
            </a:extLst>
          </p:cNvPr>
          <p:cNvSpPr/>
          <p:nvPr/>
        </p:nvSpPr>
        <p:spPr>
          <a:xfrm rot="5400000">
            <a:off x="413244" y="4771672"/>
            <a:ext cx="301444" cy="18495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0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 animBg="1"/>
      <p:bldP spid="20" grpId="0" animBg="1"/>
      <p:bldP spid="22" grpId="0"/>
      <p:bldP spid="23" grpId="0"/>
      <p:bldP spid="24" grpId="0" animBg="1"/>
      <p:bldP spid="25" grpId="0"/>
      <p:bldP spid="29" grpId="0"/>
      <p:bldP spid="30" grpId="0"/>
      <p:bldP spid="31" grpId="0"/>
      <p:bldP spid="3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AD835987-42C7-5F4E-9F35-0F56275ED3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4761220" y="1201783"/>
            <a:ext cx="3592392" cy="3941717"/>
          </a:xfrm>
          <a:prstGeom prst="rect">
            <a:avLst/>
          </a:prstGeom>
        </p:spPr>
      </p:pic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193F2503-C870-374F-A69B-21A03299EF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232"/>
          <a:stretch/>
        </p:blipFill>
        <p:spPr>
          <a:xfrm>
            <a:off x="471487" y="1841598"/>
            <a:ext cx="3622478" cy="33019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58407A-98D8-4541-B06E-13F669196D95}"/>
              </a:ext>
            </a:extLst>
          </p:cNvPr>
          <p:cNvSpPr txBox="1"/>
          <p:nvPr/>
        </p:nvSpPr>
        <p:spPr>
          <a:xfrm>
            <a:off x="177273" y="1472266"/>
            <a:ext cx="458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Avenir Book" panose="02000503020000020003" pitchFamily="2" charset="0"/>
              </a:rPr>
              <a:t>Detect subjects with sharp increase in TMS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CE65AEA5-95FB-7844-8E16-38D3860E1435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Huntington Disease Course Map</a:t>
            </a:r>
          </a:p>
        </p:txBody>
      </p:sp>
    </p:spTree>
    <p:extLst>
      <p:ext uri="{BB962C8B-B14F-4D97-AF65-F5344CB8AC3E}">
        <p14:creationId xmlns:p14="http://schemas.microsoft.com/office/powerpoint/2010/main" val="437822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6419BC-2FCF-1748-ABA6-C184AEF89FF6}"/>
              </a:ext>
            </a:extLst>
          </p:cNvPr>
          <p:cNvSpPr/>
          <p:nvPr/>
        </p:nvSpPr>
        <p:spPr>
          <a:xfrm>
            <a:off x="406001" y="1751022"/>
            <a:ext cx="833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u="sng" dirty="0">
                <a:solidFill>
                  <a:srgbClr val="000000"/>
                </a:solidFill>
                <a:latin typeface="Avenir Book" panose="02000503020000020003" pitchFamily="2" charset="0"/>
              </a:rPr>
              <a:t>Trial simulation for a drug improving TMS by 15% in 2 years: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rgbClr val="000000"/>
                </a:solidFill>
                <a:latin typeface="Avenir Book" panose="02000503020000020003" pitchFamily="2" charset="0"/>
              </a:rPr>
              <a:t>256 (CI=[204,331]) subjects needed with standard criteria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rgbClr val="000000"/>
                </a:solidFill>
                <a:latin typeface="Avenir Book" panose="02000503020000020003" pitchFamily="2" charset="0"/>
              </a:rPr>
              <a:t>138 (CI=[191,233]) subjects needed with our selection method </a:t>
            </a:r>
            <a:r>
              <a:rPr lang="en-GB" sz="1600" dirty="0">
                <a:solidFill>
                  <a:srgbClr val="000000"/>
                </a:solidFill>
                <a:latin typeface="Avenir Book" panose="02000503020000020003" pitchFamily="2" charset="0"/>
                <a:sym typeface="Wingdings" pitchFamily="2" charset="2"/>
              </a:rPr>
              <a:t> </a:t>
            </a:r>
            <a:r>
              <a:rPr lang="en-GB" sz="1600" b="1" dirty="0">
                <a:solidFill>
                  <a:srgbClr val="000000"/>
                </a:solidFill>
                <a:latin typeface="Avenir Book" panose="02000503020000020003" pitchFamily="2" charset="0"/>
                <a:sym typeface="Wingdings" pitchFamily="2" charset="2"/>
              </a:rPr>
              <a:t>46% fewer subjects!</a:t>
            </a:r>
            <a:endParaRPr lang="en-GB" sz="1600" b="1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Avenir Book" panose="02000503020000020003" pitchFamily="2" charset="0"/>
              </a:rPr>
              <a:t>at 5% significance level and 80% power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F2856C44-1412-0E44-BA27-3C3DEF8AC7FF}"/>
              </a:ext>
            </a:extLst>
          </p:cNvPr>
          <p:cNvSpPr txBox="1">
            <a:spLocks/>
          </p:cNvSpPr>
          <p:nvPr/>
        </p:nvSpPr>
        <p:spPr>
          <a:xfrm>
            <a:off x="471487" y="347016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Huntington Disease Course 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F3A035-1746-C340-B1FC-269674423485}"/>
              </a:ext>
            </a:extLst>
          </p:cNvPr>
          <p:cNvSpPr/>
          <p:nvPr/>
        </p:nvSpPr>
        <p:spPr>
          <a:xfrm>
            <a:off x="406001" y="3426222"/>
            <a:ext cx="8331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u="sng" dirty="0">
                <a:solidFill>
                  <a:srgbClr val="000000"/>
                </a:solidFill>
                <a:latin typeface="Avenir Book" panose="02000503020000020003" pitchFamily="2" charset="0"/>
              </a:rPr>
              <a:t>Trial simulation for a drug improving TMS by 10% in 2 years: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Avenir Book" panose="02000503020000020003" pitchFamily="2" charset="0"/>
              </a:rPr>
              <a:t>606 (CI=[483,784]) subjects needed with standard criteria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Avenir Book" panose="02000503020000020003" pitchFamily="2" charset="0"/>
              </a:rPr>
              <a:t>327 (CI=[216,552]) subjects needed with our selection method </a:t>
            </a:r>
            <a:r>
              <a:rPr lang="en-GB" sz="1600" dirty="0">
                <a:latin typeface="Avenir Book" panose="02000503020000020003" pitchFamily="2" charset="0"/>
                <a:sym typeface="Wingdings" pitchFamily="2" charset="2"/>
              </a:rPr>
              <a:t> </a:t>
            </a:r>
            <a:r>
              <a:rPr lang="en-GB" sz="1600" b="1" dirty="0">
                <a:latin typeface="Avenir Book" panose="02000503020000020003" pitchFamily="2" charset="0"/>
                <a:sym typeface="Wingdings" pitchFamily="2" charset="2"/>
              </a:rPr>
              <a:t>46% fewer subjects!</a:t>
            </a:r>
            <a:endParaRPr lang="en-GB" sz="1600" b="1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16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800E20EA-87DC-ED45-A622-877770C97AEB}"/>
              </a:ext>
            </a:extLst>
          </p:cNvPr>
          <p:cNvSpPr txBox="1">
            <a:spLocks/>
          </p:cNvSpPr>
          <p:nvPr/>
        </p:nvSpPr>
        <p:spPr>
          <a:xfrm>
            <a:off x="455163" y="134418"/>
            <a:ext cx="8201025" cy="390525"/>
          </a:xfrm>
          <a:prstGeom prst="rect">
            <a:avLst/>
          </a:prstGeom>
        </p:spPr>
        <p:txBody>
          <a:bodyPr/>
          <a:lstStyle>
            <a:lvl1pPr marL="257162" indent="-25716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85" indent="-214303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342884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342884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342884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b="1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</a:rPr>
              <a:t>In short, disease course mapping 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419BC-2FCF-1748-ABA6-C184AEF89FF6}"/>
              </a:ext>
            </a:extLst>
          </p:cNvPr>
          <p:cNvSpPr/>
          <p:nvPr/>
        </p:nvSpPr>
        <p:spPr>
          <a:xfrm>
            <a:off x="0" y="1115592"/>
            <a:ext cx="933625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>
                <a:solidFill>
                  <a:srgbClr val="000000"/>
                </a:solidFill>
                <a:latin typeface="Avenir Book" panose="02000503020000020003" pitchFamily="2" charset="0"/>
              </a:rPr>
              <a:t>A novel statistical learning technique which allows one to:</a:t>
            </a:r>
          </a:p>
          <a:p>
            <a:endParaRPr lang="en-AU" sz="1600" b="1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pPr marL="285750" indent="-285750">
              <a:buFontTx/>
              <a:buChar char="-"/>
            </a:pPr>
            <a:r>
              <a:rPr lang="en-AU" sz="1600" b="1" dirty="0">
                <a:solidFill>
                  <a:srgbClr val="000000"/>
                </a:solidFill>
                <a:latin typeface="Avenir Book" panose="02000503020000020003" pitchFamily="2" charset="0"/>
              </a:rPr>
              <a:t>summarize</a:t>
            </a:r>
            <a:r>
              <a:rPr lang="en-AU" sz="1600" dirty="0">
                <a:solidFill>
                  <a:srgbClr val="000000"/>
                </a:solidFill>
                <a:latin typeface="Avenir Book" panose="02000503020000020003" pitchFamily="2" charset="0"/>
              </a:rPr>
              <a:t> the range of possible disease progression profile</a:t>
            </a:r>
          </a:p>
          <a:p>
            <a:pPr marL="285750" indent="-285750">
              <a:buFontTx/>
              <a:buChar char="-"/>
            </a:pPr>
            <a:endParaRPr lang="en-AU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pPr marL="285750" indent="-285750">
              <a:buFontTx/>
              <a:buChar char="-"/>
            </a:pPr>
            <a:r>
              <a:rPr lang="en-AU" sz="1600" b="1" dirty="0">
                <a:solidFill>
                  <a:srgbClr val="000000"/>
                </a:solidFill>
                <a:latin typeface="Avenir Book" panose="02000503020000020003" pitchFamily="2" charset="0"/>
              </a:rPr>
              <a:t>explain</a:t>
            </a:r>
            <a:r>
              <a:rPr lang="en-AU" sz="1600" dirty="0">
                <a:solidFill>
                  <a:srgbClr val="000000"/>
                </a:solidFill>
                <a:latin typeface="Avenir Book" panose="02000503020000020003" pitchFamily="2" charset="0"/>
              </a:rPr>
              <a:t> how (e.g. genetic) factors modulate disease progression</a:t>
            </a:r>
          </a:p>
          <a:p>
            <a:pPr marL="285750" indent="-285750">
              <a:buFontTx/>
              <a:buChar char="-"/>
            </a:pPr>
            <a:endParaRPr lang="en-AU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pPr marL="285750" indent="-285750">
              <a:buFontTx/>
              <a:buChar char="-"/>
            </a:pPr>
            <a:r>
              <a:rPr lang="en-AU" sz="1600" b="1" dirty="0">
                <a:solidFill>
                  <a:srgbClr val="000000"/>
                </a:solidFill>
                <a:latin typeface="Avenir Book" panose="02000503020000020003" pitchFamily="2" charset="0"/>
              </a:rPr>
              <a:t>position</a:t>
            </a:r>
            <a:r>
              <a:rPr lang="en-AU" sz="1600" dirty="0">
                <a:solidFill>
                  <a:srgbClr val="000000"/>
                </a:solidFill>
                <a:latin typeface="Avenir Book" panose="02000503020000020003" pitchFamily="2" charset="0"/>
              </a:rPr>
              <a:t> new subjects onto the map and </a:t>
            </a:r>
            <a:r>
              <a:rPr lang="en-AU" sz="1600" b="1" dirty="0">
                <a:solidFill>
                  <a:srgbClr val="000000"/>
                </a:solidFill>
                <a:latin typeface="Avenir Book" panose="02000503020000020003" pitchFamily="2" charset="0"/>
              </a:rPr>
              <a:t>predict</a:t>
            </a:r>
            <a:r>
              <a:rPr lang="en-AU" sz="1600" dirty="0">
                <a:solidFill>
                  <a:srgbClr val="000000"/>
                </a:solidFill>
                <a:latin typeface="Avenir Book" panose="02000503020000020003" pitchFamily="2" charset="0"/>
              </a:rPr>
              <a:t> the future evolution of their biomarkers</a:t>
            </a:r>
          </a:p>
          <a:p>
            <a:pPr marL="285750" indent="-285750">
              <a:buFontTx/>
              <a:buChar char="-"/>
            </a:pPr>
            <a:endParaRPr lang="en-AU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pPr marL="285750" indent="-285750">
              <a:buFontTx/>
              <a:buChar char="-"/>
            </a:pPr>
            <a:r>
              <a:rPr lang="en-AU" sz="1600" b="1" dirty="0">
                <a:solidFill>
                  <a:srgbClr val="000000"/>
                </a:solidFill>
                <a:latin typeface="Avenir Book" panose="02000503020000020003" pitchFamily="2" charset="0"/>
              </a:rPr>
              <a:t>select</a:t>
            </a:r>
            <a:r>
              <a:rPr lang="en-AU" sz="1600" dirty="0">
                <a:solidFill>
                  <a:srgbClr val="000000"/>
                </a:solidFill>
                <a:latin typeface="Avenir Book" panose="02000503020000020003" pitchFamily="2" charset="0"/>
              </a:rPr>
              <a:t> the right patient at the right disease stage, thus improving statistical power of clinical trials</a:t>
            </a:r>
          </a:p>
          <a:p>
            <a:pPr marL="285750" indent="-285750">
              <a:buFontTx/>
              <a:buChar char="-"/>
            </a:pPr>
            <a:endParaRPr lang="en-AU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pPr marL="285750" indent="-285750">
              <a:buFontTx/>
              <a:buChar char="-"/>
            </a:pPr>
            <a:endParaRPr lang="en-AU" sz="1600" b="1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692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3C08AD-B3CD-474D-9A5A-92077B15414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9296400" cy="30996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457200" indent="0" algn="l" defTabSz="914400" rtl="0" eaLnBrk="1" latinLnBrk="0" hangingPunct="1">
              <a:lnSpc>
                <a:spcPct val="80000"/>
              </a:lnSpc>
              <a:spcBef>
                <a:spcPts val="500"/>
              </a:spcBef>
              <a:buFontTx/>
              <a:buNone/>
              <a:defRPr sz="1500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884">
              <a:spcBef>
                <a:spcPct val="20000"/>
              </a:spcBef>
            </a:pPr>
            <a:r>
              <a:rPr lang="en-US" sz="2400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  <a:cs typeface="+mn-cs"/>
              </a:rPr>
              <a:t>Thank you</a:t>
            </a:r>
          </a:p>
          <a:p>
            <a:pPr defTabSz="457200"/>
            <a:r>
              <a:rPr lang="en-US" sz="1600" b="1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ARAMIS Lab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: S.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Durrleman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(head), A.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Bône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, R.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Couronné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(docs), E.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Maheux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, A.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Valladier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(engineers)</a:t>
            </a:r>
          </a:p>
          <a:p>
            <a:pPr defTabSz="457200"/>
            <a:r>
              <a:rPr lang="en-US" sz="1600" b="1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Clinical collaborators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: Profs A.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Dürr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(Huntington), B. Dubois, S.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Epelbaum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(Alzheimer), J.-C.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Corvol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, M.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Vidhailet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, S.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Lehéricy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(Parkinson)</a:t>
            </a:r>
          </a:p>
          <a:p>
            <a:pPr defTabSz="457200"/>
            <a:r>
              <a:rPr lang="en-US" sz="1600" b="1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Academic collaborators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: S.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Allassonnière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(U. of Paris), B.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Charlier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(U. of Montpellier)</a:t>
            </a:r>
          </a:p>
          <a:p>
            <a:pPr defTabSz="457200"/>
            <a:r>
              <a:rPr lang="en-US" sz="1600" b="1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Funders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: ERC, Paris AI Research Institute PR[AI]RIE, H2020 projects </a:t>
            </a:r>
            <a:r>
              <a:rPr lang="en-US" sz="16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EuroPOND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and TVB-Cloud</a:t>
            </a:r>
          </a:p>
        </p:txBody>
      </p:sp>
      <p:pic>
        <p:nvPicPr>
          <p:cNvPr id="9" name="Picture 8" descr="CNRSfr-grand">
            <a:extLst>
              <a:ext uri="{FF2B5EF4-FFF2-40B4-BE49-F238E27FC236}">
                <a16:creationId xmlns:a16="http://schemas.microsoft.com/office/drawing/2014/main" id="{9FE15316-1687-5044-839D-ECE61DF31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7258" y="3592076"/>
            <a:ext cx="610845" cy="65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GrandInserm">
            <a:extLst>
              <a:ext uri="{FF2B5EF4-FFF2-40B4-BE49-F238E27FC236}">
                <a16:creationId xmlns:a16="http://schemas.microsoft.com/office/drawing/2014/main" id="{442254C3-EAAC-354F-A554-AB2991D66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38393"/>
          <a:stretch>
            <a:fillRect/>
          </a:stretch>
        </p:blipFill>
        <p:spPr bwMode="auto">
          <a:xfrm>
            <a:off x="3042897" y="4438810"/>
            <a:ext cx="1347553" cy="617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22" descr="C:\Users\Olivier\Documents\1db\Dropbox\LENA\InProgress\Labo\Logos\inria.png">
            <a:extLst>
              <a:ext uri="{FF2B5EF4-FFF2-40B4-BE49-F238E27FC236}">
                <a16:creationId xmlns:a16="http://schemas.microsoft.com/office/drawing/2014/main" id="{497455D1-CC54-EB42-A1C6-60FDB32C7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45862" y="3668266"/>
            <a:ext cx="1488552" cy="568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Image 1">
            <a:extLst>
              <a:ext uri="{FF2B5EF4-FFF2-40B4-BE49-F238E27FC236}">
                <a16:creationId xmlns:a16="http://schemas.microsoft.com/office/drawing/2014/main" id="{DE2A88B7-CF3A-9448-8E4F-F2B954EBD86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1466"/>
          <a:stretch/>
        </p:blipFill>
        <p:spPr>
          <a:xfrm>
            <a:off x="-21754" y="3803819"/>
            <a:ext cx="1465262" cy="112017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E73844C-0B9C-A74F-99F7-42E890B5A844}"/>
              </a:ext>
            </a:extLst>
          </p:cNvPr>
          <p:cNvGrpSpPr/>
          <p:nvPr/>
        </p:nvGrpSpPr>
        <p:grpSpPr>
          <a:xfrm>
            <a:off x="1420110" y="3674150"/>
            <a:ext cx="1465262" cy="1125466"/>
            <a:chOff x="3098468" y="5067904"/>
            <a:chExt cx="1851296" cy="134791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6916696-3E66-2A40-B6B7-690216082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468" y="6036700"/>
              <a:ext cx="1851296" cy="37912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DC9B831-6B90-9448-84D4-CA103BCCB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7057" y="5067904"/>
              <a:ext cx="1394117" cy="1009648"/>
            </a:xfrm>
            <a:prstGeom prst="rect">
              <a:avLst/>
            </a:prstGeom>
          </p:spPr>
        </p:pic>
      </p:grpSp>
      <p:pic>
        <p:nvPicPr>
          <p:cNvPr id="19" name="Picture 18" descr="A picture containing hat&#10;&#10;Description automatically generated">
            <a:extLst>
              <a:ext uri="{FF2B5EF4-FFF2-40B4-BE49-F238E27FC236}">
                <a16:creationId xmlns:a16="http://schemas.microsoft.com/office/drawing/2014/main" id="{CF309735-B2F0-DA46-B96B-FF8F768EC0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6172" y="3628183"/>
            <a:ext cx="1905000" cy="635000"/>
          </a:xfrm>
          <a:prstGeom prst="rect">
            <a:avLst/>
          </a:prstGeom>
        </p:spPr>
      </p:pic>
      <p:pic>
        <p:nvPicPr>
          <p:cNvPr id="21" name="Picture 20" descr="A picture containing sitting&#10;&#10;Description automatically generated">
            <a:extLst>
              <a:ext uri="{FF2B5EF4-FFF2-40B4-BE49-F238E27FC236}">
                <a16:creationId xmlns:a16="http://schemas.microsoft.com/office/drawing/2014/main" id="{83EC4FD3-28A7-2844-8907-5B594D436B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414" y="4223100"/>
            <a:ext cx="2352637" cy="912247"/>
          </a:xfrm>
          <a:prstGeom prst="rect">
            <a:avLst/>
          </a:prstGeom>
        </p:spPr>
      </p:pic>
      <p:pic>
        <p:nvPicPr>
          <p:cNvPr id="23" name="Picture 22" descr="A close up of a sign&#10;&#10;Description automatically generated">
            <a:extLst>
              <a:ext uri="{FF2B5EF4-FFF2-40B4-BE49-F238E27FC236}">
                <a16:creationId xmlns:a16="http://schemas.microsoft.com/office/drawing/2014/main" id="{D40BCC6C-87E4-FB40-8D2E-008A003E2D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8881" y="4363906"/>
            <a:ext cx="2435120" cy="692874"/>
          </a:xfrm>
          <a:prstGeom prst="rect">
            <a:avLst/>
          </a:prstGeom>
        </p:spPr>
      </p:pic>
      <p:pic>
        <p:nvPicPr>
          <p:cNvPr id="27" name="Picture 26" descr="A picture containing drawing&#10;&#10;Description automatically generated">
            <a:extLst>
              <a:ext uri="{FF2B5EF4-FFF2-40B4-BE49-F238E27FC236}">
                <a16:creationId xmlns:a16="http://schemas.microsoft.com/office/drawing/2014/main" id="{092570CA-0370-8642-A15D-33859940C7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4190" y="3592076"/>
            <a:ext cx="1797413" cy="72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466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3C08AD-B3CD-474D-9A5A-92077B15414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9144000" cy="5143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457200" indent="0" algn="l" defTabSz="914400" rtl="0" eaLnBrk="1" latinLnBrk="0" hangingPunct="1">
              <a:lnSpc>
                <a:spcPct val="80000"/>
              </a:lnSpc>
              <a:spcBef>
                <a:spcPts val="500"/>
              </a:spcBef>
              <a:buFontTx/>
              <a:buNone/>
              <a:defRPr sz="1500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884">
              <a:spcBef>
                <a:spcPct val="20000"/>
              </a:spcBef>
            </a:pPr>
            <a:r>
              <a:rPr lang="en-US" sz="2400" b="1" dirty="0">
                <a:solidFill>
                  <a:srgbClr val="7030A0"/>
                </a:solidFill>
                <a:latin typeface="Avenir Book" panose="02000503020000020003" pitchFamily="2" charset="0"/>
                <a:ea typeface="ＭＳ Ｐゴシック" charset="-128"/>
                <a:cs typeface="+mn-cs"/>
              </a:rPr>
              <a:t>Thank you</a:t>
            </a:r>
          </a:p>
          <a:p>
            <a:pPr defTabSz="457200">
              <a:lnSpc>
                <a:spcPct val="250000"/>
              </a:lnSpc>
            </a:pPr>
            <a:r>
              <a:rPr lang="en-US" sz="1600" b="1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Open-source software </a:t>
            </a:r>
            <a:r>
              <a:rPr lang="en-US" sz="1600" b="1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Leaspy</a:t>
            </a:r>
            <a:r>
              <a:rPr lang="en-US" sz="1600" b="1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on GitLab: </a:t>
            </a:r>
            <a:r>
              <a:rPr lang="en-GB" sz="1600" dirty="0">
                <a:latin typeface="Avenir Book" panose="02000503020000020003" pitchFamily="2" charset="0"/>
                <a:hlinkClick r:id="rId3"/>
              </a:rPr>
              <a:t>https://gitlab.com/icm-institute/aramislab/leaspy/</a:t>
            </a:r>
            <a:endParaRPr lang="en-FR" sz="2400" dirty="0">
              <a:latin typeface="Avenir Book" panose="02000503020000020003" pitchFamily="2" charset="0"/>
            </a:endParaRPr>
          </a:p>
          <a:p>
            <a:pPr defTabSz="457200"/>
            <a:r>
              <a:rPr lang="en-US" sz="1600" b="1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Patent: A method for determining the temporal progression of a biological phenomenon </a:t>
            </a:r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rPr>
              <a:t>(</a:t>
            </a:r>
            <a:r>
              <a:rPr lang="en-GB" sz="1200" dirty="0">
                <a:solidFill>
                  <a:schemeClr val="tx1"/>
                </a:solidFill>
                <a:latin typeface="Avenir Book" panose="02000503020000020003" pitchFamily="2" charset="0"/>
              </a:rPr>
              <a:t>PCT/IB2016/052699)</a:t>
            </a:r>
            <a:endParaRPr lang="en-US" sz="1200" dirty="0">
              <a:solidFill>
                <a:schemeClr val="tx1"/>
              </a:solidFill>
              <a:latin typeface="Avenir Book" panose="02000503020000020003" pitchFamily="2" charset="0"/>
              <a:ea typeface="+mn-ea"/>
              <a:cs typeface="+mn-cs"/>
            </a:endParaRPr>
          </a:p>
          <a:p>
            <a:pPr defTabSz="457200"/>
            <a:r>
              <a:rPr lang="en-US" sz="1600" b="1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On-going collaboration 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with pharmaceutical industries to develop precision medicine trials</a:t>
            </a:r>
          </a:p>
          <a:p>
            <a:pPr defTabSz="457200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Selection of </a:t>
            </a:r>
            <a:r>
              <a:rPr lang="en-US" sz="1600" b="1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publications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:</a:t>
            </a:r>
          </a:p>
          <a:p>
            <a:pPr defTabSz="457200">
              <a:lnSpc>
                <a:spcPct val="100000"/>
              </a:lnSpc>
            </a:pPr>
            <a:r>
              <a:rPr lang="en-US" sz="12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Simulating Alzheimer's disease progression with </a:t>
            </a:r>
            <a:r>
              <a:rPr lang="en-US" sz="12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personalised</a:t>
            </a:r>
            <a:r>
              <a:rPr lang="en-US" sz="12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digital brain models, I </a:t>
            </a:r>
            <a:r>
              <a:rPr lang="en-US" sz="12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Koval</a:t>
            </a:r>
            <a:r>
              <a:rPr lang="en-US" sz="12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et al., preprint </a:t>
            </a:r>
            <a:r>
              <a:rPr lang="en-US" sz="12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  <a:hlinkClick r:id="rId4"/>
              </a:rPr>
              <a:t>https://hal.inria.fr/hal-01964821</a:t>
            </a:r>
            <a:endParaRPr lang="en-US" sz="1200" dirty="0">
              <a:solidFill>
                <a:srgbClr val="000000"/>
              </a:solidFill>
              <a:latin typeface="Avenir Book" panose="02000503020000020003" pitchFamily="2" charset="0"/>
              <a:ea typeface="+mn-ea"/>
              <a:cs typeface="+mn-cs"/>
            </a:endParaRPr>
          </a:p>
          <a:p>
            <a:pPr defTabSz="457200">
              <a:lnSpc>
                <a:spcPct val="100000"/>
              </a:lnSpc>
            </a:pPr>
            <a:r>
              <a:rPr lang="en-US" sz="12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Learning the spatiotemporal variability in longitudinal shape data sets, Bone et al. IJCV 2020</a:t>
            </a:r>
          </a:p>
          <a:p>
            <a:pPr defTabSz="457200">
              <a:lnSpc>
                <a:spcPct val="100000"/>
              </a:lnSpc>
            </a:pPr>
            <a:r>
              <a:rPr lang="en-US" sz="12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Learning Disease Progression Models With Longitudinal Data and Missing Values, R. </a:t>
            </a:r>
            <a:r>
              <a:rPr lang="en-US" sz="12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Couronné</a:t>
            </a:r>
            <a:r>
              <a:rPr lang="en-US" sz="12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et al. ISBI 2019</a:t>
            </a:r>
          </a:p>
          <a:p>
            <a:pPr defTabSz="457200">
              <a:lnSpc>
                <a:spcPct val="100000"/>
              </a:lnSpc>
            </a:pPr>
            <a:r>
              <a:rPr lang="en-US" sz="12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Spatiotemporal propagation of the cortical atrophy during the course of Alzheimer’s Disease: Population and individual patterns, I. </a:t>
            </a:r>
            <a:r>
              <a:rPr lang="en-US" sz="12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Koval</a:t>
            </a:r>
            <a:r>
              <a:rPr lang="en-US" sz="12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et al. Frontiers in Neurology, Vol 9, p 235, 2018</a:t>
            </a:r>
          </a:p>
          <a:p>
            <a:pPr defTabSz="457200">
              <a:lnSpc>
                <a:spcPct val="100000"/>
              </a:lnSpc>
            </a:pPr>
            <a:r>
              <a:rPr lang="en-US" sz="12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A Bayesian mixed-effects model to learn trajectories of changes from repeated manifold-valued observations, J.-B. </a:t>
            </a:r>
            <a:r>
              <a:rPr lang="en-US" sz="1200" dirty="0" err="1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Schiratti</a:t>
            </a:r>
            <a:r>
              <a:rPr lang="en-US" sz="1200" dirty="0">
                <a:solidFill>
                  <a:srgbClr val="000000"/>
                </a:solidFill>
                <a:latin typeface="Avenir Book" panose="02000503020000020003" pitchFamily="2" charset="0"/>
                <a:ea typeface="+mn-ea"/>
                <a:cs typeface="+mn-cs"/>
              </a:rPr>
              <a:t> et al. Journal of Machine Learning Research, 18(133):1−33, 2017</a:t>
            </a:r>
          </a:p>
        </p:txBody>
      </p:sp>
      <p:pic>
        <p:nvPicPr>
          <p:cNvPr id="18" name="Picture 5">
            <a:extLst>
              <a:ext uri="{FF2B5EF4-FFF2-40B4-BE49-F238E27FC236}">
                <a16:creationId xmlns:a16="http://schemas.microsoft.com/office/drawing/2014/main" id="{6E01E7A8-CF4A-B24E-AEAD-8E42FF38B8B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54685" y="-173119"/>
            <a:ext cx="1935148" cy="127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155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10213</TotalTime>
  <Words>2308</Words>
  <Application>Microsoft Macintosh PowerPoint</Application>
  <PresentationFormat>Affichage à l'écran (16:9)</PresentationFormat>
  <Paragraphs>410</Paragraphs>
  <Slides>38</Slides>
  <Notes>11</Notes>
  <HiddenSlides>8</HiddenSlides>
  <MMClips>1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9" baseType="lpstr">
      <vt:lpstr>Arial</vt:lpstr>
      <vt:lpstr>Avenir</vt:lpstr>
      <vt:lpstr>Avenir Book</vt:lpstr>
      <vt:lpstr>Calibri</vt:lpstr>
      <vt:lpstr>Cambria Math</vt:lpstr>
      <vt:lpstr>Helvetica</vt:lpstr>
      <vt:lpstr>Nexa Bold</vt:lpstr>
      <vt:lpstr>Nexa Light</vt:lpstr>
      <vt:lpstr>Symbol</vt:lpstr>
      <vt:lpstr>Tahoma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test</dc:creator>
  <cp:lastModifiedBy>Microsoft Office User</cp:lastModifiedBy>
  <cp:revision>307</cp:revision>
  <dcterms:created xsi:type="dcterms:W3CDTF">2020-02-04T11:33:51Z</dcterms:created>
  <dcterms:modified xsi:type="dcterms:W3CDTF">2020-09-03T13:20:33Z</dcterms:modified>
</cp:coreProperties>
</file>