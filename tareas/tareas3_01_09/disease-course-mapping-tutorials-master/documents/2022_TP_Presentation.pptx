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678" r:id="rId2"/>
    <p:sldMasterId id="2147483732" r:id="rId3"/>
  </p:sldMasterIdLst>
  <p:notesMasterIdLst>
    <p:notesMasterId r:id="rId24"/>
  </p:notesMasterIdLst>
  <p:sldIdLst>
    <p:sldId id="665" r:id="rId4"/>
    <p:sldId id="417" r:id="rId5"/>
    <p:sldId id="670" r:id="rId6"/>
    <p:sldId id="655" r:id="rId7"/>
    <p:sldId id="647" r:id="rId8"/>
    <p:sldId id="675" r:id="rId9"/>
    <p:sldId id="650" r:id="rId10"/>
    <p:sldId id="674" r:id="rId11"/>
    <p:sldId id="667" r:id="rId12"/>
    <p:sldId id="654" r:id="rId13"/>
    <p:sldId id="676" r:id="rId14"/>
    <p:sldId id="651" r:id="rId15"/>
    <p:sldId id="671" r:id="rId16"/>
    <p:sldId id="668" r:id="rId17"/>
    <p:sldId id="649" r:id="rId18"/>
    <p:sldId id="677" r:id="rId19"/>
    <p:sldId id="661" r:id="rId20"/>
    <p:sldId id="672" r:id="rId21"/>
    <p:sldId id="666" r:id="rId22"/>
    <p:sldId id="658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gor Koval" initials="IK" lastIdx="34" clrIdx="0">
    <p:extLst>
      <p:ext uri="{19B8F6BF-5375-455C-9EA6-DF929625EA0E}">
        <p15:presenceInfo xmlns:p15="http://schemas.microsoft.com/office/powerpoint/2012/main" userId="Igor Koval" providerId="None"/>
      </p:ext>
    </p:extLst>
  </p:cmAuthor>
  <p:cmAuthor id="2" name="ORTHOLAND Juliette" initials="OJ" lastIdx="19" clrIdx="1">
    <p:extLst>
      <p:ext uri="{19B8F6BF-5375-455C-9EA6-DF929625EA0E}">
        <p15:presenceInfo xmlns:p15="http://schemas.microsoft.com/office/powerpoint/2012/main" userId="S::juliette.ortholand@icm-institute.org::f883af66-c1ba-4c52-8319-111afe9caa0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FD9"/>
    <a:srgbClr val="4BC880"/>
    <a:srgbClr val="78D64B"/>
    <a:srgbClr val="00AFD7"/>
    <a:srgbClr val="702082"/>
    <a:srgbClr val="3DB1CF"/>
    <a:srgbClr val="FCAFE4"/>
    <a:srgbClr val="D55D00"/>
    <a:srgbClr val="009E73"/>
    <a:srgbClr val="575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/>
    <p:restoredTop sz="94989"/>
  </p:normalViewPr>
  <p:slideViewPr>
    <p:cSldViewPr snapToGrid="0" snapToObjects="1">
      <p:cViewPr varScale="1">
        <p:scale>
          <a:sx n="154" d="100"/>
          <a:sy n="154" d="100"/>
        </p:scale>
        <p:origin x="145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248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584A0-0DCB-224A-BEAA-1112184BE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961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584A0-0DCB-224A-BEAA-1112184BE4F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480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584A0-0DCB-224A-BEAA-1112184BE4F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19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80EEDF31-1E14-0342-AD38-41ECF5C99B08}" type="slidenum">
              <a:rPr lang="en-US" smtClean="0"/>
              <a:t>‹N°›</a:t>
            </a:fld>
            <a:r>
              <a:rPr lang="en-US"/>
              <a:t>/42</a:t>
            </a:r>
          </a:p>
        </p:txBody>
      </p:sp>
    </p:spTree>
    <p:extLst>
      <p:ext uri="{BB962C8B-B14F-4D97-AF65-F5344CB8AC3E}">
        <p14:creationId xmlns:p14="http://schemas.microsoft.com/office/powerpoint/2010/main" val="35930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3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rgbClr val="70208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3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3" y="1549400"/>
            <a:ext cx="8013700" cy="3517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35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>
              <a:lnSpc>
                <a:spcPct val="80000"/>
              </a:lnSpc>
              <a:buFontTx/>
              <a:buNone/>
              <a:defRPr sz="1125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55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Txt+im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3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3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0" y="1549400"/>
            <a:ext cx="5003800" cy="35179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35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>
              <a:lnSpc>
                <a:spcPct val="80000"/>
              </a:lnSpc>
              <a:buFontTx/>
              <a:buNone/>
              <a:defRPr sz="1125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1"/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sz="quarter" idx="14"/>
          </p:nvPr>
        </p:nvSpPr>
        <p:spPr>
          <a:xfrm>
            <a:off x="6388100" y="1549400"/>
            <a:ext cx="4800600" cy="35179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5"/>
          </p:nvPr>
        </p:nvSpPr>
        <p:spPr>
          <a:xfrm>
            <a:off x="6388100" y="5324485"/>
            <a:ext cx="4800600" cy="28294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9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4" name="Espace réservé du texte 10"/>
          <p:cNvSpPr>
            <a:spLocks noGrp="1"/>
          </p:cNvSpPr>
          <p:nvPr>
            <p:ph type="body" sz="quarter" idx="16"/>
          </p:nvPr>
        </p:nvSpPr>
        <p:spPr>
          <a:xfrm>
            <a:off x="6388100" y="5609115"/>
            <a:ext cx="4800600" cy="390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9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014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Texte +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3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3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3" y="1549400"/>
            <a:ext cx="5245100" cy="1536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35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>
              <a:lnSpc>
                <a:spcPct val="80000"/>
              </a:lnSpc>
              <a:buFontTx/>
              <a:buNone/>
              <a:defRPr sz="1125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Texte</a:t>
            </a:r>
          </a:p>
          <a:p>
            <a:pPr lvl="1"/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sz="quarter" idx="14"/>
          </p:nvPr>
        </p:nvSpPr>
        <p:spPr>
          <a:xfrm>
            <a:off x="1028700" y="3390900"/>
            <a:ext cx="10160000" cy="238125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5"/>
          </p:nvPr>
        </p:nvSpPr>
        <p:spPr>
          <a:xfrm>
            <a:off x="1028703" y="6083300"/>
            <a:ext cx="2120900" cy="2667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75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9" name="Espace réservé du texte 5"/>
          <p:cNvSpPr>
            <a:spLocks noGrp="1"/>
          </p:cNvSpPr>
          <p:nvPr>
            <p:ph type="body" sz="quarter" idx="16"/>
          </p:nvPr>
        </p:nvSpPr>
        <p:spPr>
          <a:xfrm>
            <a:off x="5213350" y="6083300"/>
            <a:ext cx="2120900" cy="2667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75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7"/>
          </p:nvPr>
        </p:nvSpPr>
        <p:spPr>
          <a:xfrm>
            <a:off x="9067803" y="6083300"/>
            <a:ext cx="2120900" cy="2667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975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126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Text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3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8700" y="1110017"/>
            <a:ext cx="6987144" cy="607896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buFont typeface="Arial" charset="0"/>
              <a:buChar char="•"/>
              <a:defRPr sz="975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  <a:lvl2pPr marL="557171" indent="-214298">
              <a:lnSpc>
                <a:spcPct val="80000"/>
              </a:lnSpc>
              <a:buFont typeface="Arial" charset="0"/>
              <a:buChar char="•"/>
              <a:defRPr sz="1125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</a:lstStyle>
          <a:p>
            <a:pPr lvl="0"/>
            <a:r>
              <a:rPr lang="fr-FR" dirty="0"/>
              <a:t>Texte</a:t>
            </a:r>
          </a:p>
          <a:p>
            <a:pPr lvl="0"/>
            <a:r>
              <a:rPr lang="fr-FR" dirty="0"/>
              <a:t>Texte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635003" y="1982686"/>
            <a:ext cx="10934700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4" name="Espace réservé du texte 23"/>
          <p:cNvSpPr>
            <a:spLocks noGrp="1"/>
          </p:cNvSpPr>
          <p:nvPr>
            <p:ph type="body" sz="quarter" idx="23"/>
          </p:nvPr>
        </p:nvSpPr>
        <p:spPr>
          <a:xfrm>
            <a:off x="1028700" y="1984458"/>
            <a:ext cx="10541000" cy="291707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5" name="Espace réservé pour une image  36"/>
          <p:cNvSpPr>
            <a:spLocks noGrp="1"/>
          </p:cNvSpPr>
          <p:nvPr>
            <p:ph type="pic" sz="quarter" idx="18"/>
          </p:nvPr>
        </p:nvSpPr>
        <p:spPr>
          <a:xfrm>
            <a:off x="1028706" y="2501286"/>
            <a:ext cx="3436423" cy="128695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6" name="Rectangle 45"/>
          <p:cNvSpPr/>
          <p:nvPr userDrawn="1"/>
        </p:nvSpPr>
        <p:spPr>
          <a:xfrm>
            <a:off x="635003" y="4310253"/>
            <a:ext cx="10934700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7" name="Espace réservé du texte 23"/>
          <p:cNvSpPr>
            <a:spLocks noGrp="1"/>
          </p:cNvSpPr>
          <p:nvPr>
            <p:ph type="body" sz="quarter" idx="24"/>
          </p:nvPr>
        </p:nvSpPr>
        <p:spPr>
          <a:xfrm>
            <a:off x="1028700" y="4312025"/>
            <a:ext cx="10541000" cy="291707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cxnSp>
        <p:nvCxnSpPr>
          <p:cNvPr id="3" name="Connecteur droit 2"/>
          <p:cNvCxnSpPr/>
          <p:nvPr userDrawn="1"/>
        </p:nvCxnSpPr>
        <p:spPr>
          <a:xfrm>
            <a:off x="6032659" y="2385834"/>
            <a:ext cx="0" cy="1426156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 userDrawn="1"/>
        </p:nvCxnSpPr>
        <p:spPr>
          <a:xfrm>
            <a:off x="7410196" y="2385834"/>
            <a:ext cx="0" cy="1426156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 userDrawn="1"/>
        </p:nvCxnSpPr>
        <p:spPr>
          <a:xfrm flipH="1">
            <a:off x="4750851" y="3038419"/>
            <a:ext cx="4048764" cy="0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/>
          <p:cNvSpPr>
            <a:spLocks noGrp="1"/>
          </p:cNvSpPr>
          <p:nvPr>
            <p:ph type="body" sz="quarter" idx="25"/>
          </p:nvPr>
        </p:nvSpPr>
        <p:spPr>
          <a:xfrm>
            <a:off x="6140264" y="250128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75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0" name="Espace réservé du texte 9"/>
          <p:cNvSpPr>
            <a:spLocks noGrp="1"/>
          </p:cNvSpPr>
          <p:nvPr>
            <p:ph type="body" sz="quarter" idx="26"/>
          </p:nvPr>
        </p:nvSpPr>
        <p:spPr>
          <a:xfrm>
            <a:off x="7505276" y="250128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75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1" name="Espace réservé du texte 9"/>
          <p:cNvSpPr>
            <a:spLocks noGrp="1"/>
          </p:cNvSpPr>
          <p:nvPr>
            <p:ph type="body" sz="quarter" idx="27"/>
          </p:nvPr>
        </p:nvSpPr>
        <p:spPr>
          <a:xfrm>
            <a:off x="7505276" y="322735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75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2" name="Espace réservé du texte 9"/>
          <p:cNvSpPr>
            <a:spLocks noGrp="1"/>
          </p:cNvSpPr>
          <p:nvPr>
            <p:ph type="body" sz="quarter" idx="28"/>
          </p:nvPr>
        </p:nvSpPr>
        <p:spPr>
          <a:xfrm>
            <a:off x="6140264" y="322735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75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3" name="Espace réservé du texte 9"/>
          <p:cNvSpPr>
            <a:spLocks noGrp="1"/>
          </p:cNvSpPr>
          <p:nvPr>
            <p:ph type="body" sz="quarter" idx="29"/>
          </p:nvPr>
        </p:nvSpPr>
        <p:spPr>
          <a:xfrm>
            <a:off x="4750852" y="322735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75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5" name="Espace réservé du texte 9"/>
          <p:cNvSpPr>
            <a:spLocks noGrp="1"/>
          </p:cNvSpPr>
          <p:nvPr>
            <p:ph type="body" sz="quarter" idx="30"/>
          </p:nvPr>
        </p:nvSpPr>
        <p:spPr>
          <a:xfrm>
            <a:off x="9167826" y="2515932"/>
            <a:ext cx="2125615" cy="1131232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975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6" name="Espace réservé du texte 9"/>
          <p:cNvSpPr>
            <a:spLocks noGrp="1"/>
          </p:cNvSpPr>
          <p:nvPr>
            <p:ph type="body" sz="quarter" idx="31"/>
          </p:nvPr>
        </p:nvSpPr>
        <p:spPr>
          <a:xfrm>
            <a:off x="1028700" y="3846607"/>
            <a:ext cx="1625600" cy="248126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6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8" name="Espace réservé pour une image  36"/>
          <p:cNvSpPr>
            <a:spLocks noGrp="1"/>
          </p:cNvSpPr>
          <p:nvPr>
            <p:ph type="pic" sz="quarter" idx="32"/>
          </p:nvPr>
        </p:nvSpPr>
        <p:spPr>
          <a:xfrm>
            <a:off x="1028706" y="4899226"/>
            <a:ext cx="3436423" cy="1286954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cxnSp>
        <p:nvCxnSpPr>
          <p:cNvPr id="59" name="Connecteur droit 58"/>
          <p:cNvCxnSpPr/>
          <p:nvPr userDrawn="1"/>
        </p:nvCxnSpPr>
        <p:spPr>
          <a:xfrm flipH="1">
            <a:off x="4750851" y="5436359"/>
            <a:ext cx="4048764" cy="0"/>
          </a:xfrm>
          <a:prstGeom prst="line">
            <a:avLst/>
          </a:prstGeom>
          <a:ln w="12700">
            <a:solidFill>
              <a:srgbClr val="702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space réservé du texte 9"/>
          <p:cNvSpPr>
            <a:spLocks noGrp="1"/>
          </p:cNvSpPr>
          <p:nvPr>
            <p:ph type="body" sz="quarter" idx="33"/>
          </p:nvPr>
        </p:nvSpPr>
        <p:spPr>
          <a:xfrm>
            <a:off x="6140264" y="489922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75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1" name="Espace réservé du texte 9"/>
          <p:cNvSpPr>
            <a:spLocks noGrp="1"/>
          </p:cNvSpPr>
          <p:nvPr>
            <p:ph type="body" sz="quarter" idx="34"/>
          </p:nvPr>
        </p:nvSpPr>
        <p:spPr>
          <a:xfrm>
            <a:off x="7505276" y="489922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750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2" name="Espace réservé du texte 9"/>
          <p:cNvSpPr>
            <a:spLocks noGrp="1"/>
          </p:cNvSpPr>
          <p:nvPr>
            <p:ph type="body" sz="quarter" idx="35"/>
          </p:nvPr>
        </p:nvSpPr>
        <p:spPr>
          <a:xfrm>
            <a:off x="7505276" y="562529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75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3" name="Espace réservé du texte 9"/>
          <p:cNvSpPr>
            <a:spLocks noGrp="1"/>
          </p:cNvSpPr>
          <p:nvPr>
            <p:ph type="body" sz="quarter" idx="36"/>
          </p:nvPr>
        </p:nvSpPr>
        <p:spPr>
          <a:xfrm>
            <a:off x="6140264" y="562529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75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4" name="Espace réservé du texte 9"/>
          <p:cNvSpPr>
            <a:spLocks noGrp="1"/>
          </p:cNvSpPr>
          <p:nvPr>
            <p:ph type="body" sz="quarter" idx="37"/>
          </p:nvPr>
        </p:nvSpPr>
        <p:spPr>
          <a:xfrm>
            <a:off x="4750852" y="5625296"/>
            <a:ext cx="1163637" cy="41980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75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5" name="Espace réservé du texte 9"/>
          <p:cNvSpPr>
            <a:spLocks noGrp="1"/>
          </p:cNvSpPr>
          <p:nvPr>
            <p:ph type="body" sz="quarter" idx="38"/>
          </p:nvPr>
        </p:nvSpPr>
        <p:spPr>
          <a:xfrm>
            <a:off x="9167826" y="4913872"/>
            <a:ext cx="2125615" cy="1131232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975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6" name="Espace réservé du texte 9"/>
          <p:cNvSpPr>
            <a:spLocks noGrp="1"/>
          </p:cNvSpPr>
          <p:nvPr>
            <p:ph type="body" sz="quarter" idx="39"/>
          </p:nvPr>
        </p:nvSpPr>
        <p:spPr>
          <a:xfrm>
            <a:off x="1028700" y="6244547"/>
            <a:ext cx="1625600" cy="248126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600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01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tableau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3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/>
          </a:p>
        </p:txBody>
      </p:sp>
      <p:grpSp>
        <p:nvGrpSpPr>
          <p:cNvPr id="9" name="Grouper 8"/>
          <p:cNvGrpSpPr/>
          <p:nvPr userDrawn="1"/>
        </p:nvGrpSpPr>
        <p:grpSpPr>
          <a:xfrm>
            <a:off x="635003" y="1496290"/>
            <a:ext cx="1805388" cy="1758538"/>
            <a:chOff x="635000" y="1626919"/>
            <a:chExt cx="2466287" cy="2790702"/>
          </a:xfrm>
        </p:grpSpPr>
        <p:sp>
          <p:nvSpPr>
            <p:cNvPr id="7" name="Rectangle 6"/>
            <p:cNvSpPr/>
            <p:nvPr userDrawn="1"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350"/>
                <a:t>v</a:t>
              </a:r>
            </a:p>
          </p:txBody>
        </p:sp>
      </p:grpSp>
      <p:sp>
        <p:nvSpPr>
          <p:cNvPr id="36" name="Rectangle 35"/>
          <p:cNvSpPr/>
          <p:nvPr userDrawn="1"/>
        </p:nvSpPr>
        <p:spPr>
          <a:xfrm>
            <a:off x="9549887" y="1273629"/>
            <a:ext cx="1805388" cy="4996542"/>
          </a:xfrm>
          <a:prstGeom prst="rect">
            <a:avLst/>
          </a:prstGeom>
          <a:solidFill>
            <a:srgbClr val="00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7" name="Rectangle 36"/>
          <p:cNvSpPr/>
          <p:nvPr userDrawn="1"/>
        </p:nvSpPr>
        <p:spPr>
          <a:xfrm>
            <a:off x="9599950" y="1736289"/>
            <a:ext cx="1703839" cy="4457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/>
              <a:t>v</a:t>
            </a:r>
          </a:p>
        </p:txBody>
      </p:sp>
      <p:grpSp>
        <p:nvGrpSpPr>
          <p:cNvPr id="38" name="Grouper 37"/>
          <p:cNvGrpSpPr/>
          <p:nvPr userDrawn="1"/>
        </p:nvGrpSpPr>
        <p:grpSpPr>
          <a:xfrm>
            <a:off x="3491562" y="1496290"/>
            <a:ext cx="1805388" cy="1758538"/>
            <a:chOff x="635000" y="1626919"/>
            <a:chExt cx="2466287" cy="2790702"/>
          </a:xfrm>
        </p:grpSpPr>
        <p:sp>
          <p:nvSpPr>
            <p:cNvPr id="39" name="Rectangle 38"/>
            <p:cNvSpPr/>
            <p:nvPr userDrawn="1"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40" name="Rectangle 39"/>
            <p:cNvSpPr/>
            <p:nvPr userDrawn="1"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350"/>
                <a:t>v</a:t>
              </a:r>
            </a:p>
          </p:txBody>
        </p:sp>
      </p:grpSp>
      <p:grpSp>
        <p:nvGrpSpPr>
          <p:cNvPr id="41" name="Grouper 40"/>
          <p:cNvGrpSpPr/>
          <p:nvPr userDrawn="1"/>
        </p:nvGrpSpPr>
        <p:grpSpPr>
          <a:xfrm>
            <a:off x="635003" y="4000004"/>
            <a:ext cx="1805388" cy="1758538"/>
            <a:chOff x="635000" y="1626919"/>
            <a:chExt cx="2466287" cy="2790702"/>
          </a:xfrm>
        </p:grpSpPr>
        <p:sp>
          <p:nvSpPr>
            <p:cNvPr id="42" name="Rectangle 41"/>
            <p:cNvSpPr/>
            <p:nvPr userDrawn="1"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43" name="Rectangle 42"/>
            <p:cNvSpPr/>
            <p:nvPr userDrawn="1"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350"/>
                <a:t>v</a:t>
              </a:r>
            </a:p>
          </p:txBody>
        </p:sp>
      </p:grpSp>
      <p:grpSp>
        <p:nvGrpSpPr>
          <p:cNvPr id="54" name="Grouper 53"/>
          <p:cNvGrpSpPr/>
          <p:nvPr userDrawn="1"/>
        </p:nvGrpSpPr>
        <p:grpSpPr>
          <a:xfrm>
            <a:off x="3491562" y="3949756"/>
            <a:ext cx="1805388" cy="1758538"/>
            <a:chOff x="635000" y="1626919"/>
            <a:chExt cx="2466287" cy="2790702"/>
          </a:xfrm>
        </p:grpSpPr>
        <p:sp>
          <p:nvSpPr>
            <p:cNvPr id="57" name="Rectangle 56"/>
            <p:cNvSpPr/>
            <p:nvPr userDrawn="1"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67" name="Rectangle 66"/>
            <p:cNvSpPr/>
            <p:nvPr userDrawn="1"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350"/>
                <a:t>v</a:t>
              </a:r>
            </a:p>
          </p:txBody>
        </p:sp>
      </p:grpSp>
      <p:grpSp>
        <p:nvGrpSpPr>
          <p:cNvPr id="68" name="Grouper 67"/>
          <p:cNvGrpSpPr/>
          <p:nvPr userDrawn="1"/>
        </p:nvGrpSpPr>
        <p:grpSpPr>
          <a:xfrm>
            <a:off x="6403791" y="1038030"/>
            <a:ext cx="1805388" cy="1758538"/>
            <a:chOff x="635000" y="1626919"/>
            <a:chExt cx="2466287" cy="2790702"/>
          </a:xfrm>
        </p:grpSpPr>
        <p:sp>
          <p:nvSpPr>
            <p:cNvPr id="69" name="Rectangle 68"/>
            <p:cNvSpPr/>
            <p:nvPr userDrawn="1"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70" name="Rectangle 69"/>
            <p:cNvSpPr/>
            <p:nvPr userDrawn="1"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350"/>
                <a:t>v</a:t>
              </a:r>
            </a:p>
          </p:txBody>
        </p:sp>
      </p:grpSp>
      <p:grpSp>
        <p:nvGrpSpPr>
          <p:cNvPr id="71" name="Grouper 70"/>
          <p:cNvGrpSpPr/>
          <p:nvPr userDrawn="1"/>
        </p:nvGrpSpPr>
        <p:grpSpPr>
          <a:xfrm>
            <a:off x="6402971" y="2943534"/>
            <a:ext cx="1805388" cy="1758538"/>
            <a:chOff x="635000" y="1626919"/>
            <a:chExt cx="2466287" cy="2790702"/>
          </a:xfrm>
        </p:grpSpPr>
        <p:sp>
          <p:nvSpPr>
            <p:cNvPr id="72" name="Rectangle 71"/>
            <p:cNvSpPr/>
            <p:nvPr userDrawn="1"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73" name="Rectangle 72"/>
            <p:cNvSpPr/>
            <p:nvPr userDrawn="1"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350"/>
                <a:t>v</a:t>
              </a:r>
            </a:p>
          </p:txBody>
        </p:sp>
      </p:grpSp>
      <p:grpSp>
        <p:nvGrpSpPr>
          <p:cNvPr id="74" name="Grouper 73"/>
          <p:cNvGrpSpPr/>
          <p:nvPr userDrawn="1"/>
        </p:nvGrpSpPr>
        <p:grpSpPr>
          <a:xfrm>
            <a:off x="6403791" y="4859924"/>
            <a:ext cx="1805388" cy="1758538"/>
            <a:chOff x="635000" y="1626919"/>
            <a:chExt cx="2466287" cy="2790702"/>
          </a:xfrm>
        </p:grpSpPr>
        <p:sp>
          <p:nvSpPr>
            <p:cNvPr id="75" name="Rectangle 74"/>
            <p:cNvSpPr/>
            <p:nvPr userDrawn="1"/>
          </p:nvSpPr>
          <p:spPr>
            <a:xfrm>
              <a:off x="635000" y="1626919"/>
              <a:ext cx="2466287" cy="2790702"/>
            </a:xfrm>
            <a:prstGeom prst="rect">
              <a:avLst/>
            </a:prstGeom>
            <a:solidFill>
              <a:srgbClr val="702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76" name="Rectangle 75"/>
            <p:cNvSpPr/>
            <p:nvPr userDrawn="1"/>
          </p:nvSpPr>
          <p:spPr>
            <a:xfrm>
              <a:off x="703386" y="2359022"/>
              <a:ext cx="2327562" cy="1989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350"/>
                <a:t>v</a:t>
              </a:r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685061" y="1562709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675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7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685061" y="4052618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675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8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3544315" y="1562709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675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9" name="Espace réservé du texte 12"/>
          <p:cNvSpPr>
            <a:spLocks noGrp="1"/>
          </p:cNvSpPr>
          <p:nvPr>
            <p:ph type="body" sz="quarter" idx="16"/>
          </p:nvPr>
        </p:nvSpPr>
        <p:spPr>
          <a:xfrm>
            <a:off x="3544315" y="4009629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675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80" name="Espace réservé du texte 12"/>
          <p:cNvSpPr>
            <a:spLocks noGrp="1"/>
          </p:cNvSpPr>
          <p:nvPr>
            <p:ph type="body" sz="quarter" idx="17"/>
          </p:nvPr>
        </p:nvSpPr>
        <p:spPr>
          <a:xfrm>
            <a:off x="6453028" y="1098250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675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81" name="Espace réservé du texte 12"/>
          <p:cNvSpPr>
            <a:spLocks noGrp="1"/>
          </p:cNvSpPr>
          <p:nvPr>
            <p:ph type="body" sz="quarter" idx="18"/>
          </p:nvPr>
        </p:nvSpPr>
        <p:spPr>
          <a:xfrm>
            <a:off x="9602639" y="1338983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675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82" name="Espace réservé du texte 12"/>
          <p:cNvSpPr>
            <a:spLocks noGrp="1"/>
          </p:cNvSpPr>
          <p:nvPr>
            <p:ph type="body" sz="quarter" idx="19"/>
          </p:nvPr>
        </p:nvSpPr>
        <p:spPr>
          <a:xfrm>
            <a:off x="6453028" y="3009913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675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83" name="Espace réservé du texte 12"/>
          <p:cNvSpPr>
            <a:spLocks noGrp="1"/>
          </p:cNvSpPr>
          <p:nvPr>
            <p:ph type="body" sz="quarter" idx="20"/>
          </p:nvPr>
        </p:nvSpPr>
        <p:spPr>
          <a:xfrm>
            <a:off x="6453028" y="4916678"/>
            <a:ext cx="1701144" cy="33195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675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21"/>
          </p:nvPr>
        </p:nvSpPr>
        <p:spPr>
          <a:xfrm>
            <a:off x="9669279" y="1819176"/>
            <a:ext cx="1573212" cy="43106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675"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8" name="Espace réservé pour une image  17"/>
          <p:cNvSpPr>
            <a:spLocks noGrp="1"/>
          </p:cNvSpPr>
          <p:nvPr>
            <p:ph type="pic" sz="quarter" idx="22"/>
          </p:nvPr>
        </p:nvSpPr>
        <p:spPr>
          <a:xfrm>
            <a:off x="736095" y="2029969"/>
            <a:ext cx="1604772" cy="1115568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84" name="Espace réservé pour une image  17"/>
          <p:cNvSpPr>
            <a:spLocks noGrp="1"/>
          </p:cNvSpPr>
          <p:nvPr>
            <p:ph type="pic" sz="quarter" idx="23"/>
          </p:nvPr>
        </p:nvSpPr>
        <p:spPr>
          <a:xfrm>
            <a:off x="736095" y="4548978"/>
            <a:ext cx="1604772" cy="1115568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85" name="Espace réservé pour une image  17"/>
          <p:cNvSpPr>
            <a:spLocks noGrp="1"/>
          </p:cNvSpPr>
          <p:nvPr>
            <p:ph type="pic" sz="quarter" idx="24"/>
          </p:nvPr>
        </p:nvSpPr>
        <p:spPr>
          <a:xfrm>
            <a:off x="3596523" y="2029969"/>
            <a:ext cx="1604772" cy="1115568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86" name="Espace réservé pour une image  17"/>
          <p:cNvSpPr>
            <a:spLocks noGrp="1"/>
          </p:cNvSpPr>
          <p:nvPr>
            <p:ph type="pic" sz="quarter" idx="25"/>
          </p:nvPr>
        </p:nvSpPr>
        <p:spPr>
          <a:xfrm>
            <a:off x="3596523" y="4495201"/>
            <a:ext cx="1604772" cy="1115568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87" name="Espace réservé pour une image  17"/>
          <p:cNvSpPr>
            <a:spLocks noGrp="1"/>
          </p:cNvSpPr>
          <p:nvPr>
            <p:ph type="pic" sz="quarter" idx="26"/>
          </p:nvPr>
        </p:nvSpPr>
        <p:spPr>
          <a:xfrm>
            <a:off x="6503831" y="1564301"/>
            <a:ext cx="1604772" cy="1115568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88" name="Espace réservé pour une image  17"/>
          <p:cNvSpPr>
            <a:spLocks noGrp="1"/>
          </p:cNvSpPr>
          <p:nvPr>
            <p:ph type="pic" sz="quarter" idx="27"/>
          </p:nvPr>
        </p:nvSpPr>
        <p:spPr>
          <a:xfrm>
            <a:off x="6503831" y="3477246"/>
            <a:ext cx="1604772" cy="1115568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89" name="Espace réservé pour une image  17"/>
          <p:cNvSpPr>
            <a:spLocks noGrp="1"/>
          </p:cNvSpPr>
          <p:nvPr>
            <p:ph type="pic" sz="quarter" idx="28"/>
          </p:nvPr>
        </p:nvSpPr>
        <p:spPr>
          <a:xfrm>
            <a:off x="6503831" y="5384208"/>
            <a:ext cx="1604772" cy="1115568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cxnSp>
        <p:nvCxnSpPr>
          <p:cNvPr id="20" name="Connecteur droit avec flèche 19"/>
          <p:cNvCxnSpPr/>
          <p:nvPr userDrawn="1"/>
        </p:nvCxnSpPr>
        <p:spPr>
          <a:xfrm>
            <a:off x="2440389" y="1738103"/>
            <a:ext cx="879008" cy="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89"/>
          <p:cNvCxnSpPr/>
          <p:nvPr userDrawn="1"/>
        </p:nvCxnSpPr>
        <p:spPr>
          <a:xfrm>
            <a:off x="5296949" y="1738103"/>
            <a:ext cx="936771" cy="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/>
          <p:cNvCxnSpPr/>
          <p:nvPr userDrawn="1"/>
        </p:nvCxnSpPr>
        <p:spPr>
          <a:xfrm>
            <a:off x="2440389" y="4862856"/>
            <a:ext cx="879008" cy="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 userDrawn="1"/>
        </p:nvCxnSpPr>
        <p:spPr>
          <a:xfrm>
            <a:off x="5296949" y="1736289"/>
            <a:ext cx="863707" cy="1409248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/>
          <p:cNvCxnSpPr/>
          <p:nvPr userDrawn="1"/>
        </p:nvCxnSpPr>
        <p:spPr>
          <a:xfrm>
            <a:off x="5296949" y="4862856"/>
            <a:ext cx="936771" cy="226380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/>
          <p:cNvCxnSpPr/>
          <p:nvPr userDrawn="1"/>
        </p:nvCxnSpPr>
        <p:spPr>
          <a:xfrm flipV="1">
            <a:off x="8232484" y="3145547"/>
            <a:ext cx="1127085" cy="1667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/>
          <p:cNvCxnSpPr/>
          <p:nvPr userDrawn="1"/>
        </p:nvCxnSpPr>
        <p:spPr>
          <a:xfrm>
            <a:off x="8209545" y="1658466"/>
            <a:ext cx="1150031" cy="1274995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/>
          <p:cNvCxnSpPr/>
          <p:nvPr userDrawn="1"/>
        </p:nvCxnSpPr>
        <p:spPr>
          <a:xfrm flipV="1">
            <a:off x="8213345" y="3404874"/>
            <a:ext cx="1169171" cy="1648121"/>
          </a:xfrm>
          <a:prstGeom prst="straightConnector1">
            <a:avLst/>
          </a:prstGeom>
          <a:ln w="1905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42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tableau_3_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eur droit 32"/>
          <p:cNvCxnSpPr/>
          <p:nvPr userDrawn="1"/>
        </p:nvCxnSpPr>
        <p:spPr>
          <a:xfrm>
            <a:off x="7665849" y="1276925"/>
            <a:ext cx="0" cy="4806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 userDrawn="1"/>
        </p:nvSpPr>
        <p:spPr>
          <a:xfrm>
            <a:off x="1003301" y="3009070"/>
            <a:ext cx="3349331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cxnSp>
        <p:nvCxnSpPr>
          <p:cNvPr id="32" name="Connecteur droit 31"/>
          <p:cNvCxnSpPr/>
          <p:nvPr userDrawn="1"/>
        </p:nvCxnSpPr>
        <p:spPr>
          <a:xfrm>
            <a:off x="4352633" y="1276925"/>
            <a:ext cx="0" cy="4806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5003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2946403" y="317500"/>
            <a:ext cx="20193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5981700" y="317500"/>
            <a:ext cx="2514600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50" b="0" i="0">
                <a:solidFill>
                  <a:schemeClr val="tx1"/>
                </a:solidFill>
                <a:latin typeface="DIN-Regular" charset="0"/>
                <a:ea typeface="DIN-Regular" charset="0"/>
                <a:cs typeface="DIN-Regular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24" name="Espace réservé du texte 23"/>
          <p:cNvSpPr>
            <a:spLocks noGrp="1"/>
          </p:cNvSpPr>
          <p:nvPr>
            <p:ph type="body" sz="quarter" idx="15"/>
          </p:nvPr>
        </p:nvSpPr>
        <p:spPr>
          <a:xfrm>
            <a:off x="1003301" y="3009079"/>
            <a:ext cx="3349331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1003301" y="3637644"/>
            <a:ext cx="3349331" cy="295232"/>
          </a:xfrm>
          <a:prstGeom prst="rect">
            <a:avLst/>
          </a:prstGeom>
          <a:solidFill>
            <a:srgbClr val="00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9" name="Rectangle 28"/>
          <p:cNvSpPr/>
          <p:nvPr userDrawn="1"/>
        </p:nvSpPr>
        <p:spPr>
          <a:xfrm>
            <a:off x="4352635" y="3637644"/>
            <a:ext cx="6836068" cy="295232"/>
          </a:xfrm>
          <a:prstGeom prst="rect">
            <a:avLst/>
          </a:prstGeom>
          <a:solidFill>
            <a:srgbClr val="702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4" name="Rectangle 33"/>
          <p:cNvSpPr/>
          <p:nvPr userDrawn="1"/>
        </p:nvSpPr>
        <p:spPr>
          <a:xfrm>
            <a:off x="1003306" y="4269743"/>
            <a:ext cx="10185401" cy="295232"/>
          </a:xfrm>
          <a:prstGeom prst="rect">
            <a:avLst/>
          </a:prstGeom>
          <a:solidFill>
            <a:srgbClr val="00A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7" name="Espace réservé pour une image  36"/>
          <p:cNvSpPr>
            <a:spLocks noGrp="1"/>
          </p:cNvSpPr>
          <p:nvPr>
            <p:ph type="pic" sz="quarter" idx="18"/>
          </p:nvPr>
        </p:nvSpPr>
        <p:spPr>
          <a:xfrm>
            <a:off x="1766349" y="4965459"/>
            <a:ext cx="1595499" cy="159681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8" name="Espace réservé pour une image  36"/>
          <p:cNvSpPr>
            <a:spLocks noGrp="1"/>
          </p:cNvSpPr>
          <p:nvPr>
            <p:ph type="pic" sz="quarter" idx="19"/>
          </p:nvPr>
        </p:nvSpPr>
        <p:spPr>
          <a:xfrm>
            <a:off x="5183953" y="4965459"/>
            <a:ext cx="1595499" cy="159681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9" name="Espace réservé pour une image  36"/>
          <p:cNvSpPr>
            <a:spLocks noGrp="1"/>
          </p:cNvSpPr>
          <p:nvPr>
            <p:ph type="pic" sz="quarter" idx="20"/>
          </p:nvPr>
        </p:nvSpPr>
        <p:spPr>
          <a:xfrm>
            <a:off x="8771309" y="4965458"/>
            <a:ext cx="1595499" cy="159681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0" name="Espace réservé du texte 23"/>
          <p:cNvSpPr>
            <a:spLocks noGrp="1"/>
          </p:cNvSpPr>
          <p:nvPr>
            <p:ph type="body" sz="quarter" idx="21"/>
          </p:nvPr>
        </p:nvSpPr>
        <p:spPr>
          <a:xfrm>
            <a:off x="1003301" y="3642161"/>
            <a:ext cx="3349331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1" name="Espace réservé du texte 23"/>
          <p:cNvSpPr>
            <a:spLocks noGrp="1"/>
          </p:cNvSpPr>
          <p:nvPr>
            <p:ph type="body" sz="quarter" idx="22"/>
          </p:nvPr>
        </p:nvSpPr>
        <p:spPr>
          <a:xfrm>
            <a:off x="4352635" y="3642161"/>
            <a:ext cx="6836071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2" name="Espace réservé du texte 23"/>
          <p:cNvSpPr>
            <a:spLocks noGrp="1"/>
          </p:cNvSpPr>
          <p:nvPr>
            <p:ph type="body" sz="quarter" idx="23"/>
          </p:nvPr>
        </p:nvSpPr>
        <p:spPr>
          <a:xfrm>
            <a:off x="1003306" y="4269753"/>
            <a:ext cx="10185401" cy="29170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cxnSp>
        <p:nvCxnSpPr>
          <p:cNvPr id="22" name="Connecteur droit avec flèche 21"/>
          <p:cNvCxnSpPr/>
          <p:nvPr userDrawn="1"/>
        </p:nvCxnSpPr>
        <p:spPr>
          <a:xfrm>
            <a:off x="2564099" y="2719146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 userDrawn="1"/>
        </p:nvCxnSpPr>
        <p:spPr>
          <a:xfrm>
            <a:off x="2564099" y="3385265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 userDrawn="1"/>
        </p:nvCxnSpPr>
        <p:spPr>
          <a:xfrm>
            <a:off x="2564099" y="4002939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 userDrawn="1"/>
        </p:nvCxnSpPr>
        <p:spPr>
          <a:xfrm>
            <a:off x="2564099" y="4641877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 userDrawn="1"/>
        </p:nvCxnSpPr>
        <p:spPr>
          <a:xfrm>
            <a:off x="5981700" y="2719156"/>
            <a:ext cx="0" cy="835677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 userDrawn="1"/>
        </p:nvCxnSpPr>
        <p:spPr>
          <a:xfrm>
            <a:off x="5981700" y="4005729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/>
          <p:nvPr userDrawn="1"/>
        </p:nvCxnSpPr>
        <p:spPr>
          <a:xfrm>
            <a:off x="5981700" y="4646981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 userDrawn="1"/>
        </p:nvCxnSpPr>
        <p:spPr>
          <a:xfrm>
            <a:off x="9555597" y="2719156"/>
            <a:ext cx="0" cy="835677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/>
          <p:cNvCxnSpPr/>
          <p:nvPr userDrawn="1"/>
        </p:nvCxnSpPr>
        <p:spPr>
          <a:xfrm>
            <a:off x="9558108" y="4005729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 userDrawn="1"/>
        </p:nvCxnSpPr>
        <p:spPr>
          <a:xfrm>
            <a:off x="9569059" y="4646981"/>
            <a:ext cx="0" cy="169558"/>
          </a:xfrm>
          <a:prstGeom prst="straightConnector1">
            <a:avLst/>
          </a:prstGeom>
          <a:ln w="12700">
            <a:solidFill>
              <a:srgbClr val="575756"/>
            </a:solidFill>
            <a:headEnd w="sm" len="med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/>
          <p:cNvSpPr>
            <a:spLocks noGrp="1"/>
          </p:cNvSpPr>
          <p:nvPr>
            <p:ph type="body" sz="quarter" idx="24"/>
          </p:nvPr>
        </p:nvSpPr>
        <p:spPr>
          <a:xfrm>
            <a:off x="1003299" y="1676400"/>
            <a:ext cx="1210536" cy="5842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25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8" name="Espace réservé du texte 9"/>
          <p:cNvSpPr>
            <a:spLocks noGrp="1"/>
          </p:cNvSpPr>
          <p:nvPr>
            <p:ph type="body" sz="quarter" idx="25"/>
          </p:nvPr>
        </p:nvSpPr>
        <p:spPr>
          <a:xfrm>
            <a:off x="4552105" y="1676400"/>
            <a:ext cx="1210536" cy="5842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25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9" name="Espace réservé du texte 9"/>
          <p:cNvSpPr>
            <a:spLocks noGrp="1"/>
          </p:cNvSpPr>
          <p:nvPr>
            <p:ph type="body" sz="quarter" idx="26"/>
          </p:nvPr>
        </p:nvSpPr>
        <p:spPr>
          <a:xfrm>
            <a:off x="7891032" y="1676400"/>
            <a:ext cx="1210536" cy="5842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25">
                <a:latin typeface="Nexa Bold" charset="0"/>
                <a:ea typeface="Nexa Bold" charset="0"/>
                <a:cs typeface="Nexa Bold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0" name="Espace réservé pour une image  5"/>
          <p:cNvSpPr>
            <a:spLocks noGrp="1"/>
          </p:cNvSpPr>
          <p:nvPr>
            <p:ph type="pic" sz="quarter" idx="27"/>
          </p:nvPr>
        </p:nvSpPr>
        <p:spPr>
          <a:xfrm>
            <a:off x="1823202" y="1298961"/>
            <a:ext cx="1465737" cy="1099303"/>
          </a:xfrm>
          <a:prstGeom prst="ellipse">
            <a:avLst/>
          </a:prstGeom>
          <a:ln w="2540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1" name="Espace réservé pour une image  5"/>
          <p:cNvSpPr>
            <a:spLocks noGrp="1"/>
          </p:cNvSpPr>
          <p:nvPr>
            <p:ph type="pic" sz="quarter" idx="28"/>
          </p:nvPr>
        </p:nvSpPr>
        <p:spPr>
          <a:xfrm>
            <a:off x="5243925" y="1298961"/>
            <a:ext cx="1465737" cy="1099303"/>
          </a:xfrm>
          <a:prstGeom prst="ellipse">
            <a:avLst/>
          </a:prstGeom>
          <a:ln w="2540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2" name="Espace réservé pour une image  5"/>
          <p:cNvSpPr>
            <a:spLocks noGrp="1"/>
          </p:cNvSpPr>
          <p:nvPr>
            <p:ph type="pic" sz="quarter" idx="29"/>
          </p:nvPr>
        </p:nvSpPr>
        <p:spPr>
          <a:xfrm>
            <a:off x="8794101" y="1298961"/>
            <a:ext cx="1465737" cy="1099303"/>
          </a:xfrm>
          <a:prstGeom prst="ellipse">
            <a:avLst/>
          </a:prstGeom>
          <a:ln w="25400"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7146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80EEDF31-1E14-0342-AD38-41ECF5C99B08}" type="slidenum">
              <a:rPr lang="en-US" smtClean="0"/>
              <a:t>‹N°›</a:t>
            </a:fld>
            <a:r>
              <a:rPr lang="en-US"/>
              <a:t>/42</a:t>
            </a:r>
          </a:p>
        </p:txBody>
      </p:sp>
    </p:spTree>
    <p:extLst>
      <p:ext uri="{BB962C8B-B14F-4D97-AF65-F5344CB8AC3E}">
        <p14:creationId xmlns:p14="http://schemas.microsoft.com/office/powerpoint/2010/main" val="218214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EBA6A3-39E3-4346-ACFB-8CC8002E6D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8E8413-5E99-E742-B9A5-0271F426892F}" type="slidenum">
              <a:rPr lang="fr-FR" smtClean="0"/>
              <a:t>‹N°›</a:t>
            </a:fld>
            <a:r>
              <a:rPr lang="fr-FR"/>
              <a:t>/42</a:t>
            </a:r>
          </a:p>
        </p:txBody>
      </p:sp>
    </p:spTree>
    <p:extLst>
      <p:ext uri="{BB962C8B-B14F-4D97-AF65-F5344CB8AC3E}">
        <p14:creationId xmlns:p14="http://schemas.microsoft.com/office/powerpoint/2010/main" val="174393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7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068" y="595116"/>
            <a:ext cx="5247933" cy="5667768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23906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et modifiez le titre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28568" cy="1345488"/>
          </a:xfrm>
          <a:prstGeom prst="rect">
            <a:avLst/>
          </a:prstGeom>
        </p:spPr>
      </p:pic>
      <p:pic>
        <p:nvPicPr>
          <p:cNvPr id="6" name="Picture 6" descr="French Institute for Research in Computer Science and Automation - Wikipedia">
            <a:extLst>
              <a:ext uri="{FF2B5EF4-FFF2-40B4-BE49-F238E27FC236}">
                <a16:creationId xmlns:a16="http://schemas.microsoft.com/office/drawing/2014/main" id="{5D51ECEE-5144-0C43-8406-B88396D3E5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062" y="259342"/>
            <a:ext cx="1665513" cy="727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Our Partners - Scipio">
            <a:extLst>
              <a:ext uri="{FF2B5EF4-FFF2-40B4-BE49-F238E27FC236}">
                <a16:creationId xmlns:a16="http://schemas.microsoft.com/office/drawing/2014/main" id="{4E667D66-C885-884C-B44B-14A8CB0C1D0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00" b="34057"/>
          <a:stretch/>
        </p:blipFill>
        <p:spPr bwMode="auto">
          <a:xfrm>
            <a:off x="2626997" y="259342"/>
            <a:ext cx="2306866" cy="72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Analysis of longitudinal data made easy with Leaspy | by Igor Koval | Medium">
            <a:extLst>
              <a:ext uri="{FF2B5EF4-FFF2-40B4-BE49-F238E27FC236}">
                <a16:creationId xmlns:a16="http://schemas.microsoft.com/office/drawing/2014/main" id="{0D49DEDD-EDF3-AF4D-9B03-260267AB0F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 r="33188"/>
          <a:stretch/>
        </p:blipFill>
        <p:spPr bwMode="auto">
          <a:xfrm>
            <a:off x="7681025" y="6369431"/>
            <a:ext cx="689891" cy="43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B3B1CE1-C847-CA43-ABA1-34C1C9B4C8DE}"/>
              </a:ext>
            </a:extLst>
          </p:cNvPr>
          <p:cNvSpPr txBox="1"/>
          <p:nvPr userDrawn="1"/>
        </p:nvSpPr>
        <p:spPr>
          <a:xfrm>
            <a:off x="3261498" y="6462678"/>
            <a:ext cx="5184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>
                <a:latin typeface="+mj-lt"/>
              </a:rPr>
              <a:t>AI4Health Practical session -  January 2022</a:t>
            </a:r>
          </a:p>
        </p:txBody>
      </p:sp>
      <p:pic>
        <p:nvPicPr>
          <p:cNvPr id="11" name="Picture 2" descr="AI4Health – School">
            <a:extLst>
              <a:ext uri="{FF2B5EF4-FFF2-40B4-BE49-F238E27FC236}">
                <a16:creationId xmlns:a16="http://schemas.microsoft.com/office/drawing/2014/main" id="{6AD3930C-4022-A645-8517-E166DED2275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7" r="69348" b="6883"/>
          <a:stretch/>
        </p:blipFill>
        <p:spPr bwMode="auto">
          <a:xfrm>
            <a:off x="3564836" y="6369432"/>
            <a:ext cx="382917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75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003" y="609600"/>
            <a:ext cx="11493500" cy="4318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1124" y="-21516"/>
            <a:ext cx="1871715" cy="1036977"/>
          </a:xfrm>
          <a:prstGeom prst="rect">
            <a:avLst/>
          </a:prstGeom>
        </p:spPr>
      </p:pic>
      <p:pic>
        <p:nvPicPr>
          <p:cNvPr id="4" name="Picture 2" descr="Analysis of longitudinal data made easy with Leaspy | by Igor Koval | Medium">
            <a:extLst>
              <a:ext uri="{FF2B5EF4-FFF2-40B4-BE49-F238E27FC236}">
                <a16:creationId xmlns:a16="http://schemas.microsoft.com/office/drawing/2014/main" id="{340ADE21-052E-C34E-939F-2E54526DDDB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 r="33188"/>
          <a:stretch/>
        </p:blipFill>
        <p:spPr bwMode="auto">
          <a:xfrm>
            <a:off x="7681025" y="6369431"/>
            <a:ext cx="689891" cy="43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31A6D94-E522-CD4F-BB05-99957CCD9C36}"/>
              </a:ext>
            </a:extLst>
          </p:cNvPr>
          <p:cNvSpPr txBox="1"/>
          <p:nvPr userDrawn="1"/>
        </p:nvSpPr>
        <p:spPr>
          <a:xfrm>
            <a:off x="3261498" y="6462678"/>
            <a:ext cx="5184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>
                <a:latin typeface="+mj-lt"/>
              </a:rPr>
              <a:t>AI4Health Practical session -  January 2022</a:t>
            </a:r>
          </a:p>
        </p:txBody>
      </p:sp>
      <p:pic>
        <p:nvPicPr>
          <p:cNvPr id="4098" name="Picture 2" descr="AI4Health – School">
            <a:extLst>
              <a:ext uri="{FF2B5EF4-FFF2-40B4-BE49-F238E27FC236}">
                <a16:creationId xmlns:a16="http://schemas.microsoft.com/office/drawing/2014/main" id="{D4117C6B-4FF9-ED49-B9A5-20E2A02DE53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7" r="69348" b="6883"/>
          <a:stretch/>
        </p:blipFill>
        <p:spPr bwMode="auto">
          <a:xfrm>
            <a:off x="3564836" y="6369432"/>
            <a:ext cx="382917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78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3" r:id="rId4"/>
    <p:sldLayoutId id="2147483684" r:id="rId5"/>
    <p:sldLayoutId id="2147483682" r:id="rId6"/>
    <p:sldLayoutId id="2147483734" r:id="rId7"/>
  </p:sldLayoutIdLst>
  <p:hf sldNum="0" hdr="0" ftr="0" dt="0"/>
  <p:txStyles>
    <p:titleStyle>
      <a:lvl1pPr algn="l" defTabSz="68574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8" indent="-171438" algn="l" defTabSz="6857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86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0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068" y="595116"/>
            <a:ext cx="5247933" cy="5667768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23906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et modifiez le titre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761" y="5714423"/>
            <a:ext cx="2428568" cy="134548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B87332-92D6-3741-B990-CD7440812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E8413-5E99-E742-B9A5-0271F426892F}" type="slidenum">
              <a:rPr lang="fr-FR" smtClean="0"/>
              <a:t>‹N°›</a:t>
            </a:fld>
            <a:r>
              <a:rPr lang="fr-FR"/>
              <a:t>/42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92F7B5F7-F568-D94E-BA7E-1B3F853AB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657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olab.research.google.com/drive/1uZDC4LYE8tmBG83UGcZZPfWr-UUBRxgH?usp=sharing#scrollTo=U_vNmA7gBFd4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olab.research.google.com/drive/1dCMa9In1ef9_Y3HKt8SeSzKf0-3CcxNt?usp=sharing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olab.research.google.com/drive/1UmzmerIjMCn2yfJZ-5tE8__QEYKIeeeq?usp=sharing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gitlab.com/icm-institute/aramislab/leaspy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docs.google.com/forms/d/e/1FAIpQLSfLF8v0q_tRxNcFfBylS_x-1PM1FoQM21OLwg4ILgGc8jLkUQ/viewform?usp=sf_link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emf"/><Relationship Id="rId5" Type="http://schemas.openxmlformats.org/officeDocument/2006/relationships/hyperlink" Target="http://www.aramislab.fr/" TargetMode="Externa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5778E-CDC2-0A45-8190-F7017A77069E}"/>
              </a:ext>
            </a:extLst>
          </p:cNvPr>
          <p:cNvSpPr txBox="1">
            <a:spLocks/>
          </p:cNvSpPr>
          <p:nvPr/>
        </p:nvSpPr>
        <p:spPr>
          <a:xfrm>
            <a:off x="1352550" y="2235204"/>
            <a:ext cx="9144000" cy="17668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400" b="1" dirty="0" err="1"/>
              <a:t>Modeling</a:t>
            </a:r>
            <a:r>
              <a:rPr lang="fr-FR" sz="5400" b="1" dirty="0"/>
              <a:t> and </a:t>
            </a:r>
            <a:r>
              <a:rPr lang="fr-FR" sz="5400" b="1" dirty="0" err="1"/>
              <a:t>predicting</a:t>
            </a:r>
            <a:r>
              <a:rPr lang="fr-FR" sz="5400" b="1" dirty="0"/>
              <a:t> </a:t>
            </a:r>
            <a:r>
              <a:rPr lang="fr-FR" sz="5400" b="1" dirty="0" err="1"/>
              <a:t>disease</a:t>
            </a:r>
            <a:r>
              <a:rPr lang="fr-FR" sz="5400" b="1" dirty="0"/>
              <a:t> progression</a:t>
            </a:r>
            <a:endParaRPr lang="fr-FR" sz="54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1EA293-716D-B04B-99EC-99B7B7312094}"/>
              </a:ext>
            </a:extLst>
          </p:cNvPr>
          <p:cNvSpPr txBox="1">
            <a:spLocks/>
          </p:cNvSpPr>
          <p:nvPr/>
        </p:nvSpPr>
        <p:spPr>
          <a:xfrm>
            <a:off x="1524000" y="4002092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AI4Health Winter </a:t>
            </a:r>
            <a:r>
              <a:rPr lang="fr-FR" dirty="0" err="1"/>
              <a:t>School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1494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EC783EF-9B69-0740-B9AB-587BD24FCC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5DE71F-7B23-5845-A607-83C4C97C52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F6ADC9E-72A9-C94F-BA40-3E197AF489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6614" y="988773"/>
            <a:ext cx="11304193" cy="1012716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fr-FR" sz="2800" dirty="0">
                <a:latin typeface="+mj-lt"/>
              </a:rPr>
              <a:t>The </a:t>
            </a:r>
            <a:r>
              <a:rPr lang="fr-FR" sz="2800" dirty="0" err="1">
                <a:latin typeface="+mj-lt"/>
              </a:rPr>
              <a:t>aim</a:t>
            </a:r>
            <a:r>
              <a:rPr lang="fr-FR" sz="2800" dirty="0">
                <a:latin typeface="+mj-lt"/>
              </a:rPr>
              <a:t> of the session </a:t>
            </a:r>
            <a:r>
              <a:rPr lang="fr-FR" sz="2800" dirty="0" err="1">
                <a:latin typeface="+mj-lt"/>
              </a:rPr>
              <a:t>is</a:t>
            </a:r>
            <a:r>
              <a:rPr lang="fr-FR" sz="2800" dirty="0">
                <a:latin typeface="+mj-lt"/>
              </a:rPr>
              <a:t> to </a:t>
            </a:r>
            <a:r>
              <a:rPr lang="fr-FR" sz="2800" dirty="0" err="1">
                <a:latin typeface="+mj-lt"/>
              </a:rPr>
              <a:t>apply</a:t>
            </a:r>
            <a:r>
              <a:rPr lang="fr-FR" sz="2800" dirty="0">
                <a:latin typeface="+mj-lt"/>
              </a:rPr>
              <a:t> the </a:t>
            </a:r>
            <a:r>
              <a:rPr lang="fr-FR" sz="2800" dirty="0" err="1">
                <a:latin typeface="+mj-lt"/>
              </a:rPr>
              <a:t>theory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present</a:t>
            </a:r>
            <a:r>
              <a:rPr lang="fr-FR" sz="2800" dirty="0">
                <a:latin typeface="+mj-lt"/>
              </a:rPr>
              <a:t> in the course </a:t>
            </a:r>
            <a:r>
              <a:rPr lang="fr-FR" sz="2800" i="1" dirty="0">
                <a:latin typeface="+mj-lt"/>
              </a:rPr>
              <a:t>«</a:t>
            </a:r>
            <a:r>
              <a:rPr lang="fr-FR" sz="2800" i="1" dirty="0" err="1">
                <a:latin typeface="+mj-lt"/>
              </a:rPr>
              <a:t>Modeling</a:t>
            </a:r>
            <a:r>
              <a:rPr lang="fr-FR" sz="2800" i="1" dirty="0">
                <a:latin typeface="+mj-lt"/>
              </a:rPr>
              <a:t> and </a:t>
            </a:r>
            <a:r>
              <a:rPr lang="fr-FR" sz="2800" i="1" dirty="0" err="1">
                <a:latin typeface="+mj-lt"/>
              </a:rPr>
              <a:t>predicting</a:t>
            </a:r>
            <a:r>
              <a:rPr lang="fr-FR" sz="2800" i="1" dirty="0">
                <a:latin typeface="+mj-lt"/>
              </a:rPr>
              <a:t> </a:t>
            </a:r>
            <a:r>
              <a:rPr lang="fr-FR" sz="2800" i="1" dirty="0" err="1">
                <a:latin typeface="+mj-lt"/>
              </a:rPr>
              <a:t>disease</a:t>
            </a:r>
            <a:r>
              <a:rPr lang="fr-FR" sz="2800" i="1" dirty="0">
                <a:latin typeface="+mj-lt"/>
              </a:rPr>
              <a:t> progression </a:t>
            </a:r>
            <a:r>
              <a:rPr lang="fr-FR" sz="2800" i="1" dirty="0" err="1">
                <a:latin typeface="+mj-lt"/>
              </a:rPr>
              <a:t>with</a:t>
            </a:r>
            <a:r>
              <a:rPr lang="fr-FR" sz="2800" i="1" dirty="0">
                <a:latin typeface="+mj-lt"/>
              </a:rPr>
              <a:t> longitudinal data»</a:t>
            </a:r>
            <a:r>
              <a:rPr lang="fr-FR" sz="2800" dirty="0">
                <a:latin typeface="+mj-lt"/>
              </a:rPr>
              <a:t> by S. </a:t>
            </a:r>
            <a:r>
              <a:rPr lang="fr-FR" sz="2800" dirty="0" err="1">
                <a:latin typeface="+mj-lt"/>
              </a:rPr>
              <a:t>Durrleman</a:t>
            </a:r>
            <a:r>
              <a:rPr lang="fr-FR" sz="2800" dirty="0">
                <a:latin typeface="+mj-lt"/>
              </a:rPr>
              <a:t>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E2B649-C8D1-F54F-8751-9484A5B32120}"/>
              </a:ext>
            </a:extLst>
          </p:cNvPr>
          <p:cNvSpPr txBox="1"/>
          <p:nvPr/>
        </p:nvSpPr>
        <p:spPr>
          <a:xfrm>
            <a:off x="11777662" y="6488668"/>
            <a:ext cx="41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fr-FR" smtClean="0"/>
              <a:t>2</a:t>
            </a:fld>
            <a:endParaRPr lang="fr-FR"/>
          </a:p>
        </p:txBody>
      </p:sp>
      <p:sp>
        <p:nvSpPr>
          <p:cNvPr id="4" name="Trapèze 3">
            <a:extLst>
              <a:ext uri="{FF2B5EF4-FFF2-40B4-BE49-F238E27FC236}">
                <a16:creationId xmlns:a16="http://schemas.microsoft.com/office/drawing/2014/main" id="{5B8F4E47-4820-7846-AF0E-01924F3B8E75}"/>
              </a:ext>
            </a:extLst>
          </p:cNvPr>
          <p:cNvSpPr/>
          <p:nvPr/>
        </p:nvSpPr>
        <p:spPr>
          <a:xfrm flipV="1">
            <a:off x="2378367" y="2523409"/>
            <a:ext cx="5789949" cy="981274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fr-FR" dirty="0"/>
          </a:p>
        </p:txBody>
      </p:sp>
      <p:sp>
        <p:nvSpPr>
          <p:cNvPr id="7" name="Trapèze 6">
            <a:extLst>
              <a:ext uri="{FF2B5EF4-FFF2-40B4-BE49-F238E27FC236}">
                <a16:creationId xmlns:a16="http://schemas.microsoft.com/office/drawing/2014/main" id="{24C204F9-303E-0940-A0B0-ED82AA795570}"/>
              </a:ext>
            </a:extLst>
          </p:cNvPr>
          <p:cNvSpPr/>
          <p:nvPr/>
        </p:nvSpPr>
        <p:spPr>
          <a:xfrm flipV="1">
            <a:off x="2663771" y="3689961"/>
            <a:ext cx="5200998" cy="981274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rapèze 7">
            <a:extLst>
              <a:ext uri="{FF2B5EF4-FFF2-40B4-BE49-F238E27FC236}">
                <a16:creationId xmlns:a16="http://schemas.microsoft.com/office/drawing/2014/main" id="{44F5F224-41CE-DE45-BDE7-76EB27286796}"/>
              </a:ext>
            </a:extLst>
          </p:cNvPr>
          <p:cNvSpPr/>
          <p:nvPr/>
        </p:nvSpPr>
        <p:spPr>
          <a:xfrm flipV="1">
            <a:off x="2946403" y="4856512"/>
            <a:ext cx="4613565" cy="981274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84DA262-6CA0-2A4C-98C2-4693B53E9313}"/>
              </a:ext>
            </a:extLst>
          </p:cNvPr>
          <p:cNvSpPr txBox="1"/>
          <p:nvPr/>
        </p:nvSpPr>
        <p:spPr>
          <a:xfrm>
            <a:off x="2839097" y="2761642"/>
            <a:ext cx="4868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Overview</a:t>
            </a:r>
            <a:r>
              <a:rPr lang="fr-FR" dirty="0">
                <a:solidFill>
                  <a:schemeClr val="bg1"/>
                </a:solidFill>
              </a:rPr>
              <a:t> of </a:t>
            </a:r>
            <a:r>
              <a:rPr lang="fr-FR" dirty="0" err="1">
                <a:solidFill>
                  <a:schemeClr val="bg1"/>
                </a:solidFill>
              </a:rPr>
              <a:t>medical</a:t>
            </a:r>
            <a:r>
              <a:rPr lang="fr-FR" dirty="0">
                <a:solidFill>
                  <a:schemeClr val="bg1"/>
                </a:solidFill>
              </a:rPr>
              <a:t> longitudinal data 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&amp; </a:t>
            </a:r>
            <a:r>
              <a:rPr lang="fr-FR" dirty="0" err="1">
                <a:solidFill>
                  <a:schemeClr val="bg1"/>
                </a:solidFill>
              </a:rPr>
              <a:t>models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associated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5DBB585-0B1E-D745-9137-78E750DA4966}"/>
              </a:ext>
            </a:extLst>
          </p:cNvPr>
          <p:cNvSpPr txBox="1"/>
          <p:nvPr/>
        </p:nvSpPr>
        <p:spPr>
          <a:xfrm>
            <a:off x="2806015" y="3900974"/>
            <a:ext cx="4868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A </a:t>
            </a:r>
            <a:r>
              <a:rPr lang="fr-FR" dirty="0" err="1">
                <a:solidFill>
                  <a:schemeClr val="bg1"/>
                </a:solidFill>
              </a:rPr>
              <a:t>disease</a:t>
            </a:r>
            <a:r>
              <a:rPr lang="fr-FR" dirty="0">
                <a:solidFill>
                  <a:schemeClr val="bg1"/>
                </a:solidFill>
              </a:rPr>
              <a:t> course </a:t>
            </a:r>
            <a:r>
              <a:rPr lang="fr-FR" dirty="0" err="1">
                <a:solidFill>
                  <a:schemeClr val="bg1"/>
                </a:solidFill>
              </a:rPr>
              <a:t>mapping</a:t>
            </a:r>
            <a:r>
              <a:rPr lang="fr-FR" dirty="0">
                <a:solidFill>
                  <a:schemeClr val="bg1"/>
                </a:solidFill>
              </a:rPr>
              <a:t> model: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How to use </a:t>
            </a:r>
            <a:r>
              <a:rPr lang="fr-FR" dirty="0" err="1">
                <a:solidFill>
                  <a:schemeClr val="bg1"/>
                </a:solidFill>
              </a:rPr>
              <a:t>leaspy</a:t>
            </a:r>
            <a:r>
              <a:rPr lang="fr-FR" dirty="0">
                <a:solidFill>
                  <a:schemeClr val="bg1"/>
                </a:solidFill>
              </a:rPr>
              <a:t> ?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F08CFC5-45E2-E24B-8804-31E7AFF63B2F}"/>
              </a:ext>
            </a:extLst>
          </p:cNvPr>
          <p:cNvSpPr txBox="1"/>
          <p:nvPr/>
        </p:nvSpPr>
        <p:spPr>
          <a:xfrm>
            <a:off x="2637828" y="2894989"/>
            <a:ext cx="579468" cy="381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TP1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ECA09DF-9580-874E-BC01-69C21CA9B518}"/>
              </a:ext>
            </a:extLst>
          </p:cNvPr>
          <p:cNvSpPr txBox="1"/>
          <p:nvPr/>
        </p:nvSpPr>
        <p:spPr>
          <a:xfrm>
            <a:off x="2923445" y="4039473"/>
            <a:ext cx="54059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TP2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8871D0C-57B4-314B-96B7-CDD4F2C9D9C3}"/>
              </a:ext>
            </a:extLst>
          </p:cNvPr>
          <p:cNvSpPr txBox="1"/>
          <p:nvPr/>
        </p:nvSpPr>
        <p:spPr>
          <a:xfrm>
            <a:off x="3195060" y="5162483"/>
            <a:ext cx="537956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TP3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AFFD341-D3AC-6043-8E9C-0C15E2777DED}"/>
              </a:ext>
            </a:extLst>
          </p:cNvPr>
          <p:cNvSpPr txBox="1"/>
          <p:nvPr/>
        </p:nvSpPr>
        <p:spPr>
          <a:xfrm>
            <a:off x="3744363" y="5070149"/>
            <a:ext cx="2991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Going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deeper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into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leaspy</a:t>
            </a:r>
            <a:r>
              <a:rPr lang="fr-FR" dirty="0">
                <a:solidFill>
                  <a:schemeClr val="bg1"/>
                </a:solidFill>
              </a:rPr>
              <a:t> model </a:t>
            </a:r>
            <a:r>
              <a:rPr lang="fr-FR" dirty="0" err="1">
                <a:solidFill>
                  <a:schemeClr val="bg1"/>
                </a:solidFill>
              </a:rPr>
              <a:t>tuning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47AB89-6939-0247-B822-CCC723D7B59A}"/>
              </a:ext>
            </a:extLst>
          </p:cNvPr>
          <p:cNvSpPr/>
          <p:nvPr/>
        </p:nvSpPr>
        <p:spPr>
          <a:xfrm>
            <a:off x="8841627" y="2680173"/>
            <a:ext cx="2943225" cy="5143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1BE23F1-7466-EE41-A675-0D8613E5F48B}"/>
              </a:ext>
            </a:extLst>
          </p:cNvPr>
          <p:cNvCxnSpPr>
            <a:cxnSpLocks/>
          </p:cNvCxnSpPr>
          <p:nvPr/>
        </p:nvCxnSpPr>
        <p:spPr>
          <a:xfrm>
            <a:off x="7894145" y="2948053"/>
            <a:ext cx="9474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00A1E88-CE49-E742-A917-D37469B99564}"/>
              </a:ext>
            </a:extLst>
          </p:cNvPr>
          <p:cNvSpPr/>
          <p:nvPr/>
        </p:nvSpPr>
        <p:spPr>
          <a:xfrm>
            <a:off x="8841627" y="3979497"/>
            <a:ext cx="2943225" cy="5143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4578A920-777B-314C-81DF-D4C78B71B3DB}"/>
              </a:ext>
            </a:extLst>
          </p:cNvPr>
          <p:cNvCxnSpPr>
            <a:cxnSpLocks/>
          </p:cNvCxnSpPr>
          <p:nvPr/>
        </p:nvCxnSpPr>
        <p:spPr>
          <a:xfrm>
            <a:off x="7674502" y="4247377"/>
            <a:ext cx="11671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9F03E6D-6511-9540-BE26-12E6E01E9BBE}"/>
              </a:ext>
            </a:extLst>
          </p:cNvPr>
          <p:cNvSpPr/>
          <p:nvPr/>
        </p:nvSpPr>
        <p:spPr>
          <a:xfrm>
            <a:off x="8841627" y="5202133"/>
            <a:ext cx="2943225" cy="5143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4C5C3E16-E871-E443-9DC8-40B3A420E2C4}"/>
              </a:ext>
            </a:extLst>
          </p:cNvPr>
          <p:cNvCxnSpPr>
            <a:cxnSpLocks/>
          </p:cNvCxnSpPr>
          <p:nvPr/>
        </p:nvCxnSpPr>
        <p:spPr>
          <a:xfrm>
            <a:off x="7387834" y="5470013"/>
            <a:ext cx="14537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F6F65A1-FA95-A441-BC57-5ACC9BA6FDB3}"/>
              </a:ext>
            </a:extLst>
          </p:cNvPr>
          <p:cNvSpPr/>
          <p:nvPr/>
        </p:nvSpPr>
        <p:spPr>
          <a:xfrm>
            <a:off x="562871" y="3343085"/>
            <a:ext cx="1347862" cy="5143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BC5AF497-71B2-2E4F-BA99-7C14EA403214}"/>
              </a:ext>
            </a:extLst>
          </p:cNvPr>
          <p:cNvCxnSpPr>
            <a:cxnSpLocks/>
          </p:cNvCxnSpPr>
          <p:nvPr/>
        </p:nvCxnSpPr>
        <p:spPr>
          <a:xfrm>
            <a:off x="1896445" y="3600259"/>
            <a:ext cx="7530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A21E2FE4-B07C-8F4F-A27A-CFD029B9D6D9}"/>
              </a:ext>
            </a:extLst>
          </p:cNvPr>
          <p:cNvCxnSpPr/>
          <p:nvPr/>
        </p:nvCxnSpPr>
        <p:spPr>
          <a:xfrm>
            <a:off x="2378367" y="2523409"/>
            <a:ext cx="815374" cy="3314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2C5701D-8BE2-CE42-A4C8-625870FE6A83}"/>
              </a:ext>
            </a:extLst>
          </p:cNvPr>
          <p:cNvSpPr/>
          <p:nvPr/>
        </p:nvSpPr>
        <p:spPr>
          <a:xfrm>
            <a:off x="542076" y="4493844"/>
            <a:ext cx="1347862" cy="5143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6E84B240-2B35-CC45-83AE-8C7406C4A9E6}"/>
              </a:ext>
            </a:extLst>
          </p:cNvPr>
          <p:cNvCxnSpPr>
            <a:cxnSpLocks/>
          </p:cNvCxnSpPr>
          <p:nvPr/>
        </p:nvCxnSpPr>
        <p:spPr>
          <a:xfrm>
            <a:off x="1875650" y="4751018"/>
            <a:ext cx="10477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rapèze 34">
            <a:extLst>
              <a:ext uri="{FF2B5EF4-FFF2-40B4-BE49-F238E27FC236}">
                <a16:creationId xmlns:a16="http://schemas.microsoft.com/office/drawing/2014/main" id="{EB69AB2C-040C-8642-831C-900DCAE7A8DE}"/>
              </a:ext>
            </a:extLst>
          </p:cNvPr>
          <p:cNvSpPr/>
          <p:nvPr/>
        </p:nvSpPr>
        <p:spPr>
          <a:xfrm rot="10800000">
            <a:off x="2378367" y="2513491"/>
            <a:ext cx="5789949" cy="200609"/>
          </a:xfrm>
          <a:prstGeom prst="trapezoid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842DCFB-90FE-9747-8FFA-FF378515F766}"/>
              </a:ext>
            </a:extLst>
          </p:cNvPr>
          <p:cNvSpPr txBox="1"/>
          <p:nvPr/>
        </p:nvSpPr>
        <p:spPr>
          <a:xfrm>
            <a:off x="2378368" y="2440935"/>
            <a:ext cx="5789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</a:rPr>
              <a:t>Introduction (10 min)</a:t>
            </a:r>
          </a:p>
        </p:txBody>
      </p:sp>
      <p:sp>
        <p:nvSpPr>
          <p:cNvPr id="37" name="Trapèze 36">
            <a:extLst>
              <a:ext uri="{FF2B5EF4-FFF2-40B4-BE49-F238E27FC236}">
                <a16:creationId xmlns:a16="http://schemas.microsoft.com/office/drawing/2014/main" id="{8337A791-1B03-304D-B8EB-978A8BD2A523}"/>
              </a:ext>
            </a:extLst>
          </p:cNvPr>
          <p:cNvSpPr/>
          <p:nvPr/>
        </p:nvSpPr>
        <p:spPr>
          <a:xfrm rot="10800000">
            <a:off x="2663309" y="3676026"/>
            <a:ext cx="5200998" cy="165433"/>
          </a:xfrm>
          <a:prstGeom prst="trapezoid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rapèze 37">
            <a:extLst>
              <a:ext uri="{FF2B5EF4-FFF2-40B4-BE49-F238E27FC236}">
                <a16:creationId xmlns:a16="http://schemas.microsoft.com/office/drawing/2014/main" id="{6EFFEB28-DBB7-B045-8598-5C50B51FE65E}"/>
              </a:ext>
            </a:extLst>
          </p:cNvPr>
          <p:cNvSpPr/>
          <p:nvPr/>
        </p:nvSpPr>
        <p:spPr>
          <a:xfrm rot="10800000">
            <a:off x="2946403" y="4860879"/>
            <a:ext cx="4613565" cy="147282"/>
          </a:xfrm>
          <a:prstGeom prst="trapezoid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E95EE87-7C16-FF45-BB1D-AC03588B783F}"/>
              </a:ext>
            </a:extLst>
          </p:cNvPr>
          <p:cNvSpPr txBox="1"/>
          <p:nvPr/>
        </p:nvSpPr>
        <p:spPr>
          <a:xfrm>
            <a:off x="2663308" y="3580306"/>
            <a:ext cx="5200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</a:rPr>
              <a:t>Introduction (10 min)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FF8F0E7-DA56-E444-85CC-BE3D08E56D73}"/>
              </a:ext>
            </a:extLst>
          </p:cNvPr>
          <p:cNvSpPr txBox="1"/>
          <p:nvPr/>
        </p:nvSpPr>
        <p:spPr>
          <a:xfrm>
            <a:off x="2937959" y="4762011"/>
            <a:ext cx="4636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</a:rPr>
              <a:t>Introduction (10 min)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7B98BE0-BDE3-214E-BE88-14B32C8A224D}"/>
              </a:ext>
            </a:extLst>
          </p:cNvPr>
          <p:cNvSpPr txBox="1"/>
          <p:nvPr/>
        </p:nvSpPr>
        <p:spPr>
          <a:xfrm>
            <a:off x="8938663" y="2761642"/>
            <a:ext cx="273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14h – 15h 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1FC1D6B-2EC8-9141-9E50-F4DB738B9594}"/>
              </a:ext>
            </a:extLst>
          </p:cNvPr>
          <p:cNvSpPr txBox="1"/>
          <p:nvPr/>
        </p:nvSpPr>
        <p:spPr>
          <a:xfrm>
            <a:off x="730373" y="3407973"/>
            <a:ext cx="113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 min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4F39832-C711-1540-B6FA-FA9AC05AFD82}"/>
              </a:ext>
            </a:extLst>
          </p:cNvPr>
          <p:cNvSpPr txBox="1"/>
          <p:nvPr/>
        </p:nvSpPr>
        <p:spPr>
          <a:xfrm>
            <a:off x="641340" y="4577345"/>
            <a:ext cx="113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 min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2835212-8EF9-FD4A-A097-3C56D0D23D08}"/>
              </a:ext>
            </a:extLst>
          </p:cNvPr>
          <p:cNvSpPr txBox="1"/>
          <p:nvPr/>
        </p:nvSpPr>
        <p:spPr>
          <a:xfrm>
            <a:off x="8938662" y="4062711"/>
            <a:ext cx="273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15h15 – 16h15 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602EC67E-A293-2F46-A664-D8DA442BCBDB}"/>
              </a:ext>
            </a:extLst>
          </p:cNvPr>
          <p:cNvSpPr txBox="1"/>
          <p:nvPr/>
        </p:nvSpPr>
        <p:spPr>
          <a:xfrm>
            <a:off x="8945796" y="5270683"/>
            <a:ext cx="273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16h30 – 18h </a:t>
            </a:r>
          </a:p>
        </p:txBody>
      </p:sp>
    </p:spTree>
    <p:extLst>
      <p:ext uri="{BB962C8B-B14F-4D97-AF65-F5344CB8AC3E}">
        <p14:creationId xmlns:p14="http://schemas.microsoft.com/office/powerpoint/2010/main" val="374023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7C55C-53EF-C545-850A-FF364D44659B}"/>
              </a:ext>
            </a:extLst>
          </p:cNvPr>
          <p:cNvSpPr txBox="1">
            <a:spLocks/>
          </p:cNvSpPr>
          <p:nvPr/>
        </p:nvSpPr>
        <p:spPr>
          <a:xfrm>
            <a:off x="819150" y="2150495"/>
            <a:ext cx="11129962" cy="17668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400" dirty="0" err="1"/>
              <a:t>Overview</a:t>
            </a:r>
            <a:r>
              <a:rPr lang="fr-FR" sz="5400" dirty="0"/>
              <a:t> of </a:t>
            </a:r>
            <a:r>
              <a:rPr lang="fr-FR" sz="5400" dirty="0" err="1"/>
              <a:t>medical</a:t>
            </a:r>
            <a:r>
              <a:rPr lang="fr-FR" sz="5400" dirty="0"/>
              <a:t> longitudinal </a:t>
            </a:r>
          </a:p>
          <a:p>
            <a:pPr algn="ctr"/>
            <a:r>
              <a:rPr lang="fr-FR" sz="5400" dirty="0"/>
              <a:t>data &amp; </a:t>
            </a:r>
            <a:r>
              <a:rPr lang="fr-FR" sz="5400" dirty="0" err="1"/>
              <a:t>models</a:t>
            </a:r>
            <a:r>
              <a:rPr lang="fr-FR" sz="5400" dirty="0"/>
              <a:t> </a:t>
            </a:r>
            <a:r>
              <a:rPr lang="fr-FR" sz="5400" dirty="0" err="1"/>
              <a:t>associated</a:t>
            </a:r>
            <a:endParaRPr lang="fr-FR" sz="5400" dirty="0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90B4E9F8-CA22-A749-B4E5-6705283C1FF2}"/>
              </a:ext>
            </a:extLst>
          </p:cNvPr>
          <p:cNvSpPr txBox="1">
            <a:spLocks/>
          </p:cNvSpPr>
          <p:nvPr/>
        </p:nvSpPr>
        <p:spPr>
          <a:xfrm>
            <a:off x="1524000" y="4116392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TP 1</a:t>
            </a:r>
          </a:p>
        </p:txBody>
      </p:sp>
    </p:spTree>
    <p:extLst>
      <p:ext uri="{BB962C8B-B14F-4D97-AF65-F5344CB8AC3E}">
        <p14:creationId xmlns:p14="http://schemas.microsoft.com/office/powerpoint/2010/main" val="1765299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AC6E596-41FD-D649-8838-C72ADEFC00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TP1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A4F36F-4B29-5D41-9BC9-7ED51A624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To </a:t>
            </a:r>
            <a:r>
              <a:rPr lang="fr-FR" dirty="0" err="1"/>
              <a:t>start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36AD3D-F86D-5442-B960-3B0247BB13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3" y="794821"/>
            <a:ext cx="10852147" cy="2148404"/>
          </a:xfrm>
        </p:spPr>
        <p:txBody>
          <a:bodyPr/>
          <a:lstStyle/>
          <a:p>
            <a:r>
              <a:rPr lang="fr-FR" sz="2000" dirty="0" err="1">
                <a:latin typeface="+mj-lt"/>
              </a:rPr>
              <a:t>Please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follow</a:t>
            </a:r>
            <a:r>
              <a:rPr lang="fr-FR" sz="2000" dirty="0">
                <a:latin typeface="+mj-lt"/>
              </a:rPr>
              <a:t> the </a:t>
            </a:r>
            <a:r>
              <a:rPr lang="fr-FR" sz="2000" dirty="0" err="1">
                <a:latin typeface="+mj-lt"/>
              </a:rPr>
              <a:t>link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below</a:t>
            </a:r>
            <a:r>
              <a:rPr lang="fr-FR" sz="2000" dirty="0">
                <a:latin typeface="+mj-lt"/>
              </a:rPr>
              <a:t> :</a:t>
            </a:r>
          </a:p>
          <a:p>
            <a:pPr algn="ctr"/>
            <a:r>
              <a:rPr lang="fr-FR" sz="2000" dirty="0">
                <a:latin typeface="+mj-lt"/>
                <a:hlinkClick r:id="rId2"/>
              </a:rPr>
              <a:t>https://colab.research.google.com/drive/1uZDC4LYE8tmBG83UGcZZPfWr-UUBRxgH?usp=sharing#scrollTo=U_vNmA7gBFd4</a:t>
            </a:r>
            <a:r>
              <a:rPr lang="fr-FR" sz="2000" dirty="0">
                <a:latin typeface="+mj-lt"/>
              </a:rPr>
              <a:t> </a:t>
            </a:r>
          </a:p>
          <a:p>
            <a:r>
              <a:rPr lang="fr-FR" sz="2000" dirty="0">
                <a:latin typeface="+mj-lt"/>
              </a:rPr>
              <a:t>And </a:t>
            </a:r>
            <a:r>
              <a:rPr lang="fr-FR" sz="2000" dirty="0" err="1">
                <a:latin typeface="+mj-lt"/>
              </a:rPr>
              <a:t>run</a:t>
            </a:r>
            <a:r>
              <a:rPr lang="fr-FR" sz="2000" dirty="0">
                <a:latin typeface="+mj-lt"/>
              </a:rPr>
              <a:t> the 3 first </a:t>
            </a:r>
            <a:r>
              <a:rPr lang="fr-FR" sz="2000" dirty="0" err="1">
                <a:latin typeface="+mj-lt"/>
              </a:rPr>
              <a:t>cells</a:t>
            </a:r>
            <a:r>
              <a:rPr lang="fr-FR" sz="2000" dirty="0">
                <a:latin typeface="+mj-lt"/>
              </a:rPr>
              <a:t>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46D7A7F-9D5E-CC44-A0CC-F0F287B02543}"/>
              </a:ext>
            </a:extLst>
          </p:cNvPr>
          <p:cNvSpPr txBox="1"/>
          <p:nvPr/>
        </p:nvSpPr>
        <p:spPr>
          <a:xfrm>
            <a:off x="11777662" y="6488668"/>
            <a:ext cx="41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4</a:t>
            </a:fld>
            <a:endParaRPr lang="en-US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F1BCC49-EAE9-E947-BA35-603B7B914B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00"/>
          <a:stretch/>
        </p:blipFill>
        <p:spPr>
          <a:xfrm>
            <a:off x="628650" y="3039546"/>
            <a:ext cx="10858500" cy="278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3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BD8F614-7CFD-9D45-A94D-386BD0147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TP1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97CB63-9F62-E741-8494-F8A82FC30D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959" y="2200392"/>
            <a:ext cx="5445201" cy="734002"/>
          </a:xfrm>
        </p:spPr>
        <p:txBody>
          <a:bodyPr/>
          <a:lstStyle/>
          <a:p>
            <a:pPr marL="342900" indent="-342900" algn="just">
              <a:buFontTx/>
              <a:buChar char="-"/>
            </a:pPr>
            <a:r>
              <a:rPr lang="fr-FR" sz="2000" dirty="0" err="1">
                <a:latin typeface="+mj-lt"/>
              </a:rPr>
              <a:t>Get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familiar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with</a:t>
            </a:r>
            <a:r>
              <a:rPr lang="fr-FR" sz="2000" dirty="0">
                <a:latin typeface="+mj-lt"/>
              </a:rPr>
              <a:t> </a:t>
            </a:r>
            <a:r>
              <a:rPr lang="fr-FR" sz="2000" b="1" dirty="0" err="1">
                <a:latin typeface="+mj-lt"/>
              </a:rPr>
              <a:t>medical</a:t>
            </a:r>
            <a:r>
              <a:rPr lang="fr-FR" sz="2000" b="1" dirty="0">
                <a:latin typeface="+mj-lt"/>
              </a:rPr>
              <a:t> </a:t>
            </a:r>
            <a:r>
              <a:rPr lang="fr-FR" sz="2000" dirty="0">
                <a:latin typeface="+mj-lt"/>
              </a:rPr>
              <a:t>longitudinal</a:t>
            </a:r>
            <a:r>
              <a:rPr lang="fr-FR" sz="2000" b="1" dirty="0">
                <a:latin typeface="+mj-lt"/>
              </a:rPr>
              <a:t> data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C28B876-8809-7245-B27C-86F1CAA0AC03}"/>
              </a:ext>
            </a:extLst>
          </p:cNvPr>
          <p:cNvSpPr txBox="1"/>
          <p:nvPr/>
        </p:nvSpPr>
        <p:spPr>
          <a:xfrm>
            <a:off x="11777662" y="6488668"/>
            <a:ext cx="41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Longitudinal survey Archives - Pollfish Resources">
            <a:extLst>
              <a:ext uri="{FF2B5EF4-FFF2-40B4-BE49-F238E27FC236}">
                <a16:creationId xmlns:a16="http://schemas.microsoft.com/office/drawing/2014/main" id="{BCEF7145-FD4E-2142-8D74-BC6D2E9E7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803" y="1142623"/>
            <a:ext cx="5127506" cy="256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9B55BAA7-0324-2A4A-8C93-0E5476CE649E}"/>
              </a:ext>
            </a:extLst>
          </p:cNvPr>
          <p:cNvSpPr txBox="1">
            <a:spLocks/>
          </p:cNvSpPr>
          <p:nvPr/>
        </p:nvSpPr>
        <p:spPr>
          <a:xfrm>
            <a:off x="731959" y="4518465"/>
            <a:ext cx="5364041" cy="1660756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Tx/>
              <a:buChar char="-"/>
            </a:pPr>
            <a:r>
              <a:rPr lang="fr-FR" sz="2000" dirty="0" err="1">
                <a:latin typeface="+mj-lt"/>
              </a:rPr>
              <a:t>Get</a:t>
            </a:r>
            <a:r>
              <a:rPr lang="fr-FR" sz="2000" dirty="0">
                <a:latin typeface="+mj-lt"/>
              </a:rPr>
              <a:t> a taste of </a:t>
            </a:r>
            <a:r>
              <a:rPr lang="fr-FR" sz="2000" b="1" dirty="0">
                <a:latin typeface="+mj-lt"/>
              </a:rPr>
              <a:t>state-of-the-art </a:t>
            </a:r>
            <a:r>
              <a:rPr lang="fr-FR" sz="2000" b="1" dirty="0" err="1">
                <a:latin typeface="+mj-lt"/>
              </a:rPr>
              <a:t>models</a:t>
            </a:r>
            <a:r>
              <a:rPr lang="fr-FR" sz="2000" b="1" dirty="0">
                <a:latin typeface="+mj-lt"/>
              </a:rPr>
              <a:t> </a:t>
            </a:r>
          </a:p>
          <a:p>
            <a:pPr marL="342900" indent="-342900" algn="just">
              <a:buFontTx/>
              <a:buChar char="-"/>
            </a:pPr>
            <a:r>
              <a:rPr lang="fr-FR" sz="2000" dirty="0" err="1">
                <a:latin typeface="+mj-lt"/>
              </a:rPr>
              <a:t>Understand</a:t>
            </a:r>
            <a:r>
              <a:rPr lang="fr-FR" sz="2000" dirty="0">
                <a:latin typeface="+mj-lt"/>
              </a:rPr>
              <a:t> </a:t>
            </a:r>
            <a:r>
              <a:rPr lang="fr-FR" sz="2000" b="1" dirty="0">
                <a:latin typeface="+mj-lt"/>
              </a:rPr>
              <a:t>mixed-</a:t>
            </a:r>
            <a:r>
              <a:rPr lang="fr-FR" sz="2000" b="1" dirty="0" err="1">
                <a:latin typeface="+mj-lt"/>
              </a:rPr>
              <a:t>effects</a:t>
            </a:r>
            <a:r>
              <a:rPr lang="fr-FR" sz="2000" b="1" dirty="0">
                <a:latin typeface="+mj-lt"/>
              </a:rPr>
              <a:t> </a:t>
            </a:r>
            <a:r>
              <a:rPr lang="fr-FR" sz="2000" b="1" dirty="0" err="1">
                <a:latin typeface="+mj-lt"/>
              </a:rPr>
              <a:t>models</a:t>
            </a:r>
            <a:endParaRPr lang="fr-FR" sz="2000" b="1" dirty="0">
              <a:latin typeface="+mj-lt"/>
            </a:endParaRP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51A4CC4A-4A37-5E43-B232-46F889373F5F}"/>
              </a:ext>
            </a:extLst>
          </p:cNvPr>
          <p:cNvSpPr txBox="1">
            <a:spLocks/>
          </p:cNvSpPr>
          <p:nvPr/>
        </p:nvSpPr>
        <p:spPr>
          <a:xfrm>
            <a:off x="731959" y="861240"/>
            <a:ext cx="5719441" cy="562766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>
                <a:latin typeface="+mj-lt"/>
              </a:rPr>
              <a:t>Objectives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97B32A3-9A36-B94F-9DEC-277D82B79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370" y="3882044"/>
            <a:ext cx="5514292" cy="2493934"/>
          </a:xfrm>
          <a:prstGeom prst="rect">
            <a:avLst/>
          </a:prstGeom>
        </p:spPr>
      </p:pic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2355417-887C-CB42-BC8F-6286AE1591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46403" y="317500"/>
            <a:ext cx="2019300" cy="381000"/>
          </a:xfrm>
        </p:spPr>
        <p:txBody>
          <a:bodyPr/>
          <a:lstStyle/>
          <a:p>
            <a:r>
              <a:rPr lang="fr-FR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72643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7C55C-53EF-C545-850A-FF364D44659B}"/>
              </a:ext>
            </a:extLst>
          </p:cNvPr>
          <p:cNvSpPr txBox="1">
            <a:spLocks/>
          </p:cNvSpPr>
          <p:nvPr/>
        </p:nvSpPr>
        <p:spPr>
          <a:xfrm>
            <a:off x="819150" y="2150495"/>
            <a:ext cx="11129962" cy="176688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400" dirty="0"/>
              <a:t>Go, </a:t>
            </a:r>
            <a:r>
              <a:rPr lang="fr-FR" sz="5400" dirty="0" err="1"/>
              <a:t>it’s</a:t>
            </a:r>
            <a:r>
              <a:rPr lang="fr-FR" sz="5400" dirty="0"/>
              <a:t> </a:t>
            </a:r>
            <a:r>
              <a:rPr lang="fr-FR" sz="5400" dirty="0" err="1"/>
              <a:t>your</a:t>
            </a:r>
            <a:r>
              <a:rPr lang="fr-FR" sz="5400" dirty="0"/>
              <a:t> </a:t>
            </a:r>
            <a:r>
              <a:rPr lang="fr-FR" sz="5400" dirty="0" err="1"/>
              <a:t>turn</a:t>
            </a:r>
            <a:r>
              <a:rPr lang="fr-FR" sz="5400" dirty="0"/>
              <a:t> !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90B4E9F8-CA22-A749-B4E5-6705283C1FF2}"/>
              </a:ext>
            </a:extLst>
          </p:cNvPr>
          <p:cNvSpPr txBox="1">
            <a:spLocks/>
          </p:cNvSpPr>
          <p:nvPr/>
        </p:nvSpPr>
        <p:spPr>
          <a:xfrm>
            <a:off x="1524000" y="4116392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And </a:t>
            </a:r>
            <a:r>
              <a:rPr lang="fr-FR" dirty="0" err="1"/>
              <a:t>don’t</a:t>
            </a:r>
            <a:r>
              <a:rPr lang="fr-FR" dirty="0"/>
              <a:t> </a:t>
            </a:r>
            <a:r>
              <a:rPr lang="fr-FR" dirty="0" err="1"/>
              <a:t>hesitate</a:t>
            </a:r>
            <a:r>
              <a:rPr lang="fr-FR" dirty="0"/>
              <a:t> if </a:t>
            </a:r>
            <a:r>
              <a:rPr lang="fr-FR" dirty="0" err="1"/>
              <a:t>you</a:t>
            </a:r>
            <a:r>
              <a:rPr lang="fr-FR" dirty="0"/>
              <a:t> have </a:t>
            </a:r>
            <a:r>
              <a:rPr lang="fr-FR" dirty="0" err="1"/>
              <a:t>any</a:t>
            </a:r>
            <a:r>
              <a:rPr lang="fr-FR" dirty="0"/>
              <a:t> question !</a:t>
            </a:r>
          </a:p>
        </p:txBody>
      </p:sp>
    </p:spTree>
    <p:extLst>
      <p:ext uri="{BB962C8B-B14F-4D97-AF65-F5344CB8AC3E}">
        <p14:creationId xmlns:p14="http://schemas.microsoft.com/office/powerpoint/2010/main" val="3703446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BD8F614-7CFD-9D45-A94D-386BD0147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TP1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BFA4A5-CD54-A04E-A63B-69DC6FAA73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err="1"/>
              <a:t>Take</a:t>
            </a:r>
            <a:r>
              <a:rPr lang="fr-FR" dirty="0"/>
              <a:t> home messages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C28B876-8809-7245-B27C-86F1CAA0AC03}"/>
              </a:ext>
            </a:extLst>
          </p:cNvPr>
          <p:cNvSpPr txBox="1"/>
          <p:nvPr/>
        </p:nvSpPr>
        <p:spPr>
          <a:xfrm>
            <a:off x="11777662" y="6488668"/>
            <a:ext cx="41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7</a:t>
            </a:fld>
            <a:endParaRPr lang="en-US"/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66F0CA5F-14A7-4149-9C5C-DFADD06612D9}"/>
              </a:ext>
            </a:extLst>
          </p:cNvPr>
          <p:cNvSpPr txBox="1">
            <a:spLocks/>
          </p:cNvSpPr>
          <p:nvPr/>
        </p:nvSpPr>
        <p:spPr>
          <a:xfrm>
            <a:off x="3157145" y="5456001"/>
            <a:ext cx="2202433" cy="381001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400" i="1" u="sng" dirty="0" err="1">
                <a:solidFill>
                  <a:schemeClr val="tx1"/>
                </a:solidFill>
                <a:latin typeface="+mj-lt"/>
              </a:rPr>
              <a:t>Root</a:t>
            </a:r>
            <a:r>
              <a:rPr lang="fr-FR" sz="1400" i="1" u="sng" dirty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400" i="1" u="sng" dirty="0" err="1">
                <a:solidFill>
                  <a:schemeClr val="tx1"/>
                </a:solidFill>
                <a:latin typeface="+mj-lt"/>
              </a:rPr>
              <a:t>Mean</a:t>
            </a:r>
            <a:r>
              <a:rPr lang="fr-FR" sz="1400" i="1" u="sng" dirty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400" i="1" u="sng" dirty="0" err="1">
                <a:solidFill>
                  <a:schemeClr val="tx1"/>
                </a:solidFill>
                <a:latin typeface="+mj-lt"/>
              </a:rPr>
              <a:t>Squared</a:t>
            </a:r>
            <a:r>
              <a:rPr lang="fr-FR" sz="1400" i="1" u="sng" dirty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1400" i="1" u="sng" dirty="0" err="1">
                <a:solidFill>
                  <a:schemeClr val="tx1"/>
                </a:solidFill>
                <a:latin typeface="+mj-lt"/>
              </a:rPr>
              <a:t>Error</a:t>
            </a:r>
            <a:r>
              <a:rPr lang="fr-FR" sz="1400" i="1" u="sng" dirty="0">
                <a:solidFill>
                  <a:schemeClr val="tx1"/>
                </a:solidFill>
                <a:latin typeface="+mj-lt"/>
              </a:rPr>
              <a:t> </a:t>
            </a:r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BDD932CF-8540-2C4C-9B31-988973CE7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3" y="1143211"/>
            <a:ext cx="10914746" cy="898575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fr-FR" sz="2800" dirty="0">
                <a:latin typeface="+mj-lt"/>
              </a:rPr>
              <a:t>There </a:t>
            </a:r>
            <a:r>
              <a:rPr lang="fr-FR" sz="2800" dirty="0" err="1">
                <a:latin typeface="+mj-lt"/>
              </a:rPr>
              <a:t>exist</a:t>
            </a:r>
            <a:r>
              <a:rPr lang="fr-FR" sz="2800" dirty="0">
                <a:latin typeface="+mj-lt"/>
              </a:rPr>
              <a:t> few </a:t>
            </a:r>
            <a:r>
              <a:rPr lang="fr-FR" sz="2800" dirty="0" err="1">
                <a:latin typeface="+mj-lt"/>
              </a:rPr>
              <a:t>models</a:t>
            </a:r>
            <a:r>
              <a:rPr lang="fr-FR" sz="2800" dirty="0">
                <a:latin typeface="+mj-lt"/>
              </a:rPr>
              <a:t> to analyse longitudinal data and RMSE </a:t>
            </a:r>
            <a:r>
              <a:rPr lang="fr-FR" sz="2800" dirty="0" err="1">
                <a:latin typeface="+mj-lt"/>
              </a:rPr>
              <a:t>can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vary</a:t>
            </a:r>
            <a:r>
              <a:rPr lang="fr-FR" sz="2800" dirty="0">
                <a:latin typeface="+mj-lt"/>
              </a:rPr>
              <a:t> a lot </a:t>
            </a:r>
            <a:r>
              <a:rPr lang="fr-FR" sz="2800" dirty="0" err="1">
                <a:latin typeface="+mj-lt"/>
              </a:rPr>
              <a:t>between</a:t>
            </a:r>
            <a:r>
              <a:rPr lang="fr-FR" sz="2800" dirty="0">
                <a:latin typeface="+mj-lt"/>
              </a:rPr>
              <a:t> train and test. </a:t>
            </a:r>
            <a:endParaRPr lang="fr-FR" sz="2000" dirty="0">
              <a:latin typeface="+mj-lt"/>
            </a:endParaRP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3539C8C2-C393-1B40-8367-067329FEE78B}"/>
              </a:ext>
            </a:extLst>
          </p:cNvPr>
          <p:cNvSpPr txBox="1">
            <a:spLocks/>
          </p:cNvSpPr>
          <p:nvPr/>
        </p:nvSpPr>
        <p:spPr>
          <a:xfrm>
            <a:off x="9347316" y="5075000"/>
            <a:ext cx="2202433" cy="381001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400" i="1" u="sng" dirty="0" err="1">
                <a:solidFill>
                  <a:schemeClr val="tx1"/>
                </a:solidFill>
                <a:latin typeface="+mj-lt"/>
              </a:rPr>
              <a:t>Linear</a:t>
            </a:r>
            <a:r>
              <a:rPr lang="fr-FR" sz="1400" i="1" u="sng" dirty="0">
                <a:solidFill>
                  <a:schemeClr val="tx1"/>
                </a:solidFill>
                <a:latin typeface="+mj-lt"/>
              </a:rPr>
              <a:t> Mixed </a:t>
            </a:r>
            <a:r>
              <a:rPr lang="fr-FR" sz="1400" i="1" u="sng" dirty="0" err="1">
                <a:solidFill>
                  <a:schemeClr val="tx1"/>
                </a:solidFill>
                <a:latin typeface="+mj-lt"/>
              </a:rPr>
              <a:t>Effect</a:t>
            </a:r>
            <a:r>
              <a:rPr lang="fr-FR" sz="1400" i="1" u="sng" dirty="0">
                <a:solidFill>
                  <a:schemeClr val="tx1"/>
                </a:solidFill>
                <a:latin typeface="+mj-lt"/>
              </a:rPr>
              <a:t> Model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1202ECD-0CC5-F141-998E-4DC07CD32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168" y="2488904"/>
            <a:ext cx="6595663" cy="258609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BA63679-2C04-DF42-A1C6-746FA7520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27" y="2264875"/>
            <a:ext cx="4826351" cy="331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7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7C55C-53EF-C545-850A-FF364D44659B}"/>
              </a:ext>
            </a:extLst>
          </p:cNvPr>
          <p:cNvSpPr txBox="1">
            <a:spLocks/>
          </p:cNvSpPr>
          <p:nvPr/>
        </p:nvSpPr>
        <p:spPr>
          <a:xfrm>
            <a:off x="819150" y="2150495"/>
            <a:ext cx="11129962" cy="17668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400" dirty="0"/>
              <a:t>A </a:t>
            </a:r>
            <a:r>
              <a:rPr lang="fr-FR" sz="5400" dirty="0" err="1"/>
              <a:t>disease</a:t>
            </a:r>
            <a:r>
              <a:rPr lang="fr-FR" sz="5400" dirty="0"/>
              <a:t> course </a:t>
            </a:r>
            <a:r>
              <a:rPr lang="fr-FR" sz="5400" dirty="0" err="1"/>
              <a:t>mapping</a:t>
            </a:r>
            <a:r>
              <a:rPr lang="fr-FR" sz="5400" dirty="0"/>
              <a:t> model:</a:t>
            </a:r>
          </a:p>
          <a:p>
            <a:pPr algn="ctr"/>
            <a:r>
              <a:rPr lang="fr-FR" sz="5400" dirty="0"/>
              <a:t>How to use </a:t>
            </a:r>
            <a:r>
              <a:rPr lang="fr-FR" sz="5400" dirty="0" err="1"/>
              <a:t>leaspy</a:t>
            </a:r>
            <a:r>
              <a:rPr lang="fr-FR" sz="5400" dirty="0"/>
              <a:t> ?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90B4E9F8-CA22-A749-B4E5-6705283C1FF2}"/>
              </a:ext>
            </a:extLst>
          </p:cNvPr>
          <p:cNvSpPr txBox="1">
            <a:spLocks/>
          </p:cNvSpPr>
          <p:nvPr/>
        </p:nvSpPr>
        <p:spPr>
          <a:xfrm>
            <a:off x="1524000" y="4116392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TP 2</a:t>
            </a:r>
          </a:p>
        </p:txBody>
      </p:sp>
    </p:spTree>
    <p:extLst>
      <p:ext uri="{BB962C8B-B14F-4D97-AF65-F5344CB8AC3E}">
        <p14:creationId xmlns:p14="http://schemas.microsoft.com/office/powerpoint/2010/main" val="3183832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AC6E596-41FD-D649-8838-C72ADEFC00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TP2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A4F36F-4B29-5D41-9BC9-7ED51A624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To </a:t>
            </a:r>
            <a:r>
              <a:rPr lang="fr-FR" dirty="0" err="1"/>
              <a:t>start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36AD3D-F86D-5442-B960-3B0247BB13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3" y="1023421"/>
            <a:ext cx="10852147" cy="1845747"/>
          </a:xfrm>
        </p:spPr>
        <p:txBody>
          <a:bodyPr/>
          <a:lstStyle/>
          <a:p>
            <a:r>
              <a:rPr lang="fr-FR" sz="2000" dirty="0" err="1">
                <a:latin typeface="+mj-lt"/>
              </a:rPr>
              <a:t>Please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follow</a:t>
            </a:r>
            <a:r>
              <a:rPr lang="fr-FR" sz="2000" dirty="0">
                <a:latin typeface="+mj-lt"/>
              </a:rPr>
              <a:t> the </a:t>
            </a:r>
            <a:r>
              <a:rPr lang="fr-FR" sz="2000" dirty="0" err="1">
                <a:latin typeface="+mj-lt"/>
              </a:rPr>
              <a:t>link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below</a:t>
            </a:r>
            <a:r>
              <a:rPr lang="fr-FR" sz="2000" dirty="0">
                <a:latin typeface="+mj-lt"/>
              </a:rPr>
              <a:t> :</a:t>
            </a:r>
          </a:p>
          <a:p>
            <a:pPr algn="ctr"/>
            <a:r>
              <a:rPr lang="fr-FR" sz="2000" dirty="0">
                <a:latin typeface="+mj-lt"/>
                <a:hlinkClick r:id="rId2"/>
              </a:rPr>
              <a:t>https://colab.research.google.com/drive/1dCMa9In1ef9_Y3HKt8SeSzKf0-3CcxNt?usp=sharing</a:t>
            </a:r>
            <a:endParaRPr lang="fr-FR" sz="2000" dirty="0">
              <a:latin typeface="+mj-lt"/>
            </a:endParaRPr>
          </a:p>
          <a:p>
            <a:r>
              <a:rPr lang="fr-FR" sz="2000" dirty="0">
                <a:latin typeface="+mj-lt"/>
              </a:rPr>
              <a:t>And </a:t>
            </a:r>
            <a:r>
              <a:rPr lang="fr-FR" sz="2000" dirty="0" err="1">
                <a:latin typeface="+mj-lt"/>
              </a:rPr>
              <a:t>run</a:t>
            </a:r>
            <a:r>
              <a:rPr lang="fr-FR" sz="2000" dirty="0">
                <a:latin typeface="+mj-lt"/>
              </a:rPr>
              <a:t> the 3 first </a:t>
            </a:r>
            <a:r>
              <a:rPr lang="fr-FR" sz="2000" dirty="0" err="1">
                <a:latin typeface="+mj-lt"/>
              </a:rPr>
              <a:t>cells</a:t>
            </a:r>
            <a:r>
              <a:rPr lang="fr-FR" sz="2000" dirty="0">
                <a:latin typeface="+mj-lt"/>
              </a:rPr>
              <a:t>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46D7A7F-9D5E-CC44-A0CC-F0F287B02543}"/>
              </a:ext>
            </a:extLst>
          </p:cNvPr>
          <p:cNvSpPr txBox="1"/>
          <p:nvPr/>
        </p:nvSpPr>
        <p:spPr>
          <a:xfrm>
            <a:off x="11777662" y="6488668"/>
            <a:ext cx="41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9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198C5B4-6B29-AA4D-A608-59BBA3568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3059668"/>
            <a:ext cx="116459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8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BD8F614-7CFD-9D45-A94D-386BD0147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TP2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97CB63-9F62-E741-8494-F8A82FC30D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12146" y="3363264"/>
            <a:ext cx="1936865" cy="614413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fr-FR" sz="1600" dirty="0">
                <a:solidFill>
                  <a:srgbClr val="7030A0"/>
                </a:solidFill>
                <a:latin typeface="+mj-lt"/>
              </a:rPr>
              <a:t>IV. Application: </a:t>
            </a:r>
            <a:r>
              <a:rPr lang="fr-FR" sz="1600" dirty="0" err="1">
                <a:solidFill>
                  <a:srgbClr val="7030A0"/>
                </a:solidFill>
                <a:latin typeface="+mj-lt"/>
              </a:rPr>
              <a:t>cofactor</a:t>
            </a:r>
            <a:r>
              <a:rPr lang="fr-FR" sz="1600" dirty="0">
                <a:solidFill>
                  <a:srgbClr val="7030A0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rgbClr val="7030A0"/>
                </a:solidFill>
                <a:latin typeface="+mj-lt"/>
              </a:rPr>
              <a:t>analysis</a:t>
            </a:r>
            <a:endParaRPr lang="fr-FR" sz="1600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C28B876-8809-7245-B27C-86F1CAA0AC03}"/>
              </a:ext>
            </a:extLst>
          </p:cNvPr>
          <p:cNvSpPr txBox="1"/>
          <p:nvPr/>
        </p:nvSpPr>
        <p:spPr>
          <a:xfrm>
            <a:off x="11777662" y="6488668"/>
            <a:ext cx="41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10</a:t>
            </a:fld>
            <a:endParaRPr lang="en-US"/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51A4CC4A-4A37-5E43-B232-46F889373F5F}"/>
              </a:ext>
            </a:extLst>
          </p:cNvPr>
          <p:cNvSpPr txBox="1">
            <a:spLocks/>
          </p:cNvSpPr>
          <p:nvPr/>
        </p:nvSpPr>
        <p:spPr>
          <a:xfrm>
            <a:off x="532900" y="819958"/>
            <a:ext cx="9858456" cy="809618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>
                <a:latin typeface="+mj-lt"/>
              </a:rPr>
              <a:t>Objectives : </a:t>
            </a:r>
            <a:r>
              <a:rPr lang="fr-FR" sz="2800" dirty="0" err="1">
                <a:latin typeface="+mj-lt"/>
              </a:rPr>
              <a:t>Learn</a:t>
            </a:r>
            <a:r>
              <a:rPr lang="fr-FR" sz="2800" dirty="0">
                <a:latin typeface="+mj-lt"/>
              </a:rPr>
              <a:t> to use </a:t>
            </a:r>
            <a:r>
              <a:rPr lang="fr-FR" sz="2800" dirty="0" err="1">
                <a:latin typeface="+mj-lt"/>
              </a:rPr>
              <a:t>Leaspy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methods</a:t>
            </a:r>
            <a:endParaRPr lang="fr-FR" sz="2800" dirty="0">
              <a:latin typeface="+mj-lt"/>
            </a:endParaRP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A19397C4-62A5-CF40-B9F5-33629FBFD8F2}"/>
              </a:ext>
            </a:extLst>
          </p:cNvPr>
          <p:cNvSpPr txBox="1">
            <a:spLocks/>
          </p:cNvSpPr>
          <p:nvPr/>
        </p:nvSpPr>
        <p:spPr>
          <a:xfrm>
            <a:off x="3230240" y="5435053"/>
            <a:ext cx="760796" cy="623044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1600" dirty="0">
                <a:solidFill>
                  <a:srgbClr val="7030A0"/>
                </a:solidFill>
                <a:latin typeface="+mj-lt"/>
              </a:rPr>
              <a:t>I. Fit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095D11-A0BD-AC46-99CD-0FEB180AFD38}"/>
              </a:ext>
            </a:extLst>
          </p:cNvPr>
          <p:cNvSpPr/>
          <p:nvPr/>
        </p:nvSpPr>
        <p:spPr>
          <a:xfrm>
            <a:off x="7258868" y="4475238"/>
            <a:ext cx="16730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fr-FR" sz="1600" dirty="0">
                <a:solidFill>
                  <a:srgbClr val="7030A0"/>
                </a:solidFill>
                <a:latin typeface="+mj-lt"/>
              </a:rPr>
              <a:t>V. Data Simulation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59479B-5101-3344-9C18-37F3DF6D4825}"/>
              </a:ext>
            </a:extLst>
          </p:cNvPr>
          <p:cNvSpPr/>
          <p:nvPr/>
        </p:nvSpPr>
        <p:spPr>
          <a:xfrm>
            <a:off x="2770376" y="2134935"/>
            <a:ext cx="13044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rgbClr val="7030A0"/>
                </a:solidFill>
                <a:latin typeface="+mj-lt"/>
              </a:rPr>
              <a:t>II. </a:t>
            </a:r>
            <a:r>
              <a:rPr lang="fr-FR" sz="1600" dirty="0" err="1">
                <a:solidFill>
                  <a:srgbClr val="7030A0"/>
                </a:solidFill>
                <a:latin typeface="+mj-lt"/>
              </a:rPr>
              <a:t>Personalize</a:t>
            </a:r>
            <a:endParaRPr lang="fr-FR" sz="1600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A543108E-2C82-4443-B744-B4E928FE12BB}"/>
              </a:ext>
            </a:extLst>
          </p:cNvPr>
          <p:cNvSpPr txBox="1">
            <a:spLocks/>
          </p:cNvSpPr>
          <p:nvPr/>
        </p:nvSpPr>
        <p:spPr>
          <a:xfrm>
            <a:off x="5686648" y="2356704"/>
            <a:ext cx="1903615" cy="299261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fr-FR" sz="1600" dirty="0">
                <a:solidFill>
                  <a:srgbClr val="7030A0"/>
                </a:solidFill>
                <a:latin typeface="+mj-lt"/>
              </a:rPr>
              <a:t>III. Impute &amp; </a:t>
            </a:r>
            <a:r>
              <a:rPr lang="fr-FR" sz="1600" dirty="0" err="1">
                <a:solidFill>
                  <a:srgbClr val="7030A0"/>
                </a:solidFill>
                <a:latin typeface="+mj-lt"/>
              </a:rPr>
              <a:t>predict</a:t>
            </a:r>
            <a:endParaRPr lang="fr-FR" sz="1600" dirty="0">
              <a:solidFill>
                <a:srgbClr val="7030A0"/>
              </a:solidFill>
              <a:latin typeface="+mj-lt"/>
            </a:endParaRPr>
          </a:p>
        </p:txBody>
      </p:sp>
      <p:pic>
        <p:nvPicPr>
          <p:cNvPr id="2052" name="Picture 4" descr="icône engrenage définition symbole logo modèle : image vectorielle de stock  (libre de droits) 1677229720">
            <a:extLst>
              <a:ext uri="{FF2B5EF4-FFF2-40B4-BE49-F238E27FC236}">
                <a16:creationId xmlns:a16="http://schemas.microsoft.com/office/drawing/2014/main" id="{45C6FEC0-0DBE-6F45-AE27-B3A968C02C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8" t="29384" r="29037" b="35532"/>
          <a:stretch/>
        </p:blipFill>
        <p:spPr bwMode="auto">
          <a:xfrm>
            <a:off x="3998455" y="4811040"/>
            <a:ext cx="892173" cy="80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rowing Graph Line Icon, Business Chart Outline Vector Logo Stock Vector -  Illustration of outline, report: 95306517">
            <a:extLst>
              <a:ext uri="{FF2B5EF4-FFF2-40B4-BE49-F238E27FC236}">
                <a16:creationId xmlns:a16="http://schemas.microsoft.com/office/drawing/2014/main" id="{FEC0A6E4-8FC5-BC4C-95D8-6866C4E290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6" t="20828" r="21128" b="18949"/>
          <a:stretch/>
        </p:blipFill>
        <p:spPr bwMode="auto">
          <a:xfrm>
            <a:off x="8376056" y="3302656"/>
            <a:ext cx="902258" cy="97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mazon Database Logo PNG Transparent &amp;amp; SVG Vector - Freebie Supply">
            <a:extLst>
              <a:ext uri="{FF2B5EF4-FFF2-40B4-BE49-F238E27FC236}">
                <a16:creationId xmlns:a16="http://schemas.microsoft.com/office/drawing/2014/main" id="{082846C3-3E9B-CB4F-BC06-708137EF8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277" y="4640713"/>
            <a:ext cx="1105862" cy="110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 descr="Amazon Database Logo PNG Transparent &amp;amp; SVG Vector - Freebie Supply">
            <a:extLst>
              <a:ext uri="{FF2B5EF4-FFF2-40B4-BE49-F238E27FC236}">
                <a16:creationId xmlns:a16="http://schemas.microsoft.com/office/drawing/2014/main" id="{429F0A97-C623-4F4B-BC82-FD5162A4E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344" y="4916987"/>
            <a:ext cx="809618" cy="80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Amazon Database Logo PNG Transparent &amp;amp; SVG Vector - Freebie Supply">
            <a:extLst>
              <a:ext uri="{FF2B5EF4-FFF2-40B4-BE49-F238E27FC236}">
                <a16:creationId xmlns:a16="http://schemas.microsoft.com/office/drawing/2014/main" id="{28A7ADCF-3FF9-6C49-9341-FA013C7FD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271" y="2679539"/>
            <a:ext cx="809618" cy="80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mazon Database Logo PNG Transparent &amp;amp; SVG Vector - Freebie Supply">
            <a:extLst>
              <a:ext uri="{FF2B5EF4-FFF2-40B4-BE49-F238E27FC236}">
                <a16:creationId xmlns:a16="http://schemas.microsoft.com/office/drawing/2014/main" id="{B2841FD1-A5B0-E54D-8E5E-DB219B819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421" y="1610675"/>
            <a:ext cx="809618" cy="80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mazon Database Logo PNG Transparent &amp;amp; SVG Vector - Freebie Supply">
            <a:extLst>
              <a:ext uri="{FF2B5EF4-FFF2-40B4-BE49-F238E27FC236}">
                <a16:creationId xmlns:a16="http://schemas.microsoft.com/office/drawing/2014/main" id="{D70FC9CF-B8FE-104B-A72D-B6D269CF8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623" y="2692380"/>
            <a:ext cx="809618" cy="80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C3201239-68FC-5C4D-8E1A-5CC430889DA5}"/>
              </a:ext>
            </a:extLst>
          </p:cNvPr>
          <p:cNvSpPr/>
          <p:nvPr/>
        </p:nvSpPr>
        <p:spPr>
          <a:xfrm>
            <a:off x="4061759" y="3479845"/>
            <a:ext cx="895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200" i="1" dirty="0" err="1">
                <a:latin typeface="+mj-lt"/>
              </a:rPr>
              <a:t>Individual</a:t>
            </a:r>
            <a:r>
              <a:rPr lang="fr-FR" sz="1200" i="1" dirty="0">
                <a:latin typeface="+mj-lt"/>
              </a:rPr>
              <a:t> </a:t>
            </a:r>
          </a:p>
          <a:p>
            <a:pPr algn="ctr"/>
            <a:r>
              <a:rPr lang="fr-FR" sz="1200" i="1" dirty="0" err="1">
                <a:latin typeface="+mj-lt"/>
              </a:rPr>
              <a:t>parameters</a:t>
            </a:r>
            <a:endParaRPr lang="fr-FR" sz="1200" i="1" dirty="0">
              <a:latin typeface="+mj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B3301F-8BF6-A648-AFD4-EC2057ECBA0D}"/>
              </a:ext>
            </a:extLst>
          </p:cNvPr>
          <p:cNvSpPr/>
          <p:nvPr/>
        </p:nvSpPr>
        <p:spPr>
          <a:xfrm>
            <a:off x="8274441" y="2419427"/>
            <a:ext cx="10815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200" i="1" dirty="0" err="1">
                <a:latin typeface="+mj-lt"/>
              </a:rPr>
              <a:t>Predicted</a:t>
            </a:r>
            <a:r>
              <a:rPr lang="fr-FR" sz="1200" i="1" dirty="0">
                <a:latin typeface="+mj-lt"/>
              </a:rPr>
              <a:t> data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DEFB80-99BE-F54F-B999-CE4BBE3E2A3B}"/>
              </a:ext>
            </a:extLst>
          </p:cNvPr>
          <p:cNvSpPr/>
          <p:nvPr/>
        </p:nvSpPr>
        <p:spPr>
          <a:xfrm>
            <a:off x="8351718" y="5727945"/>
            <a:ext cx="11183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200" i="1" dirty="0" err="1">
                <a:latin typeface="+mj-lt"/>
              </a:rPr>
              <a:t>Simulated</a:t>
            </a:r>
            <a:r>
              <a:rPr lang="fr-FR" sz="1200" i="1" dirty="0">
                <a:latin typeface="+mj-lt"/>
              </a:rPr>
              <a:t>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2D032D-260B-3A4A-9AE5-9DE803860954}"/>
              </a:ext>
            </a:extLst>
          </p:cNvPr>
          <p:cNvSpPr/>
          <p:nvPr/>
        </p:nvSpPr>
        <p:spPr>
          <a:xfrm>
            <a:off x="2008504" y="5793030"/>
            <a:ext cx="8117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200" i="1" dirty="0">
                <a:latin typeface="+mj-lt"/>
              </a:rPr>
              <a:t>Train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8EEB00-868A-E04F-95AA-557673750673}"/>
              </a:ext>
            </a:extLst>
          </p:cNvPr>
          <p:cNvSpPr/>
          <p:nvPr/>
        </p:nvSpPr>
        <p:spPr>
          <a:xfrm>
            <a:off x="2050542" y="3499907"/>
            <a:ext cx="7453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200" i="1" dirty="0">
                <a:latin typeface="+mj-lt"/>
              </a:rPr>
              <a:t>Test 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081745-8C2D-A249-9B28-8643B5E90E19}"/>
              </a:ext>
            </a:extLst>
          </p:cNvPr>
          <p:cNvSpPr/>
          <p:nvPr/>
        </p:nvSpPr>
        <p:spPr>
          <a:xfrm>
            <a:off x="3951598" y="5571143"/>
            <a:ext cx="10222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200" i="1" dirty="0" err="1">
                <a:latin typeface="+mj-lt"/>
              </a:rPr>
              <a:t>Leaspy</a:t>
            </a:r>
            <a:r>
              <a:rPr lang="fr-FR" sz="1200" i="1" dirty="0">
                <a:latin typeface="+mj-lt"/>
              </a:rPr>
              <a:t> model</a:t>
            </a:r>
          </a:p>
        </p:txBody>
      </p:sp>
      <p:pic>
        <p:nvPicPr>
          <p:cNvPr id="1026" name="Picture 2" descr="Plus Minus Logo Images, Stock Photos &amp;amp; Vectors | Shutterstock">
            <a:extLst>
              <a:ext uri="{FF2B5EF4-FFF2-40B4-BE49-F238E27FC236}">
                <a16:creationId xmlns:a16="http://schemas.microsoft.com/office/drawing/2014/main" id="{BBF9956B-2EA2-C34C-B77E-C25C6C7867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7" t="19239" r="55129" b="28418"/>
          <a:stretch/>
        </p:blipFill>
        <p:spPr bwMode="auto">
          <a:xfrm>
            <a:off x="5950390" y="3803708"/>
            <a:ext cx="487378" cy="50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Espace réservé du texte 2">
            <a:extLst>
              <a:ext uri="{FF2B5EF4-FFF2-40B4-BE49-F238E27FC236}">
                <a16:creationId xmlns:a16="http://schemas.microsoft.com/office/drawing/2014/main" id="{15D7DC3C-2037-C84D-8736-69397E8CB6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46403" y="317500"/>
            <a:ext cx="2019300" cy="381000"/>
          </a:xfrm>
        </p:spPr>
        <p:txBody>
          <a:bodyPr/>
          <a:lstStyle/>
          <a:p>
            <a:r>
              <a:rPr lang="fr-FR" dirty="0"/>
              <a:t>Introduction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85466F98-93D0-B143-A053-F4A42F33587E}"/>
              </a:ext>
            </a:extLst>
          </p:cNvPr>
          <p:cNvCxnSpPr/>
          <p:nvPr/>
        </p:nvCxnSpPr>
        <p:spPr>
          <a:xfrm>
            <a:off x="2976139" y="3097189"/>
            <a:ext cx="97545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E0527550-E9F0-E748-A618-8B61049F3789}"/>
              </a:ext>
            </a:extLst>
          </p:cNvPr>
          <p:cNvCxnSpPr/>
          <p:nvPr/>
        </p:nvCxnSpPr>
        <p:spPr>
          <a:xfrm>
            <a:off x="2944583" y="5245616"/>
            <a:ext cx="97545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7BAAEC85-516C-C940-9EFF-322D364A0EAC}"/>
              </a:ext>
            </a:extLst>
          </p:cNvPr>
          <p:cNvCxnSpPr>
            <a:cxnSpLocks/>
          </p:cNvCxnSpPr>
          <p:nvPr/>
        </p:nvCxnSpPr>
        <p:spPr>
          <a:xfrm>
            <a:off x="4979248" y="3097853"/>
            <a:ext cx="971142" cy="8214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B83EDA9B-9EB9-E140-B906-C4E3E5ECD14E}"/>
              </a:ext>
            </a:extLst>
          </p:cNvPr>
          <p:cNvCxnSpPr>
            <a:cxnSpLocks/>
          </p:cNvCxnSpPr>
          <p:nvPr/>
        </p:nvCxnSpPr>
        <p:spPr>
          <a:xfrm flipV="1">
            <a:off x="4973866" y="4206188"/>
            <a:ext cx="976524" cy="8844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CC6566BB-7D46-954A-B4F2-7832AA9404EB}"/>
              </a:ext>
            </a:extLst>
          </p:cNvPr>
          <p:cNvCxnSpPr>
            <a:cxnSpLocks/>
          </p:cNvCxnSpPr>
          <p:nvPr/>
        </p:nvCxnSpPr>
        <p:spPr>
          <a:xfrm>
            <a:off x="6477116" y="4056316"/>
            <a:ext cx="179732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7E782285-5170-E241-BCCD-2D641C27356B}"/>
              </a:ext>
            </a:extLst>
          </p:cNvPr>
          <p:cNvCxnSpPr>
            <a:cxnSpLocks/>
          </p:cNvCxnSpPr>
          <p:nvPr/>
        </p:nvCxnSpPr>
        <p:spPr>
          <a:xfrm flipV="1">
            <a:off x="6437768" y="2219589"/>
            <a:ext cx="1786658" cy="16574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A5E7468D-8E63-7744-8EDA-00D7D0790BE8}"/>
              </a:ext>
            </a:extLst>
          </p:cNvPr>
          <p:cNvCxnSpPr>
            <a:cxnSpLocks/>
          </p:cNvCxnSpPr>
          <p:nvPr/>
        </p:nvCxnSpPr>
        <p:spPr>
          <a:xfrm>
            <a:off x="6386280" y="4281044"/>
            <a:ext cx="1888161" cy="11540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4265ECD2-D0D7-494E-AAD7-56F529A22702}"/>
              </a:ext>
            </a:extLst>
          </p:cNvPr>
          <p:cNvCxnSpPr>
            <a:cxnSpLocks/>
            <a:stCxn id="2052" idx="0"/>
          </p:cNvCxnSpPr>
          <p:nvPr/>
        </p:nvCxnSpPr>
        <p:spPr>
          <a:xfrm flipV="1">
            <a:off x="4444542" y="4056316"/>
            <a:ext cx="0" cy="7547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85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4" grpId="0"/>
      <p:bldP spid="11" grpId="0"/>
      <p:bldP spid="17" grpId="0"/>
      <p:bldP spid="19" grpId="0"/>
      <p:bldP spid="42" grpId="0"/>
      <p:bldP spid="43" grpId="0"/>
      <p:bldP spid="26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7C55C-53EF-C545-850A-FF364D44659B}"/>
              </a:ext>
            </a:extLst>
          </p:cNvPr>
          <p:cNvSpPr txBox="1">
            <a:spLocks/>
          </p:cNvSpPr>
          <p:nvPr/>
        </p:nvSpPr>
        <p:spPr>
          <a:xfrm>
            <a:off x="819150" y="2150495"/>
            <a:ext cx="11129962" cy="176688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400" dirty="0"/>
              <a:t>Go, </a:t>
            </a:r>
            <a:r>
              <a:rPr lang="fr-FR" sz="5400" dirty="0" err="1"/>
              <a:t>it’s</a:t>
            </a:r>
            <a:r>
              <a:rPr lang="fr-FR" sz="5400" dirty="0"/>
              <a:t> </a:t>
            </a:r>
            <a:r>
              <a:rPr lang="fr-FR" sz="5400" dirty="0" err="1"/>
              <a:t>your</a:t>
            </a:r>
            <a:r>
              <a:rPr lang="fr-FR" sz="5400" dirty="0"/>
              <a:t> </a:t>
            </a:r>
            <a:r>
              <a:rPr lang="fr-FR" sz="5400" dirty="0" err="1"/>
              <a:t>turn</a:t>
            </a:r>
            <a:r>
              <a:rPr lang="fr-FR" sz="5400" dirty="0"/>
              <a:t> !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90B4E9F8-CA22-A749-B4E5-6705283C1FF2}"/>
              </a:ext>
            </a:extLst>
          </p:cNvPr>
          <p:cNvSpPr txBox="1">
            <a:spLocks/>
          </p:cNvSpPr>
          <p:nvPr/>
        </p:nvSpPr>
        <p:spPr>
          <a:xfrm>
            <a:off x="1524000" y="4116392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And </a:t>
            </a:r>
            <a:r>
              <a:rPr lang="fr-FR" dirty="0" err="1"/>
              <a:t>don’t</a:t>
            </a:r>
            <a:r>
              <a:rPr lang="fr-FR" dirty="0"/>
              <a:t> </a:t>
            </a:r>
            <a:r>
              <a:rPr lang="fr-FR" dirty="0" err="1"/>
              <a:t>hesitate</a:t>
            </a:r>
            <a:r>
              <a:rPr lang="fr-FR" dirty="0"/>
              <a:t> if </a:t>
            </a:r>
            <a:r>
              <a:rPr lang="fr-FR" dirty="0" err="1"/>
              <a:t>you</a:t>
            </a:r>
            <a:r>
              <a:rPr lang="fr-FR" dirty="0"/>
              <a:t> have </a:t>
            </a:r>
            <a:r>
              <a:rPr lang="fr-FR" dirty="0" err="1"/>
              <a:t>any</a:t>
            </a:r>
            <a:r>
              <a:rPr lang="fr-FR" dirty="0"/>
              <a:t> question !</a:t>
            </a:r>
          </a:p>
        </p:txBody>
      </p:sp>
    </p:spTree>
    <p:extLst>
      <p:ext uri="{BB962C8B-B14F-4D97-AF65-F5344CB8AC3E}">
        <p14:creationId xmlns:p14="http://schemas.microsoft.com/office/powerpoint/2010/main" val="1580207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29122D2-7783-8849-825B-4B6644B7B7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TP2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763F20-32C0-A841-AE01-6FA00EFEE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err="1"/>
              <a:t>Take</a:t>
            </a:r>
            <a:r>
              <a:rPr lang="fr-FR" dirty="0"/>
              <a:t> home messages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060A23-3C6D-0447-8783-27DFAF93FA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5250" y="711433"/>
            <a:ext cx="10753434" cy="806335"/>
          </a:xfrm>
        </p:spPr>
        <p:txBody>
          <a:bodyPr/>
          <a:lstStyle/>
          <a:p>
            <a:r>
              <a:rPr lang="fr-FR" sz="2800" dirty="0" err="1">
                <a:latin typeface="+mj-lt"/>
              </a:rPr>
              <a:t>Leaspy</a:t>
            </a:r>
            <a:r>
              <a:rPr lang="fr-FR" sz="2800" dirty="0">
                <a:latin typeface="+mj-lt"/>
              </a:rPr>
              <a:t> model </a:t>
            </a:r>
            <a:r>
              <a:rPr lang="fr-FR" sz="2800" dirty="0" err="1">
                <a:latin typeface="+mj-lt"/>
              </a:rPr>
              <a:t>can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be</a:t>
            </a:r>
            <a:r>
              <a:rPr lang="fr-FR" sz="2800" dirty="0">
                <a:latin typeface="+mj-lt"/>
              </a:rPr>
              <a:t> an </a:t>
            </a:r>
            <a:r>
              <a:rPr lang="fr-FR" sz="2800" dirty="0" err="1">
                <a:latin typeface="+mj-lt"/>
              </a:rPr>
              <a:t>helpful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tool</a:t>
            </a:r>
            <a:r>
              <a:rPr lang="fr-FR" sz="2800" dirty="0">
                <a:latin typeface="+mj-lt"/>
              </a:rPr>
              <a:t> to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1FEFC23-D2BD-D54C-A91E-8DD8216C8783}"/>
              </a:ext>
            </a:extLst>
          </p:cNvPr>
          <p:cNvSpPr txBox="1"/>
          <p:nvPr/>
        </p:nvSpPr>
        <p:spPr>
          <a:xfrm>
            <a:off x="11612881" y="6488668"/>
            <a:ext cx="57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12</a:t>
            </a:fld>
            <a:endParaRPr lang="en-US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9C6C3C1-D7C4-A240-9D09-55DAF7608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498" y="1410169"/>
            <a:ext cx="4558534" cy="184401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697D98D-65F6-594A-AE64-41E115973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3" y="3785610"/>
            <a:ext cx="2085343" cy="213982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8FB3EEFC-8947-7A49-BB10-E9EEAB3E0519}"/>
              </a:ext>
            </a:extLst>
          </p:cNvPr>
          <p:cNvSpPr txBox="1"/>
          <p:nvPr/>
        </p:nvSpPr>
        <p:spPr>
          <a:xfrm>
            <a:off x="6742428" y="3351627"/>
            <a:ext cx="420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err="1"/>
              <a:t>Predict</a:t>
            </a:r>
            <a:r>
              <a:rPr lang="fr-FR" i="1" dirty="0"/>
              <a:t> </a:t>
            </a:r>
            <a:r>
              <a:rPr lang="fr-FR" i="1" dirty="0" err="1"/>
              <a:t>individual</a:t>
            </a:r>
            <a:r>
              <a:rPr lang="fr-FR" i="1" dirty="0"/>
              <a:t> </a:t>
            </a:r>
            <a:r>
              <a:rPr lang="fr-FR" i="1" dirty="0" err="1"/>
              <a:t>disease</a:t>
            </a:r>
            <a:r>
              <a:rPr lang="fr-FR" i="1" dirty="0"/>
              <a:t> progression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C4D5D46-DBD8-1345-8913-6F361C181160}"/>
              </a:ext>
            </a:extLst>
          </p:cNvPr>
          <p:cNvSpPr txBox="1"/>
          <p:nvPr/>
        </p:nvSpPr>
        <p:spPr>
          <a:xfrm>
            <a:off x="447966" y="5925439"/>
            <a:ext cx="441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err="1"/>
              <a:t>Extract</a:t>
            </a:r>
            <a:r>
              <a:rPr lang="fr-FR" i="1" dirty="0"/>
              <a:t> </a:t>
            </a:r>
            <a:r>
              <a:rPr lang="fr-FR" i="1" dirty="0" err="1"/>
              <a:t>interpretable</a:t>
            </a:r>
            <a:r>
              <a:rPr lang="fr-FR" i="1" dirty="0"/>
              <a:t> information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5A625E9-FBA8-064E-811F-BECC73B6D31C}"/>
              </a:ext>
            </a:extLst>
          </p:cNvPr>
          <p:cNvSpPr txBox="1"/>
          <p:nvPr/>
        </p:nvSpPr>
        <p:spPr>
          <a:xfrm>
            <a:off x="7857154" y="5925439"/>
            <a:ext cx="2126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err="1"/>
              <a:t>Simulate</a:t>
            </a:r>
            <a:r>
              <a:rPr lang="fr-FR" i="1" dirty="0"/>
              <a:t> data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C810D28-048B-EF4D-849D-AF0748B35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076" y="3894115"/>
            <a:ext cx="4924713" cy="198458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6FA02AE-CFE1-A342-93BE-C0A9F3849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59" y="1396492"/>
            <a:ext cx="4258888" cy="196873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47469131-4437-4A42-9ABD-FD70304DDFB3}"/>
              </a:ext>
            </a:extLst>
          </p:cNvPr>
          <p:cNvSpPr txBox="1"/>
          <p:nvPr/>
        </p:nvSpPr>
        <p:spPr>
          <a:xfrm>
            <a:off x="172342" y="3351627"/>
            <a:ext cx="5548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 err="1"/>
              <a:t>Get</a:t>
            </a:r>
            <a:r>
              <a:rPr lang="fr-FR" i="1" dirty="0"/>
              <a:t> </a:t>
            </a:r>
            <a:r>
              <a:rPr lang="fr-FR" i="1" dirty="0" err="1"/>
              <a:t>disease</a:t>
            </a:r>
            <a:r>
              <a:rPr lang="fr-FR" i="1" dirty="0"/>
              <a:t> </a:t>
            </a:r>
            <a:r>
              <a:rPr lang="fr-FR" i="1" dirty="0" err="1"/>
              <a:t>timeline</a:t>
            </a:r>
            <a:r>
              <a:rPr lang="fr-FR" i="1" dirty="0"/>
              <a:t> </a:t>
            </a:r>
            <a:r>
              <a:rPr lang="fr-FR" i="1" dirty="0" err="1"/>
              <a:t>with</a:t>
            </a:r>
            <a:r>
              <a:rPr lang="fr-FR" i="1" dirty="0"/>
              <a:t> population </a:t>
            </a:r>
            <a:r>
              <a:rPr lang="fr-FR" i="1" dirty="0" err="1"/>
              <a:t>disease</a:t>
            </a:r>
            <a:r>
              <a:rPr lang="fr-FR" i="1" dirty="0"/>
              <a:t> progression</a:t>
            </a:r>
          </a:p>
        </p:txBody>
      </p:sp>
    </p:spTree>
    <p:extLst>
      <p:ext uri="{BB962C8B-B14F-4D97-AF65-F5344CB8AC3E}">
        <p14:creationId xmlns:p14="http://schemas.microsoft.com/office/powerpoint/2010/main" val="39890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7C55C-53EF-C545-850A-FF364D44659B}"/>
              </a:ext>
            </a:extLst>
          </p:cNvPr>
          <p:cNvSpPr txBox="1">
            <a:spLocks/>
          </p:cNvSpPr>
          <p:nvPr/>
        </p:nvSpPr>
        <p:spPr>
          <a:xfrm>
            <a:off x="819150" y="2150495"/>
            <a:ext cx="11129962" cy="176688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400" dirty="0" err="1"/>
              <a:t>Going</a:t>
            </a:r>
            <a:r>
              <a:rPr lang="fr-FR" sz="5400" dirty="0"/>
              <a:t> </a:t>
            </a:r>
            <a:r>
              <a:rPr lang="fr-FR" sz="5400" dirty="0" err="1"/>
              <a:t>deeper</a:t>
            </a:r>
            <a:r>
              <a:rPr lang="fr-FR" sz="5400" dirty="0"/>
              <a:t> </a:t>
            </a:r>
            <a:r>
              <a:rPr lang="fr-FR" sz="5400" dirty="0" err="1"/>
              <a:t>into</a:t>
            </a:r>
            <a:r>
              <a:rPr lang="fr-FR" sz="5400" dirty="0"/>
              <a:t> </a:t>
            </a:r>
            <a:r>
              <a:rPr lang="fr-FR" sz="5400" dirty="0" err="1"/>
              <a:t>leaspy</a:t>
            </a:r>
            <a:r>
              <a:rPr lang="fr-FR" sz="5400" dirty="0"/>
              <a:t> model </a:t>
            </a:r>
            <a:r>
              <a:rPr lang="fr-FR" sz="5400" dirty="0" err="1"/>
              <a:t>tuning</a:t>
            </a:r>
            <a:endParaRPr lang="fr-FR" sz="5400" dirty="0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90B4E9F8-CA22-A749-B4E5-6705283C1FF2}"/>
              </a:ext>
            </a:extLst>
          </p:cNvPr>
          <p:cNvSpPr txBox="1">
            <a:spLocks/>
          </p:cNvSpPr>
          <p:nvPr/>
        </p:nvSpPr>
        <p:spPr>
          <a:xfrm>
            <a:off x="1524000" y="4116392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TP 3</a:t>
            </a:r>
          </a:p>
        </p:txBody>
      </p:sp>
    </p:spTree>
    <p:extLst>
      <p:ext uri="{BB962C8B-B14F-4D97-AF65-F5344CB8AC3E}">
        <p14:creationId xmlns:p14="http://schemas.microsoft.com/office/powerpoint/2010/main" val="2099821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AC6E596-41FD-D649-8838-C72ADEFC00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TP3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A4F36F-4B29-5D41-9BC9-7ED51A624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To </a:t>
            </a:r>
            <a:r>
              <a:rPr lang="fr-FR" dirty="0" err="1"/>
              <a:t>start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36AD3D-F86D-5442-B960-3B0247BB13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3" y="1023421"/>
            <a:ext cx="10852147" cy="1845747"/>
          </a:xfrm>
        </p:spPr>
        <p:txBody>
          <a:bodyPr/>
          <a:lstStyle/>
          <a:p>
            <a:r>
              <a:rPr lang="fr-FR" sz="2000" dirty="0" err="1">
                <a:latin typeface="+mj-lt"/>
              </a:rPr>
              <a:t>Please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follow</a:t>
            </a:r>
            <a:r>
              <a:rPr lang="fr-FR" sz="2000" dirty="0">
                <a:latin typeface="+mj-lt"/>
              </a:rPr>
              <a:t> the </a:t>
            </a:r>
            <a:r>
              <a:rPr lang="fr-FR" sz="2000" dirty="0" err="1">
                <a:latin typeface="+mj-lt"/>
              </a:rPr>
              <a:t>link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below</a:t>
            </a:r>
            <a:r>
              <a:rPr lang="fr-FR" sz="2000" dirty="0">
                <a:latin typeface="+mj-lt"/>
              </a:rPr>
              <a:t> :</a:t>
            </a:r>
          </a:p>
          <a:p>
            <a:pPr algn="ctr"/>
            <a:r>
              <a:rPr lang="fr-FR" sz="2000" dirty="0">
                <a:latin typeface="+mj-lt"/>
                <a:hlinkClick r:id="rId2"/>
              </a:rPr>
              <a:t>https://colab.research.google.com/drive/1UmzmerIjMCn2yfJZ-5tE8__QEYKIeeeq?usp=sharing</a:t>
            </a:r>
            <a:endParaRPr lang="fr-FR" sz="2000" dirty="0">
              <a:latin typeface="+mj-lt"/>
            </a:endParaRPr>
          </a:p>
          <a:p>
            <a:r>
              <a:rPr lang="fr-FR" sz="2000" dirty="0">
                <a:latin typeface="+mj-lt"/>
              </a:rPr>
              <a:t>And </a:t>
            </a:r>
            <a:r>
              <a:rPr lang="fr-FR" sz="2000" dirty="0" err="1">
                <a:latin typeface="+mj-lt"/>
              </a:rPr>
              <a:t>run</a:t>
            </a:r>
            <a:r>
              <a:rPr lang="fr-FR" sz="2000" dirty="0">
                <a:latin typeface="+mj-lt"/>
              </a:rPr>
              <a:t> the 3 first </a:t>
            </a:r>
            <a:r>
              <a:rPr lang="fr-FR" sz="2000" dirty="0" err="1">
                <a:latin typeface="+mj-lt"/>
              </a:rPr>
              <a:t>cells</a:t>
            </a:r>
            <a:r>
              <a:rPr lang="fr-FR" sz="2000" dirty="0">
                <a:latin typeface="+mj-lt"/>
              </a:rPr>
              <a:t>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46D7A7F-9D5E-CC44-A0CC-F0F287B02543}"/>
              </a:ext>
            </a:extLst>
          </p:cNvPr>
          <p:cNvSpPr txBox="1"/>
          <p:nvPr/>
        </p:nvSpPr>
        <p:spPr>
          <a:xfrm>
            <a:off x="11777662" y="6488668"/>
            <a:ext cx="41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14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5E76629-E88E-9247-867E-CE3D359C0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76" y="2869168"/>
            <a:ext cx="104394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56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AC6E596-41FD-D649-8838-C72ADEFC00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TP3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A4F36F-4B29-5D41-9BC9-7ED51A624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36AD3D-F86D-5442-B960-3B0247BB13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4739" y="4770422"/>
            <a:ext cx="4138351" cy="712974"/>
          </a:xfrm>
        </p:spPr>
        <p:txBody>
          <a:bodyPr/>
          <a:lstStyle/>
          <a:p>
            <a:r>
              <a:rPr lang="fr-FR" sz="2000" dirty="0" err="1">
                <a:latin typeface="+mj-lt"/>
              </a:rPr>
              <a:t>What</a:t>
            </a:r>
            <a:r>
              <a:rPr lang="fr-FR" sz="2000" dirty="0">
                <a:latin typeface="+mj-lt"/>
              </a:rPr>
              <a:t> about </a:t>
            </a:r>
            <a:r>
              <a:rPr lang="fr-FR" sz="2000" dirty="0" err="1">
                <a:latin typeface="+mj-lt"/>
              </a:rPr>
              <a:t>binary</a:t>
            </a:r>
            <a:r>
              <a:rPr lang="fr-FR" sz="2000" dirty="0">
                <a:latin typeface="+mj-lt"/>
              </a:rPr>
              <a:t> observations ?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46D7A7F-9D5E-CC44-A0CC-F0F287B02543}"/>
              </a:ext>
            </a:extLst>
          </p:cNvPr>
          <p:cNvSpPr txBox="1"/>
          <p:nvPr/>
        </p:nvSpPr>
        <p:spPr>
          <a:xfrm>
            <a:off x="11587163" y="6488668"/>
            <a:ext cx="60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15</a:t>
            </a:fld>
            <a:endParaRPr lang="en-US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809F80E3-750E-EE46-9AA8-FC899567CAB5}"/>
              </a:ext>
            </a:extLst>
          </p:cNvPr>
          <p:cNvSpPr txBox="1">
            <a:spLocks/>
          </p:cNvSpPr>
          <p:nvPr/>
        </p:nvSpPr>
        <p:spPr>
          <a:xfrm>
            <a:off x="635003" y="930199"/>
            <a:ext cx="10753434" cy="806335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>
                <a:solidFill>
                  <a:srgbClr val="7030A0"/>
                </a:solidFill>
                <a:latin typeface="+mj-lt"/>
              </a:rPr>
              <a:t>How to use </a:t>
            </a:r>
            <a:r>
              <a:rPr lang="fr-FR" sz="2800" dirty="0" err="1">
                <a:solidFill>
                  <a:srgbClr val="7030A0"/>
                </a:solidFill>
                <a:latin typeface="+mj-lt"/>
              </a:rPr>
              <a:t>leaspy</a:t>
            </a:r>
            <a:r>
              <a:rPr lang="fr-FR" sz="2800" dirty="0">
                <a:solidFill>
                  <a:srgbClr val="7030A0"/>
                </a:solidFill>
                <a:latin typeface="+mj-lt"/>
              </a:rPr>
              <a:t> in </a:t>
            </a:r>
            <a:r>
              <a:rPr lang="fr-FR" sz="2800" dirty="0" err="1">
                <a:solidFill>
                  <a:srgbClr val="7030A0"/>
                </a:solidFill>
                <a:latin typeface="+mj-lt"/>
              </a:rPr>
              <a:t>daily</a:t>
            </a:r>
            <a:r>
              <a:rPr lang="fr-FR" sz="2800" dirty="0">
                <a:solidFill>
                  <a:srgbClr val="7030A0"/>
                </a:solidFill>
                <a:latin typeface="+mj-lt"/>
              </a:rPr>
              <a:t> situation ?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ECED495-99C2-9C4E-A45F-7BBA0B67C258}"/>
              </a:ext>
            </a:extLst>
          </p:cNvPr>
          <p:cNvCxnSpPr/>
          <p:nvPr/>
        </p:nvCxnSpPr>
        <p:spPr>
          <a:xfrm>
            <a:off x="5695837" y="2262206"/>
            <a:ext cx="0" cy="322119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58FEA588-D682-524D-BC5D-24DEE196506D}"/>
              </a:ext>
            </a:extLst>
          </p:cNvPr>
          <p:cNvSpPr txBox="1">
            <a:spLocks/>
          </p:cNvSpPr>
          <p:nvPr/>
        </p:nvSpPr>
        <p:spPr>
          <a:xfrm>
            <a:off x="402020" y="2127187"/>
            <a:ext cx="4889697" cy="806335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b="1" i="1" dirty="0" err="1">
                <a:latin typeface="+mj-lt"/>
              </a:rPr>
              <a:t>What</a:t>
            </a:r>
            <a:r>
              <a:rPr lang="fr-FR" sz="2400" b="1" i="1" dirty="0">
                <a:latin typeface="+mj-lt"/>
              </a:rPr>
              <a:t> are the </a:t>
            </a:r>
            <a:r>
              <a:rPr lang="fr-FR" sz="2400" b="1" i="1" dirty="0" err="1">
                <a:latin typeface="+mj-lt"/>
              </a:rPr>
              <a:t>constraints</a:t>
            </a:r>
            <a:r>
              <a:rPr lang="fr-FR" sz="2400" b="1" i="1" dirty="0">
                <a:latin typeface="+mj-lt"/>
              </a:rPr>
              <a:t> on inputs ?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B76296A7-E086-9D40-A4CE-C74E62ADED6B}"/>
              </a:ext>
            </a:extLst>
          </p:cNvPr>
          <p:cNvSpPr txBox="1">
            <a:spLocks/>
          </p:cNvSpPr>
          <p:nvPr/>
        </p:nvSpPr>
        <p:spPr>
          <a:xfrm>
            <a:off x="6691692" y="2127187"/>
            <a:ext cx="4851395" cy="806335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b="1" i="1" dirty="0">
                <a:latin typeface="+mj-lt"/>
              </a:rPr>
              <a:t>How to </a:t>
            </a:r>
            <a:r>
              <a:rPr lang="fr-FR" sz="2400" b="1" i="1" dirty="0" err="1">
                <a:latin typeface="+mj-lt"/>
              </a:rPr>
              <a:t>get</a:t>
            </a:r>
            <a:r>
              <a:rPr lang="fr-FR" sz="2400" b="1" i="1" dirty="0">
                <a:latin typeface="+mj-lt"/>
              </a:rPr>
              <a:t> the best model ?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94BC194B-1225-3D40-B049-6C2F3BFA5A40}"/>
              </a:ext>
            </a:extLst>
          </p:cNvPr>
          <p:cNvSpPr txBox="1">
            <a:spLocks/>
          </p:cNvSpPr>
          <p:nvPr/>
        </p:nvSpPr>
        <p:spPr>
          <a:xfrm>
            <a:off x="7933248" y="3546364"/>
            <a:ext cx="3999705" cy="583404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>
                <a:latin typeface="+mj-lt"/>
              </a:rPr>
              <a:t>How to </a:t>
            </a:r>
            <a:r>
              <a:rPr lang="fr-FR" sz="2000" dirty="0" err="1">
                <a:latin typeface="+mj-lt"/>
              </a:rPr>
              <a:t>evaluate</a:t>
            </a:r>
            <a:r>
              <a:rPr lang="fr-FR" sz="2000" dirty="0">
                <a:latin typeface="+mj-lt"/>
              </a:rPr>
              <a:t> performances ?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42394B5E-DE95-0547-B5A8-B6EC98619C16}"/>
              </a:ext>
            </a:extLst>
          </p:cNvPr>
          <p:cNvSpPr txBox="1">
            <a:spLocks/>
          </p:cNvSpPr>
          <p:nvPr/>
        </p:nvSpPr>
        <p:spPr>
          <a:xfrm>
            <a:off x="1334739" y="3546364"/>
            <a:ext cx="2311398" cy="614474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>
                <a:latin typeface="+mj-lt"/>
              </a:rPr>
              <a:t>What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kind</a:t>
            </a:r>
            <a:r>
              <a:rPr lang="fr-FR" sz="2000" dirty="0">
                <a:latin typeface="+mj-lt"/>
              </a:rPr>
              <a:t> of data ?</a:t>
            </a:r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DBC049E3-5A63-0245-9E43-F5D359CA684D}"/>
              </a:ext>
            </a:extLst>
          </p:cNvPr>
          <p:cNvSpPr txBox="1">
            <a:spLocks/>
          </p:cNvSpPr>
          <p:nvPr/>
        </p:nvSpPr>
        <p:spPr>
          <a:xfrm>
            <a:off x="7933248" y="4776928"/>
            <a:ext cx="3827158" cy="583405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>
                <a:latin typeface="+mj-lt"/>
              </a:rPr>
              <a:t>Univariate</a:t>
            </a:r>
            <a:r>
              <a:rPr lang="fr-FR" sz="2000" dirty="0">
                <a:latin typeface="+mj-lt"/>
              </a:rPr>
              <a:t> or </a:t>
            </a:r>
            <a:r>
              <a:rPr lang="fr-FR" sz="2000" dirty="0" err="1">
                <a:latin typeface="+mj-lt"/>
              </a:rPr>
              <a:t>multivariate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models</a:t>
            </a:r>
            <a:r>
              <a:rPr lang="fr-FR" sz="2000" dirty="0">
                <a:latin typeface="+mj-lt"/>
              </a:rPr>
              <a:t> ?</a:t>
            </a:r>
          </a:p>
        </p:txBody>
      </p:sp>
      <p:pic>
        <p:nvPicPr>
          <p:cNvPr id="2050" name="Picture 2" descr="Abstract Technology Binary Code Background.Digital Binary Data and Secure  Data Concept with Number 0 and 1. Stock Illustration - Illustration of data,  graphics: 180496362">
            <a:extLst>
              <a:ext uri="{FF2B5EF4-FFF2-40B4-BE49-F238E27FC236}">
                <a16:creationId xmlns:a16="http://schemas.microsoft.com/office/drawing/2014/main" id="{46EABD04-EC9F-8B4B-A8C5-78111C0208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56" b="77903"/>
          <a:stretch/>
        </p:blipFill>
        <p:spPr bwMode="auto">
          <a:xfrm>
            <a:off x="492629" y="4893485"/>
            <a:ext cx="794159" cy="46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atabase Vectoriels et illustrations libres de droits - iStock">
            <a:extLst>
              <a:ext uri="{FF2B5EF4-FFF2-40B4-BE49-F238E27FC236}">
                <a16:creationId xmlns:a16="http://schemas.microsoft.com/office/drawing/2014/main" id="{DA87810A-C86A-3C4E-9ABF-61EDDB7C7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92" y="3334584"/>
            <a:ext cx="1038034" cy="1038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adara - performance issues - MangaBooth">
            <a:extLst>
              <a:ext uri="{FF2B5EF4-FFF2-40B4-BE49-F238E27FC236}">
                <a16:creationId xmlns:a16="http://schemas.microsoft.com/office/drawing/2014/main" id="{A3DC4762-BD30-7542-8B66-3C8303D584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9" t="13943" r="15180" b="26447"/>
          <a:stretch/>
        </p:blipFill>
        <p:spPr bwMode="auto">
          <a:xfrm>
            <a:off x="6099957" y="3355293"/>
            <a:ext cx="1325832" cy="806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C1908018-1E10-B349-A99B-177614FD8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720" y="4631899"/>
            <a:ext cx="1817998" cy="80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67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7C55C-53EF-C545-850A-FF364D44659B}"/>
              </a:ext>
            </a:extLst>
          </p:cNvPr>
          <p:cNvSpPr txBox="1">
            <a:spLocks/>
          </p:cNvSpPr>
          <p:nvPr/>
        </p:nvSpPr>
        <p:spPr>
          <a:xfrm>
            <a:off x="819150" y="2150495"/>
            <a:ext cx="11129962" cy="176688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400" dirty="0"/>
              <a:t>Go, </a:t>
            </a:r>
            <a:r>
              <a:rPr lang="fr-FR" sz="5400" dirty="0" err="1"/>
              <a:t>it’s</a:t>
            </a:r>
            <a:r>
              <a:rPr lang="fr-FR" sz="5400" dirty="0"/>
              <a:t> </a:t>
            </a:r>
            <a:r>
              <a:rPr lang="fr-FR" sz="5400" dirty="0" err="1"/>
              <a:t>your</a:t>
            </a:r>
            <a:r>
              <a:rPr lang="fr-FR" sz="5400" dirty="0"/>
              <a:t> </a:t>
            </a:r>
            <a:r>
              <a:rPr lang="fr-FR" sz="5400" dirty="0" err="1"/>
              <a:t>turn</a:t>
            </a:r>
            <a:r>
              <a:rPr lang="fr-FR" sz="5400" dirty="0"/>
              <a:t> !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90B4E9F8-CA22-A749-B4E5-6705283C1FF2}"/>
              </a:ext>
            </a:extLst>
          </p:cNvPr>
          <p:cNvSpPr txBox="1">
            <a:spLocks/>
          </p:cNvSpPr>
          <p:nvPr/>
        </p:nvSpPr>
        <p:spPr>
          <a:xfrm>
            <a:off x="1524000" y="4116392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And </a:t>
            </a:r>
            <a:r>
              <a:rPr lang="fr-FR" dirty="0" err="1"/>
              <a:t>don’t</a:t>
            </a:r>
            <a:r>
              <a:rPr lang="fr-FR" dirty="0"/>
              <a:t> </a:t>
            </a:r>
            <a:r>
              <a:rPr lang="fr-FR" dirty="0" err="1"/>
              <a:t>hesitate</a:t>
            </a:r>
            <a:r>
              <a:rPr lang="fr-FR" dirty="0"/>
              <a:t> if </a:t>
            </a:r>
            <a:r>
              <a:rPr lang="fr-FR" dirty="0" err="1"/>
              <a:t>you</a:t>
            </a:r>
            <a:r>
              <a:rPr lang="fr-FR" dirty="0"/>
              <a:t> have </a:t>
            </a:r>
            <a:r>
              <a:rPr lang="fr-FR" dirty="0" err="1"/>
              <a:t>any</a:t>
            </a:r>
            <a:r>
              <a:rPr lang="fr-FR" dirty="0"/>
              <a:t> question !</a:t>
            </a:r>
          </a:p>
        </p:txBody>
      </p:sp>
    </p:spTree>
    <p:extLst>
      <p:ext uri="{BB962C8B-B14F-4D97-AF65-F5344CB8AC3E}">
        <p14:creationId xmlns:p14="http://schemas.microsoft.com/office/powerpoint/2010/main" val="2297368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AC6E596-41FD-D649-8838-C72ADEFC00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TP3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A4F36F-4B29-5D41-9BC9-7ED51A624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err="1"/>
              <a:t>Take</a:t>
            </a:r>
            <a:r>
              <a:rPr lang="fr-FR" dirty="0"/>
              <a:t> home messages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46D7A7F-9D5E-CC44-A0CC-F0F287B02543}"/>
              </a:ext>
            </a:extLst>
          </p:cNvPr>
          <p:cNvSpPr txBox="1"/>
          <p:nvPr/>
        </p:nvSpPr>
        <p:spPr>
          <a:xfrm>
            <a:off x="11587163" y="6488668"/>
            <a:ext cx="60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17</a:t>
            </a:fld>
            <a:endParaRPr lang="en-US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809F80E3-750E-EE46-9AA8-FC899567CAB5}"/>
              </a:ext>
            </a:extLst>
          </p:cNvPr>
          <p:cNvSpPr txBox="1">
            <a:spLocks/>
          </p:cNvSpPr>
          <p:nvPr/>
        </p:nvSpPr>
        <p:spPr>
          <a:xfrm>
            <a:off x="612780" y="732106"/>
            <a:ext cx="10753434" cy="806335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>
                <a:latin typeface="+mj-lt"/>
              </a:rPr>
              <a:t>How to use </a:t>
            </a:r>
            <a:r>
              <a:rPr lang="fr-FR" sz="2800" dirty="0" err="1">
                <a:latin typeface="+mj-lt"/>
              </a:rPr>
              <a:t>leaspy</a:t>
            </a:r>
            <a:r>
              <a:rPr lang="fr-FR" sz="2800" dirty="0">
                <a:latin typeface="+mj-lt"/>
              </a:rPr>
              <a:t> in </a:t>
            </a:r>
            <a:r>
              <a:rPr lang="fr-FR" sz="2800" dirty="0" err="1">
                <a:latin typeface="+mj-lt"/>
              </a:rPr>
              <a:t>day</a:t>
            </a:r>
            <a:r>
              <a:rPr lang="fr-FR" sz="2800" dirty="0">
                <a:latin typeface="+mj-lt"/>
              </a:rPr>
              <a:t> life situation ?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ECED495-99C2-9C4E-A45F-7BBA0B67C258}"/>
              </a:ext>
            </a:extLst>
          </p:cNvPr>
          <p:cNvCxnSpPr/>
          <p:nvPr/>
        </p:nvCxnSpPr>
        <p:spPr>
          <a:xfrm>
            <a:off x="5497367" y="2581081"/>
            <a:ext cx="0" cy="322119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58FEA588-D682-524D-BC5D-24DEE196506D}"/>
              </a:ext>
            </a:extLst>
          </p:cNvPr>
          <p:cNvSpPr txBox="1">
            <a:spLocks/>
          </p:cNvSpPr>
          <p:nvPr/>
        </p:nvSpPr>
        <p:spPr>
          <a:xfrm>
            <a:off x="310384" y="1612277"/>
            <a:ext cx="4851395" cy="806335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b="1" i="1" dirty="0" err="1">
                <a:latin typeface="+mj-lt"/>
              </a:rPr>
              <a:t>What</a:t>
            </a:r>
            <a:r>
              <a:rPr lang="fr-FR" sz="2400" b="1" i="1" dirty="0">
                <a:latin typeface="+mj-lt"/>
              </a:rPr>
              <a:t> are </a:t>
            </a:r>
            <a:r>
              <a:rPr lang="fr-FR" sz="2400" b="1" i="1" dirty="0" err="1">
                <a:latin typeface="+mj-lt"/>
              </a:rPr>
              <a:t>constraints</a:t>
            </a:r>
            <a:r>
              <a:rPr lang="fr-FR" sz="2400" b="1" i="1" dirty="0">
                <a:latin typeface="+mj-lt"/>
              </a:rPr>
              <a:t> on inputs ?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B76296A7-E086-9D40-A4CE-C74E62ADED6B}"/>
              </a:ext>
            </a:extLst>
          </p:cNvPr>
          <p:cNvSpPr txBox="1">
            <a:spLocks/>
          </p:cNvSpPr>
          <p:nvPr/>
        </p:nvSpPr>
        <p:spPr>
          <a:xfrm>
            <a:off x="6514819" y="1612277"/>
            <a:ext cx="4851395" cy="806335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b="1" i="1" dirty="0">
                <a:latin typeface="+mj-lt"/>
              </a:rPr>
              <a:t>How to </a:t>
            </a:r>
            <a:r>
              <a:rPr lang="fr-FR" sz="2400" b="1" i="1" dirty="0" err="1">
                <a:latin typeface="+mj-lt"/>
              </a:rPr>
              <a:t>get</a:t>
            </a:r>
            <a:r>
              <a:rPr lang="fr-FR" sz="2400" b="1" i="1" dirty="0">
                <a:latin typeface="+mj-lt"/>
              </a:rPr>
              <a:t> the best model ?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42394B5E-DE95-0547-B5A8-B6EC98619C16}"/>
              </a:ext>
            </a:extLst>
          </p:cNvPr>
          <p:cNvSpPr txBox="1">
            <a:spLocks/>
          </p:cNvSpPr>
          <p:nvPr/>
        </p:nvSpPr>
        <p:spPr>
          <a:xfrm>
            <a:off x="568576" y="2358592"/>
            <a:ext cx="4593203" cy="3840449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>
                <a:latin typeface="+mj-lt"/>
              </a:rPr>
              <a:t>Data :</a:t>
            </a: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+mj-lt"/>
              </a:rPr>
              <a:t>Should</a:t>
            </a:r>
            <a:r>
              <a:rPr lang="fr-FR" sz="2000" dirty="0">
                <a:latin typeface="+mj-lt"/>
              </a:rPr>
              <a:t>  </a:t>
            </a:r>
            <a:r>
              <a:rPr lang="fr-FR" sz="2000" dirty="0" err="1">
                <a:latin typeface="+mj-lt"/>
              </a:rPr>
              <a:t>be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between</a:t>
            </a:r>
            <a:r>
              <a:rPr lang="fr-FR" sz="2000" dirty="0">
                <a:latin typeface="+mj-lt"/>
              </a:rPr>
              <a:t> 0 and 1</a:t>
            </a: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+mj-lt"/>
              </a:rPr>
              <a:t>Should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increase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with</a:t>
            </a:r>
            <a:r>
              <a:rPr lang="fr-FR" sz="2000" dirty="0">
                <a:latin typeface="+mj-lt"/>
              </a:rPr>
              <a:t> time</a:t>
            </a: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+mj-lt"/>
              </a:rPr>
              <a:t>Should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be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continuous</a:t>
            </a:r>
            <a:r>
              <a:rPr lang="fr-FR" sz="2000" dirty="0">
                <a:latin typeface="+mj-lt"/>
              </a:rPr>
              <a:t> or </a:t>
            </a:r>
            <a:r>
              <a:rPr lang="fr-FR" sz="2000" dirty="0" err="1">
                <a:latin typeface="+mj-lt"/>
              </a:rPr>
              <a:t>binary</a:t>
            </a:r>
            <a:r>
              <a:rPr lang="fr-FR" sz="2000" dirty="0">
                <a:latin typeface="+mj-lt"/>
              </a:rPr>
              <a:t> (</a:t>
            </a:r>
            <a:r>
              <a:rPr lang="fr-FR" sz="2000" dirty="0" err="1">
                <a:latin typeface="+mj-lt"/>
              </a:rPr>
              <a:t>adding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noise_model</a:t>
            </a:r>
            <a:r>
              <a:rPr lang="fr-FR" sz="2000" dirty="0">
                <a:latin typeface="+mj-lt"/>
              </a:rPr>
              <a:t>="</a:t>
            </a:r>
            <a:r>
              <a:rPr lang="fr-FR" sz="2000" dirty="0" err="1">
                <a:latin typeface="+mj-lt"/>
              </a:rPr>
              <a:t>bernoulli</a:t>
            </a:r>
            <a:r>
              <a:rPr lang="fr-FR" sz="2000" dirty="0">
                <a:latin typeface="+mj-lt"/>
              </a:rPr>
              <a:t>")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+mj-lt"/>
              </a:rPr>
              <a:t>Can </a:t>
            </a:r>
            <a:r>
              <a:rPr lang="fr-FR" sz="2000" dirty="0" err="1">
                <a:latin typeface="+mj-lt"/>
              </a:rPr>
              <a:t>contain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missing</a:t>
            </a:r>
            <a:r>
              <a:rPr lang="fr-FR" sz="2000" dirty="0">
                <a:latin typeface="+mj-lt"/>
              </a:rPr>
              <a:t> data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+mj-lt"/>
              </a:rPr>
              <a:t>Can </a:t>
            </a:r>
            <a:r>
              <a:rPr lang="fr-FR" sz="2000" dirty="0" err="1">
                <a:latin typeface="+mj-lt"/>
              </a:rPr>
              <a:t>contain</a:t>
            </a:r>
            <a:r>
              <a:rPr lang="fr-FR" sz="2000" dirty="0">
                <a:latin typeface="+mj-lt"/>
              </a:rPr>
              <a:t> one or </a:t>
            </a:r>
            <a:r>
              <a:rPr lang="fr-FR" sz="2000" dirty="0" err="1">
                <a:latin typeface="+mj-lt"/>
              </a:rPr>
              <a:t>several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features</a:t>
            </a:r>
            <a:endParaRPr lang="fr-FR" sz="2000" dirty="0">
              <a:latin typeface="+mj-lt"/>
            </a:endParaRPr>
          </a:p>
          <a:p>
            <a:pPr marL="342900" indent="-342900">
              <a:buFontTx/>
              <a:buChar char="-"/>
            </a:pPr>
            <a:endParaRPr lang="fr-FR" sz="2000" dirty="0">
              <a:latin typeface="+mj-lt"/>
            </a:endParaRPr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DBC049E3-5A63-0245-9E43-F5D359CA684D}"/>
              </a:ext>
            </a:extLst>
          </p:cNvPr>
          <p:cNvSpPr txBox="1">
            <a:spLocks/>
          </p:cNvSpPr>
          <p:nvPr/>
        </p:nvSpPr>
        <p:spPr>
          <a:xfrm>
            <a:off x="6180281" y="2505303"/>
            <a:ext cx="5753727" cy="1115637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fr-FR" sz="2000" dirty="0">
                <a:latin typeface="+mj-lt"/>
              </a:rPr>
              <a:t>There </a:t>
            </a:r>
            <a:r>
              <a:rPr lang="fr-FR" sz="2000" dirty="0" err="1">
                <a:latin typeface="+mj-lt"/>
              </a:rPr>
              <a:t>is</a:t>
            </a:r>
            <a:r>
              <a:rPr lang="fr-FR" sz="2000" dirty="0">
                <a:latin typeface="+mj-lt"/>
              </a:rPr>
              <a:t> no </a:t>
            </a:r>
            <a:r>
              <a:rPr lang="fr-FR" sz="2000" dirty="0" err="1">
                <a:latin typeface="+mj-lt"/>
              </a:rPr>
              <a:t>general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rule</a:t>
            </a:r>
            <a:r>
              <a:rPr lang="fr-FR" sz="2000" dirty="0">
                <a:latin typeface="+mj-lt"/>
              </a:rPr>
              <a:t> for </a:t>
            </a:r>
            <a:r>
              <a:rPr lang="fr-FR" sz="2000" dirty="0" err="1">
                <a:latin typeface="+mj-lt"/>
              </a:rPr>
              <a:t>multivariate</a:t>
            </a:r>
            <a:r>
              <a:rPr lang="fr-FR" sz="2000" dirty="0">
                <a:latin typeface="+mj-lt"/>
              </a:rPr>
              <a:t> or </a:t>
            </a:r>
            <a:r>
              <a:rPr lang="fr-FR" sz="2000" dirty="0" err="1">
                <a:latin typeface="+mj-lt"/>
              </a:rPr>
              <a:t>univariate</a:t>
            </a:r>
            <a:r>
              <a:rPr lang="fr-FR" sz="2000" dirty="0">
                <a:latin typeface="+mj-lt"/>
              </a:rPr>
              <a:t> model, </a:t>
            </a:r>
            <a:r>
              <a:rPr lang="fr-FR" sz="2000" dirty="0" err="1">
                <a:latin typeface="+mj-lt"/>
              </a:rPr>
              <a:t>you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should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try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different</a:t>
            </a:r>
            <a:r>
              <a:rPr lang="fr-FR" sz="2000" dirty="0">
                <a:latin typeface="+mj-lt"/>
              </a:rPr>
              <a:t> options and monitor the </a:t>
            </a:r>
            <a:r>
              <a:rPr lang="fr-FR" sz="2000" dirty="0" err="1">
                <a:latin typeface="+mj-lt"/>
              </a:rPr>
              <a:t>following</a:t>
            </a:r>
            <a:r>
              <a:rPr lang="fr-FR" sz="2000" dirty="0">
                <a:latin typeface="+mj-lt"/>
              </a:rPr>
              <a:t> (</a:t>
            </a:r>
            <a:r>
              <a:rPr lang="fr-FR" sz="2000" dirty="0" err="1">
                <a:latin typeface="+mj-lt"/>
              </a:rPr>
              <a:t>among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other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things</a:t>
            </a:r>
            <a:r>
              <a:rPr lang="fr-FR" sz="2000" dirty="0">
                <a:latin typeface="+mj-lt"/>
              </a:rPr>
              <a:t>) :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3DA32DD-392B-C649-99DF-08A8B0423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320" y="3620940"/>
            <a:ext cx="3398837" cy="241790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75C0B38-7ACD-E940-B252-89338E5FA2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348" b="6888"/>
          <a:stretch/>
        </p:blipFill>
        <p:spPr>
          <a:xfrm>
            <a:off x="6963271" y="6038847"/>
            <a:ext cx="3954489" cy="32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17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7C55C-53EF-C545-850A-FF364D44659B}"/>
              </a:ext>
            </a:extLst>
          </p:cNvPr>
          <p:cNvSpPr txBox="1">
            <a:spLocks/>
          </p:cNvSpPr>
          <p:nvPr/>
        </p:nvSpPr>
        <p:spPr>
          <a:xfrm>
            <a:off x="819150" y="2150495"/>
            <a:ext cx="11129962" cy="17668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61395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AC6E596-41FD-D649-8838-C72ADEFC00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A4F36F-4B29-5D41-9BC9-7ED51A624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err="1"/>
              <a:t>Take</a:t>
            </a:r>
            <a:r>
              <a:rPr lang="fr-FR" dirty="0"/>
              <a:t> home messages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46D7A7F-9D5E-CC44-A0CC-F0F287B02543}"/>
              </a:ext>
            </a:extLst>
          </p:cNvPr>
          <p:cNvSpPr txBox="1"/>
          <p:nvPr/>
        </p:nvSpPr>
        <p:spPr>
          <a:xfrm>
            <a:off x="11587163" y="6488668"/>
            <a:ext cx="60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19</a:t>
            </a:fld>
            <a:endParaRPr lang="en-US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809F80E3-750E-EE46-9AA8-FC899567CAB5}"/>
              </a:ext>
            </a:extLst>
          </p:cNvPr>
          <p:cNvSpPr txBox="1">
            <a:spLocks/>
          </p:cNvSpPr>
          <p:nvPr/>
        </p:nvSpPr>
        <p:spPr>
          <a:xfrm>
            <a:off x="635003" y="771890"/>
            <a:ext cx="10753434" cy="810944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 err="1">
                <a:latin typeface="+mj-lt"/>
              </a:rPr>
              <a:t>Leaspy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is</a:t>
            </a:r>
            <a:r>
              <a:rPr lang="fr-FR" sz="2800" dirty="0">
                <a:latin typeface="+mj-lt"/>
              </a:rPr>
              <a:t> a good </a:t>
            </a:r>
            <a:r>
              <a:rPr lang="fr-FR" sz="2800" dirty="0" err="1">
                <a:latin typeface="+mj-lt"/>
              </a:rPr>
              <a:t>tool</a:t>
            </a:r>
            <a:r>
              <a:rPr lang="fr-FR" sz="2800" dirty="0">
                <a:latin typeface="+mj-lt"/>
              </a:rPr>
              <a:t> to </a:t>
            </a:r>
            <a:r>
              <a:rPr lang="fr-FR" sz="2800" dirty="0" err="1">
                <a:latin typeface="+mj-lt"/>
              </a:rPr>
              <a:t>handle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medical</a:t>
            </a:r>
            <a:r>
              <a:rPr lang="fr-FR" sz="2800" dirty="0">
                <a:latin typeface="+mj-lt"/>
              </a:rPr>
              <a:t> longitudinal data, </a:t>
            </a:r>
            <a:r>
              <a:rPr lang="fr-FR" sz="2800" dirty="0" err="1">
                <a:latin typeface="+mj-lt"/>
              </a:rPr>
              <a:t>it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allows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you</a:t>
            </a:r>
            <a:r>
              <a:rPr lang="fr-FR" sz="2800" dirty="0">
                <a:latin typeface="+mj-lt"/>
              </a:rPr>
              <a:t> to :</a:t>
            </a:r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FBC35449-EEA5-B341-B9F9-81617612D0F9}"/>
              </a:ext>
            </a:extLst>
          </p:cNvPr>
          <p:cNvSpPr txBox="1">
            <a:spLocks/>
          </p:cNvSpPr>
          <p:nvPr/>
        </p:nvSpPr>
        <p:spPr>
          <a:xfrm>
            <a:off x="2946403" y="5318170"/>
            <a:ext cx="4024021" cy="810945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 err="1">
                <a:latin typeface="+mj-lt"/>
              </a:rPr>
              <a:t>Simulate</a:t>
            </a:r>
            <a:r>
              <a:rPr lang="fr-FR" sz="2800" dirty="0">
                <a:latin typeface="+mj-lt"/>
              </a:rPr>
              <a:t> data. </a:t>
            </a: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E106DEC8-D92A-C148-95A9-C1D17A9654DC}"/>
              </a:ext>
            </a:extLst>
          </p:cNvPr>
          <p:cNvSpPr txBox="1">
            <a:spLocks/>
          </p:cNvSpPr>
          <p:nvPr/>
        </p:nvSpPr>
        <p:spPr>
          <a:xfrm>
            <a:off x="2946403" y="4135873"/>
            <a:ext cx="5371809" cy="728392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 err="1">
                <a:latin typeface="+mj-lt"/>
              </a:rPr>
              <a:t>Extract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interpretable</a:t>
            </a:r>
            <a:r>
              <a:rPr lang="fr-FR" sz="2800" dirty="0">
                <a:latin typeface="+mj-lt"/>
              </a:rPr>
              <a:t> information,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4193D9CF-E092-E848-8114-58C1A6D9CC6D}"/>
              </a:ext>
            </a:extLst>
          </p:cNvPr>
          <p:cNvSpPr txBox="1">
            <a:spLocks/>
          </p:cNvSpPr>
          <p:nvPr/>
        </p:nvSpPr>
        <p:spPr>
          <a:xfrm>
            <a:off x="2946403" y="2932153"/>
            <a:ext cx="4535991" cy="609884"/>
          </a:xfrm>
          <a:prstGeom prst="rect">
            <a:avLst/>
          </a:prstGeom>
        </p:spPr>
        <p:txBody>
          <a:bodyPr/>
          <a:lstStyle>
            <a:lvl1pPr marL="0" indent="0" algn="l" defTabSz="685749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rgbClr val="702082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342875" indent="0" algn="l" defTabSz="685749" rtl="0" eaLnBrk="1" latinLnBrk="0" hangingPunct="1">
              <a:lnSpc>
                <a:spcPct val="80000"/>
              </a:lnSpc>
              <a:spcBef>
                <a:spcPts val="375"/>
              </a:spcBef>
              <a:buFontTx/>
              <a:buNone/>
              <a:defRPr sz="1125" kern="1200">
                <a:solidFill>
                  <a:schemeClr val="tx1"/>
                </a:solidFill>
                <a:latin typeface="Nexa Light" charset="0"/>
                <a:ea typeface="Nexa Light" charset="0"/>
                <a:cs typeface="Nexa Light" charset="0"/>
              </a:defRPr>
            </a:lvl2pPr>
            <a:lvl3pPr marL="857186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60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35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09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84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58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33" indent="-171438" algn="l" defTabSz="685749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 err="1">
                <a:latin typeface="+mj-lt"/>
              </a:rPr>
              <a:t>Predict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disease</a:t>
            </a:r>
            <a:r>
              <a:rPr lang="fr-FR" sz="2800" dirty="0">
                <a:latin typeface="+mj-lt"/>
              </a:rPr>
              <a:t> progression,</a:t>
            </a:r>
          </a:p>
        </p:txBody>
      </p:sp>
      <p:pic>
        <p:nvPicPr>
          <p:cNvPr id="6146" name="Picture 2" descr="Simulation Isolated Icon. Simple Element Illustration from Programming  Concept Icons. Simulation Editable Logo Sign Symbol Design Stock Vector -  Illustration of isolated, design: 142291466">
            <a:extLst>
              <a:ext uri="{FF2B5EF4-FFF2-40B4-BE49-F238E27FC236}">
                <a16:creationId xmlns:a16="http://schemas.microsoft.com/office/drawing/2014/main" id="{FABE84E7-C40B-384A-BA87-F2A3F382B0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0" t="15423" r="23205" b="24908"/>
          <a:stretch/>
        </p:blipFill>
        <p:spPr bwMode="auto">
          <a:xfrm>
            <a:off x="1563684" y="5198008"/>
            <a:ext cx="877490" cy="95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redict Logo Images, Stock Photos &amp;amp; Vectors | Shutterstock">
            <a:extLst>
              <a:ext uri="{FF2B5EF4-FFF2-40B4-BE49-F238E27FC236}">
                <a16:creationId xmlns:a16="http://schemas.microsoft.com/office/drawing/2014/main" id="{035E4C5C-F287-A547-9EA9-59095962CB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722" t="21071" r="20432" b="37947"/>
          <a:stretch/>
        </p:blipFill>
        <p:spPr bwMode="auto">
          <a:xfrm>
            <a:off x="1439467" y="2932153"/>
            <a:ext cx="1276353" cy="957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Définissez et extrayez facilement des données de PDF avec pdf2Data - iText">
            <a:extLst>
              <a:ext uri="{FF2B5EF4-FFF2-40B4-BE49-F238E27FC236}">
                <a16:creationId xmlns:a16="http://schemas.microsoft.com/office/drawing/2014/main" id="{003053D4-EE86-8B49-B813-1BF83633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22" y="3924966"/>
            <a:ext cx="1462321" cy="115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FBF77D0-F5F0-EC42-8CF2-D936F017D06E}"/>
              </a:ext>
            </a:extLst>
          </p:cNvPr>
          <p:cNvSpPr txBox="1"/>
          <p:nvPr/>
        </p:nvSpPr>
        <p:spPr>
          <a:xfrm>
            <a:off x="2949573" y="1963946"/>
            <a:ext cx="8438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rgbClr val="7030A0"/>
                </a:solidFill>
                <a:latin typeface="+mj-lt"/>
              </a:rPr>
              <a:t>Get</a:t>
            </a:r>
            <a:r>
              <a:rPr lang="fr-FR" sz="2800" dirty="0">
                <a:solidFill>
                  <a:srgbClr val="7030A0"/>
                </a:solidFill>
                <a:latin typeface="+mj-lt"/>
              </a:rPr>
              <a:t> </a:t>
            </a:r>
            <a:r>
              <a:rPr lang="fr-FR" sz="2800" dirty="0" err="1">
                <a:solidFill>
                  <a:srgbClr val="7030A0"/>
                </a:solidFill>
                <a:latin typeface="+mj-lt"/>
              </a:rPr>
              <a:t>disease</a:t>
            </a:r>
            <a:r>
              <a:rPr lang="fr-FR" sz="2800" dirty="0">
                <a:solidFill>
                  <a:srgbClr val="7030A0"/>
                </a:solidFill>
                <a:latin typeface="+mj-lt"/>
              </a:rPr>
              <a:t> </a:t>
            </a:r>
            <a:r>
              <a:rPr lang="fr-FR" sz="2800" dirty="0" err="1">
                <a:solidFill>
                  <a:srgbClr val="7030A0"/>
                </a:solidFill>
                <a:latin typeface="+mj-lt"/>
              </a:rPr>
              <a:t>timeline</a:t>
            </a:r>
            <a:r>
              <a:rPr lang="fr-FR" sz="2800" dirty="0">
                <a:solidFill>
                  <a:srgbClr val="7030A0"/>
                </a:solidFill>
                <a:latin typeface="+mj-lt"/>
              </a:rPr>
              <a:t> </a:t>
            </a:r>
            <a:r>
              <a:rPr lang="fr-FR" sz="2800" dirty="0" err="1">
                <a:solidFill>
                  <a:srgbClr val="7030A0"/>
                </a:solidFill>
                <a:latin typeface="+mj-lt"/>
              </a:rPr>
              <a:t>with</a:t>
            </a:r>
            <a:r>
              <a:rPr lang="fr-FR" sz="2800" dirty="0">
                <a:solidFill>
                  <a:srgbClr val="7030A0"/>
                </a:solidFill>
                <a:latin typeface="+mj-lt"/>
              </a:rPr>
              <a:t> population </a:t>
            </a:r>
            <a:r>
              <a:rPr lang="fr-FR" sz="2800" dirty="0" err="1">
                <a:solidFill>
                  <a:srgbClr val="7030A0"/>
                </a:solidFill>
                <a:latin typeface="+mj-lt"/>
              </a:rPr>
              <a:t>disease</a:t>
            </a:r>
            <a:r>
              <a:rPr lang="fr-FR" sz="2800" dirty="0">
                <a:solidFill>
                  <a:srgbClr val="7030A0"/>
                </a:solidFill>
                <a:latin typeface="+mj-lt"/>
              </a:rPr>
              <a:t> progression</a:t>
            </a:r>
          </a:p>
        </p:txBody>
      </p:sp>
      <p:pic>
        <p:nvPicPr>
          <p:cNvPr id="1026" name="Picture 2" descr="Sigmoid Group - Home | Facebook">
            <a:extLst>
              <a:ext uri="{FF2B5EF4-FFF2-40B4-BE49-F238E27FC236}">
                <a16:creationId xmlns:a16="http://schemas.microsoft.com/office/drawing/2014/main" id="{0F642B2D-839A-9846-BCA4-F41D37381E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6" b="12339"/>
          <a:stretch/>
        </p:blipFill>
        <p:spPr bwMode="auto">
          <a:xfrm>
            <a:off x="1595696" y="1864908"/>
            <a:ext cx="1042358" cy="78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6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4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46D7A7F-9D5E-CC44-A0CC-F0F287B02543}"/>
              </a:ext>
            </a:extLst>
          </p:cNvPr>
          <p:cNvSpPr txBox="1"/>
          <p:nvPr/>
        </p:nvSpPr>
        <p:spPr>
          <a:xfrm>
            <a:off x="11612880" y="6488668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2F4A148-EB08-2944-86F9-FE4A97D62A30}" type="slidenum">
              <a:rPr lang="en-US" smtClean="0"/>
              <a:t>20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CC2694-3BA8-794A-9B5A-F18B42EEDE9A}"/>
              </a:ext>
            </a:extLst>
          </p:cNvPr>
          <p:cNvSpPr/>
          <p:nvPr/>
        </p:nvSpPr>
        <p:spPr>
          <a:xfrm>
            <a:off x="1097085" y="1965654"/>
            <a:ext cx="999783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solidFill>
                  <a:srgbClr val="7030A0"/>
                </a:solidFill>
                <a:latin typeface="+mj-lt"/>
              </a:rPr>
              <a:t>Thank you for your attention, and don’t forget to fill the </a:t>
            </a:r>
            <a:r>
              <a:rPr lang="en-GB" sz="4000" dirty="0">
                <a:solidFill>
                  <a:srgbClr val="7030A0"/>
                </a:solidFill>
                <a:latin typeface="+mj-lt"/>
                <a:hlinkClick r:id="rId2"/>
              </a:rPr>
              <a:t>survey</a:t>
            </a:r>
            <a:r>
              <a:rPr lang="en-GB" sz="4000" dirty="0">
                <a:solidFill>
                  <a:srgbClr val="7030A0"/>
                </a:solidFill>
                <a:latin typeface="+mj-lt"/>
              </a:rPr>
              <a:t> !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2B36F42A-D853-844B-A393-F2CCF5D9D5BB}"/>
              </a:ext>
            </a:extLst>
          </p:cNvPr>
          <p:cNvSpPr txBox="1">
            <a:spLocks/>
          </p:cNvSpPr>
          <p:nvPr/>
        </p:nvSpPr>
        <p:spPr>
          <a:xfrm>
            <a:off x="3516616" y="3861976"/>
            <a:ext cx="7040966" cy="6456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3027621" rtl="0" eaLnBrk="1" latinLnBrk="0" hangingPunct="1">
              <a:lnSpc>
                <a:spcPct val="90000"/>
              </a:lnSpc>
              <a:spcBef>
                <a:spcPts val="3312"/>
              </a:spcBef>
              <a:buFontTx/>
              <a:buNone/>
              <a:defRPr sz="2500" kern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2270716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79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4527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8338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2149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959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771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581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7392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 sz="2200" u="sng" dirty="0">
                <a:solidFill>
                  <a:srgbClr val="0070C0"/>
                </a:solidFill>
                <a:hlinkClick r:id="rId3"/>
              </a:rPr>
              <a:t>gitlab.com/</a:t>
            </a:r>
            <a:r>
              <a:rPr lang="en-AU" sz="2200" u="sng" dirty="0" err="1">
                <a:solidFill>
                  <a:srgbClr val="0070C0"/>
                </a:solidFill>
                <a:hlinkClick r:id="rId3"/>
              </a:rPr>
              <a:t>icm</a:t>
            </a:r>
            <a:r>
              <a:rPr lang="en-AU" sz="2200" u="sng" dirty="0">
                <a:solidFill>
                  <a:srgbClr val="0070C0"/>
                </a:solidFill>
                <a:hlinkClick r:id="rId3"/>
              </a:rPr>
              <a:t>-institute/</a:t>
            </a:r>
            <a:r>
              <a:rPr lang="en-AU" sz="2200" u="sng" dirty="0" err="1">
                <a:solidFill>
                  <a:srgbClr val="0070C0"/>
                </a:solidFill>
                <a:hlinkClick r:id="rId3"/>
              </a:rPr>
              <a:t>aramislab</a:t>
            </a:r>
            <a:r>
              <a:rPr lang="en-AU" sz="2200" u="sng" dirty="0">
                <a:solidFill>
                  <a:srgbClr val="0070C0"/>
                </a:solidFill>
                <a:hlinkClick r:id="rId3"/>
              </a:rPr>
              <a:t>/</a:t>
            </a:r>
            <a:r>
              <a:rPr lang="en-AU" sz="2200" u="sng" dirty="0" err="1">
                <a:solidFill>
                  <a:srgbClr val="0070C0"/>
                </a:solidFill>
                <a:hlinkClick r:id="rId3"/>
              </a:rPr>
              <a:t>leaspy</a:t>
            </a:r>
            <a:r>
              <a:rPr lang="en-AU" sz="2200" u="sng" dirty="0">
                <a:solidFill>
                  <a:srgbClr val="0070C0"/>
                </a:solidFill>
                <a:hlinkClick r:id="rId3"/>
              </a:rPr>
              <a:t> </a:t>
            </a:r>
            <a:endParaRPr lang="en-AU" sz="2200" u="sng" dirty="0">
              <a:solidFill>
                <a:srgbClr val="0070C0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C36170A-3D1A-3845-877E-73611670D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118" y="3856333"/>
            <a:ext cx="854073" cy="651318"/>
          </a:xfrm>
          <a:prstGeom prst="rect">
            <a:avLst/>
          </a:prstGeom>
        </p:spPr>
      </p:pic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3D3633C9-8471-7146-ACD1-1E611B0A4338}"/>
              </a:ext>
            </a:extLst>
          </p:cNvPr>
          <p:cNvSpPr txBox="1">
            <a:spLocks/>
          </p:cNvSpPr>
          <p:nvPr/>
        </p:nvSpPr>
        <p:spPr>
          <a:xfrm>
            <a:off x="3516616" y="4892346"/>
            <a:ext cx="7040966" cy="6456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3027621" rtl="0" eaLnBrk="1" latinLnBrk="0" hangingPunct="1">
              <a:lnSpc>
                <a:spcPct val="90000"/>
              </a:lnSpc>
              <a:spcBef>
                <a:spcPts val="3312"/>
              </a:spcBef>
              <a:buFontTx/>
              <a:buNone/>
              <a:defRPr sz="2500" kern="1200">
                <a:solidFill>
                  <a:schemeClr val="bg1"/>
                </a:solidFill>
                <a:latin typeface="Nexa Bold" charset="0"/>
                <a:ea typeface="Nexa Bold" charset="0"/>
                <a:cs typeface="Nexa Bold" charset="0"/>
              </a:defRPr>
            </a:lvl1pPr>
            <a:lvl2pPr marL="2270716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794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84527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98338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2149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959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771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581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7392" indent="-756906" algn="l" defTabSz="3027621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 sz="2200" u="sng" dirty="0">
                <a:solidFill>
                  <a:srgbClr val="0070C0"/>
                </a:solidFill>
                <a:hlinkClick r:id="rId5"/>
              </a:rPr>
              <a:t>www.aramislab.fr</a:t>
            </a:r>
            <a:endParaRPr lang="en-AU" sz="2200" u="sng" dirty="0">
              <a:solidFill>
                <a:srgbClr val="0070C0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873AC8B-3423-DA45-8A28-2AB3997C27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21" y="4841571"/>
            <a:ext cx="1474466" cy="696450"/>
          </a:xfrm>
          <a:prstGeom prst="rect">
            <a:avLst/>
          </a:prstGeom>
        </p:spPr>
      </p:pic>
      <p:pic>
        <p:nvPicPr>
          <p:cNvPr id="20" name="Picture 6" descr="French Institute for Research in Computer Science and Automation - Wikipedia">
            <a:extLst>
              <a:ext uri="{FF2B5EF4-FFF2-40B4-BE49-F238E27FC236}">
                <a16:creationId xmlns:a16="http://schemas.microsoft.com/office/drawing/2014/main" id="{B72A6301-C985-7543-8AFA-A9EA75D8C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256" y="154977"/>
            <a:ext cx="1323521" cy="57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Our Partners - Scipio">
            <a:extLst>
              <a:ext uri="{FF2B5EF4-FFF2-40B4-BE49-F238E27FC236}">
                <a16:creationId xmlns:a16="http://schemas.microsoft.com/office/drawing/2014/main" id="{D537EF46-4EAA-A644-ADBC-F196D6B77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00" b="34057"/>
          <a:stretch/>
        </p:blipFill>
        <p:spPr bwMode="auto">
          <a:xfrm>
            <a:off x="119727" y="131267"/>
            <a:ext cx="1759253" cy="55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463449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ge contenu 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67015</TotalTime>
  <Words>611</Words>
  <Application>Microsoft Macintosh PowerPoint</Application>
  <PresentationFormat>Grand écran</PresentationFormat>
  <Paragraphs>129</Paragraphs>
  <Slides>20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DIN-Regular</vt:lpstr>
      <vt:lpstr>Nexa Bold</vt:lpstr>
      <vt:lpstr>Nexa Light</vt:lpstr>
      <vt:lpstr>Conception personnalisée</vt:lpstr>
      <vt:lpstr>Page contenu </vt:lpstr>
      <vt:lpstr>2_Conception personnalisée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de Microsoft Office</dc:creator>
  <cp:lastModifiedBy>ORTHOLAND Juliette</cp:lastModifiedBy>
  <cp:revision>858</cp:revision>
  <cp:lastPrinted>2020-07-27T12:14:32Z</cp:lastPrinted>
  <dcterms:created xsi:type="dcterms:W3CDTF">2016-11-15T14:11:23Z</dcterms:created>
  <dcterms:modified xsi:type="dcterms:W3CDTF">2022-01-14T16:57:46Z</dcterms:modified>
</cp:coreProperties>
</file>